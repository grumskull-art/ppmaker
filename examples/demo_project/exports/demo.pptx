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Sæt scenen: Vi vil kunne beregne spændingsfaldet i en virkelig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 et kort overblik. Hold fokus på anvendelsen.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Peg på enhederne. Figuren er en forklaring, ikke et fysisk kredsløbsdiagram.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Forklar først symbolerne. Vis derefter indsættelsen og kontrollér volt som slutenhed.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Diagrammet er et nyt beregnet eksempel baseret på R = 5 Ω; det er ikke måledata.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Fremhæv at enhedskontrollen ofte fanger fejl tidligt.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 de studerende forklare arbejdsgangen med egne 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Spænding over en modstand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966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0">
                <a:solidFill>
                  <a:srgbClr val="17212B"/>
                </a:solidFill>
                <a:latin typeface="Aptos"/>
              </a:defRPr>
            </a:pPr>
            <a:r>
              <a:t>Fra strøm og modstand til spændingsfald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931920"/>
            <a:ext cx="4297680" cy="73152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Det skal vi igennem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6446520"/>
            <a:ext cx="4297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887"/>
                </a:solidFill>
                <a:latin typeface="Aptos"/>
              </a:defRPr>
            </a:pPr>
            <a:r>
              <a:t>Kilder: src1</a:t>
            </a:r>
          </a:p>
        </p:txBody>
      </p:sp>
      <p:sp>
        <p:nvSpPr>
          <p:cNvPr id="7" name="e21"/>
          <p:cNvSpPr txBox="1"/>
          <p:nvPr/>
        </p:nvSpPr>
        <p:spPr>
          <a:xfrm>
            <a:off x="1143000" y="1143000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1. Hvad Ohms lov binder sammen</a:t>
            </a:r>
          </a:p>
        </p:txBody>
      </p:sp>
      <p:sp>
        <p:nvSpPr>
          <p:cNvPr id="8" name="e22"/>
          <p:cNvSpPr txBox="1"/>
          <p:nvPr/>
        </p:nvSpPr>
        <p:spPr>
          <a:xfrm>
            <a:off x="1143000" y="2846832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2. Et regneeksempel med enheder</a:t>
            </a:r>
          </a:p>
        </p:txBody>
      </p:sp>
      <p:sp>
        <p:nvSpPr>
          <p:cNvPr id="9" name="e23"/>
          <p:cNvSpPr txBox="1"/>
          <p:nvPr/>
        </p:nvSpPr>
        <p:spPr>
          <a:xfrm>
            <a:off x="1143000" y="4550664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3. En sikker arbejdsgang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Tre størrelser hænger sammen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6446520"/>
            <a:ext cx="4297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887"/>
                </a:solidFill>
                <a:latin typeface="Aptos"/>
              </a:defRPr>
            </a:pPr>
            <a:r>
              <a:t>Kilder: src1</a:t>
            </a:r>
          </a:p>
        </p:txBody>
      </p:sp>
      <p:sp>
        <p:nvSpPr>
          <p:cNvPr id="7" name="e31"/>
          <p:cNvSpPr/>
          <p:nvPr/>
        </p:nvSpPr>
        <p:spPr>
          <a:xfrm>
            <a:off x="685800" y="2057400"/>
            <a:ext cx="3486912" cy="1828800"/>
          </a:xfrm>
          <a:prstGeom prst="round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326745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7324D"/>
                </a:solidFill>
                <a:latin typeface="Aptos"/>
              </a:defRPr>
            </a:pPr>
            <a:r>
              <a:t>1</a:t>
            </a:r>
            <a:br/>
            <a:r>
              <a:t>Strøm I [A]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2057400"/>
            <a:ext cx="3486912" cy="1828800"/>
          </a:xfrm>
          <a:prstGeom prst="round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7032" y="2304288"/>
            <a:ext cx="326745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7324D"/>
                </a:solidFill>
                <a:latin typeface="Aptos"/>
              </a:defRPr>
            </a:pPr>
            <a:r>
              <a:t>2</a:t>
            </a:r>
            <a:br/>
            <a:r>
              <a:t>Modstand R [Ω]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8808" y="2057400"/>
            <a:ext cx="3486912" cy="1828800"/>
          </a:xfrm>
          <a:prstGeom prst="roundRect">
            <a:avLst/>
          </a:prstGeom>
          <a:solidFill>
            <a:srgbClr val="DC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8536" y="2304288"/>
            <a:ext cx="3267456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7324D"/>
                </a:solidFill>
                <a:latin typeface="Aptos"/>
              </a:defRPr>
            </a:pPr>
            <a:r>
              <a:t>3</a:t>
            </a:r>
            <a:br/>
            <a:r>
              <a:t>Spænding U [V]</a:t>
            </a:r>
          </a:p>
        </p:txBody>
      </p:sp>
      <p:sp>
        <p:nvSpPr>
          <p:cNvPr id="13" name="e32"/>
          <p:cNvSpPr txBox="1"/>
          <p:nvPr/>
        </p:nvSpPr>
        <p:spPr>
          <a:xfrm>
            <a:off x="1097280" y="4617720"/>
            <a:ext cx="9966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Større strøm eller modstand giver større spændingsfald.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Hvor stor er spændingen?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6446520"/>
            <a:ext cx="4297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887"/>
                </a:solidFill>
                <a:latin typeface="Aptos"/>
              </a:defRPr>
            </a:pPr>
            <a:r>
              <a:t>Kilder: src1</a:t>
            </a:r>
          </a:p>
        </p:txBody>
      </p:sp>
      <p:sp>
        <p:nvSpPr>
          <p:cNvPr id="7" name="e41"/>
          <p:cNvSpPr txBox="1"/>
          <p:nvPr/>
        </p:nvSpPr>
        <p:spPr>
          <a:xfrm>
            <a:off x="640080" y="1143000"/>
            <a:ext cx="3931920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Givet: I = 2 A og R = 5 Ω</a:t>
            </a:r>
          </a:p>
        </p:txBody>
      </p:sp>
      <p:pic>
        <p:nvPicPr>
          <p:cNvPr id="8" name="e42" descr="U = R \cdot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6766560" cy="2382012"/>
          </a:xfrm>
          <a:prstGeom prst="rect">
            <a:avLst/>
          </a:prstGeom>
        </p:spPr>
      </p:pic>
      <p:pic>
        <p:nvPicPr>
          <p:cNvPr id="9" name="e43" descr="U = 5\,\Omega \cdot 2\,A = 10\,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53028"/>
            <a:ext cx="6766560" cy="2382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Samme modstand – forskellig strøm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pic>
        <p:nvPicPr>
          <p:cNvPr id="6" name="e51" descr="chart-033e754a0a66dd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1097280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Regn og kontrollér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6446520"/>
            <a:ext cx="4297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887"/>
                </a:solidFill>
                <a:latin typeface="Aptos"/>
              </a:defRPr>
            </a:pPr>
            <a:r>
              <a:t>Kilder: src1</a:t>
            </a:r>
          </a:p>
        </p:txBody>
      </p:sp>
      <p:sp>
        <p:nvSpPr>
          <p:cNvPr id="7" name="e61"/>
          <p:cNvSpPr txBox="1"/>
          <p:nvPr/>
        </p:nvSpPr>
        <p:spPr>
          <a:xfrm>
            <a:off x="594360" y="1143000"/>
            <a:ext cx="5349240" cy="2427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Skriv de kendte størrelser med enheder.</a:t>
            </a:r>
          </a:p>
        </p:txBody>
      </p:sp>
      <p:sp>
        <p:nvSpPr>
          <p:cNvPr id="8" name="e62"/>
          <p:cNvSpPr txBox="1"/>
          <p:nvPr/>
        </p:nvSpPr>
        <p:spPr>
          <a:xfrm>
            <a:off x="594360" y="3698748"/>
            <a:ext cx="5349240" cy="24277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Indsæt tallene først, når formlen er valgt.</a:t>
            </a:r>
          </a:p>
        </p:txBody>
      </p:sp>
      <p:sp>
        <p:nvSpPr>
          <p:cNvPr id="9" name="e63"/>
          <p:cNvSpPr/>
          <p:nvPr/>
        </p:nvSpPr>
        <p:spPr>
          <a:xfrm>
            <a:off x="6236208" y="1143000"/>
            <a:ext cx="5349240" cy="4983480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52728"/>
            <a:ext cx="4983479" cy="476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7212B"/>
                </a:solidFill>
                <a:latin typeface="Aptos"/>
              </a:defRPr>
            </a:pPr>
            <a:r>
              <a:t>Kontrollér altid, at slutenheden er volt.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9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17324D"/>
                </a:solidFill>
                <a:latin typeface="Aptos"/>
              </a:defRPr>
            </a:pPr>
            <a:r>
              <a:t>Tre ting at tage 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4652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687887"/>
                </a:solidFill>
                <a:latin typeface="Aptos"/>
              </a:defRPr>
            </a:pPr>
            <a:r>
              <a:t>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687887"/>
                </a:solidFill>
                <a:latin typeface="Aptos"/>
              </a:defRPr>
            </a:pPr>
            <a:r>
              <a:t>Maskinmesterstuderende på 4.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6446520"/>
            <a:ext cx="4297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887"/>
                </a:solidFill>
                <a:latin typeface="Aptos"/>
              </a:defRPr>
            </a:pPr>
            <a:r>
              <a:t>Kilder: src1</a:t>
            </a:r>
          </a:p>
        </p:txBody>
      </p:sp>
      <p:sp>
        <p:nvSpPr>
          <p:cNvPr id="7" name="e71"/>
          <p:cNvSpPr txBox="1"/>
          <p:nvPr/>
        </p:nvSpPr>
        <p:spPr>
          <a:xfrm>
            <a:off x="1143000" y="1143000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1. U = R · I</a:t>
            </a:r>
          </a:p>
        </p:txBody>
      </p:sp>
      <p:sp>
        <p:nvSpPr>
          <p:cNvPr id="8" name="e72"/>
          <p:cNvSpPr txBox="1"/>
          <p:nvPr/>
        </p:nvSpPr>
        <p:spPr>
          <a:xfrm>
            <a:off x="1143000" y="2846832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2. Sæt enheder på alle kendte størrelser</a:t>
            </a:r>
          </a:p>
        </p:txBody>
      </p:sp>
      <p:sp>
        <p:nvSpPr>
          <p:cNvPr id="9" name="e73"/>
          <p:cNvSpPr txBox="1"/>
          <p:nvPr/>
        </p:nvSpPr>
        <p:spPr>
          <a:xfrm>
            <a:off x="1143000" y="4550664"/>
            <a:ext cx="9875520" cy="1575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>
                <a:solidFill>
                  <a:srgbClr val="17212B"/>
                </a:solidFill>
                <a:latin typeface="Aptos"/>
              </a:defRPr>
            </a:pPr>
            <a:r>
              <a:t>3. Vurder om resultatet er fysisk rimeligt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