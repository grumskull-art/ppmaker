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</p:sldIdLst>
  <p:sldSz cx="10692000" cy="756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Indeksets sidetal beregnes fra opslagenes faktiske rækkefølge. Formler er billedaktiver fra den oprindelige LaTeX, bevaret i database og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Indeksets sidetal beregnes fra opslagenes faktiske rækkefølge. Formler er billedaktiver fra den oprindelige LaTeX, bevaret i database og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Indeksets sidetal beregnes fra opslagenes faktiske rækkefølge. Formler er billedaktiver fra den oprindelige LaTeX, bevaret i database og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Indeksets sidetal beregnes fra opslagenes faktiske rækkefølge. Formler er billedaktiver fra den oprindelige LaTeX, bevaret i database og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Indeksets sidetal beregnes fra opslagenes faktiske rækkefølge. Formler er billedaktiver fra den oprindelige LaTeX, bevaret i database og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Indeksets sidetal beregnes fra opslagenes faktiske rækkefølge. Formler er billedaktiver fra den oprindelige LaTeX, bevaret i database og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Indeksets sidetal beregnes fra opslagenes faktiske rækkefølge. Formler er billedaktiver fra den oprindelige LaTeX, bevaret i database og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Indeksets sidetal beregnes fra opslagenes faktiske rækkefølge. Formler er billedaktiver fra den oprindelige LaTeX, bevaret i database og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Indeksets sidetal beregnes fra opslagenes faktiske rækkefølge. Formler er billedaktiver fra den oprindelige LaTeX, bevaret i database og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W04: EL03:4,10, EL13:12</a:t>
            </a:r>
          </a:p>
          <a:p>
            <a:r>
              <a:t>I01: EL02:9-11</a:t>
            </a:r>
          </a:p>
          <a:p>
            <a:r>
              <a:t>I02: EL02:10, EL13:13,17</a:t>
            </a:r>
          </a:p>
          <a:p>
            <a:r>
              <a:t>I03: EL02:10, EL13:13,16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I04: EL02:7, EL03:4</a:t>
            </a:r>
          </a:p>
          <a:p>
            <a:r>
              <a:t>I05: EL04:3-4</a:t>
            </a:r>
          </a:p>
          <a:p>
            <a:r>
              <a:t>I06: EL04:6-7, EL09:3-10</a:t>
            </a:r>
          </a:p>
          <a:p>
            <a:r>
              <a:t>I07: EL04:7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B10: EL05:3, EL06:9-12</a:t>
            </a:r>
          </a:p>
          <a:p>
            <a:r>
              <a:t>N02: EL08:2, EL09:3-4</a:t>
            </a:r>
          </a:p>
          <a:p>
            <a:r>
              <a:t>U01: EL02:9-11</a:t>
            </a:r>
          </a:p>
          <a:p>
            <a:r>
              <a:t>U02: EL02:10, EL13:13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U03: EL02:10, EL13:13,15</a:t>
            </a:r>
          </a:p>
          <a:p>
            <a:r>
              <a:t>U04: EL13:11-12, EL02:5</a:t>
            </a:r>
          </a:p>
          <a:p>
            <a:r>
              <a:t>U05: EL04:3</a:t>
            </a:r>
          </a:p>
          <a:p>
            <a:r>
              <a:t>U06: EL04:5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U07: EL09:4-10, EL08:4-10</a:t>
            </a:r>
          </a:p>
          <a:p>
            <a:r>
              <a:t>E01: EL14:3-5, EL12:3</a:t>
            </a:r>
          </a:p>
          <a:p>
            <a:r>
              <a:t>E02: EL14:4,8</a:t>
            </a:r>
          </a:p>
          <a:p>
            <a:r>
              <a:t>E03: EL12:3-4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E05: EL14:7-9</a:t>
            </a:r>
          </a:p>
          <a:p>
            <a:r>
              <a:t>N01: EL08:2-10, EL09:3-10</a:t>
            </a:r>
          </a:p>
          <a:p>
            <a:r>
              <a:t>N03: EL08:3,9-14, EL09:3-10</a:t>
            </a:r>
          </a:p>
          <a:p>
            <a:r>
              <a:t>R01: EL02:8-11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R02: EL02:10, EL13:15</a:t>
            </a:r>
          </a:p>
          <a:p>
            <a:r>
              <a:t>R03: EL02:10, EL13:13</a:t>
            </a:r>
          </a:p>
          <a:p>
            <a:r>
              <a:t>R04: EL07:3-5,8</a:t>
            </a:r>
          </a:p>
          <a:p>
            <a:r>
              <a:t>R05: EL10:3-5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R06: EL10:9-10</a:t>
            </a:r>
          </a:p>
          <a:p>
            <a:r>
              <a:t>R07: EL04:4-5,8</a:t>
            </a:r>
          </a:p>
          <a:p>
            <a:r>
              <a:t>R08: EL04:6-8</a:t>
            </a:r>
          </a:p>
          <a:p>
            <a:r>
              <a:t>R09: EL04:3,8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R10: EL07:6</a:t>
            </a:r>
          </a:p>
          <a:p>
            <a:r>
              <a:t>G03: EL07:3,6</a:t>
            </a:r>
          </a:p>
          <a:p>
            <a:r>
              <a:t>G04: EL07:3,8</a:t>
            </a:r>
          </a:p>
          <a:p>
            <a:r>
              <a:t>G05: EL07:3,8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G06: EL10:5,8</a:t>
            </a:r>
          </a:p>
          <a:p>
            <a:r>
              <a:t>G01: EL07:6,9</a:t>
            </a:r>
          </a:p>
          <a:p>
            <a:r>
              <a:t>G02: EL07:6,9</a:t>
            </a:r>
          </a:p>
          <a:p>
            <a:r>
              <a:t>P01: EL13:6,12-13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P02: EL13:12-15</a:t>
            </a:r>
          </a:p>
          <a:p>
            <a:r>
              <a:t>P03: EL13:12-13</a:t>
            </a:r>
          </a:p>
          <a:p>
            <a:r>
              <a:t>P04: EL13:6-7,17</a:t>
            </a:r>
          </a:p>
          <a:p>
            <a:r>
              <a:t>P05: EL13:4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P06: EL13:4</a:t>
            </a:r>
          </a:p>
          <a:p>
            <a:r>
              <a:t>P07: EL13:4</a:t>
            </a:r>
          </a:p>
          <a:p>
            <a:r>
              <a:t>P08: EL13:10,17</a:t>
            </a:r>
          </a:p>
          <a:p>
            <a:r>
              <a:t>W01: EL13:7-8,13,16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W02: EL13:11-12</a:t>
            </a:r>
          </a:p>
          <a:p>
            <a:r>
              <a:t>W03: EL13:17</a:t>
            </a:r>
          </a:p>
          <a:p>
            <a:r>
              <a:t>W05: EL13:9</a:t>
            </a:r>
          </a:p>
          <a:p>
            <a:r>
              <a:t>M01: EL13:5,14,18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M02: EL13:5</a:t>
            </a:r>
          </a:p>
          <a:p>
            <a:r>
              <a:t>M05: EL13:10,15</a:t>
            </a:r>
          </a:p>
          <a:p>
            <a:r>
              <a:t>M03: EL13:10,15</a:t>
            </a:r>
          </a:p>
          <a:p>
            <a:r>
              <a:t>M04: EL13:10,15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M06: EL13:10,17</a:t>
            </a:r>
          </a:p>
          <a:p>
            <a:r>
              <a:t>F01: EL03:5,7,9</a:t>
            </a:r>
          </a:p>
          <a:p>
            <a:r>
              <a:t>F02: EL03:8-10</a:t>
            </a:r>
          </a:p>
          <a:p>
            <a:r>
              <a:t>F03: EL03:8,10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F04: EL03:7,10</a:t>
            </a:r>
          </a:p>
          <a:p>
            <a:r>
              <a:t>F05: EL03:10</a:t>
            </a:r>
          </a:p>
          <a:p>
            <a:r>
              <a:t>F06: EL03:9</a:t>
            </a:r>
          </a:p>
          <a:p>
            <a:r>
              <a:t>F07: EL03:7,9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B01: EL01:10-11, EL12:2, EL14:8</a:t>
            </a:r>
          </a:p>
          <a:p>
            <a:r>
              <a:t>B02: EL01:11, EL05:2-3</a:t>
            </a:r>
          </a:p>
          <a:p>
            <a:r>
              <a:t>B03: EL05:3, EL06:9-12, EL11:3-4,8</a:t>
            </a:r>
          </a:p>
          <a:p>
            <a:r>
              <a:t>B04: EL01:12-13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B05: EL05:3, EL06:9</a:t>
            </a:r>
          </a:p>
          <a:p>
            <a:r>
              <a:t>B06: EL05:2, EL06:5-8</a:t>
            </a:r>
          </a:p>
          <a:p>
            <a:r>
              <a:t>B07: EL05:2, EL06:6,13, EL11:3</a:t>
            </a:r>
          </a:p>
          <a:p>
            <a:r>
              <a:t>B08: EL05:2, EL06:6,8,13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B09: EL06:10-11, EL11:3</a:t>
            </a:r>
          </a:p>
          <a:p>
            <a:r>
              <a:t>B11: EL05:2, EL06:6</a:t>
            </a:r>
          </a:p>
          <a:p>
            <a:r>
              <a:t>B12: EL05:3, EL11:4,8</a:t>
            </a:r>
          </a:p>
          <a:p>
            <a:r>
              <a:t>B13: EL06:10-11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E04: EL14:8-9</a:t>
            </a:r>
          </a:p>
          <a:p>
            <a:r>
              <a:t>E06: EL14:8</a:t>
            </a:r>
          </a:p>
          <a:p>
            <a:r>
              <a:t>K01: EL16:3-5,7</a:t>
            </a:r>
          </a:p>
          <a:p>
            <a:r>
              <a:t>K02: EL16:7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K03: EL16:7</a:t>
            </a:r>
          </a:p>
          <a:p>
            <a:r>
              <a:t>K04: EL15:2,4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Kilde EL09:4–10. Her hedder grenstrømmene I1, I2 og I3; i originalen I, I1 og I2. Alle pile er bevidst valgt ud af a, så kildegrenen får −3 A i stedet for originalens +3 A. Belastningsresistansen R i originalen kaldes her R3. Begge kildepolariteter følger originalen. Knudepunktsmetoden er den primære løsningsvej; KVL bruges til kontrol.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Kildenotation prioriteres. Ef og Ne tilføjes for at skelne felt fra EMK og partikelantal fra vindinger. Kilder: EL01–EL16.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Kildenotation prioriteres. Ef og Ne tilføjes for at skelne felt fra EMK og partikelantal fra vindinger. Kilder: EL01–EL16.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Kildenotation prioriteres. Ef og Ne tilføjes for at skelne felt fra EMK og partikelantal fra vindinger. Kilder: EL01–EL16.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Kildenotation prioriteres. Ef og Ne tilføjes for at skelne felt fra EMK og partikelantal fra vindinger. Kilder: EL01–EL16.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SI-enheder og præfikser: BIPM SI Brochure. HK/kcal står særskilt som undervisningsafrundinger. Kildebaseret notation: EL02, EL07, EL10, EL13.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SI-enheder og præfikser: BIPM SI Brochure. HK/kcal står særskilt som undervisningsafrundinger. Kildebaseret notation: EL02, EL07, EL10, EL13.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Kontrolleret mod BIPM ampere-definition og NIST CODATA 2022. Links: https://www.bipm.org/en/si-base-units/ampere ; https://physics.nist.gov/cuu/pdf/wall_2022.pdf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Kontrolleret mod BIPM ampere-definition og NIST CODATA 2022. Links: https://www.bipm.org/en/si-base-units/ampere ; https://physics.nist.gov/cuu/pdf/wall_2022.pdf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Afskrevet fra EL07:4 og EL10:4, visuelt kontrolleret i originalerne. Tabellen er reproduceret som redigerbare celler. Pt100-standardens kurve må ikke sidestilles ukritisk med en ren platins generelle 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Afskrevet fra EL07:4 og EL10:4, visuelt kontrolleret i originalerne. Tabellen er reproduceret som redigerbare celler. Pt100-standardens kurve må ikke sidestilles ukritisk med en ren platins generelle 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Alle 160 originale slides er læst som tekst og renderet i Windows PowerPoint. Billedformler er visuelt transskriberet; databasefelterne source_locations peger på konkrete slides. Originalfilernes SHA256 er bevaret i databasen. Laboratorierapporten fra Downloads underbygger praksiskonteksten, men definerer ikke et nyt pensum.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Alle 160 originale slides er læst som tekst og renderet i Windows PowerPoint. Billedformler er visuelt transskriberet; databasefelterne source_locations peger på konkrete slides. Originalfilernes SHA256 er bevaret i databasen. Laboratorierapporten fra Downloads underbygger praksiskonteksten, men definerer ikke et nyt pensum.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Korrekturer er angivet åbent. BIPM: https://www.bipm.org/en/si-base-units/ampere ; NIST: https://physics.nist.gov/cuu/pdf/wall_2022.pdf. Ingen originale præsentationer er ændret.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Formler og beregningsveje dokumenteret i de 16 originale EL-præsentationer; 160 slides. Laboratorierapporten bruges som praksiskontekst. Ikke en fuld pensumdækning af BM4.</a:t>
            </a:r>
          </a:p>
          <a:p>
            <a:r>
              <a:t>De refererede undervisningsfiler om AC, RLC, trefase samt opgavesamlingen er ikke tilgængelige i de gennemgåede lokale mapper. Der er ikke opfundet adgang eller fyldt generiske AC-kapitler ind.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17.png"/><Relationship Id="rId9" Type="http://schemas.openxmlformats.org/officeDocument/2006/relationships/image" Target="../media/image18.png"/><Relationship Id="rId10" Type="http://schemas.openxmlformats.org/officeDocument/2006/relationships/image" Target="../media/image19.png"/><Relationship Id="rId11" Type="http://schemas.openxmlformats.org/officeDocument/2006/relationships/image" Target="../media/image20.png"/><Relationship Id="rId1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image" Target="../media/image26.png"/><Relationship Id="rId8" Type="http://schemas.openxmlformats.org/officeDocument/2006/relationships/image" Target="../media/image27.png"/><Relationship Id="rId9" Type="http://schemas.openxmlformats.org/officeDocument/2006/relationships/image" Target="../media/image28.png"/><Relationship Id="rId10" Type="http://schemas.openxmlformats.org/officeDocument/2006/relationships/image" Target="../media/image29.png"/><Relationship Id="rId11" Type="http://schemas.openxmlformats.org/officeDocument/2006/relationships/image" Target="../media/image30.png"/><Relationship Id="rId1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image" Target="../media/image34.png"/><Relationship Id="rId6" Type="http://schemas.openxmlformats.org/officeDocument/2006/relationships/image" Target="../media/image35.png"/><Relationship Id="rId7" Type="http://schemas.openxmlformats.org/officeDocument/2006/relationships/image" Target="../media/image36.png"/><Relationship Id="rId8" Type="http://schemas.openxmlformats.org/officeDocument/2006/relationships/image" Target="../media/image37.png"/><Relationship Id="rId9" Type="http://schemas.openxmlformats.org/officeDocument/2006/relationships/image" Target="../media/image38.png"/><Relationship Id="rId10" Type="http://schemas.openxmlformats.org/officeDocument/2006/relationships/image" Target="../media/image39.png"/><Relationship Id="rId11" Type="http://schemas.openxmlformats.org/officeDocument/2006/relationships/image" Target="../media/image40.png"/><Relationship Id="rId1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Relationship Id="rId6" Type="http://schemas.openxmlformats.org/officeDocument/2006/relationships/image" Target="../media/image45.png"/><Relationship Id="rId7" Type="http://schemas.openxmlformats.org/officeDocument/2006/relationships/image" Target="../media/image46.png"/><Relationship Id="rId8" Type="http://schemas.openxmlformats.org/officeDocument/2006/relationships/image" Target="../media/image47.png"/><Relationship Id="rId9" Type="http://schemas.openxmlformats.org/officeDocument/2006/relationships/image" Target="../media/image48.png"/><Relationship Id="rId10" Type="http://schemas.openxmlformats.org/officeDocument/2006/relationships/image" Target="../media/image49.png"/><Relationship Id="rId11" Type="http://schemas.openxmlformats.org/officeDocument/2006/relationships/image" Target="../media/image50.png"/><Relationship Id="rId1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png"/><Relationship Id="rId3" Type="http://schemas.openxmlformats.org/officeDocument/2006/relationships/image" Target="../media/image52.png"/><Relationship Id="rId4" Type="http://schemas.openxmlformats.org/officeDocument/2006/relationships/image" Target="../media/image53.png"/><Relationship Id="rId5" Type="http://schemas.openxmlformats.org/officeDocument/2006/relationships/image" Target="../media/image54.png"/><Relationship Id="rId6" Type="http://schemas.openxmlformats.org/officeDocument/2006/relationships/image" Target="../media/image55.png"/><Relationship Id="rId7" Type="http://schemas.openxmlformats.org/officeDocument/2006/relationships/image" Target="../media/image56.png"/><Relationship Id="rId8" Type="http://schemas.openxmlformats.org/officeDocument/2006/relationships/image" Target="../media/image57.png"/><Relationship Id="rId9" Type="http://schemas.openxmlformats.org/officeDocument/2006/relationships/image" Target="../media/image58.png"/><Relationship Id="rId10" Type="http://schemas.openxmlformats.org/officeDocument/2006/relationships/image" Target="../media/image59.png"/><Relationship Id="rId11" Type="http://schemas.openxmlformats.org/officeDocument/2006/relationships/image" Target="../media/image60.png"/><Relationship Id="rId1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png"/><Relationship Id="rId3" Type="http://schemas.openxmlformats.org/officeDocument/2006/relationships/image" Target="../media/image62.png"/><Relationship Id="rId4" Type="http://schemas.openxmlformats.org/officeDocument/2006/relationships/image" Target="../media/image63.png"/><Relationship Id="rId5" Type="http://schemas.openxmlformats.org/officeDocument/2006/relationships/image" Target="../media/image64.png"/><Relationship Id="rId6" Type="http://schemas.openxmlformats.org/officeDocument/2006/relationships/image" Target="../media/image65.png"/><Relationship Id="rId7" Type="http://schemas.openxmlformats.org/officeDocument/2006/relationships/image" Target="../media/image66.png"/><Relationship Id="rId8" Type="http://schemas.openxmlformats.org/officeDocument/2006/relationships/image" Target="../media/image67.png"/><Relationship Id="rId9" Type="http://schemas.openxmlformats.org/officeDocument/2006/relationships/image" Target="../media/image68.png"/><Relationship Id="rId10" Type="http://schemas.openxmlformats.org/officeDocument/2006/relationships/image" Target="../media/image69.png"/><Relationship Id="rId11" Type="http://schemas.openxmlformats.org/officeDocument/2006/relationships/image" Target="../media/image70.png"/><Relationship Id="rId1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1.png"/><Relationship Id="rId3" Type="http://schemas.openxmlformats.org/officeDocument/2006/relationships/image" Target="../media/image72.png"/><Relationship Id="rId4" Type="http://schemas.openxmlformats.org/officeDocument/2006/relationships/image" Target="../media/image73.png"/><Relationship Id="rId5" Type="http://schemas.openxmlformats.org/officeDocument/2006/relationships/image" Target="../media/image74.png"/><Relationship Id="rId6" Type="http://schemas.openxmlformats.org/officeDocument/2006/relationships/image" Target="../media/image75.png"/><Relationship Id="rId7" Type="http://schemas.openxmlformats.org/officeDocument/2006/relationships/image" Target="../media/image76.png"/><Relationship Id="rId8" Type="http://schemas.openxmlformats.org/officeDocument/2006/relationships/image" Target="../media/image77.png"/><Relationship Id="rId9" Type="http://schemas.openxmlformats.org/officeDocument/2006/relationships/image" Target="../media/image78.png"/><Relationship Id="rId10" Type="http://schemas.openxmlformats.org/officeDocument/2006/relationships/image" Target="../media/image79.png"/><Relationship Id="rId11" Type="http://schemas.openxmlformats.org/officeDocument/2006/relationships/image" Target="../media/image80.png"/><Relationship Id="rId1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1.png"/><Relationship Id="rId3" Type="http://schemas.openxmlformats.org/officeDocument/2006/relationships/image" Target="../media/image82.png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Relationship Id="rId6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Relationship Id="rId6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image" Target="../media/image38.png"/><Relationship Id="rId4" Type="http://schemas.openxmlformats.org/officeDocument/2006/relationships/image" Target="../media/image39.png"/><Relationship Id="rId5" Type="http://schemas.openxmlformats.org/officeDocument/2006/relationships/image" Target="../media/image40.png"/><Relationship Id="rId6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Relationship Id="rId6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Relationship Id="rId3" Type="http://schemas.openxmlformats.org/officeDocument/2006/relationships/image" Target="../media/image46.png"/><Relationship Id="rId4" Type="http://schemas.openxmlformats.org/officeDocument/2006/relationships/image" Target="../media/image47.png"/><Relationship Id="rId5" Type="http://schemas.openxmlformats.org/officeDocument/2006/relationships/image" Target="../media/image48.png"/><Relationship Id="rId6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Relationship Id="rId3" Type="http://schemas.openxmlformats.org/officeDocument/2006/relationships/image" Target="../media/image50.png"/><Relationship Id="rId4" Type="http://schemas.openxmlformats.org/officeDocument/2006/relationships/image" Target="../media/image51.png"/><Relationship Id="rId5" Type="http://schemas.openxmlformats.org/officeDocument/2006/relationships/image" Target="../media/image52.png"/><Relationship Id="rId6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png"/><Relationship Id="rId3" Type="http://schemas.openxmlformats.org/officeDocument/2006/relationships/image" Target="../media/image54.png"/><Relationship Id="rId4" Type="http://schemas.openxmlformats.org/officeDocument/2006/relationships/image" Target="../media/image55.png"/><Relationship Id="rId5" Type="http://schemas.openxmlformats.org/officeDocument/2006/relationships/image" Target="../media/image56.png"/><Relationship Id="rId6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png"/><Relationship Id="rId3" Type="http://schemas.openxmlformats.org/officeDocument/2006/relationships/image" Target="../media/image58.png"/><Relationship Id="rId4" Type="http://schemas.openxmlformats.org/officeDocument/2006/relationships/image" Target="../media/image59.png"/><Relationship Id="rId5" Type="http://schemas.openxmlformats.org/officeDocument/2006/relationships/image" Target="../media/image60.png"/><Relationship Id="rId6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png"/><Relationship Id="rId3" Type="http://schemas.openxmlformats.org/officeDocument/2006/relationships/image" Target="../media/image62.png"/><Relationship Id="rId4" Type="http://schemas.openxmlformats.org/officeDocument/2006/relationships/image" Target="../media/image63.png"/><Relationship Id="rId5" Type="http://schemas.openxmlformats.org/officeDocument/2006/relationships/image" Target="../media/image64.png"/><Relationship Id="rId6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5.png"/><Relationship Id="rId3" Type="http://schemas.openxmlformats.org/officeDocument/2006/relationships/image" Target="../media/image66.png"/><Relationship Id="rId4" Type="http://schemas.openxmlformats.org/officeDocument/2006/relationships/image" Target="../media/image67.png"/><Relationship Id="rId5" Type="http://schemas.openxmlformats.org/officeDocument/2006/relationships/image" Target="../media/image68.png"/><Relationship Id="rId6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9.png"/><Relationship Id="rId3" Type="http://schemas.openxmlformats.org/officeDocument/2006/relationships/image" Target="../media/image70.png"/><Relationship Id="rId4" Type="http://schemas.openxmlformats.org/officeDocument/2006/relationships/image" Target="../media/image71.png"/><Relationship Id="rId5" Type="http://schemas.openxmlformats.org/officeDocument/2006/relationships/image" Target="../media/image72.png"/><Relationship Id="rId6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3.png"/><Relationship Id="rId3" Type="http://schemas.openxmlformats.org/officeDocument/2006/relationships/image" Target="../media/image74.png"/><Relationship Id="rId4" Type="http://schemas.openxmlformats.org/officeDocument/2006/relationships/image" Target="../media/image75.png"/><Relationship Id="rId5" Type="http://schemas.openxmlformats.org/officeDocument/2006/relationships/image" Target="../media/image76.png"/><Relationship Id="rId6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png"/><Relationship Id="rId3" Type="http://schemas.openxmlformats.org/officeDocument/2006/relationships/image" Target="../media/image78.png"/><Relationship Id="rId4" Type="http://schemas.openxmlformats.org/officeDocument/2006/relationships/image" Target="../media/image79.png"/><Relationship Id="rId5" Type="http://schemas.openxmlformats.org/officeDocument/2006/relationships/image" Target="../media/image80.png"/><Relationship Id="rId6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1.png"/><Relationship Id="rId3" Type="http://schemas.openxmlformats.org/officeDocument/2006/relationships/image" Target="../media/image82.png"/><Relationship Id="rId4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3.png"/><Relationship Id="rId3" Type="http://schemas.openxmlformats.org/officeDocument/2006/relationships/image" Target="../media/image84.png"/><Relationship Id="rId4" Type="http://schemas.openxmlformats.org/officeDocument/2006/relationships/image" Target="../media/image85.png"/><Relationship Id="rId5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526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Find en beregningsvej · indeks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629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257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3725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458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1 / 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092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index-table-1"/>
          <p:cNvGraphicFramePr>
            <a:graphicFrameLocks noGrp="1"/>
          </p:cNvGraphicFramePr>
          <p:nvPr/>
        </p:nvGraphicFramePr>
        <p:xfrm>
          <a:off x="411480" y="1042415"/>
          <a:ext cx="9784079" cy="55138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2057400"/>
                <a:gridCol w="2331720"/>
                <a:gridCol w="3383279"/>
                <a:gridCol w="502920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Søger</a:t>
                      </a:r>
                    </a:p>
                  </a:txBody>
                  <a:tcPr marL="59436" marR="59436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Har opgivet</a:t>
                      </a:r>
                    </a:p>
                  </a:txBody>
                  <a:tcPr marL="59436" marR="59436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Situation / betingelse</a:t>
                      </a:r>
                    </a:p>
                  </a:txBody>
                  <a:tcPr marL="59436" marR="59436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Formel</a:t>
                      </a:r>
                    </a:p>
                  </a:txBody>
                  <a:tcPr marL="59436" marR="59436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Side</a:t>
                      </a:r>
                    </a:p>
                  </a:txBody>
                  <a:tcPr marL="59436" marR="59436" marT="45720" marB="45720">
                    <a:solidFill>
                      <a:srgbClr val="075B70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W04 · Ladning Q [C]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I [A], Δt [s]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Konstant strøm; ellers sum af delintervaller.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I01 · Strøm I [A]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U [V], R [Ω]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Ohmsk R; DC eller konsistente AC-magnituder.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I02 · Strøm I [A]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P [W], U [V]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Stationær DC; P er elektrisk indgangseffekt.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I03 · Strømmens størrelse |I| [A]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P [W], R [Ω]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Ohmsk resistans; P er tabet i R.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I04 · Middelstrøm I [A]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Q [C], Δt [s]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Netto passeret ladning i valgt interval.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11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I05 · Kildestrøm I [A]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E [V], ri [Ω], R [Ω]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Én DC-kilde med intern serie-modstand.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11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I06 · Grenstrøm Ik [A]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Ugren [V], Rk [Ω]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Parallelgrene har samme knudespænding.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11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I07 · Grenstrøm I1 [A]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Itotal [A], R1, R2 [Ω]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To parallelle ohmske modstande.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11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B10 · Viklingsstrøm I [A]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H [A/m], l [m], N [1]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Magnetisk vej/spole-model som B05.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12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N02 · Ukendt grenstrøm Ix [A]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Alle øvrige ind- og udstrømme [A]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KCL i én knude; stationær kreds.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12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9" name="index-table-1-f1" descr="Q=I\Delta 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3632" y="1444752"/>
            <a:ext cx="1034735" cy="441655"/>
          </a:xfrm>
          <a:prstGeom prst="rect">
            <a:avLst/>
          </a:prstGeom>
        </p:spPr>
      </p:pic>
      <p:pic>
        <p:nvPicPr>
          <p:cNvPr id="10" name="index-table-1-f2" descr="I=\frac{U}{R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4694" y="1959559"/>
            <a:ext cx="572611" cy="441655"/>
          </a:xfrm>
          <a:prstGeom prst="rect">
            <a:avLst/>
          </a:prstGeom>
        </p:spPr>
      </p:pic>
      <p:pic>
        <p:nvPicPr>
          <p:cNvPr id="11" name="index-table-1-f3" descr="I=\frac{P}{U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6349" y="2474366"/>
            <a:ext cx="569301" cy="441655"/>
          </a:xfrm>
          <a:prstGeom prst="rect">
            <a:avLst/>
          </a:prstGeom>
        </p:spPr>
      </p:pic>
      <p:pic>
        <p:nvPicPr>
          <p:cNvPr id="12" name="index-table-1-f4" descr="|I|=\sqrt{\frac{P}{R}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91205" y="2989173"/>
            <a:ext cx="819589" cy="441655"/>
          </a:xfrm>
          <a:prstGeom prst="rect">
            <a:avLst/>
          </a:prstGeom>
        </p:spPr>
      </p:pic>
      <p:pic>
        <p:nvPicPr>
          <p:cNvPr id="13" name="index-table-1-f5" descr="I_{\mathrm{middel}}=\frac{Q}{\Delta t}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78822" y="3503980"/>
            <a:ext cx="1044355" cy="441655"/>
          </a:xfrm>
          <a:prstGeom prst="rect">
            <a:avLst/>
          </a:prstGeom>
        </p:spPr>
      </p:pic>
      <p:pic>
        <p:nvPicPr>
          <p:cNvPr id="14" name="index-table-1-f6" descr="I=\frac{E}{r_i+R}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08417" y="4018787"/>
            <a:ext cx="785164" cy="441655"/>
          </a:xfrm>
          <a:prstGeom prst="rect">
            <a:avLst/>
          </a:prstGeom>
        </p:spPr>
      </p:pic>
      <p:pic>
        <p:nvPicPr>
          <p:cNvPr id="15" name="index-table-1-f7" descr="I_k=\frac{U_{\mathrm{gren}}}{R_k}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16513" y="4533595"/>
            <a:ext cx="768973" cy="441655"/>
          </a:xfrm>
          <a:prstGeom prst="rect">
            <a:avLst/>
          </a:prstGeom>
        </p:spPr>
      </p:pic>
      <p:pic>
        <p:nvPicPr>
          <p:cNvPr id="16" name="index-table-1-f8" descr="I_1=I_{\mathrm{total}}\frac{R_2}{R_1+R_2}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50201" y="5048402"/>
            <a:ext cx="1301597" cy="441655"/>
          </a:xfrm>
          <a:prstGeom prst="rect">
            <a:avLst/>
          </a:prstGeom>
        </p:spPr>
      </p:pic>
      <p:pic>
        <p:nvPicPr>
          <p:cNvPr id="17" name="index-table-1-f9" descr="I=\frac{Hl}{N}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99412" y="5563209"/>
            <a:ext cx="603174" cy="441655"/>
          </a:xfrm>
          <a:prstGeom prst="rect">
            <a:avLst/>
          </a:prstGeom>
        </p:spPr>
      </p:pic>
      <p:pic>
        <p:nvPicPr>
          <p:cNvPr id="18" name="index-table-1-f10" descr="I_x=\sum I_{\mathrm{ind}}-\sum I_{\mathrm{andre,ud}}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913848" y="6078016"/>
            <a:ext cx="2174302" cy="441655"/>
          </a:xfrm>
          <a:prstGeom prst="rect">
            <a:avLst/>
          </a:prstGeom>
        </p:spPr>
      </p:pic>
      <p:sp>
        <p:nvSpPr>
          <p:cNvPr id="19" name="index-tip-1"/>
          <p:cNvSpPr txBox="1"/>
          <p:nvPr/>
        </p:nvSpPr>
        <p:spPr>
          <a:xfrm>
            <a:off x="411480" y="6720840"/>
            <a:ext cx="98069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7212B"/>
                </a:solidFill>
                <a:latin typeface="Calibri"/>
              </a:defRPr>
            </a:pPr>
            <a:r>
              <a:t>Vælg både oplysninger og fysisk model. Blå: søger · brun: har · grøn: beregn. Knudepunktseksempel: side 31.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526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Find en beregningsvej · indeks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629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257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3725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458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2 / 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092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index-table-2"/>
          <p:cNvGraphicFramePr>
            <a:graphicFrameLocks noGrp="1"/>
          </p:cNvGraphicFramePr>
          <p:nvPr/>
        </p:nvGraphicFramePr>
        <p:xfrm>
          <a:off x="411480" y="1042415"/>
          <a:ext cx="9784079" cy="55138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2057400"/>
                <a:gridCol w="2331720"/>
                <a:gridCol w="3383279"/>
                <a:gridCol w="502920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Søger</a:t>
                      </a:r>
                    </a:p>
                  </a:txBody>
                  <a:tcPr marL="59436" marR="59436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Har opgivet</a:t>
                      </a:r>
                    </a:p>
                  </a:txBody>
                  <a:tcPr marL="59436" marR="59436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Situation / betingelse</a:t>
                      </a:r>
                    </a:p>
                  </a:txBody>
                  <a:tcPr marL="59436" marR="59436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Formel</a:t>
                      </a:r>
                    </a:p>
                  </a:txBody>
                  <a:tcPr marL="59436" marR="59436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Side</a:t>
                      </a:r>
                    </a:p>
                  </a:txBody>
                  <a:tcPr marL="59436" marR="59436" marT="45720" marB="45720">
                    <a:solidFill>
                      <a:srgbClr val="075B70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U01 · Spænding U [V]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I [A], R [Ω]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Ohmsk belastning; U følger valgt polaritet.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12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U02 · Spænding U [V]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P [W], I [A]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Stationær DC; samme komponent for P og I.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12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U03 · Spændingens størrelse |U| [V]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P [W], R [Ω]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Effekt afsat i ohmsk R.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13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U04 · Potentialforskel U [V]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W [J], Q [C]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Elektrisk energi overført pr. ladning.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13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U05 · Klemspænding Ukl [V]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E [V], I [A], ri [Ω]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Afladning; I ud af kildens pluspol.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13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U06 · Delspænding U1 [V]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U [V], R1, R2 [Ω]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To serie-R; midtpunktet er ubelastet.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13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U07 · Knudespænding Va [V]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Grenkilder Ek [V], Rk [Ω]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Fælles knude a og reference 0; kilder + mod a.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14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E01 · Induceret spænding e [V]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N [1], ΔΦ [Wb], Δt [s]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Middel-EMK over interval; samme flux gennem hver vinding.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14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E02 · Øjebliks-EMK e(t) [V]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N [1], Φ(t) [Wb]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Valgt positiv fluxnormal og konsistent omløbsretning.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14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E03 · Bevægelses-EMK |E| [V]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B [T], l [m], v [m/s]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Lige leder; l, v og B står indbyrdes vinkelret.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14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9" name="index-table-2-f1" descr="U=R I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1994" y="1444752"/>
            <a:ext cx="918011" cy="441655"/>
          </a:xfrm>
          <a:prstGeom prst="rect">
            <a:avLst/>
          </a:prstGeom>
        </p:spPr>
      </p:pic>
      <p:pic>
        <p:nvPicPr>
          <p:cNvPr id="10" name="index-table-2-f2" descr="U=\frac{P}{I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1313" y="1959559"/>
            <a:ext cx="639372" cy="441655"/>
          </a:xfrm>
          <a:prstGeom prst="rect">
            <a:avLst/>
          </a:prstGeom>
        </p:spPr>
      </p:pic>
      <p:pic>
        <p:nvPicPr>
          <p:cNvPr id="11" name="index-table-2-f3" descr="|U|=\sqrt{P R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8292" y="2474366"/>
            <a:ext cx="1105414" cy="441655"/>
          </a:xfrm>
          <a:prstGeom prst="rect">
            <a:avLst/>
          </a:prstGeom>
        </p:spPr>
      </p:pic>
      <p:pic>
        <p:nvPicPr>
          <p:cNvPr id="12" name="index-table-2-f4" descr="U=\frac{W}{Q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67304" y="2989173"/>
            <a:ext cx="667390" cy="441655"/>
          </a:xfrm>
          <a:prstGeom prst="rect">
            <a:avLst/>
          </a:prstGeom>
        </p:spPr>
      </p:pic>
      <p:pic>
        <p:nvPicPr>
          <p:cNvPr id="13" name="index-table-2-f5" descr="U_{\mathrm{kl}}=E-I r_i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50186" y="3503980"/>
            <a:ext cx="1501627" cy="441655"/>
          </a:xfrm>
          <a:prstGeom prst="rect">
            <a:avLst/>
          </a:prstGeom>
        </p:spPr>
      </p:pic>
      <p:pic>
        <p:nvPicPr>
          <p:cNvPr id="14" name="index-table-2-f6" descr="U_1=U\frac{R_1}{R_1+R_2}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16800" y="4018787"/>
            <a:ext cx="1168400" cy="441655"/>
          </a:xfrm>
          <a:prstGeom prst="rect">
            <a:avLst/>
          </a:prstGeom>
        </p:spPr>
      </p:pic>
      <p:pic>
        <p:nvPicPr>
          <p:cNvPr id="15" name="index-table-2-f7" descr="V_a=\frac{\sum_k E_k/R_k}{\sum_k 1/R_k}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92270" y="4533595"/>
            <a:ext cx="617459" cy="441655"/>
          </a:xfrm>
          <a:prstGeom prst="rect">
            <a:avLst/>
          </a:prstGeom>
        </p:spPr>
      </p:pic>
      <p:pic>
        <p:nvPicPr>
          <p:cNvPr id="16" name="index-table-2-f8" descr="e_{\mathrm{middel}}=-N\frac{\Delta\Phi}{\Delta t}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48409" y="5048402"/>
            <a:ext cx="1505181" cy="441655"/>
          </a:xfrm>
          <a:prstGeom prst="rect">
            <a:avLst/>
          </a:prstGeom>
        </p:spPr>
      </p:pic>
      <p:pic>
        <p:nvPicPr>
          <p:cNvPr id="17" name="index-table-2-f9" descr="e(t)=-N\frac{\mathrm{d}\Phi}{\mathrm{d}t}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83431" y="5563209"/>
            <a:ext cx="1235137" cy="441655"/>
          </a:xfrm>
          <a:prstGeom prst="rect">
            <a:avLst/>
          </a:prstGeom>
        </p:spPr>
      </p:pic>
      <p:pic>
        <p:nvPicPr>
          <p:cNvPr id="18" name="index-table-2-f10" descr="|E|=Blv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424730" y="6078016"/>
            <a:ext cx="1152538" cy="441655"/>
          </a:xfrm>
          <a:prstGeom prst="rect">
            <a:avLst/>
          </a:prstGeom>
        </p:spPr>
      </p:pic>
      <p:sp>
        <p:nvSpPr>
          <p:cNvPr id="19" name="index-tip-2"/>
          <p:cNvSpPr txBox="1"/>
          <p:nvPr/>
        </p:nvSpPr>
        <p:spPr>
          <a:xfrm>
            <a:off x="411480" y="6720840"/>
            <a:ext cx="98069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7212B"/>
                </a:solidFill>
                <a:latin typeface="Calibri"/>
              </a:defRPr>
            </a:pPr>
            <a:r>
              <a:t>Vælg både oplysninger og fysisk model. Blå: søger · brun: har · grøn: beregn. Knudepunktseksempel: side 31.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526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Find en beregningsvej · indeks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629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257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3725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458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3 / 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092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index-table-3"/>
          <p:cNvGraphicFramePr>
            <a:graphicFrameLocks noGrp="1"/>
          </p:cNvGraphicFramePr>
          <p:nvPr/>
        </p:nvGraphicFramePr>
        <p:xfrm>
          <a:off x="411480" y="1042415"/>
          <a:ext cx="9784079" cy="55138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2057400"/>
                <a:gridCol w="2331720"/>
                <a:gridCol w="3383279"/>
                <a:gridCol w="502920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Søger</a:t>
                      </a:r>
                    </a:p>
                  </a:txBody>
                  <a:tcPr marL="59436" marR="59436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Har opgivet</a:t>
                      </a:r>
                    </a:p>
                  </a:txBody>
                  <a:tcPr marL="59436" marR="59436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Situation / betingelse</a:t>
                      </a:r>
                    </a:p>
                  </a:txBody>
                  <a:tcPr marL="59436" marR="59436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Formel</a:t>
                      </a:r>
                    </a:p>
                  </a:txBody>
                  <a:tcPr marL="59436" marR="59436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Side</a:t>
                      </a:r>
                    </a:p>
                  </a:txBody>
                  <a:tcPr marL="59436" marR="59436" marT="45720" marB="45720">
                    <a:solidFill>
                      <a:srgbClr val="075B70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E05 · Selvinduktions-EMK es [V]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L [H], di/dt [A/s]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Konstant induktans; induceret modspænding.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15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N01 · Knudespændinger Va [V]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Topologi, R [Ω], kilder og reference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DC-net; strømmene ud af hver ukendt knude.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15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N03 · Kontrol af spændinger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Kilders polaritet, I [A], R [Ω]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KVL i lukket DC-sløjfe; kontrol efter KCL-løsning.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15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R01 · Resistans R [Ω]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U [V], I [A]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Ohmsk komponent ved den aktuelle temperatur.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15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R02 · Resistans R [Ω]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P [W], I [A]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Ohmsk R; P er dens afsatte effekt.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16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R03 · Resistans R [Ω]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U [V], P [W]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Ohmsk R; U måles over R.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16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R04 · Ledermodstand R [Ω]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ρ [Ω·mm²/m], l [m], S [mm²]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Ensartet leder; ρ ved relevant temperatur.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16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R05 · Varm modstand RT [Ω]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Rt [Ω], αt [K⁻¹], T, t [°C]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Lineær metalmodel; α hører til referencen t.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16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R06 · Kold modstand Rt [Ω]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RT [Ω], αt [K⁻¹], T, t [°C]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Samme lineære model og reference som R05.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17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R07 · Seriemodstand Rs [Ω]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R1 … Rn [Ω]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Én strømvej; samme strøm i alle R.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17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9" name="index-table-3-f1" descr="e_s=-L\frac{\mathrm{d}i}{\mathrm{d}t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706" y="1444752"/>
            <a:ext cx="1000586" cy="441655"/>
          </a:xfrm>
          <a:prstGeom prst="rect">
            <a:avLst/>
          </a:prstGeom>
        </p:spPr>
      </p:pic>
      <p:pic>
        <p:nvPicPr>
          <p:cNvPr id="10" name="index-table-3-f2" descr="\sum_b\frac{V_a-V_b}{R_{ab}}=I_{\mathrm{ind},a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2055" y="1959559"/>
            <a:ext cx="1137888" cy="441655"/>
          </a:xfrm>
          <a:prstGeom prst="rect">
            <a:avLst/>
          </a:prstGeom>
        </p:spPr>
      </p:pic>
      <p:pic>
        <p:nvPicPr>
          <p:cNvPr id="11" name="index-table-3-f3" descr="\sum_k\Delta V_k=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93013" y="2474366"/>
            <a:ext cx="815972" cy="441655"/>
          </a:xfrm>
          <a:prstGeom prst="rect">
            <a:avLst/>
          </a:prstGeom>
        </p:spPr>
      </p:pic>
      <p:pic>
        <p:nvPicPr>
          <p:cNvPr id="12" name="index-table-3-f4" descr="R=\frac{U}{I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76178" y="2989173"/>
            <a:ext cx="649643" cy="441655"/>
          </a:xfrm>
          <a:prstGeom prst="rect">
            <a:avLst/>
          </a:prstGeom>
        </p:spPr>
      </p:pic>
      <p:pic>
        <p:nvPicPr>
          <p:cNvPr id="13" name="index-table-3-f5" descr="R=\frac{P}{I^2}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85009" y="3503980"/>
            <a:ext cx="631981" cy="441655"/>
          </a:xfrm>
          <a:prstGeom prst="rect">
            <a:avLst/>
          </a:prstGeom>
        </p:spPr>
      </p:pic>
      <p:pic>
        <p:nvPicPr>
          <p:cNvPr id="14" name="index-table-3-f6" descr="R=\frac{U^2}{P}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55728" y="4018787"/>
            <a:ext cx="690543" cy="441655"/>
          </a:xfrm>
          <a:prstGeom prst="rect">
            <a:avLst/>
          </a:prstGeom>
        </p:spPr>
      </p:pic>
      <p:pic>
        <p:nvPicPr>
          <p:cNvPr id="15" name="index-table-3-f7" descr="R=\rho\frac{l}{S}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30458" y="4533595"/>
            <a:ext cx="741082" cy="441655"/>
          </a:xfrm>
          <a:prstGeom prst="rect">
            <a:avLst/>
          </a:prstGeom>
        </p:spPr>
      </p:pic>
      <p:pic>
        <p:nvPicPr>
          <p:cNvPr id="16" name="index-table-3-f8" descr="R_T=R_t[1+\alpha_t(T-t)]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19577" y="5048402"/>
            <a:ext cx="2562844" cy="441655"/>
          </a:xfrm>
          <a:prstGeom prst="rect">
            <a:avLst/>
          </a:prstGeom>
        </p:spPr>
      </p:pic>
      <p:pic>
        <p:nvPicPr>
          <p:cNvPr id="17" name="index-table-3-f9" descr="R_t=\frac{R_T}{1+\alpha_t(T-t)}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66265" y="5563209"/>
            <a:ext cx="1269469" cy="441655"/>
          </a:xfrm>
          <a:prstGeom prst="rect">
            <a:avLst/>
          </a:prstGeom>
        </p:spPr>
      </p:pic>
      <p:pic>
        <p:nvPicPr>
          <p:cNvPr id="18" name="index-table-3-f10" descr="R_s=\sum_{k=1}^{n}R_k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21143" y="6078016"/>
            <a:ext cx="759712" cy="441655"/>
          </a:xfrm>
          <a:prstGeom prst="rect">
            <a:avLst/>
          </a:prstGeom>
        </p:spPr>
      </p:pic>
      <p:sp>
        <p:nvSpPr>
          <p:cNvPr id="19" name="index-tip-3"/>
          <p:cNvSpPr txBox="1"/>
          <p:nvPr/>
        </p:nvSpPr>
        <p:spPr>
          <a:xfrm>
            <a:off x="411480" y="6720840"/>
            <a:ext cx="98069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7212B"/>
                </a:solidFill>
                <a:latin typeface="Calibri"/>
              </a:defRPr>
            </a:pPr>
            <a:r>
              <a:t>Vælg både oplysninger og fysisk model. Blå: søger · brun: har · grøn: beregn. Knudepunktseksempel: side 31.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526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Find en beregningsvej · indeks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629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257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3725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458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4 / 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092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index-table-4"/>
          <p:cNvGraphicFramePr>
            <a:graphicFrameLocks noGrp="1"/>
          </p:cNvGraphicFramePr>
          <p:nvPr/>
        </p:nvGraphicFramePr>
        <p:xfrm>
          <a:off x="411480" y="1042415"/>
          <a:ext cx="9784079" cy="55138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2057400"/>
                <a:gridCol w="2331720"/>
                <a:gridCol w="3383279"/>
                <a:gridCol w="502920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Søger</a:t>
                      </a:r>
                    </a:p>
                  </a:txBody>
                  <a:tcPr marL="59436" marR="59436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Har opgivet</a:t>
                      </a:r>
                    </a:p>
                  </a:txBody>
                  <a:tcPr marL="59436" marR="59436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Situation / betingelse</a:t>
                      </a:r>
                    </a:p>
                  </a:txBody>
                  <a:tcPr marL="59436" marR="59436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Formel</a:t>
                      </a:r>
                    </a:p>
                  </a:txBody>
                  <a:tcPr marL="59436" marR="59436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Side</a:t>
                      </a:r>
                    </a:p>
                  </a:txBody>
                  <a:tcPr marL="59436" marR="59436" marT="45720" marB="45720">
                    <a:solidFill>
                      <a:srgbClr val="075B70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R08 · Parallelmodstand Rp [Ω]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R1 … Rn [Ω]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Alle R mellem de samme to knuder.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17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R09 · Indre modstand ri [Ω]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E [V], Ukl [V], I [A]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Belastet DC-kilde; afladning.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17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R10 · Resistans R [Ω]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G [S]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Ohmsk komponent.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18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G03 · Resistivitet ρ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R [Ω], l [m], S [mm²]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Ensartet leder ved kendt temperatur.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18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G04 · Tværsnit S [mm²]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ρ [Ω·mm²/m], l [m], R [Ω]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Ensartet leder; kendt materialeværdi.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18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G05 · Lederlængde l [m]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R [Ω], S [mm²], ρ [Ω·mm²/m]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Ensartet leder.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18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G06 · Temperaturstigning ΔT [K]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RT, Rt [Ω], αt [K⁻¹]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Lineær metalmodel med kendt t.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19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G01 · Konduktans G [S]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R [Ω] eller I [A], U [V]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Samme ohmske komponent.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19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G02 · Specifik ledningsevne γ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ρ i kendt enhed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Materialeværdi ved samme temperatur.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19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P01 · Elektrisk effekt P [W]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U [V], I [A]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Stationær DC; forbrugerens pluspol mod strømpilen.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19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9" name="index-table-4-f1" descr="R_p=\left(\sum_{k=1}^{n}\frac{1}{R_k}\right)^{-1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1890" y="1444752"/>
            <a:ext cx="1038219" cy="441655"/>
          </a:xfrm>
          <a:prstGeom prst="rect">
            <a:avLst/>
          </a:prstGeom>
        </p:spPr>
      </p:pic>
      <p:pic>
        <p:nvPicPr>
          <p:cNvPr id="10" name="index-table-4-f2" descr="r_i=\frac{E-U_{\mathrm{kl}}}{I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4943" y="1959559"/>
            <a:ext cx="932112" cy="441655"/>
          </a:xfrm>
          <a:prstGeom prst="rect">
            <a:avLst/>
          </a:prstGeom>
        </p:spPr>
      </p:pic>
      <p:pic>
        <p:nvPicPr>
          <p:cNvPr id="11" name="index-table-4-f3" descr="R=\frac{1}{G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6104" y="2474366"/>
            <a:ext cx="649791" cy="441655"/>
          </a:xfrm>
          <a:prstGeom prst="rect">
            <a:avLst/>
          </a:prstGeom>
        </p:spPr>
      </p:pic>
      <p:pic>
        <p:nvPicPr>
          <p:cNvPr id="12" name="index-table-4-f4" descr="\rho=\frac{R S}{l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42314" y="2989173"/>
            <a:ext cx="717370" cy="441655"/>
          </a:xfrm>
          <a:prstGeom prst="rect">
            <a:avLst/>
          </a:prstGeom>
        </p:spPr>
      </p:pic>
      <p:pic>
        <p:nvPicPr>
          <p:cNvPr id="13" name="index-table-4-f5" descr="S=\rho\frac{l}{R}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6608" y="3503980"/>
            <a:ext cx="748783" cy="441655"/>
          </a:xfrm>
          <a:prstGeom prst="rect">
            <a:avLst/>
          </a:prstGeom>
        </p:spPr>
      </p:pic>
      <p:pic>
        <p:nvPicPr>
          <p:cNvPr id="14" name="index-table-4-f6" descr="l=\frac{R S}{\rho}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80484" y="4018787"/>
            <a:ext cx="641030" cy="441655"/>
          </a:xfrm>
          <a:prstGeom prst="rect">
            <a:avLst/>
          </a:prstGeom>
        </p:spPr>
      </p:pic>
      <p:pic>
        <p:nvPicPr>
          <p:cNvPr id="15" name="index-table-4-f7" descr="\Delta T=\frac{R_T-R_t}{R_t\alpha_t}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85735" y="4533595"/>
            <a:ext cx="1030528" cy="441655"/>
          </a:xfrm>
          <a:prstGeom prst="rect">
            <a:avLst/>
          </a:prstGeom>
        </p:spPr>
      </p:pic>
      <p:pic>
        <p:nvPicPr>
          <p:cNvPr id="16" name="index-table-4-f8" descr="G=\frac{1}{R}=\frac{I}{U}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90415" y="5048402"/>
            <a:ext cx="1021168" cy="441655"/>
          </a:xfrm>
          <a:prstGeom prst="rect">
            <a:avLst/>
          </a:prstGeom>
        </p:spPr>
      </p:pic>
      <p:pic>
        <p:nvPicPr>
          <p:cNvPr id="17" name="index-table-4-f9" descr="\gamma=\frac{1}{\rho}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94649" y="5563209"/>
            <a:ext cx="612700" cy="441655"/>
          </a:xfrm>
          <a:prstGeom prst="rect">
            <a:avLst/>
          </a:prstGeom>
        </p:spPr>
      </p:pic>
      <p:pic>
        <p:nvPicPr>
          <p:cNvPr id="18" name="index-table-4-f10" descr="P=U I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53035" y="6078016"/>
            <a:ext cx="895929" cy="441655"/>
          </a:xfrm>
          <a:prstGeom prst="rect">
            <a:avLst/>
          </a:prstGeom>
        </p:spPr>
      </p:pic>
      <p:sp>
        <p:nvSpPr>
          <p:cNvPr id="19" name="index-tip-4"/>
          <p:cNvSpPr txBox="1"/>
          <p:nvPr/>
        </p:nvSpPr>
        <p:spPr>
          <a:xfrm>
            <a:off x="411480" y="6720840"/>
            <a:ext cx="98069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7212B"/>
                </a:solidFill>
                <a:latin typeface="Calibri"/>
              </a:defRPr>
            </a:pPr>
            <a:r>
              <a:t>Vælg både oplysninger og fysisk model. Blå: søger · brun: har · grøn: beregn. Knudepunktseksempel: side 31.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526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Find en beregningsvej · indeks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629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257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3725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458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5 / 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092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index-table-5"/>
          <p:cNvGraphicFramePr>
            <a:graphicFrameLocks noGrp="1"/>
          </p:cNvGraphicFramePr>
          <p:nvPr/>
        </p:nvGraphicFramePr>
        <p:xfrm>
          <a:off x="411480" y="1042415"/>
          <a:ext cx="9784079" cy="55138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2057400"/>
                <a:gridCol w="2331720"/>
                <a:gridCol w="3383279"/>
                <a:gridCol w="502920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Søger</a:t>
                      </a:r>
                    </a:p>
                  </a:txBody>
                  <a:tcPr marL="59436" marR="59436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Har opgivet</a:t>
                      </a:r>
                    </a:p>
                  </a:txBody>
                  <a:tcPr marL="59436" marR="59436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Situation / betingelse</a:t>
                      </a:r>
                    </a:p>
                  </a:txBody>
                  <a:tcPr marL="59436" marR="59436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Formel</a:t>
                      </a:r>
                    </a:p>
                  </a:txBody>
                  <a:tcPr marL="59436" marR="59436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Side</a:t>
                      </a:r>
                    </a:p>
                  </a:txBody>
                  <a:tcPr marL="59436" marR="59436" marT="45720" marB="45720">
                    <a:solidFill>
                      <a:srgbClr val="075B70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P02 · Varmeeffekt P [W]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I [A], R [Ω]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Ohmsk R ved aktuel temperatur.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20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P03 · Varmeeffekt P [W]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U [V], R [Ω]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U er spændingen over ohmsk R.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20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P04 · Middel-effekt P [W]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W [J], Δt [s]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Energi/arbejde omsat i et interval.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20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P05 · Afgiven effekt Pud [W]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η [1], Pind [W]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Samme maskine og driftspunkt.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20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P06 · Effekttab Ptab [W]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Pind, Pud [W]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Stationær energibalance.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21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P07 · Virkningsgrad η [1]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Pud, Pind [W]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Stationær drift; eller samme energiperiode.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21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P08 · Mekanisk effekt P [W]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M [N·m], ω [rad/s] eller n [rpm]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Rotation; n er omdrejninger pr. minut i sidste udtryk.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21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W01 · Energi W [J] eller [kWh]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P [W] eller [kW], t [s] eller [h]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Konstant effekt i hele perioden.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21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W02 · Elektrisk energi W [J]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U [V], Q [C] eller I [A], t [s]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Konstant spænding; ved UIt også konstant I.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22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W03 · Tid t [s]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W [J], P [W]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Konstant effekt.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22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9" name="index-table-5-f1" descr="P=I^2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983" y="1444752"/>
            <a:ext cx="1000033" cy="441655"/>
          </a:xfrm>
          <a:prstGeom prst="rect">
            <a:avLst/>
          </a:prstGeom>
        </p:spPr>
      </p:pic>
      <p:pic>
        <p:nvPicPr>
          <p:cNvPr id="10" name="index-table-5-f2" descr="P=\frac{U^2}{R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5488" y="1959559"/>
            <a:ext cx="671023" cy="441655"/>
          </a:xfrm>
          <a:prstGeom prst="rect">
            <a:avLst/>
          </a:prstGeom>
        </p:spPr>
      </p:pic>
      <p:pic>
        <p:nvPicPr>
          <p:cNvPr id="11" name="index-table-5-f3" descr="P_{\mathrm{middel}}=\frac{W}{\Delta t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8625" y="2474366"/>
            <a:ext cx="1144749" cy="441655"/>
          </a:xfrm>
          <a:prstGeom prst="rect">
            <a:avLst/>
          </a:prstGeom>
        </p:spPr>
      </p:pic>
      <p:pic>
        <p:nvPicPr>
          <p:cNvPr id="12" name="index-table-5-f4" descr="P_{\mathrm{ud}}=\eta P_{\mathrm{ind}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1194" y="2989173"/>
            <a:ext cx="1399611" cy="441655"/>
          </a:xfrm>
          <a:prstGeom prst="rect">
            <a:avLst/>
          </a:prstGeom>
        </p:spPr>
      </p:pic>
      <p:pic>
        <p:nvPicPr>
          <p:cNvPr id="13" name="index-table-5-f5" descr="P_{\mathrm{tab}}=P_{\mathrm{ind}}-P_{\mathrm{ud}}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05698" y="3503980"/>
            <a:ext cx="1990603" cy="441655"/>
          </a:xfrm>
          <a:prstGeom prst="rect">
            <a:avLst/>
          </a:prstGeom>
        </p:spPr>
      </p:pic>
      <p:pic>
        <p:nvPicPr>
          <p:cNvPr id="14" name="index-table-5-f6" descr="\eta=\frac{P_{\mathrm{ud}}}{P_{\mathrm{ind}}}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51162" y="4018787"/>
            <a:ext cx="699674" cy="441655"/>
          </a:xfrm>
          <a:prstGeom prst="rect">
            <a:avLst/>
          </a:prstGeom>
        </p:spPr>
      </p:pic>
      <p:pic>
        <p:nvPicPr>
          <p:cNvPr id="15" name="index-table-5-f7" descr="P=M\omega=M\frac{2\pi n}{60}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47662" y="4533595"/>
            <a:ext cx="1506675" cy="441655"/>
          </a:xfrm>
          <a:prstGeom prst="rect">
            <a:avLst/>
          </a:prstGeom>
        </p:spPr>
      </p:pic>
      <p:pic>
        <p:nvPicPr>
          <p:cNvPr id="16" name="index-table-5-f8" descr="W=P t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04137" y="5048402"/>
            <a:ext cx="993724" cy="441655"/>
          </a:xfrm>
          <a:prstGeom prst="rect">
            <a:avLst/>
          </a:prstGeom>
        </p:spPr>
      </p:pic>
      <p:pic>
        <p:nvPicPr>
          <p:cNvPr id="17" name="index-table-5-f9" descr="W=UQ=UIt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22421" y="5563209"/>
            <a:ext cx="1757156" cy="441655"/>
          </a:xfrm>
          <a:prstGeom prst="rect">
            <a:avLst/>
          </a:prstGeom>
        </p:spPr>
      </p:pic>
      <p:pic>
        <p:nvPicPr>
          <p:cNvPr id="18" name="index-table-5-f10" descr="t=\frac{W}{P}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83318" y="6078016"/>
            <a:ext cx="635363" cy="441655"/>
          </a:xfrm>
          <a:prstGeom prst="rect">
            <a:avLst/>
          </a:prstGeom>
        </p:spPr>
      </p:pic>
      <p:sp>
        <p:nvSpPr>
          <p:cNvPr id="19" name="index-tip-5"/>
          <p:cNvSpPr txBox="1"/>
          <p:nvPr/>
        </p:nvSpPr>
        <p:spPr>
          <a:xfrm>
            <a:off x="411480" y="6720840"/>
            <a:ext cx="98069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7212B"/>
                </a:solidFill>
                <a:latin typeface="Calibri"/>
              </a:defRPr>
            </a:pPr>
            <a:r>
              <a:t>Vælg både oplysninger og fysisk model. Blå: søger · brun: har · grøn: beregn. Knudepunktseksempel: side 31.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526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Find en beregningsvej · indeks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629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257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3725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458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6 / 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092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index-table-6"/>
          <p:cNvGraphicFramePr>
            <a:graphicFrameLocks noGrp="1"/>
          </p:cNvGraphicFramePr>
          <p:nvPr/>
        </p:nvGraphicFramePr>
        <p:xfrm>
          <a:off x="411480" y="1042415"/>
          <a:ext cx="9784079" cy="55138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2057400"/>
                <a:gridCol w="2331720"/>
                <a:gridCol w="3383279"/>
                <a:gridCol w="502920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Søger</a:t>
                      </a:r>
                    </a:p>
                  </a:txBody>
                  <a:tcPr marL="59436" marR="59436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Har opgivet</a:t>
                      </a:r>
                    </a:p>
                  </a:txBody>
                  <a:tcPr marL="59436" marR="59436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Situation / betingelse</a:t>
                      </a:r>
                    </a:p>
                  </a:txBody>
                  <a:tcPr marL="59436" marR="59436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Formel</a:t>
                      </a:r>
                    </a:p>
                  </a:txBody>
                  <a:tcPr marL="59436" marR="59436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Side</a:t>
                      </a:r>
                    </a:p>
                  </a:txBody>
                  <a:tcPr marL="59436" marR="59436" marT="45720" marB="45720">
                    <a:solidFill>
                      <a:srgbClr val="075B70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W05 · Brændselsenergi W [MJ]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Mængde og brændværdi Hu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Kildens omregningstabel; samme brændsel og reference.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22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M01 · Løftearbejde W [J]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m [kg], g [m/s²], h [m]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Roligt løft; ændringen i potentiel energi.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22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M02 · Arbejde W [J]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F [N], s [m]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Konstant kraft parallelt med bevægelsen.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23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M05 · Rotationsarbejde W [J]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M [N·m], θ [rad]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Konstant moment.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23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M03 · Moment M [N·m]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F [N], arm r [m]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Kraften står vinkelret på armen.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23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M04 · Vinkelhastighed ω [rad/s]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Δθ [rad], Δt [s] eller n [s⁻¹]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Konstant rotation; ellers middelværdi.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23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M06 · Moment M [N·m]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Pmek [W], ω [rad/s] eller n [rpm]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Mekanisk aksel-effekt og omdrejningshastighed.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24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F01 · Elektrisk kraft |F| [N]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Q1, Q2 [C], a [m], ε [F/m]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Punktladninger i ensartet isotropt medium.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24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F02 · Elektrisk feltstyrke Ef [V/m]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F [N], Q [C] eller kildeladning Qk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F/Q er feltet på prøveladningen; a ved punktkilden.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24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F03 · Kraft F [N]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Q [C], Ef [V/m]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Prøveladning i givet elektrisk felt.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24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9" name="index-table-6-f1" descr="W=H_u m\quad\mathrm{eller}\quad W=H_u V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0634" y="1444752"/>
            <a:ext cx="3260730" cy="441655"/>
          </a:xfrm>
          <a:prstGeom prst="rect">
            <a:avLst/>
          </a:prstGeom>
        </p:spPr>
      </p:pic>
      <p:pic>
        <p:nvPicPr>
          <p:cNvPr id="10" name="index-table-6-f2" descr="W=mgh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8667" y="1959559"/>
            <a:ext cx="1244664" cy="441655"/>
          </a:xfrm>
          <a:prstGeom prst="rect">
            <a:avLst/>
          </a:prstGeom>
        </p:spPr>
      </p:pic>
      <p:pic>
        <p:nvPicPr>
          <p:cNvPr id="11" name="index-table-6-f3" descr="W=F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7828" y="2474366"/>
            <a:ext cx="1006342" cy="441655"/>
          </a:xfrm>
          <a:prstGeom prst="rect">
            <a:avLst/>
          </a:prstGeom>
        </p:spPr>
      </p:pic>
      <p:pic>
        <p:nvPicPr>
          <p:cNvPr id="12" name="index-table-6-f4" descr="W=M\theta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2085" y="2989173"/>
            <a:ext cx="1097828" cy="441655"/>
          </a:xfrm>
          <a:prstGeom prst="rect">
            <a:avLst/>
          </a:prstGeom>
        </p:spPr>
      </p:pic>
      <p:pic>
        <p:nvPicPr>
          <p:cNvPr id="13" name="index-table-6-f5" descr="M=Fr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18333" y="3503980"/>
            <a:ext cx="965332" cy="441655"/>
          </a:xfrm>
          <a:prstGeom prst="rect">
            <a:avLst/>
          </a:prstGeom>
        </p:spPr>
      </p:pic>
      <p:pic>
        <p:nvPicPr>
          <p:cNvPr id="14" name="index-table-6-f6" descr="\omega=\frac{\Delta\theta}{\Delta t}=2\pi 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32279" y="4018787"/>
            <a:ext cx="1337441" cy="441655"/>
          </a:xfrm>
          <a:prstGeom prst="rect">
            <a:avLst/>
          </a:prstGeom>
        </p:spPr>
      </p:pic>
      <p:pic>
        <p:nvPicPr>
          <p:cNvPr id="15" name="index-table-6-f7" descr="M=\frac{P_{\mathrm{mek}}}{\omega}=\frac{60P_{\mathrm{mek}}}{2\pi n}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47305" y="4533595"/>
            <a:ext cx="1507388" cy="441655"/>
          </a:xfrm>
          <a:prstGeom prst="rect">
            <a:avLst/>
          </a:prstGeom>
        </p:spPr>
      </p:pic>
      <p:pic>
        <p:nvPicPr>
          <p:cNvPr id="16" name="index-table-6-f8" descr="|F|=\frac{|Q_1Q_2|}{4\pi\varepsilon a^2}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24770" y="5048402"/>
            <a:ext cx="952458" cy="441655"/>
          </a:xfrm>
          <a:prstGeom prst="rect">
            <a:avLst/>
          </a:prstGeom>
        </p:spPr>
      </p:pic>
      <p:pic>
        <p:nvPicPr>
          <p:cNvPr id="17" name="index-table-6-f9" descr="E_f=\frac{F}{Q},\qquad |E_f|=\frac{|Q_k|}{4\pi\varepsilon a^2}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64155" y="5563209"/>
            <a:ext cx="1873688" cy="441655"/>
          </a:xfrm>
          <a:prstGeom prst="rect">
            <a:avLst/>
          </a:prstGeom>
        </p:spPr>
      </p:pic>
      <p:pic>
        <p:nvPicPr>
          <p:cNvPr id="18" name="index-table-6-f10" descr="\vec F=Q\vec E_f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40378" y="6078016"/>
            <a:ext cx="921243" cy="441655"/>
          </a:xfrm>
          <a:prstGeom prst="rect">
            <a:avLst/>
          </a:prstGeom>
        </p:spPr>
      </p:pic>
      <p:sp>
        <p:nvSpPr>
          <p:cNvPr id="19" name="index-tip-6"/>
          <p:cNvSpPr txBox="1"/>
          <p:nvPr/>
        </p:nvSpPr>
        <p:spPr>
          <a:xfrm>
            <a:off x="411480" y="6720840"/>
            <a:ext cx="98069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7212B"/>
                </a:solidFill>
                <a:latin typeface="Calibri"/>
              </a:defRPr>
            </a:pPr>
            <a:r>
              <a:t>Vælg både oplysninger og fysisk model. Blå: søger · brun: har · grøn: beregn. Knudepunktseksempel: side 31.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526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Find en beregningsvej · indeks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629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257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3725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458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7 / 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092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index-table-7"/>
          <p:cNvGraphicFramePr>
            <a:graphicFrameLocks noGrp="1"/>
          </p:cNvGraphicFramePr>
          <p:nvPr/>
        </p:nvGraphicFramePr>
        <p:xfrm>
          <a:off x="411480" y="1042415"/>
          <a:ext cx="9784079" cy="55138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2057400"/>
                <a:gridCol w="2331720"/>
                <a:gridCol w="3383279"/>
                <a:gridCol w="502920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Søger</a:t>
                      </a:r>
                    </a:p>
                  </a:txBody>
                  <a:tcPr marL="59436" marR="59436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Har opgivet</a:t>
                      </a:r>
                    </a:p>
                  </a:txBody>
                  <a:tcPr marL="59436" marR="59436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Situation / betingelse</a:t>
                      </a:r>
                    </a:p>
                  </a:txBody>
                  <a:tcPr marL="59436" marR="59436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Formel</a:t>
                      </a:r>
                    </a:p>
                  </a:txBody>
                  <a:tcPr marL="59436" marR="59436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Side</a:t>
                      </a:r>
                    </a:p>
                  </a:txBody>
                  <a:tcPr marL="59436" marR="59436" marT="45720" marB="45720">
                    <a:solidFill>
                      <a:srgbClr val="075B70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F04 · Afstand a [m]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|F| [N], Q1, Q2 [C], ε [F/m]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Samme punktladningsmodel som F01.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25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F05 · Ukendt ladning |Q2| [C]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|F| [N], a [m], Q1 [C], ε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Punktladninger; fortegnet afgøres af tiltrækning/frastødning.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25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F06 · Elektrisk flux Ψ [V·m]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Ef [V/m], A [m²] eller Q [C], ε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Ensartet normalt felt; eller lukket kugle i ensartet medium.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25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F07 · Permittivitet ε [F/m]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εr [1], ε0 [F/m]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Lineært isotropt medium.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25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B01 · Magnetisk flux Φ [Wb]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B [T], A [m²]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Ensartet felt vinkelret på fladen.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26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B02 · Fluxtæthed B [T]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Φ [Wb], A [m²]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Ensartet felt; A er areal normalt på feltet.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26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B03 · Fluxtæthed B [T]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H [A/m], μ [H/m]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Lineær materiale-model med kendt μ.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26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B04 · Felt om lang leder B [T]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I [A], a [m], μ [H/m]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Lang, lige leder; punkt uden for lederen.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26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B05 · Magnetisk feltstyrke H [A/m]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I [A], N [1], l [m]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Ensartet magnetisk vej; ringkerne/længere spole-model.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27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B06 · Magnetomotorisk kraft Fm [A]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N [1], I [A] eller Rm [A/Wb], Φ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Amperevindingstal i magnetkredsmodellen.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27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9" name="index-table-7-f1" descr="a=\sqrt{\frac{|Q_1Q_2|}{4\pi\varepsilon |F|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0058" y="1444752"/>
            <a:ext cx="921882" cy="441655"/>
          </a:xfrm>
          <a:prstGeom prst="rect">
            <a:avLst/>
          </a:prstGeom>
        </p:spPr>
      </p:pic>
      <p:pic>
        <p:nvPicPr>
          <p:cNvPr id="10" name="index-table-7-f2" descr="|Q_2|=\frac{4\pi\varepsilon a^2|F|}{|Q_1|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4529" y="1959559"/>
            <a:ext cx="1132941" cy="441655"/>
          </a:xfrm>
          <a:prstGeom prst="rect">
            <a:avLst/>
          </a:prstGeom>
        </p:spPr>
      </p:pic>
      <p:pic>
        <p:nvPicPr>
          <p:cNvPr id="11" name="index-table-7-f3" descr="\Psi=E_f A=\frac{Q}{\varepsilon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6020" y="2474366"/>
            <a:ext cx="1229958" cy="441655"/>
          </a:xfrm>
          <a:prstGeom prst="rect">
            <a:avLst/>
          </a:prstGeom>
        </p:spPr>
      </p:pic>
      <p:pic>
        <p:nvPicPr>
          <p:cNvPr id="12" name="index-table-7-f4" descr="\varepsilon=\varepsilon_0\varepsilon_r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5240" y="2989173"/>
            <a:ext cx="1091519" cy="441655"/>
          </a:xfrm>
          <a:prstGeom prst="rect">
            <a:avLst/>
          </a:prstGeom>
        </p:spPr>
      </p:pic>
      <p:pic>
        <p:nvPicPr>
          <p:cNvPr id="13" name="index-table-7-f5" descr="\Phi=BA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4673" y="3503980"/>
            <a:ext cx="1012652" cy="441655"/>
          </a:xfrm>
          <a:prstGeom prst="rect">
            <a:avLst/>
          </a:prstGeom>
        </p:spPr>
      </p:pic>
      <p:pic>
        <p:nvPicPr>
          <p:cNvPr id="14" name="index-table-7-f6" descr="B=\frac{\Phi}{A}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70404" y="4018787"/>
            <a:ext cx="661191" cy="441655"/>
          </a:xfrm>
          <a:prstGeom prst="rect">
            <a:avLst/>
          </a:prstGeom>
        </p:spPr>
      </p:pic>
      <p:pic>
        <p:nvPicPr>
          <p:cNvPr id="15" name="index-table-7-f7" descr="B=\mu H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09928" y="4533595"/>
            <a:ext cx="982142" cy="441655"/>
          </a:xfrm>
          <a:prstGeom prst="rect">
            <a:avLst/>
          </a:prstGeom>
        </p:spPr>
      </p:pic>
      <p:pic>
        <p:nvPicPr>
          <p:cNvPr id="16" name="index-table-7-f8" descr="B=\frac{\mu I}{2\pi a}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27383" y="5048402"/>
            <a:ext cx="747232" cy="441655"/>
          </a:xfrm>
          <a:prstGeom prst="rect">
            <a:avLst/>
          </a:prstGeom>
        </p:spPr>
      </p:pic>
      <p:pic>
        <p:nvPicPr>
          <p:cNvPr id="17" name="index-table-7-f9" descr="H=\frac{NI}{l}=\frac{F_m}{l}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53838" y="5563209"/>
            <a:ext cx="1094323" cy="441655"/>
          </a:xfrm>
          <a:prstGeom prst="rect">
            <a:avLst/>
          </a:prstGeom>
        </p:spPr>
      </p:pic>
      <p:pic>
        <p:nvPicPr>
          <p:cNvPr id="18" name="index-table-7-f10" descr="F_m=NI=R_m\Phi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60905" y="6078016"/>
            <a:ext cx="1880189" cy="441655"/>
          </a:xfrm>
          <a:prstGeom prst="rect">
            <a:avLst/>
          </a:prstGeom>
        </p:spPr>
      </p:pic>
      <p:sp>
        <p:nvSpPr>
          <p:cNvPr id="19" name="index-tip-7"/>
          <p:cNvSpPr txBox="1"/>
          <p:nvPr/>
        </p:nvSpPr>
        <p:spPr>
          <a:xfrm>
            <a:off x="411480" y="6720840"/>
            <a:ext cx="98069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7212B"/>
                </a:solidFill>
                <a:latin typeface="Calibri"/>
              </a:defRPr>
            </a:pPr>
            <a:r>
              <a:t>Vælg både oplysninger og fysisk model. Blå: søger · brun: har · grøn: beregn. Knudepunktseksempel: side 31.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526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Find en beregningsvej · indeks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629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257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3725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458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8 / 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092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index-table-8"/>
          <p:cNvGraphicFramePr>
            <a:graphicFrameLocks noGrp="1"/>
          </p:cNvGraphicFramePr>
          <p:nvPr/>
        </p:nvGraphicFramePr>
        <p:xfrm>
          <a:off x="411480" y="1042415"/>
          <a:ext cx="9784079" cy="55138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2057400"/>
                <a:gridCol w="2331720"/>
                <a:gridCol w="3383279"/>
                <a:gridCol w="502920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Søger</a:t>
                      </a:r>
                    </a:p>
                  </a:txBody>
                  <a:tcPr marL="59436" marR="59436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Har opgivet</a:t>
                      </a:r>
                    </a:p>
                  </a:txBody>
                  <a:tcPr marL="59436" marR="59436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Situation / betingelse</a:t>
                      </a:r>
                    </a:p>
                  </a:txBody>
                  <a:tcPr marL="59436" marR="59436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Formel</a:t>
                      </a:r>
                    </a:p>
                  </a:txBody>
                  <a:tcPr marL="59436" marR="59436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Side</a:t>
                      </a:r>
                    </a:p>
                  </a:txBody>
                  <a:tcPr marL="59436" marR="59436" marT="45720" marB="45720">
                    <a:solidFill>
                      <a:srgbClr val="075B70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B07 · Reluktans Rm [A/Wb]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l [m], μ [H/m], A [m²]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Ensartet magnetisk segment; lineær μ.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27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B08 · Flux Φ [Wb]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N, I [A], Rm [A/Wb]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Lukket lineær magnetkreds; lækage negligeres.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27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B09 · Permeabilitet μ [H/m]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μr [1], μ0 [H/m] eller B [T], H [A/m]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Lineært medium eller sekantværdi ved givet driftspunkt.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28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B11 · Magnetkredsens areal A [m²]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Φ [Wb], B [T]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Ensartet felt normalt på kernens tværsnit.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28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B12 · Feltstyrke H [A/m]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B [T], μ [H/m]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Lineær materiale-model ved kendt μ.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28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B13 · Relativ permeabilitet μr [1]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μ [H/m], μ0 [H/m]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Samme enhed for absolutte permeabiliteter.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28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E04 · Induktans L [H]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N [1], μ [H/m], A [m²], l [m]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Lineær ensartet spole/magnetkreds; lækage negligeres.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29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E06 · Induktans L [H]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es [V], ΔI [A], Δt [s]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Lineær strømrampe; tab adskilt fra selvinduktion.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29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K01 · Kraft på leder |F| [N]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B [T], I [A], l [m]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Leder vinkelret på ensartet magnetfelt.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29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K02 · Aktiv lederlængde l [m]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|F| [N], B [T], |I| [A]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Leder vinkelret på B.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29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9" name="index-table-8-f1" descr="R_m=\frac{l}{\mu A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6348" y="1444752"/>
            <a:ext cx="809303" cy="441655"/>
          </a:xfrm>
          <a:prstGeom prst="rect">
            <a:avLst/>
          </a:prstGeom>
        </p:spPr>
      </p:pic>
      <p:pic>
        <p:nvPicPr>
          <p:cNvPr id="10" name="index-table-8-f2" descr="\Phi=\frac{NI}{R_m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9867" y="1959559"/>
            <a:ext cx="722264" cy="441655"/>
          </a:xfrm>
          <a:prstGeom prst="rect">
            <a:avLst/>
          </a:prstGeom>
        </p:spPr>
      </p:pic>
      <p:pic>
        <p:nvPicPr>
          <p:cNvPr id="11" name="index-table-8-f3" descr="\mu=\mu_0\mu_r=\frac{B}{H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6491" y="2474366"/>
            <a:ext cx="1289016" cy="441655"/>
          </a:xfrm>
          <a:prstGeom prst="rect">
            <a:avLst/>
          </a:prstGeom>
        </p:spPr>
      </p:pic>
      <p:pic>
        <p:nvPicPr>
          <p:cNvPr id="12" name="index-table-8-f4" descr="A=\frac{\Phi}{B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67190" y="2989173"/>
            <a:ext cx="667618" cy="441655"/>
          </a:xfrm>
          <a:prstGeom prst="rect">
            <a:avLst/>
          </a:prstGeom>
        </p:spPr>
      </p:pic>
      <p:pic>
        <p:nvPicPr>
          <p:cNvPr id="13" name="index-table-8-f5" descr="H=\frac{B}{\mu}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75502" y="3503980"/>
            <a:ext cx="650994" cy="441655"/>
          </a:xfrm>
          <a:prstGeom prst="rect">
            <a:avLst/>
          </a:prstGeom>
        </p:spPr>
      </p:pic>
      <p:pic>
        <p:nvPicPr>
          <p:cNvPr id="14" name="index-table-8-f6" descr="\mu_r=\frac{\mu}{\mu_0}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7877" y="4018787"/>
            <a:ext cx="746244" cy="441655"/>
          </a:xfrm>
          <a:prstGeom prst="rect">
            <a:avLst/>
          </a:prstGeom>
        </p:spPr>
      </p:pic>
      <p:pic>
        <p:nvPicPr>
          <p:cNvPr id="15" name="index-table-8-f7" descr="L=\frac{N^2\mu A}{l}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06500" y="4533595"/>
            <a:ext cx="788998" cy="441655"/>
          </a:xfrm>
          <a:prstGeom prst="rect">
            <a:avLst/>
          </a:prstGeom>
        </p:spPr>
      </p:pic>
      <p:pic>
        <p:nvPicPr>
          <p:cNvPr id="16" name="index-table-8-f8" descr="L=-\frac{e_s\Delta t}{\Delta I}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36164" y="5048402"/>
            <a:ext cx="929671" cy="441655"/>
          </a:xfrm>
          <a:prstGeom prst="rect">
            <a:avLst/>
          </a:prstGeom>
        </p:spPr>
      </p:pic>
      <p:pic>
        <p:nvPicPr>
          <p:cNvPr id="17" name="index-table-8-f9" descr="|F|=B|I|l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89942" y="5563209"/>
            <a:ext cx="1222114" cy="441655"/>
          </a:xfrm>
          <a:prstGeom prst="rect">
            <a:avLst/>
          </a:prstGeom>
        </p:spPr>
      </p:pic>
      <p:pic>
        <p:nvPicPr>
          <p:cNvPr id="18" name="index-table-8-f10" descr="l=\frac{|F|}{B|I|}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01778" y="6078016"/>
            <a:ext cx="598442" cy="441655"/>
          </a:xfrm>
          <a:prstGeom prst="rect">
            <a:avLst/>
          </a:prstGeom>
        </p:spPr>
      </p:pic>
      <p:sp>
        <p:nvSpPr>
          <p:cNvPr id="19" name="index-tip-8"/>
          <p:cNvSpPr txBox="1"/>
          <p:nvPr/>
        </p:nvSpPr>
        <p:spPr>
          <a:xfrm>
            <a:off x="411480" y="6720840"/>
            <a:ext cx="98069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7212B"/>
                </a:solidFill>
                <a:latin typeface="Calibri"/>
              </a:defRPr>
            </a:pPr>
            <a:r>
              <a:t>Vælg både oplysninger og fysisk model. Blå: søger · brun: har · grøn: beregn. Knudepunktseksempel: side 31.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526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Find en beregningsvej · indeks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629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257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3725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458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9 / 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092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index-table-9"/>
          <p:cNvGraphicFramePr>
            <a:graphicFrameLocks noGrp="1"/>
          </p:cNvGraphicFramePr>
          <p:nvPr/>
        </p:nvGraphicFramePr>
        <p:xfrm>
          <a:off x="411480" y="1042415"/>
          <a:ext cx="9784079" cy="5513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2057400"/>
                <a:gridCol w="2331720"/>
                <a:gridCol w="3383279"/>
                <a:gridCol w="502920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Søger</a:t>
                      </a:r>
                    </a:p>
                  </a:txBody>
                  <a:tcPr marL="59436" marR="59436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Har opgivet</a:t>
                      </a:r>
                    </a:p>
                  </a:txBody>
                  <a:tcPr marL="59436" marR="59436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Situation / betingelse</a:t>
                      </a:r>
                    </a:p>
                  </a:txBody>
                  <a:tcPr marL="59436" marR="59436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Formel</a:t>
                      </a:r>
                    </a:p>
                  </a:txBody>
                  <a:tcPr marL="59436" marR="59436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Side</a:t>
                      </a:r>
                    </a:p>
                  </a:txBody>
                  <a:tcPr marL="59436" marR="59436" marT="45720" marB="45720">
                    <a:solidFill>
                      <a:srgbClr val="075B70"/>
                    </a:solidFill>
                  </a:tcPr>
                </a:tc>
              </a:tr>
              <a:tr h="2574036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K03 · Fluxtæthed B [T]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|F| [N], |I| [A], l [m]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Leder vinkelret på feltet.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30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</a:tr>
              <a:tr h="2574036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K04 · Kraft mellem ledere |F| [N]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I1, I2 [A], l, a [m], μ [H/m]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Lange parallelle ledere; a er centerafstand.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30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9" name="index-table-9-f1" descr="B=\frac{|F|}{|I|l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79" y="1519536"/>
            <a:ext cx="3291839" cy="2351314"/>
          </a:xfrm>
          <a:prstGeom prst="rect">
            <a:avLst/>
          </a:prstGeom>
        </p:spPr>
      </p:pic>
      <p:pic>
        <p:nvPicPr>
          <p:cNvPr id="10" name="index-table-9-f2" descr="|F|=\frac{\mu|I_1I_2|l}{2\pi a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79" y="4535553"/>
            <a:ext cx="3291839" cy="1467353"/>
          </a:xfrm>
          <a:prstGeom prst="rect">
            <a:avLst/>
          </a:prstGeom>
        </p:spPr>
      </p:pic>
      <p:sp>
        <p:nvSpPr>
          <p:cNvPr id="11" name="index-tip-9"/>
          <p:cNvSpPr txBox="1"/>
          <p:nvPr/>
        </p:nvSpPr>
        <p:spPr>
          <a:xfrm>
            <a:off x="411480" y="6720840"/>
            <a:ext cx="98069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7212B"/>
                </a:solidFill>
                <a:latin typeface="Calibri"/>
              </a:defRPr>
            </a:pPr>
            <a:r>
              <a:t>Vælg både oplysninger og fysisk model. Blå: søger · brun: har · grøn: beregn. Knudepunktseksempel: side 31.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526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W04 – I03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629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257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3725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458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10 / 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092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W04-header"/>
          <p:cNvSpPr txBox="1"/>
          <p:nvPr/>
        </p:nvSpPr>
        <p:spPr>
          <a:xfrm>
            <a:off x="411480" y="987552"/>
            <a:ext cx="477774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W04 · Søger: Ladning Q [C]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77774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I [A], Δt [s]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7777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Konstant strøm; ellers sum af delintervaller.</a:t>
            </a:r>
          </a:p>
        </p:txBody>
      </p:sp>
      <p:pic>
        <p:nvPicPr>
          <p:cNvPr id="11" name="W04-formula" descr="Q=I\Delta 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1958" y="2304288"/>
            <a:ext cx="1413923" cy="603504"/>
          </a:xfrm>
          <a:prstGeom prst="rect">
            <a:avLst/>
          </a:prstGeom>
        </p:spPr>
      </p:pic>
      <p:sp>
        <p:nvSpPr>
          <p:cNvPr id="12" name="W04-details"/>
          <p:cNvSpPr txBox="1"/>
          <p:nvPr/>
        </p:nvSpPr>
        <p:spPr>
          <a:xfrm>
            <a:off x="411480" y="2962656"/>
            <a:ext cx="477774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Antal elementarladninger: Ne = |Q|/e.</a:t>
            </a:r>
            <a:br/>
            <a:r>
              <a:t>ENH.  A·s = C; 1 Ah = 3600 C.</a:t>
            </a:r>
            <a:br/>
            <a:r>
              <a:t>PAS PÅ  Elektroner bevæger sig modsat den konventionelle strøm.</a:t>
            </a:r>
            <a:br/>
            <a:r>
              <a:t>EKS.  50 A·60 s = 3000 C.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I01-header"/>
          <p:cNvSpPr txBox="1"/>
          <p:nvPr/>
        </p:nvSpPr>
        <p:spPr>
          <a:xfrm>
            <a:off x="5532120" y="987552"/>
            <a:ext cx="477774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I01 · Søger: Strøm I [A]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32120" y="1435608"/>
            <a:ext cx="477774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U [V], R [Ω]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32120" y="1892808"/>
            <a:ext cx="47777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Ohmsk R; DC eller konsistente AC-magnituder.</a:t>
            </a:r>
          </a:p>
        </p:txBody>
      </p:sp>
      <p:pic>
        <p:nvPicPr>
          <p:cNvPr id="17" name="I01-formula" descr="I=\frac{U}{R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8335" y="2304288"/>
            <a:ext cx="782449" cy="603504"/>
          </a:xfrm>
          <a:prstGeom prst="rect">
            <a:avLst/>
          </a:prstGeom>
        </p:spPr>
      </p:pic>
      <p:sp>
        <p:nvSpPr>
          <p:cNvPr id="18" name="I01-details"/>
          <p:cNvSpPr txBox="1"/>
          <p:nvPr/>
        </p:nvSpPr>
        <p:spPr>
          <a:xfrm>
            <a:off x="5532120" y="2962656"/>
            <a:ext cx="477774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Indsæt spændingen over netop R.</a:t>
            </a:r>
            <a:br/>
            <a:r>
              <a:t>ENH.  mA → A: ÷ 1000.</a:t>
            </a:r>
            <a:br/>
            <a:r>
              <a:t>PAS PÅ  AC: U og I skal være samtidige værdier eller begge RMS. Brug U over netop R.</a:t>
            </a:r>
            <a:br/>
            <a:r>
              <a:t>EKS.  24 V / 12 Ω = 2 A.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3212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I02-header"/>
          <p:cNvSpPr txBox="1"/>
          <p:nvPr/>
        </p:nvSpPr>
        <p:spPr>
          <a:xfrm>
            <a:off x="411480" y="4114800"/>
            <a:ext cx="477774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I02 · Søger: Strøm I [A]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4562856"/>
            <a:ext cx="477774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P [W], U [V]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5020056"/>
            <a:ext cx="47777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Stationær DC; P er elektrisk indgangseffekt.</a:t>
            </a:r>
          </a:p>
        </p:txBody>
      </p:sp>
      <p:pic>
        <p:nvPicPr>
          <p:cNvPr id="23" name="I02-formula" descr="I=\frac{P}{U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99956" y="5431536"/>
            <a:ext cx="777927" cy="603504"/>
          </a:xfrm>
          <a:prstGeom prst="rect">
            <a:avLst/>
          </a:prstGeom>
        </p:spPr>
      </p:pic>
      <p:sp>
        <p:nvSpPr>
          <p:cNvPr id="24" name="I02-details"/>
          <p:cNvSpPr txBox="1"/>
          <p:nvPr/>
        </p:nvSpPr>
        <p:spPr>
          <a:xfrm>
            <a:off x="411480" y="6089904"/>
            <a:ext cx="477774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Ved mekanisk P: find først Pind = Pud/η.</a:t>
            </a:r>
            <a:br/>
            <a:r>
              <a:t>ENH.  kW → W: × 1000.</a:t>
            </a:r>
            <a:br/>
            <a:r>
              <a:t>PAS PÅ  Ved AC mangler kurveform/fase/effektfaktor. Se afgrænsning.</a:t>
            </a:r>
            <a:br/>
            <a:r>
              <a:t>EKS.  200 W / 37,5 V = 5,333 A.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I03-header"/>
          <p:cNvSpPr txBox="1"/>
          <p:nvPr/>
        </p:nvSpPr>
        <p:spPr>
          <a:xfrm>
            <a:off x="5532120" y="4114800"/>
            <a:ext cx="477774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I03 · Søger: Strømmens størrelse |I| [A]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32120" y="4562856"/>
            <a:ext cx="477774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P [W], R [Ω]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32120" y="5020056"/>
            <a:ext cx="47777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Ohmsk resistans; P er tabet i R.</a:t>
            </a:r>
          </a:p>
        </p:txBody>
      </p:sp>
      <p:pic>
        <p:nvPicPr>
          <p:cNvPr id="29" name="I03-formula" descr="|I|=\sqrt{\frac{P}{R}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9592" y="5431536"/>
            <a:ext cx="1119935" cy="603504"/>
          </a:xfrm>
          <a:prstGeom prst="rect">
            <a:avLst/>
          </a:prstGeom>
        </p:spPr>
      </p:pic>
      <p:sp>
        <p:nvSpPr>
          <p:cNvPr id="30" name="I03-details"/>
          <p:cNvSpPr txBox="1"/>
          <p:nvPr/>
        </p:nvSpPr>
        <p:spPr>
          <a:xfrm>
            <a:off x="5532120" y="6089904"/>
            <a:ext cx="477774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Vælg retningen særskilt.</a:t>
            </a:r>
            <a:br/>
            <a:r>
              <a:t>ENH.  R i Ω; P i W.</a:t>
            </a:r>
            <a:br/>
            <a:r>
              <a:t>PAS PÅ  Kvadratroden giver størrelse, ikke retning.</a:t>
            </a:r>
            <a:br/>
            <a:r>
              <a:t>EKS.  √(150/0,96) = 12,5 A.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3212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526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I04 – I07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629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257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3725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458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11 / 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092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I04-header"/>
          <p:cNvSpPr txBox="1"/>
          <p:nvPr/>
        </p:nvSpPr>
        <p:spPr>
          <a:xfrm>
            <a:off x="411480" y="987552"/>
            <a:ext cx="477774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I04 · Søger: Middelstrøm I [A]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77774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Q [C], Δt [s]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7777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Netto passeret ladning i valgt interval.</a:t>
            </a:r>
          </a:p>
        </p:txBody>
      </p:sp>
      <p:pic>
        <p:nvPicPr>
          <p:cNvPr id="11" name="I04-formula" descr="I_{\mathrm{middel}}=\frac{Q}{\Delta t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5384" y="2304288"/>
            <a:ext cx="1427070" cy="603504"/>
          </a:xfrm>
          <a:prstGeom prst="rect">
            <a:avLst/>
          </a:prstGeom>
        </p:spPr>
      </p:pic>
      <p:sp>
        <p:nvSpPr>
          <p:cNvPr id="12" name="I04-details"/>
          <p:cNvSpPr txBox="1"/>
          <p:nvPr/>
        </p:nvSpPr>
        <p:spPr>
          <a:xfrm>
            <a:off x="411480" y="2962656"/>
            <a:ext cx="477774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Ved konstant strøm er middel = øjebliksværdi.</a:t>
            </a:r>
            <a:br/>
            <a:r>
              <a:t>ENH.  min → s: × 60.</a:t>
            </a:r>
            <a:br/>
            <a:r>
              <a:t>PAS PÅ  Strøm og energi er forskellige; ladning bruges ikke op.</a:t>
            </a:r>
            <a:br/>
            <a:r>
              <a:t>EKS.  2 C / 1 s = 2 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I05-header"/>
          <p:cNvSpPr txBox="1"/>
          <p:nvPr/>
        </p:nvSpPr>
        <p:spPr>
          <a:xfrm>
            <a:off x="5532120" y="987552"/>
            <a:ext cx="477774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I05 · Søger: Kildestrøm I [A]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32120" y="1435608"/>
            <a:ext cx="477774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E [V], ri [Ω], R [Ω]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32120" y="1892808"/>
            <a:ext cx="47777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Én DC-kilde med intern serie-modstand.</a:t>
            </a:r>
          </a:p>
        </p:txBody>
      </p:sp>
      <p:pic>
        <p:nvPicPr>
          <p:cNvPr id="17" name="I05-formula" descr="I=\frac{E}{r_i+R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3111" y="2304288"/>
            <a:ext cx="1072896" cy="603504"/>
          </a:xfrm>
          <a:prstGeom prst="rect">
            <a:avLst/>
          </a:prstGeom>
        </p:spPr>
      </p:pic>
      <p:sp>
        <p:nvSpPr>
          <p:cNvPr id="18" name="I05-details"/>
          <p:cNvSpPr txBox="1"/>
          <p:nvPr/>
        </p:nvSpPr>
        <p:spPr>
          <a:xfrm>
            <a:off x="5532120" y="2962656"/>
            <a:ext cx="477774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Find først hele seriens modstand.</a:t>
            </a:r>
            <a:br/>
            <a:r>
              <a:t>ENH.  Alle modstande i Ω.</a:t>
            </a:r>
            <a:br/>
            <a:r>
              <a:t>PAS PÅ  Ukl er mindre end E ved afladning.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3212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I06-header"/>
          <p:cNvSpPr txBox="1"/>
          <p:nvPr/>
        </p:nvSpPr>
        <p:spPr>
          <a:xfrm>
            <a:off x="411480" y="4114800"/>
            <a:ext cx="477774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I06 · Søger: Grenstrøm Ik [A]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4562856"/>
            <a:ext cx="477774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Ugren [V], Rk [Ω]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5020056"/>
            <a:ext cx="47777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Parallelgrene har samme knudespænding.</a:t>
            </a:r>
          </a:p>
        </p:txBody>
      </p:sp>
      <p:pic>
        <p:nvPicPr>
          <p:cNvPr id="23" name="I06-formula" descr="I_k=\frac{U_{\mathrm{gren}}}{R_k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63534" y="5431536"/>
            <a:ext cx="1050770" cy="603504"/>
          </a:xfrm>
          <a:prstGeom prst="rect">
            <a:avLst/>
          </a:prstGeom>
        </p:spPr>
      </p:pic>
      <p:sp>
        <p:nvSpPr>
          <p:cNvPr id="24" name="I06-details"/>
          <p:cNvSpPr txBox="1"/>
          <p:nvPr/>
        </p:nvSpPr>
        <p:spPr>
          <a:xfrm>
            <a:off x="411480" y="6089904"/>
            <a:ext cx="477774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Find Ugren med knudepunktsmetoden ved flere kilder.</a:t>
            </a:r>
            <a:br/>
            <a:r>
              <a:t>ENH.  kΩ → Ω: × 1000.</a:t>
            </a:r>
            <a:br/>
            <a:r>
              <a:t>PAS PÅ  Alle grene er ikke nødvendigvis over hele kildespændingen.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I07-header"/>
          <p:cNvSpPr txBox="1"/>
          <p:nvPr/>
        </p:nvSpPr>
        <p:spPr>
          <a:xfrm>
            <a:off x="5532120" y="4114800"/>
            <a:ext cx="477774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I07 · Søger: Grenstrøm I1 [A]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32120" y="4562856"/>
            <a:ext cx="477774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Itotal [A], R1, R2 [Ω]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32120" y="5020056"/>
            <a:ext cx="47777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To parallelle ohmske modstande.</a:t>
            </a:r>
          </a:p>
        </p:txBody>
      </p:sp>
      <p:pic>
        <p:nvPicPr>
          <p:cNvPr id="29" name="I07-formula" descr="I_1=I_{\mathrm{total}}\frac{R_2}{R_1+R_2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20269" y="5431536"/>
            <a:ext cx="1778580" cy="603504"/>
          </a:xfrm>
          <a:prstGeom prst="rect">
            <a:avLst/>
          </a:prstGeom>
        </p:spPr>
      </p:pic>
      <p:sp>
        <p:nvSpPr>
          <p:cNvPr id="30" name="I07-details"/>
          <p:cNvSpPr txBox="1"/>
          <p:nvPr/>
        </p:nvSpPr>
        <p:spPr>
          <a:xfrm>
            <a:off x="5532120" y="6089904"/>
            <a:ext cx="477774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For flere grene: Ik = Itotal·Gk/ΣG.</a:t>
            </a:r>
            <a:br/>
            <a:r>
              <a:t>ENH.  Samme modstandsenhed i forholdet.</a:t>
            </a:r>
            <a:br/>
            <a:r>
              <a:t>PAS PÅ  Den modsatte modstand står i tælleren.</a:t>
            </a:r>
            <a:br/>
            <a:r>
              <a:t>EKS.  6 A·20/(10+20) = 4 A.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3212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526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B10 – U02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629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257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3725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458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12 / 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092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B10-header"/>
          <p:cNvSpPr txBox="1"/>
          <p:nvPr/>
        </p:nvSpPr>
        <p:spPr>
          <a:xfrm>
            <a:off x="411480" y="987552"/>
            <a:ext cx="477774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B10 · Søger: Viklingsstrøm I [A]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77774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H [A/m], l [m], N [1]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7777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Magnetisk vej/spole-model som B05.</a:t>
            </a:r>
          </a:p>
        </p:txBody>
      </p:sp>
      <p:pic>
        <p:nvPicPr>
          <p:cNvPr id="11" name="B10-formula" descr="I=\frac{Hl}{N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6812" y="2304288"/>
            <a:ext cx="824214" cy="603504"/>
          </a:xfrm>
          <a:prstGeom prst="rect">
            <a:avLst/>
          </a:prstGeom>
        </p:spPr>
      </p:pic>
      <p:sp>
        <p:nvSpPr>
          <p:cNvPr id="12" name="B10-details"/>
          <p:cNvSpPr txBox="1"/>
          <p:nvPr/>
        </p:nvSpPr>
        <p:spPr>
          <a:xfrm>
            <a:off x="411480" y="2962656"/>
            <a:ext cx="477774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Hvis B ønskes i jern: aflæs H fra B(H)-kurven først.</a:t>
            </a:r>
            <a:br/>
            <a:r>
              <a:t>ENH.  l i m; H i A/m.</a:t>
            </a:r>
            <a:br/>
            <a:r>
              <a:t>PAS PÅ  Aflæs ved relevant materiale og magnetiseringstilstand.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N02-header"/>
          <p:cNvSpPr txBox="1"/>
          <p:nvPr/>
        </p:nvSpPr>
        <p:spPr>
          <a:xfrm>
            <a:off x="5532120" y="987552"/>
            <a:ext cx="477774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N02 · Søger: Ukendt grenstrøm Ix [A]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32120" y="1435608"/>
            <a:ext cx="477774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Alle øvrige ind- og udstrømme [A]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32120" y="1892808"/>
            <a:ext cx="47777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KCL i én knude; stationær kreds.</a:t>
            </a:r>
          </a:p>
        </p:txBody>
      </p:sp>
      <p:pic>
        <p:nvPicPr>
          <p:cNvPr id="17" name="N02-formula" descr="I_x=\sum I_{\mathrm{ind}}-\sum I_{\mathrm{andre,ud}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4011" y="2304288"/>
            <a:ext cx="2971096" cy="603504"/>
          </a:xfrm>
          <a:prstGeom prst="rect">
            <a:avLst/>
          </a:prstGeom>
        </p:spPr>
      </p:pic>
      <p:sp>
        <p:nvSpPr>
          <p:cNvPr id="18" name="N02-details"/>
          <p:cNvSpPr txBox="1"/>
          <p:nvPr/>
        </p:nvSpPr>
        <p:spPr>
          <a:xfrm>
            <a:off x="5532120" y="2962656"/>
            <a:ext cx="477774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Vælg Ix ud af knuden. Ind = ud.</a:t>
            </a:r>
            <a:br/>
            <a:r>
              <a:t>ENH.  Omregn alle strømme til A eller alle til mA.</a:t>
            </a:r>
            <a:br/>
            <a:r>
              <a:t>PAS PÅ  Ix &lt; 0 betyder modsat den valgte pil; ikke en fejl i sig selv.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3212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U01-header"/>
          <p:cNvSpPr txBox="1"/>
          <p:nvPr/>
        </p:nvSpPr>
        <p:spPr>
          <a:xfrm>
            <a:off x="411480" y="4114800"/>
            <a:ext cx="477774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U01 · Søger: Spænding U [V]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4562856"/>
            <a:ext cx="477774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I [A], R [Ω]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5020056"/>
            <a:ext cx="47777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Ohmsk belastning; U følger valgt polaritet.</a:t>
            </a:r>
          </a:p>
        </p:txBody>
      </p:sp>
      <p:pic>
        <p:nvPicPr>
          <p:cNvPr id="23" name="U01-formula" descr="U=R I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1706" y="5431536"/>
            <a:ext cx="1254426" cy="603504"/>
          </a:xfrm>
          <a:prstGeom prst="rect">
            <a:avLst/>
          </a:prstGeom>
        </p:spPr>
      </p:pic>
      <p:sp>
        <p:nvSpPr>
          <p:cNvPr id="24" name="U01-details"/>
          <p:cNvSpPr txBox="1"/>
          <p:nvPr/>
        </p:nvSpPr>
        <p:spPr>
          <a:xfrm>
            <a:off x="411480" y="6089904"/>
            <a:ext cx="477774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Strømpil ind i + på R giver positivt spændingsfald.</a:t>
            </a:r>
            <a:br/>
            <a:r>
              <a:t>ENH.  mA → A: ÷ 1000.</a:t>
            </a:r>
            <a:br/>
            <a:r>
              <a:t>PAS PÅ  Et negativt resultat vender valgt polaritet.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U02-header"/>
          <p:cNvSpPr txBox="1"/>
          <p:nvPr/>
        </p:nvSpPr>
        <p:spPr>
          <a:xfrm>
            <a:off x="5532120" y="4114800"/>
            <a:ext cx="477774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U02 · Søger: Spænding U [V]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32120" y="4562856"/>
            <a:ext cx="477774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P [W], I [A]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32120" y="5020056"/>
            <a:ext cx="47777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Stationær DC; samme komponent for P og I.</a:t>
            </a:r>
          </a:p>
        </p:txBody>
      </p:sp>
      <p:pic>
        <p:nvPicPr>
          <p:cNvPr id="29" name="U02-formula" descr="U=\frac{P}{I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72721" y="5431536"/>
            <a:ext cx="873677" cy="603504"/>
          </a:xfrm>
          <a:prstGeom prst="rect">
            <a:avLst/>
          </a:prstGeom>
        </p:spPr>
      </p:pic>
      <p:sp>
        <p:nvSpPr>
          <p:cNvPr id="30" name="U02-details"/>
          <p:cNvSpPr txBox="1"/>
          <p:nvPr/>
        </p:nvSpPr>
        <p:spPr>
          <a:xfrm>
            <a:off x="5532120" y="6089904"/>
            <a:ext cx="477774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Kontrollér at I ≠ 0.</a:t>
            </a:r>
            <a:br/>
            <a:r>
              <a:t>ENH.  W og A.</a:t>
            </a:r>
            <a:br/>
            <a:r>
              <a:t>PAS PÅ  Mekanisk udgangseffekt kan ikke indsættes direkte.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3212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526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U03 – U06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629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257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3725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458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13 / 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092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U03-header"/>
          <p:cNvSpPr txBox="1"/>
          <p:nvPr/>
        </p:nvSpPr>
        <p:spPr>
          <a:xfrm>
            <a:off x="411480" y="987552"/>
            <a:ext cx="477774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U03 · Søger: Spændingens størrelse |U| [V]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77774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P [W], R [Ω]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7777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Effekt afsat i ohmsk R.</a:t>
            </a:r>
          </a:p>
        </p:txBody>
      </p:sp>
      <p:pic>
        <p:nvPicPr>
          <p:cNvPr id="11" name="U03-formula" descr="|U|=\sqrt{P R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3667" y="2304288"/>
            <a:ext cx="1510504" cy="603504"/>
          </a:xfrm>
          <a:prstGeom prst="rect">
            <a:avLst/>
          </a:prstGeom>
        </p:spPr>
      </p:pic>
      <p:sp>
        <p:nvSpPr>
          <p:cNvPr id="12" name="U03-details"/>
          <p:cNvSpPr txBox="1"/>
          <p:nvPr/>
        </p:nvSpPr>
        <p:spPr>
          <a:xfrm>
            <a:off x="411480" y="2962656"/>
            <a:ext cx="477774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Polariteten vælges separat.</a:t>
            </a:r>
            <a:br/>
            <a:r>
              <a:t>ENH.  P i W; R i Ω.</a:t>
            </a:r>
            <a:br/>
            <a:r>
              <a:t>PAS PÅ  Kvadratroden giver størrelse.</a:t>
            </a:r>
            <a:br/>
            <a:r>
              <a:t>EKS.  √(57,6·10) = 24 V.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U04-header"/>
          <p:cNvSpPr txBox="1"/>
          <p:nvPr/>
        </p:nvSpPr>
        <p:spPr>
          <a:xfrm>
            <a:off x="5532120" y="987552"/>
            <a:ext cx="477774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U04 · Søger: Potentialforskel U [V]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32120" y="1435608"/>
            <a:ext cx="477774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W [J], Q [C]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32120" y="1892808"/>
            <a:ext cx="47777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Elektrisk energi overført pr. ladning.</a:t>
            </a:r>
          </a:p>
        </p:txBody>
      </p:sp>
      <p:pic>
        <p:nvPicPr>
          <p:cNvPr id="17" name="U04-formula" descr="U=\frac{W}{Q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3579" y="2304288"/>
            <a:ext cx="911961" cy="603504"/>
          </a:xfrm>
          <a:prstGeom prst="rect">
            <a:avLst/>
          </a:prstGeom>
        </p:spPr>
      </p:pic>
      <p:sp>
        <p:nvSpPr>
          <p:cNvPr id="18" name="U04-details"/>
          <p:cNvSpPr txBox="1"/>
          <p:nvPr/>
        </p:nvSpPr>
        <p:spPr>
          <a:xfrm>
            <a:off x="5532120" y="2962656"/>
            <a:ext cx="477774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Brug W for elektrisk arbejde mellem de valgte punkter.</a:t>
            </a:r>
            <a:br/>
            <a:r>
              <a:t>ENH.  1 J/C = 1 V.</a:t>
            </a:r>
            <a:br/>
            <a:r>
              <a:t>PAS PÅ  W er her energi, ikke enhedssymbolet watt.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3212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U05-header"/>
          <p:cNvSpPr txBox="1"/>
          <p:nvPr/>
        </p:nvSpPr>
        <p:spPr>
          <a:xfrm>
            <a:off x="411480" y="4114800"/>
            <a:ext cx="477774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U05 · Søger: Klemspænding Ukl [V]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4562856"/>
            <a:ext cx="477774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E [V], I [A], ri [Ω]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5020056"/>
            <a:ext cx="47777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Afladning; I ud af kildens pluspol.</a:t>
            </a:r>
          </a:p>
        </p:txBody>
      </p:sp>
      <p:pic>
        <p:nvPicPr>
          <p:cNvPr id="23" name="U05-formula" descr="U_{\mathrm{kl}}=E-I r_i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2963" y="5431536"/>
            <a:ext cx="2051913" cy="603504"/>
          </a:xfrm>
          <a:prstGeom prst="rect">
            <a:avLst/>
          </a:prstGeom>
        </p:spPr>
      </p:pic>
      <p:sp>
        <p:nvSpPr>
          <p:cNvPr id="24" name="U05-details"/>
          <p:cNvSpPr txBox="1"/>
          <p:nvPr/>
        </p:nvSpPr>
        <p:spPr>
          <a:xfrm>
            <a:off x="411480" y="6089904"/>
            <a:ext cx="477774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Beregn internt fald I·ri først.</a:t>
            </a:r>
            <a:br/>
            <a:r>
              <a:t>ENH.  A og Ω.</a:t>
            </a:r>
            <a:br/>
            <a:r>
              <a:t>PAS PÅ  Ved opladning med samme positive I: Ukl = E + I·ri.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U06-header"/>
          <p:cNvSpPr txBox="1"/>
          <p:nvPr/>
        </p:nvSpPr>
        <p:spPr>
          <a:xfrm>
            <a:off x="5532120" y="4114800"/>
            <a:ext cx="477774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U06 · Søger: Delspænding U1 [V]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32120" y="4562856"/>
            <a:ext cx="477774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U [V], R1, R2 [Ω]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32120" y="5020056"/>
            <a:ext cx="47777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To serie-R; midtpunktet er ubelastet.</a:t>
            </a:r>
          </a:p>
        </p:txBody>
      </p:sp>
      <p:pic>
        <p:nvPicPr>
          <p:cNvPr id="29" name="U06-formula" descr="U_1=U\frac{R_1}{R_1+R_2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1274" y="5431536"/>
            <a:ext cx="1596571" cy="603504"/>
          </a:xfrm>
          <a:prstGeom prst="rect">
            <a:avLst/>
          </a:prstGeom>
        </p:spPr>
      </p:pic>
      <p:sp>
        <p:nvSpPr>
          <p:cNvPr id="30" name="U06-details"/>
          <p:cNvSpPr txBox="1"/>
          <p:nvPr/>
        </p:nvSpPr>
        <p:spPr>
          <a:xfrm>
            <a:off x="5532120" y="6089904"/>
            <a:ext cx="477774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Ved last: erstat belastet R med dens parallelkombination.</a:t>
            </a:r>
            <a:br/>
            <a:r>
              <a:t>ENH.  Samme enhed for R1 og R2.</a:t>
            </a:r>
            <a:br/>
            <a:r>
              <a:t>PAS PÅ  En tilsluttet last ændrer spændingsdelingen.</a:t>
            </a:r>
            <a:br/>
            <a:r>
              <a:t>EKS.  24·100/(100+200) = 8 V.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3212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526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U07 – E03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629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257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3725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458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14 / 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092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U07-header"/>
          <p:cNvSpPr txBox="1"/>
          <p:nvPr/>
        </p:nvSpPr>
        <p:spPr>
          <a:xfrm>
            <a:off x="411480" y="987552"/>
            <a:ext cx="477774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U07 · Søger: Knudespænding Va [V]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77774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Grenkilder Ek [V], Rk [Ω]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7777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Fælles knude a og reference 0; kilder + mod a.</a:t>
            </a:r>
          </a:p>
        </p:txBody>
      </p:sp>
      <p:pic>
        <p:nvPicPr>
          <p:cNvPr id="11" name="U07-formula" descr="V_a=\frac{\sum_k E_k/R_k}{\sum_k 1/R_k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7053" y="2304288"/>
            <a:ext cx="843733" cy="603504"/>
          </a:xfrm>
          <a:prstGeom prst="rect">
            <a:avLst/>
          </a:prstGeom>
        </p:spPr>
      </p:pic>
      <p:sp>
        <p:nvSpPr>
          <p:cNvPr id="12" name="U07-details"/>
          <p:cNvSpPr txBox="1"/>
          <p:nvPr/>
        </p:nvSpPr>
        <p:spPr>
          <a:xfrm>
            <a:off x="411480" y="2962656"/>
            <a:ext cx="477774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Sæt en ren modstandsgren til Ek = 0. Find Ik = (Va − Ek)/Rk.</a:t>
            </a:r>
            <a:br/>
            <a:r>
              <a:t>ENH.  V og Ω.</a:t>
            </a:r>
            <a:br/>
            <a:r>
              <a:t>PAS PÅ  Gælder denne to-knude-topologi; ellers løs KCL-ligninger.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01-header"/>
          <p:cNvSpPr txBox="1"/>
          <p:nvPr/>
        </p:nvSpPr>
        <p:spPr>
          <a:xfrm>
            <a:off x="5532120" y="987552"/>
            <a:ext cx="477774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E01 · Søger: Induceret spænding e [V]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32120" y="1435608"/>
            <a:ext cx="477774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N [1], ΔΦ [Wb], Δt [s]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32120" y="1892808"/>
            <a:ext cx="47777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Middel-EMK over interval; samme flux gennem hver vinding.</a:t>
            </a:r>
          </a:p>
        </p:txBody>
      </p:sp>
      <p:pic>
        <p:nvPicPr>
          <p:cNvPr id="17" name="E01-formula" descr="e_{\mathrm{middel}}=-N\frac{\Delta\Phi}{\Delta t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1175" y="2304288"/>
            <a:ext cx="2056769" cy="603504"/>
          </a:xfrm>
          <a:prstGeom prst="rect">
            <a:avLst/>
          </a:prstGeom>
        </p:spPr>
      </p:pic>
      <p:sp>
        <p:nvSpPr>
          <p:cNvPr id="18" name="E01-details"/>
          <p:cNvSpPr txBox="1"/>
          <p:nvPr/>
        </p:nvSpPr>
        <p:spPr>
          <a:xfrm>
            <a:off x="5532120" y="2962656"/>
            <a:ext cx="477774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ΔΦ = Φslut − Φstart. Størrelse: |e| = N·|ΔΦ|/Δt.</a:t>
            </a:r>
            <a:br/>
            <a:r>
              <a:t>ENH.  mWb → Wb; ms → s.</a:t>
            </a:r>
            <a:br/>
            <a:r>
              <a:t>PAS PÅ  Minus er Lenz-retningen ift. valgt fluxnormal og omløbsretning.</a:t>
            </a:r>
            <a:br/>
            <a:r>
              <a:t>EKS.  N=100; ΔΦ=2 mWb; Δt=0,1 s → e=−2 V.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3212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E02-header"/>
          <p:cNvSpPr txBox="1"/>
          <p:nvPr/>
        </p:nvSpPr>
        <p:spPr>
          <a:xfrm>
            <a:off x="411480" y="4114800"/>
            <a:ext cx="477774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E02 · Søger: Øjebliks-EMK e(t) [V]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4562856"/>
            <a:ext cx="477774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N [1], Φ(t) [Wb]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5020056"/>
            <a:ext cx="47777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Valgt positiv fluxnormal og konsistent omløbsretning.</a:t>
            </a:r>
          </a:p>
        </p:txBody>
      </p:sp>
      <p:pic>
        <p:nvPicPr>
          <p:cNvPr id="23" name="E02-formula" descr="e(t)=-N\frac{\mathrm{d}\Phi}{\mathrm{d}t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45037" y="5431536"/>
            <a:ext cx="1687765" cy="603504"/>
          </a:xfrm>
          <a:prstGeom prst="rect">
            <a:avLst/>
          </a:prstGeom>
        </p:spPr>
      </p:pic>
      <p:sp>
        <p:nvSpPr>
          <p:cNvPr id="24" name="E02-details"/>
          <p:cNvSpPr txBox="1"/>
          <p:nvPr/>
        </p:nvSpPr>
        <p:spPr>
          <a:xfrm>
            <a:off x="411480" y="6089904"/>
            <a:ext cx="477774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Differentier fluxfunktionen; eller aflæs dens lokale hældning.</a:t>
            </a:r>
            <a:br/>
            <a:r>
              <a:t>ENH.  Wb/s = V.</a:t>
            </a:r>
            <a:br/>
            <a:r>
              <a:t>PAS PÅ  ΔΦ/Δt er middelhældningen; dΦ/dt er øjeblikshældningen.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E03-header"/>
          <p:cNvSpPr txBox="1"/>
          <p:nvPr/>
        </p:nvSpPr>
        <p:spPr>
          <a:xfrm>
            <a:off x="5532120" y="4114800"/>
            <a:ext cx="477774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E03 · Søger: Bevægelses-EMK |E| [V]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32120" y="4562856"/>
            <a:ext cx="477774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B [T], l [m], v [m/s]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32120" y="5020056"/>
            <a:ext cx="47777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Lige leder; l, v og B står indbyrdes vinkelret.</a:t>
            </a:r>
          </a:p>
        </p:txBody>
      </p:sp>
      <p:pic>
        <p:nvPicPr>
          <p:cNvPr id="29" name="E03-formula" descr="|E|=Blv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22111" y="5431536"/>
            <a:ext cx="1574897" cy="603504"/>
          </a:xfrm>
          <a:prstGeom prst="rect">
            <a:avLst/>
          </a:prstGeom>
        </p:spPr>
      </p:pic>
      <p:sp>
        <p:nvSpPr>
          <p:cNvPr id="30" name="E03-details"/>
          <p:cNvSpPr txBox="1"/>
          <p:nvPr/>
        </p:nvSpPr>
        <p:spPr>
          <a:xfrm>
            <a:off x="5532120" y="6089904"/>
            <a:ext cx="477774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Brug længden i feltet. Polaritet findes af v×B / generatorreglen.</a:t>
            </a:r>
            <a:br/>
            <a:r>
              <a:t>ENH.  km/h → m/s: ÷ 3,6.</a:t>
            </a:r>
            <a:br/>
            <a:r>
              <a:t>PAS PÅ  Kun størrelse; vilkårlig bevægelsesretning kræver projektion.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3212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526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E05 – R01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629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257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3725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458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15 / 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092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E05-header"/>
          <p:cNvSpPr txBox="1"/>
          <p:nvPr/>
        </p:nvSpPr>
        <p:spPr>
          <a:xfrm>
            <a:off x="411480" y="987552"/>
            <a:ext cx="477774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E05 · Søger: Selvinduktions-EMK es [V]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77774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L [H], di/dt [A/s]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7777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Konstant induktans; induceret modspænding.</a:t>
            </a:r>
          </a:p>
        </p:txBody>
      </p:sp>
      <p:pic>
        <p:nvPicPr>
          <p:cNvPr id="11" name="E05-formula" descr="e_s=-L\frac{\mathrm{d}i}{\mathrm{d}t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5289" y="2304288"/>
            <a:ext cx="1367260" cy="603504"/>
          </a:xfrm>
          <a:prstGeom prst="rect">
            <a:avLst/>
          </a:prstGeom>
        </p:spPr>
      </p:pic>
      <p:sp>
        <p:nvSpPr>
          <p:cNvPr id="12" name="E05-details"/>
          <p:cNvSpPr txBox="1"/>
          <p:nvPr/>
        </p:nvSpPr>
        <p:spPr>
          <a:xfrm>
            <a:off x="411480" y="2962656"/>
            <a:ext cx="477774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For lineær rampe: es,middel = −L·ΔI/Δt.</a:t>
            </a:r>
            <a:br/>
            <a:r>
              <a:t>ENH.  mH → H: ÷ 1000.</a:t>
            </a:r>
            <a:br/>
            <a:r>
              <a:t>PAS PÅ  Passiv klemspænding er uL = +L·di/dt; modsatrettet EMK er es.</a:t>
            </a:r>
            <a:br/>
            <a:r>
              <a:t>EKS.  L=20 mH; ΔI=2 A/10 ms → es=−4 V.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N01-header"/>
          <p:cNvSpPr txBox="1"/>
          <p:nvPr/>
        </p:nvSpPr>
        <p:spPr>
          <a:xfrm>
            <a:off x="5532120" y="987552"/>
            <a:ext cx="477774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N01 · Søger: Knudespændinger Va [V]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32120" y="1435608"/>
            <a:ext cx="477774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Topologi, R [Ω], kilder og reference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32120" y="1892808"/>
            <a:ext cx="47777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DC-net; strømmene ud af hver ukendt knude.</a:t>
            </a:r>
          </a:p>
        </p:txBody>
      </p:sp>
      <p:pic>
        <p:nvPicPr>
          <p:cNvPr id="17" name="N01-formula" descr="\sum_b\frac{V_a-V_b}{R_{ab}}=I_{\mathrm{ind},a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120" y="2304288"/>
            <a:ext cx="1554879" cy="603504"/>
          </a:xfrm>
          <a:prstGeom prst="rect">
            <a:avLst/>
          </a:prstGeom>
        </p:spPr>
      </p:pic>
      <p:sp>
        <p:nvSpPr>
          <p:cNvPr id="18" name="N01-details"/>
          <p:cNvSpPr txBox="1"/>
          <p:nvPr/>
        </p:nvSpPr>
        <p:spPr>
          <a:xfrm>
            <a:off x="5532120" y="2962656"/>
            <a:ext cx="477774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Vælg reference 0. Skriv KCL; løs samtidige ligninger. Ik = (Va−Vb)/Rk.</a:t>
            </a:r>
            <a:br/>
            <a:r>
              <a:t>ENH.  V og Ω.</a:t>
            </a:r>
            <a:br/>
            <a:r>
              <a:t>PAS PÅ  Ideel spændingskilde mellem ukendte knuder: superknude plus Va−Vb = 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3212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N03-header"/>
          <p:cNvSpPr txBox="1"/>
          <p:nvPr/>
        </p:nvSpPr>
        <p:spPr>
          <a:xfrm>
            <a:off x="411480" y="4114800"/>
            <a:ext cx="477774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N03 · Søger: Kontrol af spændinger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4562856"/>
            <a:ext cx="477774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Kilders polaritet, I [A], R [Ω]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5020056"/>
            <a:ext cx="47777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KVL i lukket DC-sløjfe; kontrol efter KCL-løsning.</a:t>
            </a:r>
          </a:p>
        </p:txBody>
      </p:sp>
      <p:pic>
        <p:nvPicPr>
          <p:cNvPr id="23" name="N03-formula" descr="\sum_k\Delta V_k=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31423" y="5431536"/>
            <a:ext cx="1114993" cy="603504"/>
          </a:xfrm>
          <a:prstGeom prst="rect">
            <a:avLst/>
          </a:prstGeom>
        </p:spPr>
      </p:pic>
      <p:sp>
        <p:nvSpPr>
          <p:cNvPr id="24" name="N03-details"/>
          <p:cNvSpPr txBox="1"/>
          <p:nvPr/>
        </p:nvSpPr>
        <p:spPr>
          <a:xfrm>
            <a:off x="411480" y="6089904"/>
            <a:ext cx="477774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−→+ over kilde: +E. Med strøm gennem R: −IR.</a:t>
            </a:r>
            <a:br/>
            <a:r>
              <a:t>ENH.  Alle led i V.</a:t>
            </a:r>
            <a:br/>
            <a:r>
              <a:t>PAS PÅ  Kun n−1 knudeligninger er uafhængige i et net med n knuder.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01-header"/>
          <p:cNvSpPr txBox="1"/>
          <p:nvPr/>
        </p:nvSpPr>
        <p:spPr>
          <a:xfrm>
            <a:off x="5532120" y="4114800"/>
            <a:ext cx="477774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R01 · Søger: Resistans R [Ω]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32120" y="4562856"/>
            <a:ext cx="477774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U [V], I [A]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32120" y="5020056"/>
            <a:ext cx="47777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Ohmsk komponent ved den aktuelle temperatur.</a:t>
            </a:r>
          </a:p>
        </p:txBody>
      </p:sp>
      <p:pic>
        <p:nvPicPr>
          <p:cNvPr id="29" name="R01-formula" descr="R=\frac{U}{I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65703" y="5431536"/>
            <a:ext cx="887712" cy="603504"/>
          </a:xfrm>
          <a:prstGeom prst="rect">
            <a:avLst/>
          </a:prstGeom>
        </p:spPr>
      </p:pic>
      <p:sp>
        <p:nvSpPr>
          <p:cNvPr id="30" name="R01-details"/>
          <p:cNvSpPr txBox="1"/>
          <p:nvPr/>
        </p:nvSpPr>
        <p:spPr>
          <a:xfrm>
            <a:off x="5532120" y="6089904"/>
            <a:ext cx="477774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U og I skal høre til samme komponent.</a:t>
            </a:r>
            <a:br/>
            <a:r>
              <a:t>ENH.  mA → A: ÷ 1000.</a:t>
            </a:r>
            <a:br/>
            <a:r>
              <a:t>PAS PÅ  R er komponentens modstand; ρ er materialets resistivitet.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3212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526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R02 – R05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629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257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3725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458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16 / 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092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R02-header"/>
          <p:cNvSpPr txBox="1"/>
          <p:nvPr/>
        </p:nvSpPr>
        <p:spPr>
          <a:xfrm>
            <a:off x="411480" y="987552"/>
            <a:ext cx="477774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R02 · Søger: Resistans R [Ω]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77774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P [W], I [A]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7777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Ohmsk R; P er dens afsatte effekt.</a:t>
            </a:r>
          </a:p>
        </p:txBody>
      </p:sp>
      <p:pic>
        <p:nvPicPr>
          <p:cNvPr id="11" name="R02-formula" descr="R=\frac{P}{I^2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7131" y="2304288"/>
            <a:ext cx="863577" cy="603504"/>
          </a:xfrm>
          <a:prstGeom prst="rect">
            <a:avLst/>
          </a:prstGeom>
        </p:spPr>
      </p:pic>
      <p:sp>
        <p:nvSpPr>
          <p:cNvPr id="12" name="R02-details"/>
          <p:cNvSpPr txBox="1"/>
          <p:nvPr/>
        </p:nvSpPr>
        <p:spPr>
          <a:xfrm>
            <a:off x="411480" y="2962656"/>
            <a:ext cx="477774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Kvadrér I efter enhedsomregning.</a:t>
            </a:r>
            <a:br/>
            <a:r>
              <a:t>ENH.  A, ikke mA.</a:t>
            </a:r>
            <a:br/>
            <a:r>
              <a:t>PAS PÅ  Et mA-tal uden omregning giver fejl på faktor 10⁶.</a:t>
            </a:r>
            <a:br/>
            <a:r>
              <a:t>EKS.  24/2² = 6 Ω.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03-header"/>
          <p:cNvSpPr txBox="1"/>
          <p:nvPr/>
        </p:nvSpPr>
        <p:spPr>
          <a:xfrm>
            <a:off x="5532120" y="987552"/>
            <a:ext cx="477774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R03 · Søger: Resistans R [Ω]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32120" y="1435608"/>
            <a:ext cx="477774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U [V], P [W]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32120" y="1892808"/>
            <a:ext cx="47777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Ohmsk R; U måles over R.</a:t>
            </a:r>
          </a:p>
        </p:txBody>
      </p:sp>
      <p:pic>
        <p:nvPicPr>
          <p:cNvPr id="17" name="R03-formula" descr="R=\frac{U^2}{P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7759" y="2304288"/>
            <a:ext cx="943600" cy="603504"/>
          </a:xfrm>
          <a:prstGeom prst="rect">
            <a:avLst/>
          </a:prstGeom>
        </p:spPr>
      </p:pic>
      <p:sp>
        <p:nvSpPr>
          <p:cNvPr id="18" name="R03-details"/>
          <p:cNvSpPr txBox="1"/>
          <p:nvPr/>
        </p:nvSpPr>
        <p:spPr>
          <a:xfrm>
            <a:off x="5532120" y="2962656"/>
            <a:ext cx="477774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P skal være tabet i den samme R.</a:t>
            </a:r>
            <a:br/>
            <a:r>
              <a:t>ENH.  V og W.</a:t>
            </a:r>
            <a:br/>
            <a:r>
              <a:t>PAS PÅ  Gælder ikke motorens mekaniske udgangseffekt.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3212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04-header"/>
          <p:cNvSpPr txBox="1"/>
          <p:nvPr/>
        </p:nvSpPr>
        <p:spPr>
          <a:xfrm>
            <a:off x="411480" y="4114800"/>
            <a:ext cx="477774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R04 · Søger: Ledermodstand R [Ω]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4562856"/>
            <a:ext cx="477774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ρ [Ω·mm²/m], l [m], S [mm²]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5020056"/>
            <a:ext cx="47777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Ensartet leder; ρ ved relevant temperatur.</a:t>
            </a:r>
          </a:p>
        </p:txBody>
      </p:sp>
      <p:pic>
        <p:nvPicPr>
          <p:cNvPr id="23" name="R04-formula" descr="R=\rho\frac{l}{S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2590" y="5431536"/>
            <a:ext cx="1012659" cy="603504"/>
          </a:xfrm>
          <a:prstGeom prst="rect">
            <a:avLst/>
          </a:prstGeom>
        </p:spPr>
      </p:pic>
      <p:sp>
        <p:nvSpPr>
          <p:cNvPr id="24" name="R04-details"/>
          <p:cNvSpPr txBox="1"/>
          <p:nvPr/>
        </p:nvSpPr>
        <p:spPr>
          <a:xfrm>
            <a:off x="411480" y="6089904"/>
            <a:ext cx="477774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Brug 2·l ved identiske frem- og returledere.</a:t>
            </a:r>
            <a:br/>
            <a:r>
              <a:t>ENH.  Med ρ [Ω·m] skal S være i m².</a:t>
            </a:r>
            <a:br/>
            <a:r>
              <a:t>PAS PÅ  Et 4×10 mm²-kabel har fire ledere; én leder har S = 10 mm².</a:t>
            </a:r>
            <a:br/>
            <a:r>
              <a:t>EKS.  Cu: 0,0175·300/10 = 0,525 Ω pr. leder.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05-header"/>
          <p:cNvSpPr txBox="1"/>
          <p:nvPr/>
        </p:nvSpPr>
        <p:spPr>
          <a:xfrm>
            <a:off x="5532120" y="4114800"/>
            <a:ext cx="477774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R05 · Søger: Varm modstand RT [Ω]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32120" y="4562856"/>
            <a:ext cx="477774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Rt [Ω], αt [K⁻¹], T, t [°C]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32120" y="5020056"/>
            <a:ext cx="47777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Lineær metalmodel; α hører til referencen t.</a:t>
            </a:r>
          </a:p>
        </p:txBody>
      </p:sp>
      <p:pic>
        <p:nvPicPr>
          <p:cNvPr id="29" name="R05-formula" descr="R_T=R_t[1+\alpha_t(T-t)]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58548" y="5431536"/>
            <a:ext cx="3502023" cy="603504"/>
          </a:xfrm>
          <a:prstGeom prst="rect">
            <a:avLst/>
          </a:prstGeom>
        </p:spPr>
      </p:pic>
      <p:sp>
        <p:nvSpPr>
          <p:cNvPr id="30" name="R05-details"/>
          <p:cNvSpPr txBox="1"/>
          <p:nvPr/>
        </p:nvSpPr>
        <p:spPr>
          <a:xfrm>
            <a:off x="5532120" y="6089904"/>
            <a:ext cx="477774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Fra t = 20 °C bruges α20 fra materialetabellen.</a:t>
            </a:r>
            <a:br/>
            <a:r>
              <a:t>ENH.  Temperaturforskel: 1 °C = 1 K.</a:t>
            </a:r>
            <a:br/>
            <a:r>
              <a:t>PAS PÅ  Ikke en generel model for NTC/PTC eller stor temperaturændring.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3212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526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R06 – R09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629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257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3725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458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17 / 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092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R06-header"/>
          <p:cNvSpPr txBox="1"/>
          <p:nvPr/>
        </p:nvSpPr>
        <p:spPr>
          <a:xfrm>
            <a:off x="411480" y="987552"/>
            <a:ext cx="477774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R06 · Søger: Kold modstand Rt [Ω]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77774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RT [Ω], αt [K⁻¹], T, t [°C]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7777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Samme lineære model og reference som R05.</a:t>
            </a:r>
          </a:p>
        </p:txBody>
      </p:sp>
      <p:pic>
        <p:nvPicPr>
          <p:cNvPr id="11" name="R06-formula" descr="R_t=\frac{R_T}{1+\alpha_t(T-t)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1580" y="2304288"/>
            <a:ext cx="1734679" cy="603504"/>
          </a:xfrm>
          <a:prstGeom prst="rect">
            <a:avLst/>
          </a:prstGeom>
        </p:spPr>
      </p:pic>
      <p:sp>
        <p:nvSpPr>
          <p:cNvPr id="12" name="R06-details"/>
          <p:cNvSpPr txBox="1"/>
          <p:nvPr/>
        </p:nvSpPr>
        <p:spPr>
          <a:xfrm>
            <a:off x="411480" y="2962656"/>
            <a:ext cx="477774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Kontrollér nævneren og referencetemperaturen.</a:t>
            </a:r>
            <a:br/>
            <a:r>
              <a:t>ENH.  Forskel i K eller °C.</a:t>
            </a:r>
            <a:br/>
            <a:r>
              <a:t>PAS PÅ  Brug ikke α20 ukritisk med reference 0 °C.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07-header"/>
          <p:cNvSpPr txBox="1"/>
          <p:nvPr/>
        </p:nvSpPr>
        <p:spPr>
          <a:xfrm>
            <a:off x="5532120" y="987552"/>
            <a:ext cx="477774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R07 · Søger: Seriemodstand Rs [Ω]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32120" y="1435608"/>
            <a:ext cx="477774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R1 … Rn [Ω]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32120" y="1892808"/>
            <a:ext cx="47777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Én strømvej; samme strøm i alle R.</a:t>
            </a:r>
          </a:p>
        </p:txBody>
      </p:sp>
      <p:pic>
        <p:nvPicPr>
          <p:cNvPr id="17" name="R07-formula" descr="R_s=\sum_{k=1}^{n}R_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0501" y="2304288"/>
            <a:ext cx="1038116" cy="603504"/>
          </a:xfrm>
          <a:prstGeom prst="rect">
            <a:avLst/>
          </a:prstGeom>
        </p:spPr>
      </p:pic>
      <p:sp>
        <p:nvSpPr>
          <p:cNvPr id="18" name="R07-details"/>
          <p:cNvSpPr txBox="1"/>
          <p:nvPr/>
        </p:nvSpPr>
        <p:spPr>
          <a:xfrm>
            <a:off x="5532120" y="2962656"/>
            <a:ext cx="477774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Spændinger og effekter summeres også.</a:t>
            </a:r>
            <a:br/>
            <a:r>
              <a:t>ENH.  Alle R i samme enhed.</a:t>
            </a:r>
            <a:br/>
            <a:r>
              <a:t>PAS PÅ  R i separate strømveje er ikke i serie.</a:t>
            </a:r>
            <a:br/>
            <a:r>
              <a:t>EKS.  200+160+140 = 500 Ω.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3212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08-header"/>
          <p:cNvSpPr txBox="1"/>
          <p:nvPr/>
        </p:nvSpPr>
        <p:spPr>
          <a:xfrm>
            <a:off x="411480" y="4114800"/>
            <a:ext cx="477774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R08 · Søger: Parallelmodstand Rp [Ω]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4562856"/>
            <a:ext cx="477774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R1 … Rn [Ω]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5020056"/>
            <a:ext cx="47777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Alle R mellem de samme to knuder.</a:t>
            </a:r>
          </a:p>
        </p:txBody>
      </p:sp>
      <p:pic>
        <p:nvPicPr>
          <p:cNvPr id="23" name="R08-formula" descr="R_p=\left(\sum_{k=1}^{n}\frac{1}{R_k}\right)^{-1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79577" y="5431536"/>
            <a:ext cx="1418684" cy="603504"/>
          </a:xfrm>
          <a:prstGeom prst="rect">
            <a:avLst/>
          </a:prstGeom>
        </p:spPr>
      </p:pic>
      <p:sp>
        <p:nvSpPr>
          <p:cNvPr id="24" name="R08-details"/>
          <p:cNvSpPr txBox="1"/>
          <p:nvPr/>
        </p:nvSpPr>
        <p:spPr>
          <a:xfrm>
            <a:off x="411480" y="6089904"/>
            <a:ext cx="477774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To R: Rp = R1·R2/(R1+R2).</a:t>
            </a:r>
            <a:br/>
            <a:r>
              <a:t>ENH.  Alle R i samme enhed.</a:t>
            </a:r>
            <a:br/>
            <a:r>
              <a:t>PAS PÅ  Rp skal være mindre end mindste R.</a:t>
            </a:r>
            <a:br/>
            <a:r>
              <a:t>EKS.  125 || 100 || 40 = 23,256 Ω.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09-header"/>
          <p:cNvSpPr txBox="1"/>
          <p:nvPr/>
        </p:nvSpPr>
        <p:spPr>
          <a:xfrm>
            <a:off x="5532120" y="4114800"/>
            <a:ext cx="477774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R09 · Søger: Indre modstand ri [Ω]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32120" y="4562856"/>
            <a:ext cx="477774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E [V], Ukl [V], I [A]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32120" y="5020056"/>
            <a:ext cx="47777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Belastet DC-kilde; afladning.</a:t>
            </a:r>
          </a:p>
        </p:txBody>
      </p:sp>
      <p:pic>
        <p:nvPicPr>
          <p:cNvPr id="29" name="R09-formula" descr="r_i=\frac{E-U_{\mathrm{kl}}}{I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72713" y="5431536"/>
            <a:ext cx="1273693" cy="603504"/>
          </a:xfrm>
          <a:prstGeom prst="rect">
            <a:avLst/>
          </a:prstGeom>
        </p:spPr>
      </p:pic>
      <p:sp>
        <p:nvSpPr>
          <p:cNvPr id="30" name="R09-details"/>
          <p:cNvSpPr txBox="1"/>
          <p:nvPr/>
        </p:nvSpPr>
        <p:spPr>
          <a:xfrm>
            <a:off x="5532120" y="6089904"/>
            <a:ext cx="477774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E findes ved tomgang I = 0.</a:t>
            </a:r>
            <a:br/>
            <a:r>
              <a:t>ENH.  V og A.</a:t>
            </a:r>
            <a:br/>
            <a:r>
              <a:t>PAS PÅ  Målingerne skal være ved samme kildetilstand.</a:t>
            </a:r>
            <a:br/>
            <a:r>
              <a:t>EKS.  (12,4−11,2)/6 = 0,2 Ω.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3212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526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R10 – G05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629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257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3725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458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18 / 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092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R10-header"/>
          <p:cNvSpPr txBox="1"/>
          <p:nvPr/>
        </p:nvSpPr>
        <p:spPr>
          <a:xfrm>
            <a:off x="411480" y="987552"/>
            <a:ext cx="477774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R10 · Søger: Resistans R [Ω]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77774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G [S]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7777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Ohmsk komponent.</a:t>
            </a:r>
          </a:p>
        </p:txBody>
      </p:sp>
      <p:pic>
        <p:nvPicPr>
          <p:cNvPr id="11" name="R10-formula" descr="R=\frac{1}{G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4963" y="2304288"/>
            <a:ext cx="887913" cy="603504"/>
          </a:xfrm>
          <a:prstGeom prst="rect">
            <a:avLst/>
          </a:prstGeom>
        </p:spPr>
      </p:pic>
      <p:sp>
        <p:nvSpPr>
          <p:cNvPr id="12" name="R10-details"/>
          <p:cNvSpPr txBox="1"/>
          <p:nvPr/>
        </p:nvSpPr>
        <p:spPr>
          <a:xfrm>
            <a:off x="411480" y="2962656"/>
            <a:ext cx="477774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For en leder: G = γ·S/l først.</a:t>
            </a:r>
            <a:br/>
            <a:r>
              <a:t>ENH.  mS → S: ÷ 1000.</a:t>
            </a:r>
            <a:br/>
            <a:r>
              <a:t>PAS PÅ  Specifik γ og komponentens G er forskellige.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G03-header"/>
          <p:cNvSpPr txBox="1"/>
          <p:nvPr/>
        </p:nvSpPr>
        <p:spPr>
          <a:xfrm>
            <a:off x="5532120" y="987552"/>
            <a:ext cx="477774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G03 · Søger: Resistivitet 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32120" y="1435608"/>
            <a:ext cx="477774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R [Ω], l [m], S [mm²]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32120" y="1892808"/>
            <a:ext cx="47777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Ensartet leder ved kendt temperatur.</a:t>
            </a:r>
          </a:p>
        </p:txBody>
      </p:sp>
      <p:pic>
        <p:nvPicPr>
          <p:cNvPr id="17" name="G03-formula" descr="\rho=\frac{R S}{l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9431" y="2304288"/>
            <a:ext cx="980257" cy="603504"/>
          </a:xfrm>
          <a:prstGeom prst="rect">
            <a:avLst/>
          </a:prstGeom>
        </p:spPr>
      </p:pic>
      <p:sp>
        <p:nvSpPr>
          <p:cNvPr id="18" name="G03-details"/>
          <p:cNvSpPr txBox="1"/>
          <p:nvPr/>
        </p:nvSpPr>
        <p:spPr>
          <a:xfrm>
            <a:off x="5532120" y="2962656"/>
            <a:ext cx="477774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Vælg enten mm²-systemet eller SI konsekvent.</a:t>
            </a:r>
            <a:br/>
            <a:r>
              <a:t>ENH.  S i mm² giver ρ i Ω·mm²/m.</a:t>
            </a:r>
            <a:br/>
            <a:r>
              <a:t>PAS PÅ  Materialeværdi, ikke hele lederens modstand.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3212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G04-header"/>
          <p:cNvSpPr txBox="1"/>
          <p:nvPr/>
        </p:nvSpPr>
        <p:spPr>
          <a:xfrm>
            <a:off x="411480" y="4114800"/>
            <a:ext cx="477774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G04 · Søger: Tværsnit S [mm²]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4562856"/>
            <a:ext cx="477774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ρ [Ω·mm²/m], l [m], R [Ω]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5020056"/>
            <a:ext cx="47777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Ensartet leder; kendt materialeværdi.</a:t>
            </a:r>
          </a:p>
        </p:txBody>
      </p:sp>
      <p:pic>
        <p:nvPicPr>
          <p:cNvPr id="23" name="G04-formula" descr="S=\rho\frac{l}{R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77328" y="5431536"/>
            <a:ext cx="1023182" cy="603504"/>
          </a:xfrm>
          <a:prstGeom prst="rect">
            <a:avLst/>
          </a:prstGeom>
        </p:spPr>
      </p:pic>
      <p:sp>
        <p:nvSpPr>
          <p:cNvPr id="24" name="G04-details"/>
          <p:cNvSpPr txBox="1"/>
          <p:nvPr/>
        </p:nvSpPr>
        <p:spPr>
          <a:xfrm>
            <a:off x="411480" y="6089904"/>
            <a:ext cx="477774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Hvis rund leder: S = π·d²/4.</a:t>
            </a:r>
            <a:br/>
            <a:r>
              <a:t>ENH.  Med SI-ρ fås S i m².</a:t>
            </a:r>
            <a:br/>
            <a:r>
              <a:t>PAS PÅ  Radius og diameter giver forskellige arealformler.</a:t>
            </a:r>
            <a:br/>
            <a:r>
              <a:t>EKS.  Al: 0,029·500/0,740 = 19,595 mm².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G05-header"/>
          <p:cNvSpPr txBox="1"/>
          <p:nvPr/>
        </p:nvSpPr>
        <p:spPr>
          <a:xfrm>
            <a:off x="5532120" y="4114800"/>
            <a:ext cx="477774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G05 · Søger: Lederlængde l [m]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32120" y="4562856"/>
            <a:ext cx="477774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R [Ω], S [mm²], ρ [Ω·mm²/m]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32120" y="5020056"/>
            <a:ext cx="47777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Ensartet leder.</a:t>
            </a:r>
          </a:p>
        </p:txBody>
      </p:sp>
      <p:pic>
        <p:nvPicPr>
          <p:cNvPr id="29" name="G05-formula" descr="l=\frac{R S}{\rho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71588" y="5431536"/>
            <a:ext cx="875942" cy="603504"/>
          </a:xfrm>
          <a:prstGeom prst="rect">
            <a:avLst/>
          </a:prstGeom>
        </p:spPr>
      </p:pic>
      <p:sp>
        <p:nvSpPr>
          <p:cNvPr id="30" name="G05-details"/>
          <p:cNvSpPr txBox="1"/>
          <p:nvPr/>
        </p:nvSpPr>
        <p:spPr>
          <a:xfrm>
            <a:off x="5532120" y="6089904"/>
            <a:ext cx="477774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Afklar om R er én leder eller en hel sløjfe.</a:t>
            </a:r>
            <a:br/>
            <a:r>
              <a:t>ENH.  mΩ → Ω: ÷ 1000.</a:t>
            </a:r>
            <a:br/>
            <a:r>
              <a:t>PAS PÅ  Sløjfens samlede længde er frem + retur.</a:t>
            </a:r>
            <a:br/>
            <a:r>
              <a:t>EKS.  Cu: 0,080·10/0,0175 = 45,714 m.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3212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526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G06 – P01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629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257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3725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458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19 / 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092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G06-header"/>
          <p:cNvSpPr txBox="1"/>
          <p:nvPr/>
        </p:nvSpPr>
        <p:spPr>
          <a:xfrm>
            <a:off x="411480" y="987552"/>
            <a:ext cx="477774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G06 · Søger: Temperaturstigning ΔT [K]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77774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RT, Rt [Ω], αt [K⁻¹]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7777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Lineær metalmodel med kendt t.</a:t>
            </a:r>
          </a:p>
        </p:txBody>
      </p:sp>
      <p:pic>
        <p:nvPicPr>
          <p:cNvPr id="11" name="G06-formula" descr="\Delta T=\frac{R_T-R_t}{R_t\alpha_t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4832" y="2304288"/>
            <a:ext cx="1408176" cy="603504"/>
          </a:xfrm>
          <a:prstGeom prst="rect">
            <a:avLst/>
          </a:prstGeom>
        </p:spPr>
      </p:pic>
      <p:sp>
        <p:nvSpPr>
          <p:cNvPr id="12" name="G06-details"/>
          <p:cNvSpPr txBox="1"/>
          <p:nvPr/>
        </p:nvSpPr>
        <p:spPr>
          <a:xfrm>
            <a:off x="411480" y="2962656"/>
            <a:ext cx="477774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Den endelige temperatur er T = t + ΔT.</a:t>
            </a:r>
            <a:br/>
            <a:r>
              <a:t>ENH.  ΔT i K har samme talværdi som °C.</a:t>
            </a:r>
            <a:br/>
            <a:r>
              <a:t>PAS PÅ  En stigning på 32,7 K fra 20 °C giver 52,7 °C.</a:t>
            </a:r>
            <a:br/>
            <a:r>
              <a:t>EKS.  (475−420)/(420·0,004) = 32,738 K.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G01-header"/>
          <p:cNvSpPr txBox="1"/>
          <p:nvPr/>
        </p:nvSpPr>
        <p:spPr>
          <a:xfrm>
            <a:off x="5532120" y="987552"/>
            <a:ext cx="477774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G01 · Søger: Konduktans G [S]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32120" y="1435608"/>
            <a:ext cx="477774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R [Ω] eller I [A], U [V]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32120" y="1892808"/>
            <a:ext cx="47777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Samme ohmske komponent.</a:t>
            </a:r>
          </a:p>
        </p:txBody>
      </p:sp>
      <p:pic>
        <p:nvPicPr>
          <p:cNvPr id="17" name="G01-formula" descr="G=\frac{1}{R}=\frac{I}{U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1867" y="2304288"/>
            <a:ext cx="1395384" cy="603504"/>
          </a:xfrm>
          <a:prstGeom prst="rect">
            <a:avLst/>
          </a:prstGeom>
        </p:spPr>
      </p:pic>
      <p:sp>
        <p:nvSpPr>
          <p:cNvPr id="18" name="G01-details"/>
          <p:cNvSpPr txBox="1"/>
          <p:nvPr/>
        </p:nvSpPr>
        <p:spPr>
          <a:xfrm>
            <a:off x="5532120" y="2962656"/>
            <a:ext cx="477774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G = γ·S/l for en ensartet leder.</a:t>
            </a:r>
            <a:br/>
            <a:r>
              <a:t>ENH.  1 S = 1/Ω.</a:t>
            </a:r>
            <a:br/>
            <a:r>
              <a:t>PAS PÅ  G [S] og tværsnit S [mm²] er forskellige størrelser.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3212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G02-header"/>
          <p:cNvSpPr txBox="1"/>
          <p:nvPr/>
        </p:nvSpPr>
        <p:spPr>
          <a:xfrm>
            <a:off x="411480" y="4114800"/>
            <a:ext cx="477774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G02 · Søger: Specifik ledningsevne γ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4562856"/>
            <a:ext cx="477774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ρ i kendt enhed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5020056"/>
            <a:ext cx="47777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Materialeværdi ved samme temperatur.</a:t>
            </a:r>
          </a:p>
        </p:txBody>
      </p:sp>
      <p:pic>
        <p:nvPicPr>
          <p:cNvPr id="23" name="G02-formula" descr="\gamma=\frac{1}{\rho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0304" y="5431536"/>
            <a:ext cx="837230" cy="603504"/>
          </a:xfrm>
          <a:prstGeom prst="rect">
            <a:avLst/>
          </a:prstGeom>
        </p:spPr>
      </p:pic>
      <p:sp>
        <p:nvSpPr>
          <p:cNvPr id="24" name="G02-details"/>
          <p:cNvSpPr txBox="1"/>
          <p:nvPr/>
        </p:nvSpPr>
        <p:spPr>
          <a:xfrm>
            <a:off x="411480" y="6089904"/>
            <a:ext cx="477774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SI: γ [S/m]. Med ρ i Ω·mm²/m: γ [m/(Ω·mm²)].</a:t>
            </a:r>
            <a:br/>
            <a:r>
              <a:t>ENH.  Omregn ρ først ved skift til SI.</a:t>
            </a:r>
            <a:br/>
            <a:r>
              <a:t>PAS PÅ  Konduktans G afhænger også af geometri.</a:t>
            </a:r>
            <a:br/>
            <a:r>
              <a:t>EKS.  Al: 1/0,029 = 34,483 m/(Ω·mm²).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P01-header"/>
          <p:cNvSpPr txBox="1"/>
          <p:nvPr/>
        </p:nvSpPr>
        <p:spPr>
          <a:xfrm>
            <a:off x="5532120" y="4114800"/>
            <a:ext cx="477774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P01 · Søger: Elektrisk effekt P [W]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32120" y="4562856"/>
            <a:ext cx="477774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U [V], I [A]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32120" y="5020056"/>
            <a:ext cx="47777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Stationær DC; forbrugerens pluspol mod strømpilen.</a:t>
            </a:r>
          </a:p>
        </p:txBody>
      </p:sp>
      <p:pic>
        <p:nvPicPr>
          <p:cNvPr id="29" name="P01-formula" descr="P=U I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97434" y="5431536"/>
            <a:ext cx="1224250" cy="603504"/>
          </a:xfrm>
          <a:prstGeom prst="rect">
            <a:avLst/>
          </a:prstGeom>
        </p:spPr>
      </p:pic>
      <p:sp>
        <p:nvSpPr>
          <p:cNvPr id="30" name="P01-details"/>
          <p:cNvSpPr txBox="1"/>
          <p:nvPr/>
        </p:nvSpPr>
        <p:spPr>
          <a:xfrm>
            <a:off x="5532120" y="6089904"/>
            <a:ext cx="477774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P &gt; 0 er optaget effekt ved passiv fortegnskonvention.</a:t>
            </a:r>
            <a:br/>
            <a:r>
              <a:t>ENH.  kV·A = kW; V·A = W i DC.</a:t>
            </a:r>
            <a:br/>
            <a:r>
              <a:t>PAS PÅ  AC kræver en særskilt model; P = UI er ikke generelt aktiv AC-effekt.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3212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526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P02 – P05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629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257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3725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458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20 / 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092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P02-header"/>
          <p:cNvSpPr txBox="1"/>
          <p:nvPr/>
        </p:nvSpPr>
        <p:spPr>
          <a:xfrm>
            <a:off x="411480" y="987552"/>
            <a:ext cx="477774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P02 · Søger: Varmeeffekt P [W]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77774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I [A], R [Ω]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7777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Ohmsk R ved aktuel temperatur.</a:t>
            </a:r>
          </a:p>
        </p:txBody>
      </p:sp>
      <p:pic>
        <p:nvPicPr>
          <p:cNvPr id="11" name="P02-formula" descr="P=I^2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5667" y="2304288"/>
            <a:ext cx="1366505" cy="603504"/>
          </a:xfrm>
          <a:prstGeom prst="rect">
            <a:avLst/>
          </a:prstGeom>
        </p:spPr>
      </p:pic>
      <p:sp>
        <p:nvSpPr>
          <p:cNvPr id="12" name="P02-details"/>
          <p:cNvSpPr txBox="1"/>
          <p:nvPr/>
        </p:nvSpPr>
        <p:spPr>
          <a:xfrm>
            <a:off x="411480" y="2962656"/>
            <a:ext cx="477774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Brug samme R som strømmen løber i.</a:t>
            </a:r>
            <a:br/>
            <a:r>
              <a:t>ENH.  A og Ω.</a:t>
            </a:r>
            <a:br/>
            <a:r>
              <a:t>PAS PÅ  P er energioverførsel pr. tid; strøm bruges ikke op.</a:t>
            </a:r>
            <a:br/>
            <a:r>
              <a:t>EKS.  2²·7 = 28 W.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03-header"/>
          <p:cNvSpPr txBox="1"/>
          <p:nvPr/>
        </p:nvSpPr>
        <p:spPr>
          <a:xfrm>
            <a:off x="5532120" y="987552"/>
            <a:ext cx="477774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P03 · Søger: Varmeeffekt P [W]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32120" y="1435608"/>
            <a:ext cx="477774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U [V], R [Ω]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32120" y="1892808"/>
            <a:ext cx="47777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U er spændingen over ohmsk R.</a:t>
            </a:r>
          </a:p>
        </p:txBody>
      </p:sp>
      <p:pic>
        <p:nvPicPr>
          <p:cNvPr id="17" name="P03-formula" descr="P=\frac{U^2}{R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1097" y="2304288"/>
            <a:ext cx="916925" cy="603504"/>
          </a:xfrm>
          <a:prstGeom prst="rect">
            <a:avLst/>
          </a:prstGeom>
        </p:spPr>
      </p:pic>
      <p:sp>
        <p:nvSpPr>
          <p:cNvPr id="18" name="P03-details"/>
          <p:cNvSpPr txBox="1"/>
          <p:nvPr/>
        </p:nvSpPr>
        <p:spPr>
          <a:xfrm>
            <a:off x="5532120" y="2962656"/>
            <a:ext cx="477774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Omregn R før indsættelse.</a:t>
            </a:r>
            <a:br/>
            <a:r>
              <a:t>ENH.  kΩ → Ω: × 1000.</a:t>
            </a:r>
            <a:br/>
            <a:r>
              <a:t>PAS PÅ  U over en hel serie er ikke U over hver modstand.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3212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P04-header"/>
          <p:cNvSpPr txBox="1"/>
          <p:nvPr/>
        </p:nvSpPr>
        <p:spPr>
          <a:xfrm>
            <a:off x="411480" y="4114800"/>
            <a:ext cx="477774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P04 · Søger: Middel-effekt P [W]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4562856"/>
            <a:ext cx="477774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W [J], Δt [s]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5020056"/>
            <a:ext cx="47777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Energi/arbejde omsat i et interval.</a:t>
            </a:r>
          </a:p>
        </p:txBody>
      </p:sp>
      <p:pic>
        <p:nvPicPr>
          <p:cNvPr id="23" name="P04-formula" descr="P_{\mathrm{middel}}=\frac{W}{\Delta t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6792" y="5431536"/>
            <a:ext cx="1564254" cy="603504"/>
          </a:xfrm>
          <a:prstGeom prst="rect">
            <a:avLst/>
          </a:prstGeom>
        </p:spPr>
      </p:pic>
      <p:sp>
        <p:nvSpPr>
          <p:cNvPr id="24" name="P04-details"/>
          <p:cNvSpPr txBox="1"/>
          <p:nvPr/>
        </p:nvSpPr>
        <p:spPr>
          <a:xfrm>
            <a:off x="411480" y="6089904"/>
            <a:ext cx="477774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P er konstant kun hvis forløbet er stationært.</a:t>
            </a:r>
            <a:br/>
            <a:r>
              <a:t>ENH.  kJ → J: × 1000; min → s: × 60.</a:t>
            </a:r>
            <a:br/>
            <a:r>
              <a:t>PAS PÅ  kWh/h giver kW, ikke W.</a:t>
            </a:r>
            <a:br/>
            <a:r>
              <a:t>EKS.  117 kJ / 120 s = 975 W.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P05-header"/>
          <p:cNvSpPr txBox="1"/>
          <p:nvPr/>
        </p:nvSpPr>
        <p:spPr>
          <a:xfrm>
            <a:off x="5532120" y="4114800"/>
            <a:ext cx="477774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P05 · Søger: Afgiven effekt Pud [W]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32120" y="4562856"/>
            <a:ext cx="477774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η [1], Pind [W]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32120" y="5020056"/>
            <a:ext cx="47777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Samme maskine og driftspunkt.</a:t>
            </a:r>
          </a:p>
        </p:txBody>
      </p:sp>
      <p:pic>
        <p:nvPicPr>
          <p:cNvPr id="29" name="P05-formula" descr="P_{\mathrm{ud}}=\eta P_{\mathrm{ind}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53303" y="5431536"/>
            <a:ext cx="1912512" cy="603504"/>
          </a:xfrm>
          <a:prstGeom prst="rect">
            <a:avLst/>
          </a:prstGeom>
        </p:spPr>
      </p:pic>
      <p:sp>
        <p:nvSpPr>
          <p:cNvPr id="30" name="P05-details"/>
          <p:cNvSpPr txBox="1"/>
          <p:nvPr/>
        </p:nvSpPr>
        <p:spPr>
          <a:xfrm>
            <a:off x="5532120" y="6089904"/>
            <a:ext cx="477774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Omvendt: Pind = Pud/η.</a:t>
            </a:r>
            <a:br/>
            <a:r>
              <a:t>ENH.  85 % → η = 0,85.</a:t>
            </a:r>
            <a:br/>
            <a:r>
              <a:t>PAS PÅ  Kaskade: ηtotal er produktet af virkningsgraderne.</a:t>
            </a:r>
            <a:br/>
            <a:r>
              <a:t>EKS.  0,85·1000 = 850 W.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3212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526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P06 – W01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629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257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3725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458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21 / 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092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P06-header"/>
          <p:cNvSpPr txBox="1"/>
          <p:nvPr/>
        </p:nvSpPr>
        <p:spPr>
          <a:xfrm>
            <a:off x="411480" y="987552"/>
            <a:ext cx="477774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P06 · Søger: Effekttab Ptab [W]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77774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Pind, Pud [W]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7777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Stationær energibalance.</a:t>
            </a:r>
          </a:p>
        </p:txBody>
      </p:sp>
      <p:pic>
        <p:nvPicPr>
          <p:cNvPr id="11" name="P06-formula" descr="P_{\mathrm{tab}}=P_{\mathrm{ind}}-P_{\mathrm{ud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880" y="2304288"/>
            <a:ext cx="2720078" cy="603504"/>
          </a:xfrm>
          <a:prstGeom prst="rect">
            <a:avLst/>
          </a:prstGeom>
        </p:spPr>
      </p:pic>
      <p:sp>
        <p:nvSpPr>
          <p:cNvPr id="12" name="P06-details"/>
          <p:cNvSpPr txBox="1"/>
          <p:nvPr/>
        </p:nvSpPr>
        <p:spPr>
          <a:xfrm>
            <a:off x="411480" y="2962656"/>
            <a:ext cx="477774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Ohmsk ledningstab kan findes som I²·Rledning.</a:t>
            </a:r>
            <a:br/>
            <a:r>
              <a:t>ENH.  Begge effekter i samme enhed.</a:t>
            </a:r>
            <a:br/>
            <a:r>
              <a:t>PAS PÅ  Effekter skal høre til samme afgrænsning; energi forsvinder ikke.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07-header"/>
          <p:cNvSpPr txBox="1"/>
          <p:nvPr/>
        </p:nvSpPr>
        <p:spPr>
          <a:xfrm>
            <a:off x="5532120" y="987552"/>
            <a:ext cx="477774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P07 · Søger: Virkningsgrad η [1]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32120" y="1435608"/>
            <a:ext cx="477774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Pud, Pind [W]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32120" y="1892808"/>
            <a:ext cx="47777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Stationær drift; eller samme energiperiode.</a:t>
            </a:r>
          </a:p>
        </p:txBody>
      </p:sp>
      <p:pic>
        <p:nvPicPr>
          <p:cNvPr id="17" name="P07-formula" descr="\eta=\frac{P_{\mathrm{ud}}}{P_{\mathrm{ind}}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1521" y="2304288"/>
            <a:ext cx="956077" cy="603504"/>
          </a:xfrm>
          <a:prstGeom prst="rect">
            <a:avLst/>
          </a:prstGeom>
        </p:spPr>
      </p:pic>
      <p:sp>
        <p:nvSpPr>
          <p:cNvPr id="18" name="P07-details"/>
          <p:cNvSpPr txBox="1"/>
          <p:nvPr/>
        </p:nvSpPr>
        <p:spPr>
          <a:xfrm>
            <a:off x="5532120" y="2962656"/>
            <a:ext cx="477774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Ved energier: η = Wud/Wind.</a:t>
            </a:r>
            <a:br/>
            <a:r>
              <a:t>ENH.  Gang med 100 for procent.</a:t>
            </a:r>
            <a:br/>
            <a:r>
              <a:t>PAS PÅ  Måleperioder og systemgrænser skal være ens.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3212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P08-header"/>
          <p:cNvSpPr txBox="1"/>
          <p:nvPr/>
        </p:nvSpPr>
        <p:spPr>
          <a:xfrm>
            <a:off x="411480" y="4114800"/>
            <a:ext cx="477774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P08 · Søger: Mekanisk effekt P [W]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4562856"/>
            <a:ext cx="477774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M [N·m], ω [rad/s] eller n [rpm]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5020056"/>
            <a:ext cx="47777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Rotation; n er omdrejninger pr. minut i sidste udtryk.</a:t>
            </a:r>
          </a:p>
        </p:txBody>
      </p:sp>
      <p:pic>
        <p:nvPicPr>
          <p:cNvPr id="23" name="P08-formula" descr="P=M\omega=M\frac{2\pi n}{60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9514" y="5431536"/>
            <a:ext cx="2058810" cy="603504"/>
          </a:xfrm>
          <a:prstGeom prst="rect">
            <a:avLst/>
          </a:prstGeom>
        </p:spPr>
      </p:pic>
      <p:sp>
        <p:nvSpPr>
          <p:cNvPr id="24" name="P08-details"/>
          <p:cNvSpPr txBox="1"/>
          <p:nvPr/>
        </p:nvSpPr>
        <p:spPr>
          <a:xfrm>
            <a:off x="411480" y="6089904"/>
            <a:ext cx="477774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n [s⁻¹] → ω = 2πn. P [kW], n [rpm]: M ≈ 9550·P/n.</a:t>
            </a:r>
            <a:br/>
            <a:r>
              <a:t>ENH.  n/60 omregner rpm til s⁻¹.</a:t>
            </a:r>
            <a:br/>
            <a:r>
              <a:t>PAS PÅ  En motors elektriske Pind er ikke mekanisk Pud uden η.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W01-header"/>
          <p:cNvSpPr txBox="1"/>
          <p:nvPr/>
        </p:nvSpPr>
        <p:spPr>
          <a:xfrm>
            <a:off x="5532120" y="4114800"/>
            <a:ext cx="477774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W01 · Søger: Energi W [J] eller [kWh]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32120" y="4562856"/>
            <a:ext cx="477774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P [W] eller [kW], t [s] eller [h]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32120" y="5020056"/>
            <a:ext cx="47777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Konstant effekt i hele perioden.</a:t>
            </a:r>
          </a:p>
        </p:txBody>
      </p:sp>
      <p:pic>
        <p:nvPicPr>
          <p:cNvPr id="29" name="W01-formula" descr="W=P 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0618" y="5431536"/>
            <a:ext cx="1357884" cy="603504"/>
          </a:xfrm>
          <a:prstGeom prst="rect">
            <a:avLst/>
          </a:prstGeom>
        </p:spPr>
      </p:pic>
      <p:sp>
        <p:nvSpPr>
          <p:cNvPr id="30" name="W01-details"/>
          <p:cNvSpPr txBox="1"/>
          <p:nvPr/>
        </p:nvSpPr>
        <p:spPr>
          <a:xfrm>
            <a:off x="5532120" y="6089904"/>
            <a:ext cx="477774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Varierende effekt: summér delperioder eller integrér.</a:t>
            </a:r>
            <a:br/>
            <a:r>
              <a:t>ENH.  W·s = J; kW·h = kWh.</a:t>
            </a:r>
            <a:br/>
            <a:r>
              <a:t>PAS PÅ  kW·s er kJ, ikke kWh.</a:t>
            </a:r>
            <a:br/>
            <a:r>
              <a:t>EKS.  875 W·180 s = 157500 J = 0,04375 kWh.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3212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526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W02 – M01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629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257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3725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458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22 / 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092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W02-header"/>
          <p:cNvSpPr txBox="1"/>
          <p:nvPr/>
        </p:nvSpPr>
        <p:spPr>
          <a:xfrm>
            <a:off x="411480" y="987552"/>
            <a:ext cx="477774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W02 · Søger: Elektrisk energi W [J]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77774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U [V], Q [C] eller I [A], t [s]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7777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Konstant spænding; ved UIt også konstant I.</a:t>
            </a:r>
          </a:p>
        </p:txBody>
      </p:sp>
      <p:pic>
        <p:nvPicPr>
          <p:cNvPr id="11" name="W02-formula" descr="W=UQ=UI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8378" y="2304288"/>
            <a:ext cx="2401083" cy="603504"/>
          </a:xfrm>
          <a:prstGeom prst="rect">
            <a:avLst/>
          </a:prstGeom>
        </p:spPr>
      </p:pic>
      <p:sp>
        <p:nvSpPr>
          <p:cNvPr id="12" name="W02-details"/>
          <p:cNvSpPr txBox="1"/>
          <p:nvPr/>
        </p:nvSpPr>
        <p:spPr>
          <a:xfrm>
            <a:off x="411480" y="2962656"/>
            <a:ext cx="477774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Q = I·t, før U·Q bruges.</a:t>
            </a:r>
            <a:br/>
            <a:r>
              <a:t>ENH.  1 V·C = 1 J.</a:t>
            </a:r>
            <a:br/>
            <a:r>
              <a:t>PAS PÅ  Energi og ladning er forskellige størrelser.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W03-header"/>
          <p:cNvSpPr txBox="1"/>
          <p:nvPr/>
        </p:nvSpPr>
        <p:spPr>
          <a:xfrm>
            <a:off x="5532120" y="987552"/>
            <a:ext cx="477774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W03 · Søger: Tid t [s]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32120" y="1435608"/>
            <a:ext cx="477774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W [J], P [W]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32120" y="1892808"/>
            <a:ext cx="47777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Konstant effekt.</a:t>
            </a:r>
          </a:p>
        </p:txBody>
      </p:sp>
      <p:pic>
        <p:nvPicPr>
          <p:cNvPr id="17" name="W03-formula" descr="t=\frac{W}{P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5460" y="2304288"/>
            <a:ext cx="868198" cy="603504"/>
          </a:xfrm>
          <a:prstGeom prst="rect">
            <a:avLst/>
          </a:prstGeom>
        </p:spPr>
      </p:pic>
      <p:sp>
        <p:nvSpPr>
          <p:cNvPr id="18" name="W03-details"/>
          <p:cNvSpPr txBox="1"/>
          <p:nvPr/>
        </p:nvSpPr>
        <p:spPr>
          <a:xfrm>
            <a:off x="5532120" y="2962656"/>
            <a:ext cx="477774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Ved ændret effekt bruges den relevante nye P.</a:t>
            </a:r>
            <a:br/>
            <a:r>
              <a:t>ENH.  J/W = s; kWh/kW = h.</a:t>
            </a:r>
            <a:br/>
            <a:r>
              <a:t>PAS PÅ  Brug ikke mængden fra én delperiode med effekten fra en anden.</a:t>
            </a:r>
            <a:br/>
            <a:r>
              <a:t>EKS.  1200 kJ / 300 W = 4000 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3212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W05-header"/>
          <p:cNvSpPr txBox="1"/>
          <p:nvPr/>
        </p:nvSpPr>
        <p:spPr>
          <a:xfrm>
            <a:off x="411480" y="4114800"/>
            <a:ext cx="477774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W05 · Søger: Brændselsenergi W [MJ]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4562856"/>
            <a:ext cx="477774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Mængde og brændværdi Hu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5020056"/>
            <a:ext cx="47777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Kildens omregningstabel; samme brændsel og reference.</a:t>
            </a:r>
          </a:p>
        </p:txBody>
      </p:sp>
      <p:pic>
        <p:nvPicPr>
          <p:cNvPr id="23" name="W05-formula" descr="W=H_u m\quad\mathrm{eller}\quad W=H_u V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091" y="5431536"/>
            <a:ext cx="4455657" cy="603504"/>
          </a:xfrm>
          <a:prstGeom prst="rect">
            <a:avLst/>
          </a:prstGeom>
        </p:spPr>
      </p:pic>
      <p:sp>
        <p:nvSpPr>
          <p:cNvPr id="24" name="W05-details"/>
          <p:cNvSpPr txBox="1"/>
          <p:nvPr/>
        </p:nvSpPr>
        <p:spPr>
          <a:xfrm>
            <a:off x="411480" y="6089904"/>
            <a:ext cx="477774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Vælg Hu i MJ/kg, MJ/L eller MJ/m³ efter mængden.</a:t>
            </a:r>
            <a:br/>
            <a:r>
              <a:t>ENH.  MJ → kWh: ÷ 3,6.</a:t>
            </a:r>
            <a:br/>
            <a:r>
              <a:t>PAS PÅ  Brændværdi og gasvolumen afhænger af sammensætning/reference; ikke universelle konstanter.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M01-header"/>
          <p:cNvSpPr txBox="1"/>
          <p:nvPr/>
        </p:nvSpPr>
        <p:spPr>
          <a:xfrm>
            <a:off x="5532120" y="4114800"/>
            <a:ext cx="477774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M01 · Søger: Løftearbejde W [J]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32120" y="4562856"/>
            <a:ext cx="477774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m [kg], g [m/s²], h [m]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32120" y="5020056"/>
            <a:ext cx="47777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Roligt løft; ændringen i potentiel energi.</a:t>
            </a:r>
          </a:p>
        </p:txBody>
      </p:sp>
      <p:pic>
        <p:nvPicPr>
          <p:cNvPr id="29" name="M01-formula" descr="W=mgh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59168" y="5431536"/>
            <a:ext cx="1700784" cy="603504"/>
          </a:xfrm>
          <a:prstGeom prst="rect">
            <a:avLst/>
          </a:prstGeom>
        </p:spPr>
      </p:pic>
      <p:sp>
        <p:nvSpPr>
          <p:cNvPr id="30" name="M01-details"/>
          <p:cNvSpPr txBox="1"/>
          <p:nvPr/>
        </p:nvSpPr>
        <p:spPr>
          <a:xfrm>
            <a:off x="5532120" y="6089904"/>
            <a:ext cx="477774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F = m·g, derefter W = F·h.</a:t>
            </a:r>
            <a:br/>
            <a:r>
              <a:t>ENH.  Løftehøjden i m.</a:t>
            </a:r>
            <a:br/>
            <a:r>
              <a:t>PAS PÅ  Motorens optagne energi er W/η, hvis η er opgivet.</a:t>
            </a:r>
            <a:br/>
            <a:r>
              <a:t>EKS.  90·9,82·20 = 17676 J; /3600 = 4,91 Wh.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3212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526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M02 – M04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629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257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3725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458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23 / 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092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M02-header"/>
          <p:cNvSpPr txBox="1"/>
          <p:nvPr/>
        </p:nvSpPr>
        <p:spPr>
          <a:xfrm>
            <a:off x="411480" y="987552"/>
            <a:ext cx="477774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M02 · Søger: Arbejde W [J]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77774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F [N], s [m]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7777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Konstant kraft parallelt med bevægelsen.</a:t>
            </a:r>
          </a:p>
        </p:txBody>
      </p:sp>
      <p:pic>
        <p:nvPicPr>
          <p:cNvPr id="11" name="M02-formula" descr="W=F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1356" y="2304288"/>
            <a:ext cx="1375126" cy="603504"/>
          </a:xfrm>
          <a:prstGeom prst="rect">
            <a:avLst/>
          </a:prstGeom>
        </p:spPr>
      </p:pic>
      <p:sp>
        <p:nvSpPr>
          <p:cNvPr id="12" name="M02-details"/>
          <p:cNvSpPr txBox="1"/>
          <p:nvPr/>
        </p:nvSpPr>
        <p:spPr>
          <a:xfrm>
            <a:off x="411480" y="2962656"/>
            <a:ext cx="477774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Ved vinkel θ: W = F·s·cos θ.</a:t>
            </a:r>
            <a:br/>
            <a:r>
              <a:t>ENH.  N·m = J.</a:t>
            </a:r>
            <a:br/>
            <a:r>
              <a:t>PAS PÅ  En vinkelret kraft udfører ikke arbejde langs bevægelsen.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M05-header"/>
          <p:cNvSpPr txBox="1"/>
          <p:nvPr/>
        </p:nvSpPr>
        <p:spPr>
          <a:xfrm>
            <a:off x="5532120" y="987552"/>
            <a:ext cx="477774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M05 · Søger: Rotationsarbejde W [J]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32120" y="1435608"/>
            <a:ext cx="477774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M [N·m], θ [rad]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32120" y="1892808"/>
            <a:ext cx="47777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Konstant moment.</a:t>
            </a:r>
          </a:p>
        </p:txBody>
      </p:sp>
      <p:pic>
        <p:nvPicPr>
          <p:cNvPr id="17" name="M05-formula" descr="W=M\thet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9490" y="2304288"/>
            <a:ext cx="1500138" cy="603504"/>
          </a:xfrm>
          <a:prstGeom prst="rect">
            <a:avLst/>
          </a:prstGeom>
        </p:spPr>
      </p:pic>
      <p:sp>
        <p:nvSpPr>
          <p:cNvPr id="18" name="M05-details"/>
          <p:cNvSpPr txBox="1"/>
          <p:nvPr/>
        </p:nvSpPr>
        <p:spPr>
          <a:xfrm>
            <a:off x="5532120" y="2962656"/>
            <a:ext cx="477774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Ved fulde omdrejninger z: θ = 2πz.</a:t>
            </a:r>
            <a:br/>
            <a:r>
              <a:t>ENH.  Grader → rad: × π/180.</a:t>
            </a:r>
            <a:br/>
            <a:r>
              <a:t>PAS PÅ  Antal omdrejninger er ikke det samme som n [rpm].</a:t>
            </a:r>
            <a:br/>
            <a:r>
              <a:t>EKS.  0,20·(π/4) = 0,157080 J.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3212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M03-header"/>
          <p:cNvSpPr txBox="1"/>
          <p:nvPr/>
        </p:nvSpPr>
        <p:spPr>
          <a:xfrm>
            <a:off x="411480" y="4114800"/>
            <a:ext cx="477774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M03 · Søger: Moment M [N·m]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4562856"/>
            <a:ext cx="477774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F [N], arm r [m]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5020056"/>
            <a:ext cx="47777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Kraften står vinkelret på armen.</a:t>
            </a:r>
          </a:p>
        </p:txBody>
      </p:sp>
      <p:pic>
        <p:nvPicPr>
          <p:cNvPr id="23" name="M03-formula" descr="M=F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9376" y="5431536"/>
            <a:ext cx="1319087" cy="603504"/>
          </a:xfrm>
          <a:prstGeom prst="rect">
            <a:avLst/>
          </a:prstGeom>
        </p:spPr>
      </p:pic>
      <p:sp>
        <p:nvSpPr>
          <p:cNvPr id="24" name="M03-details"/>
          <p:cNvSpPr txBox="1"/>
          <p:nvPr/>
        </p:nvSpPr>
        <p:spPr>
          <a:xfrm>
            <a:off x="411480" y="6089904"/>
            <a:ext cx="477774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Generelt: brug den vinkelrette momentarm.</a:t>
            </a:r>
            <a:br/>
            <a:r>
              <a:t>ENH.  cm → m: ÷ 100.</a:t>
            </a:r>
            <a:br/>
            <a:r>
              <a:t>PAS PÅ  Geometrisk radius er ikke altid momentarm.</a:t>
            </a:r>
            <a:br/>
            <a:r>
              <a:t>EKS.  2 N·0,10 m = 0,20 N·m.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M04-header"/>
          <p:cNvSpPr txBox="1"/>
          <p:nvPr/>
        </p:nvSpPr>
        <p:spPr>
          <a:xfrm>
            <a:off x="5532120" y="4114800"/>
            <a:ext cx="477774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M04 · Søger: Vinkelhastighed ω [rad/s]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32120" y="4562856"/>
            <a:ext cx="477774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Δθ [rad], Δt [s] eller n [s⁻¹]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32120" y="5020056"/>
            <a:ext cx="47777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Konstant rotation; ellers middelværdi.</a:t>
            </a:r>
          </a:p>
        </p:txBody>
      </p:sp>
      <p:pic>
        <p:nvPicPr>
          <p:cNvPr id="29" name="M04-formula" descr="\omega=\frac{\Delta\theta}{\Delta t}=2\pi 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5779" y="5431536"/>
            <a:ext cx="1827560" cy="603504"/>
          </a:xfrm>
          <a:prstGeom prst="rect">
            <a:avLst/>
          </a:prstGeom>
        </p:spPr>
      </p:pic>
      <p:sp>
        <p:nvSpPr>
          <p:cNvPr id="30" name="M04-details"/>
          <p:cNvSpPr txBox="1"/>
          <p:nvPr/>
        </p:nvSpPr>
        <p:spPr>
          <a:xfrm>
            <a:off x="5532120" y="6089904"/>
            <a:ext cx="477774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Fra rpm: n/60. Fra grader: θrad = θ°·π/180.</a:t>
            </a:r>
            <a:br/>
            <a:r>
              <a:t>ENH.  rad/s, ikke omdrejninger/s.</a:t>
            </a:r>
            <a:br/>
            <a:r>
              <a:t>PAS PÅ  45° er π/4 rad. n i kilden har en fejlagtig [rad/s]-etiket.</a:t>
            </a:r>
            <a:br/>
            <a:r>
              <a:t>EKS.  (45·π/180)/3 = 0,261799 rad/s.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3212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526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M06 – F03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629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257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3725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458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24 / 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092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M06-header"/>
          <p:cNvSpPr txBox="1"/>
          <p:nvPr/>
        </p:nvSpPr>
        <p:spPr>
          <a:xfrm>
            <a:off x="411480" y="987552"/>
            <a:ext cx="477774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M06 · Søger: Moment M [N·m]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77774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Pmek [W], ω [rad/s] eller n [rpm]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7777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Mekanisk aksel-effekt og omdrejningshastighed.</a:t>
            </a:r>
          </a:p>
        </p:txBody>
      </p:sp>
      <p:pic>
        <p:nvPicPr>
          <p:cNvPr id="11" name="M06-formula" descr="M=\frac{P_{\mathrm{mek}}}{\omega}=\frac{60P_{\mathrm{mek}}}{2\pi n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9027" y="2304288"/>
            <a:ext cx="2059785" cy="603504"/>
          </a:xfrm>
          <a:prstGeom prst="rect">
            <a:avLst/>
          </a:prstGeom>
        </p:spPr>
      </p:pic>
      <p:sp>
        <p:nvSpPr>
          <p:cNvPr id="12" name="M06-details"/>
          <p:cNvSpPr txBox="1"/>
          <p:nvPr/>
        </p:nvSpPr>
        <p:spPr>
          <a:xfrm>
            <a:off x="411480" y="2962656"/>
            <a:ext cx="477774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Kun Pind opgivet: Pmek = η·Pind først.</a:t>
            </a:r>
            <a:br/>
            <a:r>
              <a:t>ENH.  P i W; n i rpm i sidste udtryk.</a:t>
            </a:r>
            <a:br/>
            <a:r>
              <a:t>PAS PÅ  Med Pind=200 W og n=3000 rpm mangler η.</a:t>
            </a:r>
            <a:br/>
            <a:r>
              <a:t>EKS.  Momentet er 0,6366·η N·m; ikke ubetinget 0,6366 N·m.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01-header"/>
          <p:cNvSpPr txBox="1"/>
          <p:nvPr/>
        </p:nvSpPr>
        <p:spPr>
          <a:xfrm>
            <a:off x="5532120" y="987552"/>
            <a:ext cx="477774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F01 · Søger: Elektrisk kraft |F| [N]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32120" y="1435608"/>
            <a:ext cx="477774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Q1, Q2 [C], a [m], ε [F/m]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32120" y="1892808"/>
            <a:ext cx="47777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Punktladninger i ensartet isotropt medium.</a:t>
            </a:r>
          </a:p>
        </p:txBody>
      </p:sp>
      <p:pic>
        <p:nvPicPr>
          <p:cNvPr id="17" name="F01-formula" descr="|F|=\frac{|Q_1Q_2|}{4\pi\varepsilon a^2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8812" y="2304288"/>
            <a:ext cx="1301496" cy="603504"/>
          </a:xfrm>
          <a:prstGeom prst="rect">
            <a:avLst/>
          </a:prstGeom>
        </p:spPr>
      </p:pic>
      <p:sp>
        <p:nvSpPr>
          <p:cNvPr id="18" name="F01-details"/>
          <p:cNvSpPr txBox="1"/>
          <p:nvPr/>
        </p:nvSpPr>
        <p:spPr>
          <a:xfrm>
            <a:off x="5532120" y="2962656"/>
            <a:ext cx="477774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ε = ε0·εr; samme fortegn frastøder, modsat tiltrækker.</a:t>
            </a:r>
            <a:br/>
            <a:r>
              <a:t>ENH.  µC → C: × 10⁻⁶.</a:t>
            </a:r>
            <a:br/>
            <a:r>
              <a:t>PAS PÅ  Beregner størrelse. Retning fastlægges separat.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3212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02-header"/>
          <p:cNvSpPr txBox="1"/>
          <p:nvPr/>
        </p:nvSpPr>
        <p:spPr>
          <a:xfrm>
            <a:off x="411480" y="4114800"/>
            <a:ext cx="477774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F02 · Søger: Elektrisk feltstyrke Ef [V/m]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4562856"/>
            <a:ext cx="477774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F [N], Q [C] eller kildeladning Qk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5020056"/>
            <a:ext cx="47777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F/Q er feltet på prøveladningen; a ved punktkilden.</a:t>
            </a:r>
          </a:p>
        </p:txBody>
      </p:sp>
      <p:pic>
        <p:nvPicPr>
          <p:cNvPr id="23" name="F02-formula" descr="E_f=\frac{F}{Q},\qquad |E_f|=\frac{|Q_k|}{4\pi\varepsilon a^2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8760" y="5431536"/>
            <a:ext cx="2560320" cy="603504"/>
          </a:xfrm>
          <a:prstGeom prst="rect">
            <a:avLst/>
          </a:prstGeom>
        </p:spPr>
      </p:pic>
      <p:sp>
        <p:nvSpPr>
          <p:cNvPr id="24" name="F02-details"/>
          <p:cNvSpPr txBox="1"/>
          <p:nvPr/>
        </p:nvSpPr>
        <p:spPr>
          <a:xfrm>
            <a:off x="411480" y="6089904"/>
            <a:ext cx="477774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Feltretningen defineres med en positiv prøveladning.</a:t>
            </a:r>
            <a:br/>
            <a:r>
              <a:t>ENH.  1 N/C = 1 V/m.</a:t>
            </a:r>
            <a:br/>
            <a:r>
              <a:t>PAS PÅ  Ef [V/m] må ikke forveksles med kildens E [V].</a:t>
            </a:r>
            <a:br/>
            <a:r>
              <a:t>EKS.  300 V/m·0,1 µC = 30 µN.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03-header"/>
          <p:cNvSpPr txBox="1"/>
          <p:nvPr/>
        </p:nvSpPr>
        <p:spPr>
          <a:xfrm>
            <a:off x="5532120" y="4114800"/>
            <a:ext cx="477774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F03 · Søger: Kraft F [N]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32120" y="4562856"/>
            <a:ext cx="477774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Q [C], Ef [V/m]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32120" y="5020056"/>
            <a:ext cx="47777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Prøveladning i givet elektrisk felt.</a:t>
            </a:r>
          </a:p>
        </p:txBody>
      </p:sp>
      <p:pic>
        <p:nvPicPr>
          <p:cNvPr id="29" name="F03-formula" descr="\vec F=Q\vec E_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80138" y="5431536"/>
            <a:ext cx="1258842" cy="603504"/>
          </a:xfrm>
          <a:prstGeom prst="rect">
            <a:avLst/>
          </a:prstGeom>
        </p:spPr>
      </p:pic>
      <p:sp>
        <p:nvSpPr>
          <p:cNvPr id="30" name="F03-details"/>
          <p:cNvSpPr txBox="1"/>
          <p:nvPr/>
        </p:nvSpPr>
        <p:spPr>
          <a:xfrm>
            <a:off x="5532120" y="6089904"/>
            <a:ext cx="477774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Negativ Q giver kraft modsat feltretningen.</a:t>
            </a:r>
            <a:br/>
            <a:r>
              <a:t>ENH.  Q i C.</a:t>
            </a:r>
            <a:br/>
            <a:r>
              <a:t>PAS PÅ  Feltet fra prøveladningen selv indgår ikke.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3212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526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F04 – F07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629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257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3725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458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25 / 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092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F04-header"/>
          <p:cNvSpPr txBox="1"/>
          <p:nvPr/>
        </p:nvSpPr>
        <p:spPr>
          <a:xfrm>
            <a:off x="411480" y="987552"/>
            <a:ext cx="477774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F04 · Søger: Afstand a [m]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77774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|F| [N], Q1, Q2 [C], ε [F/m]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7777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Samme punktladningsmodel som F01.</a:t>
            </a:r>
          </a:p>
        </p:txBody>
      </p:sp>
      <p:pic>
        <p:nvPicPr>
          <p:cNvPr id="11" name="F04-formula" descr="a=\sqrt{\frac{|Q_1Q_2|}{4\pi\varepsilon |F|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9062" y="2304288"/>
            <a:ext cx="1259715" cy="603504"/>
          </a:xfrm>
          <a:prstGeom prst="rect">
            <a:avLst/>
          </a:prstGeom>
        </p:spPr>
      </p:pic>
      <p:sp>
        <p:nvSpPr>
          <p:cNvPr id="12" name="F04-details"/>
          <p:cNvSpPr txBox="1"/>
          <p:nvPr/>
        </p:nvSpPr>
        <p:spPr>
          <a:xfrm>
            <a:off x="411480" y="2962656"/>
            <a:ext cx="477774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For lige ladninger: |Q| = a·√(F/k), k = 1/(4πε).</a:t>
            </a:r>
            <a:br/>
            <a:r>
              <a:t>ENH.  mm → m: ÷ 1000.</a:t>
            </a:r>
            <a:br/>
            <a:r>
              <a:t>PAS PÅ  Kraften varierer med 1/a², ikke 1/a.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05-header"/>
          <p:cNvSpPr txBox="1"/>
          <p:nvPr/>
        </p:nvSpPr>
        <p:spPr>
          <a:xfrm>
            <a:off x="5532120" y="987552"/>
            <a:ext cx="477774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F05 · Søger: Ukendt ladning |Q2| [C]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32120" y="1435608"/>
            <a:ext cx="477774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|F| [N], a [m], Q1 [C], 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32120" y="1892808"/>
            <a:ext cx="47777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Punktladninger; fortegnet afgøres af tiltrækning/frastødning.</a:t>
            </a:r>
          </a:p>
        </p:txBody>
      </p:sp>
      <p:pic>
        <p:nvPicPr>
          <p:cNvPr id="17" name="F05-formula" descr="|Q_2|=\frac{4\pi\varepsilon a^2|F|}{|Q_1|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5500" y="2304288"/>
            <a:ext cx="1548118" cy="603504"/>
          </a:xfrm>
          <a:prstGeom prst="rect">
            <a:avLst/>
          </a:prstGeom>
        </p:spPr>
      </p:pic>
      <p:sp>
        <p:nvSpPr>
          <p:cNvPr id="18" name="F05-details"/>
          <p:cNvSpPr txBox="1"/>
          <p:nvPr/>
        </p:nvSpPr>
        <p:spPr>
          <a:xfrm>
            <a:off x="5532120" y="2962656"/>
            <a:ext cx="477774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Tiltrækning → modsat fortegn af Q1.</a:t>
            </a:r>
            <a:br/>
            <a:r>
              <a:t>ENH.  nC → C: × 10⁻⁹; mN → N: × 10⁻³.</a:t>
            </a:r>
            <a:br/>
            <a:r>
              <a:t>PAS PÅ  Q1 = 0 giver ingen bestemt løsning med denne formel.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3212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06-header"/>
          <p:cNvSpPr txBox="1"/>
          <p:nvPr/>
        </p:nvSpPr>
        <p:spPr>
          <a:xfrm>
            <a:off x="411480" y="4114800"/>
            <a:ext cx="477774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F06 · Søger: Elektrisk flux Ψ [V·m]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4562856"/>
            <a:ext cx="477774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Ef [V/m], A [m²] eller Q [C], 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5020056"/>
            <a:ext cx="47777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Ensartet normalt felt; eller lukket kugle i ensartet medium.</a:t>
            </a:r>
          </a:p>
        </p:txBody>
      </p:sp>
      <p:pic>
        <p:nvPicPr>
          <p:cNvPr id="23" name="F06-formula" descr="\Psi=E_f A=\frac{Q}{\varepsilon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48575" y="5431536"/>
            <a:ext cx="1680688" cy="603504"/>
          </a:xfrm>
          <a:prstGeom prst="rect">
            <a:avLst/>
          </a:prstGeom>
        </p:spPr>
      </p:pic>
      <p:sp>
        <p:nvSpPr>
          <p:cNvPr id="24" name="F06-details"/>
          <p:cNvSpPr txBox="1"/>
          <p:nvPr/>
        </p:nvSpPr>
        <p:spPr>
          <a:xfrm>
            <a:off x="411480" y="6089904"/>
            <a:ext cx="477774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Kuglens A = 4πa². Q/ε gælder fluxen gennem en lukket flade.</a:t>
            </a:r>
            <a:br/>
            <a:r>
              <a:t>ENH.  V/m·m² = V·m.</a:t>
            </a:r>
            <a:br/>
            <a:r>
              <a:t>PAS PÅ  Flux er ikke et bogstaveligt antal feltlinjer; ikke magnetisk Φ [Wb].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07-header"/>
          <p:cNvSpPr txBox="1"/>
          <p:nvPr/>
        </p:nvSpPr>
        <p:spPr>
          <a:xfrm>
            <a:off x="5532120" y="4114800"/>
            <a:ext cx="477774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F07 · Søger: Permittivitet ε [F/m]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32120" y="4562856"/>
            <a:ext cx="477774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εr [1], ε0 [F/m]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32120" y="5020056"/>
            <a:ext cx="47777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Lineært isotropt medium.</a:t>
            </a:r>
          </a:p>
        </p:txBody>
      </p:sp>
      <p:pic>
        <p:nvPicPr>
          <p:cNvPr id="29" name="F07-formula" descr="\varepsilon=\varepsilon_0\varepsilon_r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63801" y="5431536"/>
            <a:ext cx="1491517" cy="603504"/>
          </a:xfrm>
          <a:prstGeom prst="rect">
            <a:avLst/>
          </a:prstGeom>
        </p:spPr>
      </p:pic>
      <p:sp>
        <p:nvSpPr>
          <p:cNvPr id="30" name="F07-details"/>
          <p:cNvSpPr txBox="1"/>
          <p:nvPr/>
        </p:nvSpPr>
        <p:spPr>
          <a:xfrm>
            <a:off x="5532120" y="6089904"/>
            <a:ext cx="477774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Coulombkonstanten i mediet: k = 1/(4πε).</a:t>
            </a:r>
            <a:br/>
            <a:r>
              <a:t>ENH.  εr er dimensionsløs.</a:t>
            </a:r>
            <a:br/>
            <a:r>
              <a:t>PAS PÅ  Brug en materialeværdi; εr = 1 er vakuum/luft-tilnærmelse.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3212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526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B01 – B04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629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257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3725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458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26 / 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092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B01-header"/>
          <p:cNvSpPr txBox="1"/>
          <p:nvPr/>
        </p:nvSpPr>
        <p:spPr>
          <a:xfrm>
            <a:off x="411480" y="987552"/>
            <a:ext cx="477774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B01 · Søger: Magnetisk flux Φ [Wb]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77774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B [T], A [m²]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7777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Ensartet felt vinkelret på fladen.</a:t>
            </a:r>
          </a:p>
        </p:txBody>
      </p:sp>
      <p:pic>
        <p:nvPicPr>
          <p:cNvPr id="11" name="B01-formula" descr="\Phi=B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7045" y="2304288"/>
            <a:ext cx="1383748" cy="603504"/>
          </a:xfrm>
          <a:prstGeom prst="rect">
            <a:avLst/>
          </a:prstGeom>
        </p:spPr>
      </p:pic>
      <p:sp>
        <p:nvSpPr>
          <p:cNvPr id="12" name="B01-details"/>
          <p:cNvSpPr txBox="1"/>
          <p:nvPr/>
        </p:nvSpPr>
        <p:spPr>
          <a:xfrm>
            <a:off x="411480" y="2962656"/>
            <a:ext cx="477774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Ved vinkel θ til fladenormalen: Φ = BA·cos θ.</a:t>
            </a:r>
            <a:br/>
            <a:r>
              <a:t>ENH.  cm² → m²: × 10⁻⁴.</a:t>
            </a:r>
            <a:br/>
            <a:r>
              <a:t>PAS PÅ  B er fluxtæthed; Φ er flux, ikke samme størrelse.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B02-header"/>
          <p:cNvSpPr txBox="1"/>
          <p:nvPr/>
        </p:nvSpPr>
        <p:spPr>
          <a:xfrm>
            <a:off x="5532120" y="987552"/>
            <a:ext cx="477774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B02 · Søger: Fluxtæthed B [T]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32120" y="1435608"/>
            <a:ext cx="477774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Φ [Wb], A [m²]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32120" y="1892808"/>
            <a:ext cx="47777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Ensartet felt; A er areal normalt på feltet.</a:t>
            </a:r>
          </a:p>
        </p:txBody>
      </p:sp>
      <p:pic>
        <p:nvPicPr>
          <p:cNvPr id="17" name="B02-formula" descr="B=\frac{\Phi}{A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7814" y="2304288"/>
            <a:ext cx="903491" cy="603504"/>
          </a:xfrm>
          <a:prstGeom prst="rect">
            <a:avLst/>
          </a:prstGeom>
        </p:spPr>
      </p:pic>
      <p:sp>
        <p:nvSpPr>
          <p:cNvPr id="18" name="B02-details"/>
          <p:cNvSpPr txBox="1"/>
          <p:nvPr/>
        </p:nvSpPr>
        <p:spPr>
          <a:xfrm>
            <a:off x="5532120" y="2962656"/>
            <a:ext cx="477774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1 T = 1 Wb/m².</a:t>
            </a:r>
            <a:br/>
            <a:r>
              <a:t>ENH.  mWb → Wb: × 10⁻³.</a:t>
            </a:r>
            <a:br/>
            <a:r>
              <a:t>PAS PÅ  Skift ikke fra m² til mm² uden faktor 10⁶.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3212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B03-header"/>
          <p:cNvSpPr txBox="1"/>
          <p:nvPr/>
        </p:nvSpPr>
        <p:spPr>
          <a:xfrm>
            <a:off x="411480" y="4114800"/>
            <a:ext cx="477774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B03 · Søger: Fluxtæthed B [T]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4562856"/>
            <a:ext cx="477774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H [A/m], μ [H/m]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5020056"/>
            <a:ext cx="47777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Lineær materiale-model med kendt μ.</a:t>
            </a:r>
          </a:p>
        </p:txBody>
      </p:sp>
      <p:pic>
        <p:nvPicPr>
          <p:cNvPr id="23" name="B03-formula" descr="B=\mu H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17891" y="5431536"/>
            <a:ext cx="1342057" cy="603504"/>
          </a:xfrm>
          <a:prstGeom prst="rect">
            <a:avLst/>
          </a:prstGeom>
        </p:spPr>
      </p:pic>
      <p:sp>
        <p:nvSpPr>
          <p:cNvPr id="24" name="B03-details"/>
          <p:cNvSpPr txBox="1"/>
          <p:nvPr/>
        </p:nvSpPr>
        <p:spPr>
          <a:xfrm>
            <a:off x="411480" y="6089904"/>
            <a:ext cx="477774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Ferromagnetisk materiale: aflæs B på B(H)-kurven ved relevant driftspunkt.</a:t>
            </a:r>
            <a:br/>
            <a:r>
              <a:t>ENH.  μ = μ0·μr.</a:t>
            </a:r>
            <a:br/>
            <a:r>
              <a:t>PAS PÅ  Jern har ikke én universel konstant μ; mætning/hysterese kræver kurve.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B04-header"/>
          <p:cNvSpPr txBox="1"/>
          <p:nvPr/>
        </p:nvSpPr>
        <p:spPr>
          <a:xfrm>
            <a:off x="5532120" y="4114800"/>
            <a:ext cx="477774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B04 · Søger: Felt om lang leder B [T]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32120" y="4562856"/>
            <a:ext cx="477774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I [A], a [m], μ [H/m]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32120" y="5020056"/>
            <a:ext cx="47777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Lang, lige leder; punkt uden for lederen.</a:t>
            </a:r>
          </a:p>
        </p:txBody>
      </p:sp>
      <p:pic>
        <p:nvPicPr>
          <p:cNvPr id="29" name="B04-formula" descr="B=\frac{\mu I}{2\pi a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9028" y="5431536"/>
            <a:ext cx="1021063" cy="603504"/>
          </a:xfrm>
          <a:prstGeom prst="rect">
            <a:avLst/>
          </a:prstGeom>
        </p:spPr>
      </p:pic>
      <p:sp>
        <p:nvSpPr>
          <p:cNvPr id="30" name="B04-details"/>
          <p:cNvSpPr txBox="1"/>
          <p:nvPr/>
        </p:nvSpPr>
        <p:spPr>
          <a:xfrm>
            <a:off x="5532120" y="6089904"/>
            <a:ext cx="477774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I luft: μ ≈ μ0; undervisning: B ≈ 2·10⁻⁷·I/a.</a:t>
            </a:r>
            <a:br/>
            <a:r>
              <a:t>ENH.  a er afstand fra centrum i m.</a:t>
            </a:r>
            <a:br/>
            <a:r>
              <a:t>PAS PÅ  Ikke generelt feltet inden i lederen eller nær ender.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3212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526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B05 – B08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629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257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3725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458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27 / 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092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B05-header"/>
          <p:cNvSpPr txBox="1"/>
          <p:nvPr/>
        </p:nvSpPr>
        <p:spPr>
          <a:xfrm>
            <a:off x="411480" y="987552"/>
            <a:ext cx="477774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B05 · Søger: Magnetisk feltstyrke H [A/m]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77774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I [A], N [1], l [m]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7777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Ensartet magnetisk vej; ringkerne/længere spole-model.</a:t>
            </a:r>
          </a:p>
        </p:txBody>
      </p:sp>
      <p:pic>
        <p:nvPicPr>
          <p:cNvPr id="11" name="B05-formula" descr="H=\frac{NI}{l}=\frac{F_m}{l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245" y="2304288"/>
            <a:ext cx="1495348" cy="603504"/>
          </a:xfrm>
          <a:prstGeom prst="rect">
            <a:avLst/>
          </a:prstGeom>
        </p:spPr>
      </p:pic>
      <p:sp>
        <p:nvSpPr>
          <p:cNvPr id="12" name="B05-details"/>
          <p:cNvSpPr txBox="1"/>
          <p:nvPr/>
        </p:nvSpPr>
        <p:spPr>
          <a:xfrm>
            <a:off x="411480" y="2962656"/>
            <a:ext cx="477774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l er middel-længden af den magnetiske vej.</a:t>
            </a:r>
            <a:br/>
            <a:r>
              <a:t>ENH.  N er antal vindinger, ikke enheden newton.</a:t>
            </a:r>
            <a:br/>
            <a:r>
              <a:t>PAS PÅ  Ledertrådens længde er ikke magnetkredsens 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B06-header"/>
          <p:cNvSpPr txBox="1"/>
          <p:nvPr/>
        </p:nvSpPr>
        <p:spPr>
          <a:xfrm>
            <a:off x="5532120" y="987552"/>
            <a:ext cx="477774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B06 · Søger: Magnetomotorisk kraft Fm [A]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32120" y="1435608"/>
            <a:ext cx="477774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N [1], I [A] eller Rm [A/Wb], 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32120" y="1892808"/>
            <a:ext cx="47777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Amperevindingstal i magnetkredsmodellen.</a:t>
            </a:r>
          </a:p>
        </p:txBody>
      </p:sp>
      <p:pic>
        <p:nvPicPr>
          <p:cNvPr id="17" name="B06-formula" descr="F_m=NI=R_m\Phi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4958" y="2304288"/>
            <a:ext cx="2569202" cy="603504"/>
          </a:xfrm>
          <a:prstGeom prst="rect">
            <a:avLst/>
          </a:prstGeom>
        </p:spPr>
      </p:pic>
      <p:sp>
        <p:nvSpPr>
          <p:cNvPr id="18" name="B06-details"/>
          <p:cNvSpPr txBox="1"/>
          <p:nvPr/>
        </p:nvSpPr>
        <p:spPr>
          <a:xfrm>
            <a:off x="5532120" y="2962656"/>
            <a:ext cx="477774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Flere viklinger: summér NI med fortegn efter feltretningen.</a:t>
            </a:r>
            <a:br/>
            <a:r>
              <a:t>ENH.  Amperevinding er dimensionelt A.</a:t>
            </a:r>
            <a:br/>
            <a:r>
              <a:t>PAS PÅ  Fm er ikke mekanisk kraft [N].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3212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B07-header"/>
          <p:cNvSpPr txBox="1"/>
          <p:nvPr/>
        </p:nvSpPr>
        <p:spPr>
          <a:xfrm>
            <a:off x="411480" y="4114800"/>
            <a:ext cx="477774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B07 · Søger: Reluktans Rm [A/Wb]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4562856"/>
            <a:ext cx="477774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l [m], μ [H/m], A [m²]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5020056"/>
            <a:ext cx="47777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Ensartet magnetisk segment; lineær μ.</a:t>
            </a:r>
          </a:p>
        </p:txBody>
      </p:sp>
      <p:pic>
        <p:nvPicPr>
          <p:cNvPr id="23" name="B07-formula" descr="R_m=\frac{l}{\mu A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35979" y="5431536"/>
            <a:ext cx="1105880" cy="603504"/>
          </a:xfrm>
          <a:prstGeom prst="rect">
            <a:avLst/>
          </a:prstGeom>
        </p:spPr>
      </p:pic>
      <p:sp>
        <p:nvSpPr>
          <p:cNvPr id="24" name="B07-details"/>
          <p:cNvSpPr txBox="1"/>
          <p:nvPr/>
        </p:nvSpPr>
        <p:spPr>
          <a:xfrm>
            <a:off x="411480" y="6089904"/>
            <a:ext cx="477774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For flere serielle segmenter: Rm,total = ΣRm,k.</a:t>
            </a:r>
            <a:br/>
            <a:r>
              <a:t>ENH.  1 A/Wb = 1/H.</a:t>
            </a:r>
            <a:br/>
            <a:r>
              <a:t>PAS PÅ  Reluktans måles ikke i Ω eller H; det er H⁻¹.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B08-header"/>
          <p:cNvSpPr txBox="1"/>
          <p:nvPr/>
        </p:nvSpPr>
        <p:spPr>
          <a:xfrm>
            <a:off x="5532120" y="4114800"/>
            <a:ext cx="477774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B08 · Søger: Flux Φ [Wb]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32120" y="4562856"/>
            <a:ext cx="477774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N, I [A], Rm [A/Wb]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32120" y="5020056"/>
            <a:ext cx="47777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Lukket lineær magnetkreds; lækage negligeres.</a:t>
            </a:r>
          </a:p>
        </p:txBody>
      </p:sp>
      <p:pic>
        <p:nvPicPr>
          <p:cNvPr id="29" name="B08-formula" descr="\Phi=\frac{NI}{R_m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16087" y="5431536"/>
            <a:ext cx="986945" cy="603504"/>
          </a:xfrm>
          <a:prstGeom prst="rect">
            <a:avLst/>
          </a:prstGeom>
        </p:spPr>
      </p:pic>
      <p:sp>
        <p:nvSpPr>
          <p:cNvPr id="30" name="B08-details"/>
          <p:cNvSpPr txBox="1"/>
          <p:nvPr/>
        </p:nvSpPr>
        <p:spPr>
          <a:xfrm>
            <a:off x="5532120" y="6089904"/>
            <a:ext cx="477774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Find μ, derefter Rm, så Φ og evt. B = Φ/A.</a:t>
            </a:r>
            <a:br/>
            <a:r>
              <a:t>ENH.  A i m² ved Rm-beregningen.</a:t>
            </a:r>
            <a:br/>
            <a:r>
              <a:t>PAS PÅ  Luftgab kan dominere Rm; strømkredsens R er en anden størrelse.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3212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526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B09 – B13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629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257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3725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458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28 / 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092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B09-header"/>
          <p:cNvSpPr txBox="1"/>
          <p:nvPr/>
        </p:nvSpPr>
        <p:spPr>
          <a:xfrm>
            <a:off x="411480" y="987552"/>
            <a:ext cx="477774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B09 · Søger: Permeabilitet μ [H/m]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77774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μr [1], μ0 [H/m] eller B [T], H [A/m]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7777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Lineært medium eller sekantværdi ved givet driftspunkt.</a:t>
            </a:r>
          </a:p>
        </p:txBody>
      </p:sp>
      <p:pic>
        <p:nvPicPr>
          <p:cNvPr id="11" name="B09-formula" descr="\mu=\mu_0\mu_r=\frac{B}{H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8225" y="2304288"/>
            <a:ext cx="1761389" cy="603504"/>
          </a:xfrm>
          <a:prstGeom prst="rect">
            <a:avLst/>
          </a:prstGeom>
        </p:spPr>
      </p:pic>
      <p:sp>
        <p:nvSpPr>
          <p:cNvPr id="12" name="B09-details"/>
          <p:cNvSpPr txBox="1"/>
          <p:nvPr/>
        </p:nvSpPr>
        <p:spPr>
          <a:xfrm>
            <a:off x="411480" y="2962656"/>
            <a:ext cx="477774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μr = μ/μ0; B/H kræver H ≠ 0.</a:t>
            </a:r>
            <a:br/>
            <a:r>
              <a:t>ENH.  μr er dimensionsløs.</a:t>
            </a:r>
            <a:br/>
            <a:r>
              <a:t>PAS PÅ  Elektrisk ledningsevne afgør ikke, om materialet er ferromagnetisk.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B11-header"/>
          <p:cNvSpPr txBox="1"/>
          <p:nvPr/>
        </p:nvSpPr>
        <p:spPr>
          <a:xfrm>
            <a:off x="5532120" y="987552"/>
            <a:ext cx="477774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B11 · Søger: Magnetkredsens areal A [m²]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32120" y="1435608"/>
            <a:ext cx="477774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Φ [Wb], B [T]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32120" y="1892808"/>
            <a:ext cx="47777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Ensartet felt normalt på kernens tværsnit.</a:t>
            </a:r>
          </a:p>
        </p:txBody>
      </p:sp>
      <p:pic>
        <p:nvPicPr>
          <p:cNvPr id="17" name="B11-formula" descr="A=\frac{\Phi}{B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3423" y="2304288"/>
            <a:ext cx="912273" cy="603504"/>
          </a:xfrm>
          <a:prstGeom prst="rect">
            <a:avLst/>
          </a:prstGeom>
        </p:spPr>
      </p:pic>
      <p:sp>
        <p:nvSpPr>
          <p:cNvPr id="18" name="B11-details"/>
          <p:cNvSpPr txBox="1"/>
          <p:nvPr/>
        </p:nvSpPr>
        <p:spPr>
          <a:xfrm>
            <a:off x="5532120" y="2962656"/>
            <a:ext cx="477774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Konvertér til cm² eller mm² efter beregningen.</a:t>
            </a:r>
            <a:br/>
            <a:r>
              <a:t>ENH.  1 m² = 10⁴ cm² = 10⁶ mm².</a:t>
            </a:r>
            <a:br/>
            <a:r>
              <a:t>PAS PÅ  Effektivt kerneareal kan afvige fra ydre geometri.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3212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B12-header"/>
          <p:cNvSpPr txBox="1"/>
          <p:nvPr/>
        </p:nvSpPr>
        <p:spPr>
          <a:xfrm>
            <a:off x="411480" y="4114800"/>
            <a:ext cx="477774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B12 · Søger: Feltstyrke H [A/m]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4562856"/>
            <a:ext cx="477774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B [T], μ [H/m]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5020056"/>
            <a:ext cx="47777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Lineær materiale-model ved kendt μ.</a:t>
            </a:r>
          </a:p>
        </p:txBody>
      </p:sp>
      <p:pic>
        <p:nvPicPr>
          <p:cNvPr id="23" name="B12-formula" descr="H=\frac{B}{\mu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44141" y="5431536"/>
            <a:ext cx="889557" cy="603504"/>
          </a:xfrm>
          <a:prstGeom prst="rect">
            <a:avLst/>
          </a:prstGeom>
        </p:spPr>
      </p:pic>
      <p:sp>
        <p:nvSpPr>
          <p:cNvPr id="24" name="B12-details"/>
          <p:cNvSpPr txBox="1"/>
          <p:nvPr/>
        </p:nvSpPr>
        <p:spPr>
          <a:xfrm>
            <a:off x="411480" y="6089904"/>
            <a:ext cx="477774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Jern: find H fra B(H)-kurven ved det ønskede B.</a:t>
            </a:r>
            <a:br/>
            <a:r>
              <a:t>ENH.  μ = μ0·μr.</a:t>
            </a:r>
            <a:br/>
            <a:r>
              <a:t>PAS PÅ  Ved hysterese afhænger B også af forhistorien.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B13-header"/>
          <p:cNvSpPr txBox="1"/>
          <p:nvPr/>
        </p:nvSpPr>
        <p:spPr>
          <a:xfrm>
            <a:off x="5532120" y="4114800"/>
            <a:ext cx="477774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B13 · Søger: Relativ permeabilitet μr [1]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32120" y="4562856"/>
            <a:ext cx="477774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μ [H/m], μ0 [H/m]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32120" y="5020056"/>
            <a:ext cx="47777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Samme enhed for absolutte permeabiliteter.</a:t>
            </a:r>
          </a:p>
        </p:txBody>
      </p:sp>
      <p:pic>
        <p:nvPicPr>
          <p:cNvPr id="29" name="B13-formula" descr="\mu_r=\frac{\mu}{\mu_0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9703" y="5431536"/>
            <a:ext cx="1019713" cy="603504"/>
          </a:xfrm>
          <a:prstGeom prst="rect">
            <a:avLst/>
          </a:prstGeom>
        </p:spPr>
      </p:pic>
      <p:sp>
        <p:nvSpPr>
          <p:cNvPr id="30" name="B13-details"/>
          <p:cNvSpPr txBox="1"/>
          <p:nvPr/>
        </p:nvSpPr>
        <p:spPr>
          <a:xfrm>
            <a:off x="5532120" y="6089904"/>
            <a:ext cx="477774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Luft har μr ≈ 1 i undervisningsmodellen.</a:t>
            </a:r>
            <a:br/>
            <a:r>
              <a:t>ENH.  μr har ingen enhed.</a:t>
            </a:r>
            <a:br/>
            <a:r>
              <a:t>PAS PÅ  μr = 600 i kilden er et eksempel, ikke en universel jerneegenskab.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3212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526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E04 – K02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629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257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3725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458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29 / 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092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E04-header"/>
          <p:cNvSpPr txBox="1"/>
          <p:nvPr/>
        </p:nvSpPr>
        <p:spPr>
          <a:xfrm>
            <a:off x="411480" y="987552"/>
            <a:ext cx="477774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E04 · Søger: Induktans L [H]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77774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N [1], μ [H/m], A [m²], l [m]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7777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Lineær ensartet spole/magnetkreds; lækage negligeres.</a:t>
            </a:r>
          </a:p>
        </p:txBody>
      </p:sp>
      <p:pic>
        <p:nvPicPr>
          <p:cNvPr id="11" name="E04-formula" descr="L=\frac{N^2\mu A}{l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9852" y="2304288"/>
            <a:ext cx="1078134" cy="603504"/>
          </a:xfrm>
          <a:prstGeom prst="rect">
            <a:avLst/>
          </a:prstGeom>
        </p:spPr>
      </p:pic>
      <p:sp>
        <p:nvSpPr>
          <p:cNvPr id="12" name="E04-details"/>
          <p:cNvSpPr txBox="1"/>
          <p:nvPr/>
        </p:nvSpPr>
        <p:spPr>
          <a:xfrm>
            <a:off x="411480" y="2962656"/>
            <a:ext cx="477774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μ = μ0·μr; alternativt L = N²/Rm.</a:t>
            </a:r>
            <a:br/>
            <a:r>
              <a:t>ENH.  A skal være m².</a:t>
            </a:r>
            <a:br/>
            <a:r>
              <a:t>PAS PÅ  Mætning, luftgab og geometri kan gøre denne model utilstrækkelig.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06-header"/>
          <p:cNvSpPr txBox="1"/>
          <p:nvPr/>
        </p:nvSpPr>
        <p:spPr>
          <a:xfrm>
            <a:off x="5532120" y="987552"/>
            <a:ext cx="477774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E06 · Søger: Induktans L [H]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32120" y="1435608"/>
            <a:ext cx="477774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es [V], ΔI [A], Δt [s]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32120" y="1892808"/>
            <a:ext cx="47777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Lineær strømrampe; tab adskilt fra selvinduktion.</a:t>
            </a:r>
          </a:p>
        </p:txBody>
      </p:sp>
      <p:pic>
        <p:nvPicPr>
          <p:cNvPr id="17" name="E06-formula" descr="L=-\frac{e_s\Delta t}{\Delta I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4380" y="2304288"/>
            <a:ext cx="1270359" cy="603504"/>
          </a:xfrm>
          <a:prstGeom prst="rect">
            <a:avLst/>
          </a:prstGeom>
        </p:spPr>
      </p:pic>
      <p:sp>
        <p:nvSpPr>
          <p:cNvPr id="18" name="E06-details"/>
          <p:cNvSpPr txBox="1"/>
          <p:nvPr/>
        </p:nvSpPr>
        <p:spPr>
          <a:xfrm>
            <a:off x="5532120" y="2962656"/>
            <a:ext cx="477774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L er positiv med konsistente fortegn.</a:t>
            </a:r>
            <a:br/>
            <a:r>
              <a:t>ENH.  A og s.</a:t>
            </a:r>
            <a:br/>
            <a:r>
              <a:t>PAS PÅ  Målt spole-U inkluderer ofte også resistivt I·R.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3212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K01-header"/>
          <p:cNvSpPr txBox="1"/>
          <p:nvPr/>
        </p:nvSpPr>
        <p:spPr>
          <a:xfrm>
            <a:off x="411480" y="4114800"/>
            <a:ext cx="477774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K01 · Søger: Kraft på leder |F| [N]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4562856"/>
            <a:ext cx="477774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B [T], I [A], l [m]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5020056"/>
            <a:ext cx="47777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Leder vinkelret på ensartet magnetfelt.</a:t>
            </a:r>
          </a:p>
        </p:txBody>
      </p:sp>
      <p:pic>
        <p:nvPicPr>
          <p:cNvPr id="23" name="K01-formula" descr="|F|=B|I|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53935" y="5431536"/>
            <a:ext cx="1669969" cy="603504"/>
          </a:xfrm>
          <a:prstGeom prst="rect">
            <a:avLst/>
          </a:prstGeom>
        </p:spPr>
      </p:pic>
      <p:sp>
        <p:nvSpPr>
          <p:cNvPr id="24" name="K01-details"/>
          <p:cNvSpPr txBox="1"/>
          <p:nvPr/>
        </p:nvSpPr>
        <p:spPr>
          <a:xfrm>
            <a:off x="411480" y="6089904"/>
            <a:ext cx="477774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Ved vinkel θ mellem leder og felt: |F| = B·|I|·l·sin θ.</a:t>
            </a:r>
            <a:br/>
            <a:r>
              <a:t>ENH.  mT → T: ÷ 1000.</a:t>
            </a:r>
            <a:br/>
            <a:r>
              <a:t>PAS PÅ  l er kun den del, som er i feltet; retning af I×B.</a:t>
            </a:r>
            <a:br/>
            <a:r>
              <a:t>EKS.  20 mT·3 A·6 m = 0,36 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K02-header"/>
          <p:cNvSpPr txBox="1"/>
          <p:nvPr/>
        </p:nvSpPr>
        <p:spPr>
          <a:xfrm>
            <a:off x="5532120" y="4114800"/>
            <a:ext cx="477774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K02 · Søger: Aktiv lederlængde l [m]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32120" y="4562856"/>
            <a:ext cx="477774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|F| [N], B [T], |I| [A]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32120" y="5020056"/>
            <a:ext cx="47777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Leder vinkelret på B.</a:t>
            </a:r>
          </a:p>
        </p:txBody>
      </p:sp>
      <p:pic>
        <p:nvPicPr>
          <p:cNvPr id="29" name="K02-formula" descr="l=\frac{|F|}{B|I|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0686" y="5431536"/>
            <a:ext cx="817747" cy="603504"/>
          </a:xfrm>
          <a:prstGeom prst="rect">
            <a:avLst/>
          </a:prstGeom>
        </p:spPr>
      </p:pic>
      <p:sp>
        <p:nvSpPr>
          <p:cNvPr id="30" name="K02-details"/>
          <p:cNvSpPr txBox="1"/>
          <p:nvPr/>
        </p:nvSpPr>
        <p:spPr>
          <a:xfrm>
            <a:off x="5532120" y="6089904"/>
            <a:ext cx="477774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For skrå leder indgår sin θ i nævneren.</a:t>
            </a:r>
            <a:br/>
            <a:r>
              <a:t>ENH.  50 mT = 0,050 T.</a:t>
            </a:r>
            <a:br/>
            <a:r>
              <a:t>PAS PÅ  Brug ikke hele kablets længde, hvis feltet kun dækker en del.</a:t>
            </a:r>
            <a:br/>
            <a:r>
              <a:t>EKS.  1/(0,050·10) = 2 m.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3212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526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K03 – K04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629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257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3725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458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30 / 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092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K03-header"/>
          <p:cNvSpPr txBox="1"/>
          <p:nvPr/>
        </p:nvSpPr>
        <p:spPr>
          <a:xfrm>
            <a:off x="411480" y="987552"/>
            <a:ext cx="477774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K03 · Søger: Fluxtæthed B [T]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77774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|F| [N], |I| [A], l [m]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7777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Leder vinkelret på feltet.</a:t>
            </a:r>
          </a:p>
        </p:txBody>
      </p:sp>
      <p:pic>
        <p:nvPicPr>
          <p:cNvPr id="11" name="K03-formula" descr="B=\frac{|F|}{|I|l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6467" y="2304288"/>
            <a:ext cx="844905" cy="603504"/>
          </a:xfrm>
          <a:prstGeom prst="rect">
            <a:avLst/>
          </a:prstGeom>
        </p:spPr>
      </p:pic>
      <p:sp>
        <p:nvSpPr>
          <p:cNvPr id="12" name="K03-details"/>
          <p:cNvSpPr txBox="1"/>
          <p:nvPr/>
        </p:nvSpPr>
        <p:spPr>
          <a:xfrm>
            <a:off x="411480" y="2962656"/>
            <a:ext cx="477774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Kontrollér at kraften er den magnetiske kraft.</a:t>
            </a:r>
            <a:br/>
            <a:r>
              <a:t>ENH.  T → mT: × 1000.</a:t>
            </a:r>
            <a:br/>
            <a:r>
              <a:t>PAS PÅ  Andre mekaniske kræfter må ikke medregnes i F.</a:t>
            </a:r>
            <a:br/>
            <a:r>
              <a:t>EKS.  75/(15·200) = 0,025 T = 25 mT.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K04-header"/>
          <p:cNvSpPr txBox="1"/>
          <p:nvPr/>
        </p:nvSpPr>
        <p:spPr>
          <a:xfrm>
            <a:off x="5532120" y="987552"/>
            <a:ext cx="477774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K04 · Søger: Kraft mellem ledere |F| [N]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32120" y="1435608"/>
            <a:ext cx="477774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I1, I2 [A], l, a [m], μ [H/m]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32120" y="1892808"/>
            <a:ext cx="47777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Lange parallelle ledere; a er centerafstand.</a:t>
            </a:r>
          </a:p>
        </p:txBody>
      </p:sp>
      <p:pic>
        <p:nvPicPr>
          <p:cNvPr id="17" name="K04-formula" descr="|F|=\frac{\mu|I_1I_2|l}{2\pi a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2613" y="2304288"/>
            <a:ext cx="1353892" cy="603504"/>
          </a:xfrm>
          <a:prstGeom prst="rect">
            <a:avLst/>
          </a:prstGeom>
        </p:spPr>
      </p:pic>
      <p:sp>
        <p:nvSpPr>
          <p:cNvPr id="18" name="K04-details"/>
          <p:cNvSpPr txBox="1"/>
          <p:nvPr/>
        </p:nvSpPr>
        <p:spPr>
          <a:xfrm>
            <a:off x="5532120" y="2962656"/>
            <a:ext cx="477774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I luft: |F| ≈ 2·10⁻⁷·|I1I2|·l/a.</a:t>
            </a:r>
            <a:br/>
            <a:r>
              <a:t>ENH.  Kraft pr. meter: |F|/l i N/m.</a:t>
            </a:r>
            <a:br/>
            <a:r>
              <a:t>PAS PÅ  Samme strømretning tiltrækker; modsat frastøder.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3212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526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Knudepunktsmetoden · to kilder og ét referencepunkt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629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257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3725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458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31 / 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092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pSp>
        <p:nvGrpSpPr>
          <p:cNvPr id="38" name="nodal-circuit"/>
          <p:cNvGrpSpPr/>
          <p:nvPr/>
        </p:nvGrpSpPr>
        <p:grpSpPr>
          <a:xfrm>
            <a:off x="502920" y="1051560"/>
            <a:ext cx="4823460" cy="4818888"/>
            <a:chOff x="502920" y="1051560"/>
            <a:chExt cx="4823460" cy="4818888"/>
          </a:xfrm>
        </p:grpSpPr>
        <p:cxnSp>
          <p:nvCxnSpPr>
            <p:cNvPr id="8" name="Connector 7"/>
            <p:cNvCxnSpPr/>
            <p:nvPr/>
          </p:nvCxnSpPr>
          <p:spPr>
            <a:xfrm>
              <a:off x="822960" y="1572768"/>
              <a:ext cx="3108960" cy="0"/>
            </a:xfrm>
            <a:prstGeom prst="line">
              <a:avLst/>
            </a:prstGeom>
            <a:ln w="19050">
              <a:solidFill>
                <a:srgbClr val="075B7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nector 8"/>
            <p:cNvCxnSpPr/>
            <p:nvPr/>
          </p:nvCxnSpPr>
          <p:spPr>
            <a:xfrm>
              <a:off x="822960" y="5349240"/>
              <a:ext cx="3108960" cy="0"/>
            </a:xfrm>
            <a:prstGeom prst="line">
              <a:avLst/>
            </a:prstGeom>
            <a:ln w="19050">
              <a:solidFill>
                <a:srgbClr val="075B7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/>
            <p:cNvSpPr txBox="1"/>
            <p:nvPr/>
          </p:nvSpPr>
          <p:spPr>
            <a:xfrm>
              <a:off x="548640" y="1051560"/>
              <a:ext cx="1577339" cy="36576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 sz="1500" b="1">
                  <a:solidFill>
                    <a:srgbClr val="075B70"/>
                  </a:solidFill>
                  <a:latin typeface="Calibri"/>
                </a:defRPr>
              </a:pPr>
              <a:r>
                <a:t>a: Va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548640" y="5504688"/>
              <a:ext cx="4046220" cy="36576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 sz="1400" b="1">
                  <a:solidFill>
                    <a:srgbClr val="075B70"/>
                  </a:solidFill>
                  <a:latin typeface="Calibri"/>
                </a:defRPr>
              </a:pPr>
              <a:r>
                <a:t>0: reference = 0 V</a:t>
              </a:r>
            </a:p>
          </p:txBody>
        </p:sp>
        <p:cxnSp>
          <p:nvCxnSpPr>
            <p:cNvPr id="12" name="Connector 11"/>
            <p:cNvCxnSpPr/>
            <p:nvPr/>
          </p:nvCxnSpPr>
          <p:spPr>
            <a:xfrm>
              <a:off x="822960" y="1572768"/>
              <a:ext cx="0" cy="896112"/>
            </a:xfrm>
            <a:prstGeom prst="line">
              <a:avLst/>
            </a:prstGeom>
            <a:ln w="19050">
              <a:solidFill>
                <a:srgbClr val="075B7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ctor 12"/>
            <p:cNvCxnSpPr/>
            <p:nvPr/>
          </p:nvCxnSpPr>
          <p:spPr>
            <a:xfrm>
              <a:off x="1143000" y="1783080"/>
              <a:ext cx="0" cy="521208"/>
            </a:xfrm>
            <a:prstGeom prst="line">
              <a:avLst/>
            </a:prstGeom>
            <a:ln w="19050">
              <a:solidFill>
                <a:srgbClr val="075B7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/>
            <p:cNvSpPr txBox="1"/>
            <p:nvPr/>
          </p:nvSpPr>
          <p:spPr>
            <a:xfrm>
              <a:off x="1234440" y="1920240"/>
              <a:ext cx="571500" cy="36576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 sz="1300" b="0">
                  <a:solidFill>
                    <a:srgbClr val="075B70"/>
                  </a:solidFill>
                  <a:latin typeface="Calibri"/>
                </a:defRPr>
              </a:pPr>
              <a:r>
                <a:t>I1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704088" y="2468880"/>
              <a:ext cx="237744" cy="68580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075B7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051560" y="2514600"/>
              <a:ext cx="1165860" cy="64008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 sz="1300" b="0">
                  <a:solidFill>
                    <a:srgbClr val="17212B"/>
                  </a:solidFill>
                  <a:latin typeface="Calibri"/>
                </a:defRPr>
              </a:pPr>
              <a:r>
                <a:t>R1</a:t>
              </a:r>
              <a:br/>
              <a:r>
                <a:t>1 Ω</a:t>
              </a:r>
            </a:p>
          </p:txBody>
        </p:sp>
        <p:cxnSp>
          <p:nvCxnSpPr>
            <p:cNvPr id="17" name="Connector 16"/>
            <p:cNvCxnSpPr/>
            <p:nvPr/>
          </p:nvCxnSpPr>
          <p:spPr>
            <a:xfrm>
              <a:off x="822960" y="3154680"/>
              <a:ext cx="0" cy="704088"/>
            </a:xfrm>
            <a:prstGeom prst="line">
              <a:avLst/>
            </a:prstGeom>
            <a:ln w="19050">
              <a:solidFill>
                <a:srgbClr val="075B7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ctor 17"/>
            <p:cNvCxnSpPr/>
            <p:nvPr/>
          </p:nvCxnSpPr>
          <p:spPr>
            <a:xfrm>
              <a:off x="822960" y="4498848"/>
              <a:ext cx="0" cy="850392"/>
            </a:xfrm>
            <a:prstGeom prst="line">
              <a:avLst/>
            </a:prstGeom>
            <a:ln w="19050">
              <a:solidFill>
                <a:srgbClr val="075B7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Oval 18"/>
            <p:cNvSpPr/>
            <p:nvPr/>
          </p:nvSpPr>
          <p:spPr>
            <a:xfrm>
              <a:off x="502920" y="3858768"/>
              <a:ext cx="640080" cy="640080"/>
            </a:xfrm>
            <a:prstGeom prst="ellipse">
              <a:avLst/>
            </a:prstGeom>
            <a:solidFill>
              <a:srgbClr val="FFFFFF"/>
            </a:solidFill>
            <a:ln>
              <a:solidFill>
                <a:srgbClr val="075B7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722376" y="3867912"/>
              <a:ext cx="233172" cy="612648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 sz="1500" b="1">
                  <a:solidFill>
                    <a:srgbClr val="075B70"/>
                  </a:solidFill>
                  <a:latin typeface="Calibri"/>
                </a:defRPr>
              </a:pPr>
              <a:r>
                <a:t>+</a:t>
              </a:r>
              <a:br/>
              <a:r>
                <a:t>−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1188720" y="3913632"/>
              <a:ext cx="1028700" cy="64008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 sz="1300" b="0">
                  <a:solidFill>
                    <a:srgbClr val="17212B"/>
                  </a:solidFill>
                  <a:latin typeface="Calibri"/>
                </a:defRPr>
              </a:pPr>
              <a:r>
                <a:t>E1</a:t>
              </a:r>
              <a:br/>
              <a:r>
                <a:t>27 V</a:t>
              </a:r>
            </a:p>
          </p:txBody>
        </p:sp>
        <p:cxnSp>
          <p:nvCxnSpPr>
            <p:cNvPr id="22" name="Connector 21"/>
            <p:cNvCxnSpPr/>
            <p:nvPr/>
          </p:nvCxnSpPr>
          <p:spPr>
            <a:xfrm>
              <a:off x="2377440" y="1572768"/>
              <a:ext cx="0" cy="896112"/>
            </a:xfrm>
            <a:prstGeom prst="line">
              <a:avLst/>
            </a:prstGeom>
            <a:ln w="19050">
              <a:solidFill>
                <a:srgbClr val="075B7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or 22"/>
            <p:cNvCxnSpPr/>
            <p:nvPr/>
          </p:nvCxnSpPr>
          <p:spPr>
            <a:xfrm>
              <a:off x="2697480" y="1783080"/>
              <a:ext cx="0" cy="521208"/>
            </a:xfrm>
            <a:prstGeom prst="line">
              <a:avLst/>
            </a:prstGeom>
            <a:ln w="19050">
              <a:solidFill>
                <a:srgbClr val="075B7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/>
            <p:cNvSpPr txBox="1"/>
            <p:nvPr/>
          </p:nvSpPr>
          <p:spPr>
            <a:xfrm>
              <a:off x="2788920" y="1920240"/>
              <a:ext cx="571500" cy="36576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 sz="1300" b="0">
                  <a:solidFill>
                    <a:srgbClr val="075B70"/>
                  </a:solidFill>
                  <a:latin typeface="Calibri"/>
                </a:defRPr>
              </a:pPr>
              <a:r>
                <a:t>I2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2258568" y="2468880"/>
              <a:ext cx="237744" cy="68580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075B7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2606040" y="2514600"/>
              <a:ext cx="1165860" cy="64008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 sz="1300" b="0">
                  <a:solidFill>
                    <a:srgbClr val="17212B"/>
                  </a:solidFill>
                  <a:latin typeface="Calibri"/>
                </a:defRPr>
              </a:pPr>
              <a:r>
                <a:t>R2</a:t>
              </a:r>
              <a:br/>
              <a:r>
                <a:t>2 Ω</a:t>
              </a:r>
            </a:p>
          </p:txBody>
        </p:sp>
        <p:cxnSp>
          <p:nvCxnSpPr>
            <p:cNvPr id="27" name="Connector 26"/>
            <p:cNvCxnSpPr/>
            <p:nvPr/>
          </p:nvCxnSpPr>
          <p:spPr>
            <a:xfrm>
              <a:off x="2377440" y="3154680"/>
              <a:ext cx="0" cy="704088"/>
            </a:xfrm>
            <a:prstGeom prst="line">
              <a:avLst/>
            </a:prstGeom>
            <a:ln w="19050">
              <a:solidFill>
                <a:srgbClr val="075B7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onnector 27"/>
            <p:cNvCxnSpPr/>
            <p:nvPr/>
          </p:nvCxnSpPr>
          <p:spPr>
            <a:xfrm>
              <a:off x="2377440" y="4498848"/>
              <a:ext cx="0" cy="850392"/>
            </a:xfrm>
            <a:prstGeom prst="line">
              <a:avLst/>
            </a:prstGeom>
            <a:ln w="19050">
              <a:solidFill>
                <a:srgbClr val="075B7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Oval 28"/>
            <p:cNvSpPr/>
            <p:nvPr/>
          </p:nvSpPr>
          <p:spPr>
            <a:xfrm>
              <a:off x="2057400" y="3858768"/>
              <a:ext cx="640080" cy="640080"/>
            </a:xfrm>
            <a:prstGeom prst="ellipse">
              <a:avLst/>
            </a:prstGeom>
            <a:solidFill>
              <a:srgbClr val="FFFFFF"/>
            </a:solidFill>
            <a:ln>
              <a:solidFill>
                <a:srgbClr val="075B7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2276856" y="3867912"/>
              <a:ext cx="233172" cy="612648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 sz="1500" b="1">
                  <a:solidFill>
                    <a:srgbClr val="075B70"/>
                  </a:solidFill>
                  <a:latin typeface="Calibri"/>
                </a:defRPr>
              </a:pPr>
              <a:r>
                <a:t>+</a:t>
              </a:r>
              <a:br/>
              <a:r>
                <a:t>−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2743200" y="3913632"/>
              <a:ext cx="1028700" cy="64008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 sz="1300" b="0">
                  <a:solidFill>
                    <a:srgbClr val="17212B"/>
                  </a:solidFill>
                  <a:latin typeface="Calibri"/>
                </a:defRPr>
              </a:pPr>
              <a:r>
                <a:t>E2</a:t>
              </a:r>
              <a:br/>
              <a:r>
                <a:t>24 V</a:t>
              </a:r>
            </a:p>
          </p:txBody>
        </p:sp>
        <p:cxnSp>
          <p:nvCxnSpPr>
            <p:cNvPr id="32" name="Connector 31"/>
            <p:cNvCxnSpPr/>
            <p:nvPr/>
          </p:nvCxnSpPr>
          <p:spPr>
            <a:xfrm>
              <a:off x="3931920" y="1572768"/>
              <a:ext cx="0" cy="896112"/>
            </a:xfrm>
            <a:prstGeom prst="line">
              <a:avLst/>
            </a:prstGeom>
            <a:ln w="19050">
              <a:solidFill>
                <a:srgbClr val="075B7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nector 32"/>
            <p:cNvCxnSpPr/>
            <p:nvPr/>
          </p:nvCxnSpPr>
          <p:spPr>
            <a:xfrm>
              <a:off x="4251959" y="1783080"/>
              <a:ext cx="0" cy="521208"/>
            </a:xfrm>
            <a:prstGeom prst="line">
              <a:avLst/>
            </a:prstGeom>
            <a:ln w="19050">
              <a:solidFill>
                <a:srgbClr val="075B7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Box 33"/>
            <p:cNvSpPr txBox="1"/>
            <p:nvPr/>
          </p:nvSpPr>
          <p:spPr>
            <a:xfrm>
              <a:off x="4343400" y="1920240"/>
              <a:ext cx="571500" cy="36576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 sz="1300" b="0">
                  <a:solidFill>
                    <a:srgbClr val="075B70"/>
                  </a:solidFill>
                  <a:latin typeface="Calibri"/>
                </a:defRPr>
              </a:pPr>
              <a:r>
                <a:t>I3</a:t>
              </a:r>
            </a:p>
          </p:txBody>
        </p:sp>
        <p:sp>
          <p:nvSpPr>
            <p:cNvPr id="35" name="Rectangle 34"/>
            <p:cNvSpPr/>
            <p:nvPr/>
          </p:nvSpPr>
          <p:spPr>
            <a:xfrm>
              <a:off x="3813048" y="2468880"/>
              <a:ext cx="237744" cy="68580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075B7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4160520" y="2514600"/>
              <a:ext cx="1165860" cy="64008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 sz="1300" b="0">
                  <a:solidFill>
                    <a:srgbClr val="17212B"/>
                  </a:solidFill>
                  <a:latin typeface="Calibri"/>
                </a:defRPr>
              </a:pPr>
              <a:r>
                <a:t>R3</a:t>
              </a:r>
              <a:br/>
              <a:r>
                <a:t>8 Ω</a:t>
              </a:r>
            </a:p>
          </p:txBody>
        </p:sp>
        <p:cxnSp>
          <p:nvCxnSpPr>
            <p:cNvPr id="37" name="Connector 36"/>
            <p:cNvCxnSpPr/>
            <p:nvPr/>
          </p:nvCxnSpPr>
          <p:spPr>
            <a:xfrm>
              <a:off x="3931920" y="3154680"/>
              <a:ext cx="0" cy="2194560"/>
            </a:xfrm>
            <a:prstGeom prst="line">
              <a:avLst/>
            </a:prstGeom>
            <a:ln w="19050">
              <a:solidFill>
                <a:srgbClr val="075B7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nodal-model"/>
          <p:cNvSpPr txBox="1"/>
          <p:nvPr/>
        </p:nvSpPr>
        <p:spPr>
          <a:xfrm>
            <a:off x="5486400" y="1078992"/>
            <a:ext cx="475945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Vælg nederste knude som 0 V. Alle tre strømpile går ud af a. Skriv KCL med spændinger; kilders pluspoler er øverst.</a:t>
            </a:r>
          </a:p>
        </p:txBody>
      </p:sp>
      <p:pic>
        <p:nvPicPr>
          <p:cNvPr id="40" name="nodal-kcl" descr="\frac{V_a-27}{1}+\frac{V_a-24}{2}+\frac{V_a}{8}=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3299" y="2066543"/>
            <a:ext cx="3462793" cy="731520"/>
          </a:xfrm>
          <a:prstGeom prst="rect">
            <a:avLst/>
          </a:prstGeom>
        </p:spPr>
      </p:pic>
      <p:pic>
        <p:nvPicPr>
          <p:cNvPr id="41" name="nodal-voltage" descr="V_a=\frac{27/1+24/2}{1/1+1/2+1/8}=24\,\mathrm{V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9873" y="2953511"/>
            <a:ext cx="3589644" cy="731520"/>
          </a:xfrm>
          <a:prstGeom prst="rect">
            <a:avLst/>
          </a:prstGeom>
        </p:spPr>
      </p:pic>
      <p:pic>
        <p:nvPicPr>
          <p:cNvPr id="42" name="nodal-currents" descr="I_1=-3\,\mathrm{A},\quad I_2=0,\quad I_3=3\,\mathrm{A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0" y="3902055"/>
            <a:ext cx="4736592" cy="608369"/>
          </a:xfrm>
          <a:prstGeom prst="rect">
            <a:avLst/>
          </a:prstGeom>
        </p:spPr>
      </p:pic>
      <p:sp>
        <p:nvSpPr>
          <p:cNvPr id="43" name="nodal-check"/>
          <p:cNvSpPr txBox="1"/>
          <p:nvPr/>
        </p:nvSpPr>
        <p:spPr>
          <a:xfrm>
            <a:off x="5486400" y="4727447"/>
            <a:ext cx="475945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Kontrol: −3 + 0 + 3 = 0 A. Den faktiske I1 løber opad. P i R: 3²·8 = 72 W. Kilden E1 afgiver 27·3 = 81 W; R1 taber 9 W.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6126480"/>
            <a:ext cx="96240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Alle pile går ud af a. Minus betyder strøm mod pilen. + og − angiver kildernes faste polaritet.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526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Symbol- og enhedsregister ·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629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257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3725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458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32 / 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092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symbols-table-1"/>
          <p:cNvGraphicFramePr>
            <a:graphicFrameLocks noGrp="1"/>
          </p:cNvGraphicFramePr>
          <p:nvPr/>
        </p:nvGraphicFramePr>
        <p:xfrm>
          <a:off x="411480" y="1042415"/>
          <a:ext cx="9784079" cy="5513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1930"/>
                <a:gridCol w="3424428"/>
                <a:gridCol w="1663293"/>
                <a:gridCol w="3424428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Symbol</a:t>
                      </a:r>
                    </a:p>
                  </a:txBody>
                  <a:tcPr marL="59436" marR="59436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Størrelse</a:t>
                      </a:r>
                    </a:p>
                  </a:txBody>
                  <a:tcPr marL="59436" marR="59436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Enhed</a:t>
                      </a:r>
                    </a:p>
                  </a:txBody>
                  <a:tcPr marL="59436" marR="59436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Betydning / afgrænsning</a:t>
                      </a:r>
                    </a:p>
                  </a:txBody>
                  <a:tcPr marL="59436" marR="59436" marT="45720" marB="45720">
                    <a:solidFill>
                      <a:srgbClr val="075B70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I, i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Strøm; i(t) ved tidsvariation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A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Konventionel retning; elektroner modsat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Q, Ne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Ladning; antal elementarladninger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C; 1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Ne er et antal, ikke en ladningsmængde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U, Ukl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Potentialforskel; klemspænding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V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+ og − angiver refereret polaritet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E, e, es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Kilde-EMK; induceret og selvinduktions-EMK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V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 i originalen kan også betyde felt; her Ef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Ef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Elektrisk feltstyrke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V/m = N/C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I originalens feltkapitel bruges E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R, ri, Rs, Rp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Resistans, indre, serie, parallel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Ω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Afhænger af komponent og temperatur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ρ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Elektrisk resistivitet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Ω·m eller Ω·mm²/m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Ikke materialets massefylde; samme græske bogstav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G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Konduktans for komponent/leder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S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 S = 1/Ω; ikke ledertværsnittet S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526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Symbol- og enhedsregister ·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629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257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3725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458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33 / 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092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symbols-table-2"/>
          <p:cNvGraphicFramePr>
            <a:graphicFrameLocks noGrp="1"/>
          </p:cNvGraphicFramePr>
          <p:nvPr/>
        </p:nvGraphicFramePr>
        <p:xfrm>
          <a:off x="411480" y="1042415"/>
          <a:ext cx="9784080" cy="5513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3200400"/>
                <a:gridCol w="1737360"/>
                <a:gridCol w="3200400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Symbol</a:t>
                      </a:r>
                    </a:p>
                  </a:txBody>
                  <a:tcPr marL="59436" marR="59436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Størrelse</a:t>
                      </a:r>
                    </a:p>
                  </a:txBody>
                  <a:tcPr marL="59436" marR="59436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Enhed</a:t>
                      </a:r>
                    </a:p>
                  </a:txBody>
                  <a:tcPr marL="59436" marR="59436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Betydning / afgrænsning</a:t>
                      </a:r>
                    </a:p>
                  </a:txBody>
                  <a:tcPr marL="59436" marR="59436" marT="45720" marB="45720">
                    <a:solidFill>
                      <a:srgbClr val="075B70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γ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Specifik ledningsevne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S/m eller m/(Ω·mm²)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γ = 1/ρ; også kaldet σ i andre bøger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S, A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Ledertværsnit; felt-/kerneareal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mm² eller m²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S fra lederkapitlet; A fra magnetkapitlet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l, s, h, a, r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Længde, strækning, højde, afstand, radius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m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l i magnetkredsen er feltvejens middellængde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t, Δt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Tid, tidsinterval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s eller h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h i tidsenhed er time, ikke løftehøjde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T, t, ΔT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Temperatur, reference, ændring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°C; K for ændring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Temperatur t er ikke tidsvariablen t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αt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Resistansens temperaturkoefficient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K⁻¹ = °C⁻¹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Hører til angivet referencetemperatur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P, Pind, Pud, Ptab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Effekt, tilført, afgivet, tab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W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Effekt er energi pr. tid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W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Arbejde/energi, som i kilderne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J, Wh, kWh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Størrelsen W må ikke forveksles med enheden W (watt)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526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Symbol- og enhedsregister ·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629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257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3725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458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34 / 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092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symbols-table-3"/>
          <p:cNvGraphicFramePr>
            <a:graphicFrameLocks noGrp="1"/>
          </p:cNvGraphicFramePr>
          <p:nvPr/>
        </p:nvGraphicFramePr>
        <p:xfrm>
          <a:off x="411480" y="1042415"/>
          <a:ext cx="9784079" cy="5513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6699"/>
                <a:gridCol w="3292719"/>
                <a:gridCol w="2351942"/>
                <a:gridCol w="3292719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Symbol</a:t>
                      </a:r>
                    </a:p>
                  </a:txBody>
                  <a:tcPr marL="59436" marR="59436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Størrelse</a:t>
                      </a:r>
                    </a:p>
                  </a:txBody>
                  <a:tcPr marL="59436" marR="59436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Enhed</a:t>
                      </a:r>
                    </a:p>
                  </a:txBody>
                  <a:tcPr marL="59436" marR="59436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Betydning / afgrænsning</a:t>
                      </a:r>
                    </a:p>
                  </a:txBody>
                  <a:tcPr marL="59436" marR="59436" marT="45720" marB="45720">
                    <a:solidFill>
                      <a:srgbClr val="075B70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η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Virkningsgrad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 eller %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0,85 = 85 %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m, g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Masse; tyngdeacceleration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kg; m/s²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Undervisningens g = 9,82 m/s²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F, M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Mekanisk kraft; moment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N; N·m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N·m som moment og J som arbejde holdes adskilt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ω, θ, n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Vinkelhastighed, vinkel, omdrejningsfrekvens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rad/s; rad; s⁻¹ eller rpm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n er aldrig rad/s; rpm kræver faktor 1/60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Φ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Magnetisk flux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Wb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Ikke magnetisk feltstyrke H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B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Magnetisk fluxtæthed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T = Wb/m²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T som enhed er tesla, ikke temperatur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H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Magnetisk feltstyrke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A/m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H som enhedssymbol er henry, ikke feltstyrken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μ, μ0, μr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Absolut, vakuum, relativ permeabilitet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H/m; H/m; 1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μr er ikke altid konstant for jern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526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Symbol- og enhedsregister ·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629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257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3725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458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35 / 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092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symbols-table-4"/>
          <p:cNvGraphicFramePr>
            <a:graphicFrameLocks noGrp="1"/>
          </p:cNvGraphicFramePr>
          <p:nvPr/>
        </p:nvGraphicFramePr>
        <p:xfrm>
          <a:off x="411480" y="1042415"/>
          <a:ext cx="9784079" cy="5513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8668"/>
                <a:gridCol w="3530338"/>
                <a:gridCol w="1714735"/>
                <a:gridCol w="3530338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Symbol</a:t>
                      </a:r>
                    </a:p>
                  </a:txBody>
                  <a:tcPr marL="59436" marR="59436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Størrelse</a:t>
                      </a:r>
                    </a:p>
                  </a:txBody>
                  <a:tcPr marL="59436" marR="59436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Enhed</a:t>
                      </a:r>
                    </a:p>
                  </a:txBody>
                  <a:tcPr marL="59436" marR="59436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Betydning / afgrænsning</a:t>
                      </a:r>
                    </a:p>
                  </a:txBody>
                  <a:tcPr marL="59436" marR="59436" marT="45720" marB="45720">
                    <a:solidFill>
                      <a:srgbClr val="075B70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Fm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Magnetomotorisk kraft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A (amperevinding)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Ikke mekanisk kraft i newton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Rm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Reluktans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A/Wb = H⁻¹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Ikke resistans i ohm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N, L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Antal vindinger; induktans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1; H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N er også SI-enheden newton i kraftformler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v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Hastighed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m/s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Ved bevægelsesinduktion skal retningen kendes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ε, ε0, εr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Absolut, vakuum, relativ permittivitet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F/m; F/m; 1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Ikke den magnetiske permeabilitet μ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Ψ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Elektrisk feltflux i kildens notation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V·m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Ikke et fysisk antal linjer; ikke Φ [Wb]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k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Coulombkonstant i mediet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N·m²/C²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 = 1/(4πε); ikke kilo-præfikset k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Va, Vb, Ik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Knudespændinger og grenstrøm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V; A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Relativt til samme reference; Ik følger valgt pil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526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Præfikser og omregninger ·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629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257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3725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458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36 / 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092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units-table-1"/>
          <p:cNvGraphicFramePr>
            <a:graphicFrameLocks noGrp="1"/>
          </p:cNvGraphicFramePr>
          <p:nvPr/>
        </p:nvGraphicFramePr>
        <p:xfrm>
          <a:off x="411480" y="1042415"/>
          <a:ext cx="9784080" cy="5513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0622"/>
                <a:gridCol w="2812923"/>
                <a:gridCol w="4280535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Fra / størrelse</a:t>
                      </a:r>
                    </a:p>
                  </a:txBody>
                  <a:tcPr marL="59436" marR="59436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Omregning</a:t>
                      </a:r>
                    </a:p>
                  </a:txBody>
                  <a:tcPr marL="59436" marR="59436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Husk</a:t>
                      </a:r>
                    </a:p>
                  </a:txBody>
                  <a:tcPr marL="59436" marR="59436" marT="45720" marB="45720">
                    <a:solidFill>
                      <a:srgbClr val="075B70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T, G, M, k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10¹², 10⁹, 10⁶, 10³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Store præfikser; k er lille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m, µ, n, p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10⁻³, 10⁻⁶, 10⁻⁹, 10⁻¹²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milli, mikro, nano, pico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mA → A; mV → V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÷ 1000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Omregn før kvadrering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mm → m; cm → m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÷ 1000; ÷ 100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Længde omregnes én gang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mm² → m²; cm² → m²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× 10⁻⁶; × 10⁻⁴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Areal: længdefaktoren kvadreres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ρ: Ω·mm²/m → Ω·m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× 10⁻⁶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Cu: 0,0175 → 1,75·10⁻⁸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γ: m/(Ω·mm²) → S/m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× 10⁶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Konduktivitet omregnes modsat resistivitet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ms → s; min → s; h → s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÷ 1000; × 60; × 3600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Sekunder i SI-formler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526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Præfikser og omregninger ·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629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257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3725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458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37 / 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092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units-table-2"/>
          <p:cNvGraphicFramePr>
            <a:graphicFrameLocks noGrp="1"/>
          </p:cNvGraphicFramePr>
          <p:nvPr/>
        </p:nvGraphicFramePr>
        <p:xfrm>
          <a:off x="411480" y="1042415"/>
          <a:ext cx="9784078" cy="55138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18536"/>
                <a:gridCol w="3517871"/>
                <a:gridCol w="3847671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Fra / størrelse</a:t>
                      </a:r>
                    </a:p>
                  </a:txBody>
                  <a:tcPr marL="59436" marR="59436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Omregning</a:t>
                      </a:r>
                    </a:p>
                  </a:txBody>
                  <a:tcPr marL="59436" marR="59436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Husk</a:t>
                      </a:r>
                    </a:p>
                  </a:txBody>
                  <a:tcPr marL="59436" marR="59436" marT="45720" marB="45720">
                    <a:solidFill>
                      <a:srgbClr val="075B70"/>
                    </a:solidFill>
                  </a:tcPr>
                </a:tc>
              </a:tr>
              <a:tr h="73543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1 Ah; 1 Wh; 1 kWh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3600 C; 3600 J; 3,6 MJ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Ah er ladning; Wh og kWh er energi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</a:tr>
              <a:tr h="73543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1 kW; 1 kJ; 1 mT; 1 mH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1000 W; 1000 J; 0,001 T; 0,001 H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W, J, T og H i SI-beregninger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</a:tr>
              <a:tr h="73543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rpm → s⁻¹ → rad/s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n/60 → 2π·n/60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Rotationshastighed; ikke dokumentation for AC-pensum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</a:tr>
              <a:tr h="73543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grader → radianer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θrad = θ°·π/180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45° = π/4; 360° = 2π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</a:tr>
              <a:tr h="73543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ΔT [°C] → ΔT [K]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Samme talværdi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Absolut temperatur: TK = T°C + 273,15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</a:tr>
              <a:tr h="73543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% → forholdstal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÷ 100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85 % = 0,85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</a:tr>
              <a:tr h="73543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1 V; 1 W; 1 T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 J/C; 1 J/s; 1 Wb/m²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Størrelse og enhedssymbol er forskellige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526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Konstanter og undervisningsværdier ·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629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257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3725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458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38 / 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092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constants-table-1"/>
          <p:cNvGraphicFramePr>
            <a:graphicFrameLocks noGrp="1"/>
          </p:cNvGraphicFramePr>
          <p:nvPr/>
        </p:nvGraphicFramePr>
        <p:xfrm>
          <a:off x="411480" y="1042415"/>
          <a:ext cx="9784078" cy="5513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3607"/>
                <a:gridCol w="1680094"/>
                <a:gridCol w="790632"/>
                <a:gridCol w="3459018"/>
                <a:gridCol w="2470727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Symbol / værdi</a:t>
                      </a:r>
                    </a:p>
                  </a:txBody>
                  <a:tcPr marL="59436" marR="59436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Tal</a:t>
                      </a:r>
                    </a:p>
                  </a:txBody>
                  <a:tcPr marL="59436" marR="59436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Enhed</a:t>
                      </a:r>
                    </a:p>
                  </a:txBody>
                  <a:tcPr marL="59436" marR="59436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Gyldighed / type</a:t>
                      </a:r>
                    </a:p>
                  </a:txBody>
                  <a:tcPr marL="59436" marR="59436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Kilde</a:t>
                      </a:r>
                    </a:p>
                  </a:txBody>
                  <a:tcPr marL="59436" marR="59436" marT="45720" marB="45720">
                    <a:solidFill>
                      <a:srgbClr val="075B70"/>
                    </a:solidFill>
                  </a:tcPr>
                </a:tc>
              </a:tr>
              <a:tr h="858012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1,602176634·10⁻¹⁹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C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Fysisk konstant; eksakt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BIPM; ampere-definition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</a:tr>
              <a:tr h="858012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μ0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≈ 4π·10⁻⁷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H/m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Undervisningsafrunding; ikke længere eksakt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EL01:11; NIST CODATA 2022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</a:tr>
              <a:tr h="858012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ε0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≈ 8,85·10⁻¹²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F/m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Undervisningsafrunding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EL03:7; NIST CODATA 2022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</a:tr>
              <a:tr h="858012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g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9,82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m/s²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Undervisningsmæssig tilnærmelse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EL13:14,18; facit 17676 J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</a:tr>
              <a:tr h="858012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μr, luft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≈ 1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Materialetilnærmelse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EL06:10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</a:tr>
              <a:tr h="858012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μr, jern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600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Kun kildens regneeksempel; ikke fast jerntal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EL06:11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constants-note-1"/>
          <p:cNvSpPr txBox="1"/>
          <p:nvPr/>
        </p:nvSpPr>
        <p:spPr>
          <a:xfrm>
            <a:off x="411480" y="6720840"/>
            <a:ext cx="98069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7212B"/>
                </a:solidFill>
                <a:latin typeface="Calibri"/>
              </a:defRPr>
            </a:pPr>
            <a:r>
              <a:t>CODATA 2022: μ0 = 1,25663706127(20)·10⁻⁶ H/m; ε0 = 8,8541878188(14)·10⁻¹² F/m. Værdierne er målebestemte, ikke eksakte.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526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Konstanter og undervisningsværdier ·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629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257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3725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458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39 / 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092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constants-table-2"/>
          <p:cNvGraphicFramePr>
            <a:graphicFrameLocks noGrp="1"/>
          </p:cNvGraphicFramePr>
          <p:nvPr/>
        </p:nvGraphicFramePr>
        <p:xfrm>
          <a:off x="411480" y="1042415"/>
          <a:ext cx="9784078" cy="55138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3259"/>
                <a:gridCol w="1057738"/>
                <a:gridCol w="1057738"/>
                <a:gridCol w="4627605"/>
                <a:gridCol w="1057738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Symbol / værdi</a:t>
                      </a:r>
                    </a:p>
                  </a:txBody>
                  <a:tcPr marL="59436" marR="59436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Tal</a:t>
                      </a:r>
                    </a:p>
                  </a:txBody>
                  <a:tcPr marL="59436" marR="59436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Enhed</a:t>
                      </a:r>
                    </a:p>
                  </a:txBody>
                  <a:tcPr marL="59436" marR="59436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Gyldighed / type</a:t>
                      </a:r>
                    </a:p>
                  </a:txBody>
                  <a:tcPr marL="59436" marR="59436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Kilde</a:t>
                      </a:r>
                    </a:p>
                  </a:txBody>
                  <a:tcPr marL="59436" marR="59436" marT="45720" marB="45720">
                    <a:solidFill>
                      <a:srgbClr val="075B70"/>
                    </a:solidFill>
                  </a:tcPr>
                </a:tc>
              </a:tr>
              <a:tr h="1029614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1 HK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≈ 736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W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Undervisningsafrunding af metrisk hestekraft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EL13:7-8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</a:tr>
              <a:tr h="1029614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1 kcal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≈ 4187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J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Kildens omregning; definition/afrunding varierer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EL13:8-9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</a:tr>
              <a:tr h="1029614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Hu, naturgas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38,9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MJ/m³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Kildens brændselsmodel; volumens reference er ikke oplyst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EL13:9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</a:tr>
              <a:tr h="1029614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Hu, fuelolie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40,6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MJ/kg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Kildens tilnærmelse; kvalitet afhænger af brændsel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EL13:9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</a:tr>
              <a:tr h="1029614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Hu, fyringsolie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36,2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MJ/L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Kildens tilnærmelse; volumen afhænger af temperatur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EL13:9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</a:tr>
            </a:tbl>
          </a:graphicData>
        </a:graphic>
      </p:graphicFrame>
      <p:sp>
        <p:nvSpPr>
          <p:cNvPr id="9" name="constants-note-2"/>
          <p:cNvSpPr txBox="1"/>
          <p:nvPr/>
        </p:nvSpPr>
        <p:spPr>
          <a:xfrm>
            <a:off x="411480" y="6720840"/>
            <a:ext cx="98069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7212B"/>
                </a:solidFill>
                <a:latin typeface="Calibri"/>
              </a:defRPr>
            </a:pPr>
            <a:r>
              <a:t>CODATA 2022: μ0 = 1,25663706127(20)·10⁻⁶ H/m; ε0 = 8,8541878188(14)·10⁻¹² F/m. Værdierne er målebestemte, ikke eksakte.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526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Materialeværdier ved 20 °C ·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629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257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3725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458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40 / 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092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material-table-1"/>
          <p:cNvGraphicFramePr>
            <a:graphicFrameLocks noGrp="1"/>
          </p:cNvGraphicFramePr>
          <p:nvPr/>
        </p:nvGraphicFramePr>
        <p:xfrm>
          <a:off x="411480" y="1042415"/>
          <a:ext cx="9784079" cy="5513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6316"/>
                <a:gridCol w="1764342"/>
                <a:gridCol w="1924737"/>
                <a:gridCol w="3528684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Materiale</a:t>
                      </a:r>
                    </a:p>
                  </a:txBody>
                  <a:tcPr marL="59436" marR="59436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ρ [Ω·mm²/m]</a:t>
                      </a:r>
                    </a:p>
                  </a:txBody>
                  <a:tcPr marL="59436" marR="59436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α20 [K⁻¹]</a:t>
                      </a:r>
                    </a:p>
                  </a:txBody>
                  <a:tcPr marL="59436" marR="59436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Reference / kilde</a:t>
                      </a:r>
                    </a:p>
                  </a:txBody>
                  <a:tcPr marL="59436" marR="59436" marT="45720" marB="45720">
                    <a:solidFill>
                      <a:srgbClr val="075B70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Aluminium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0,029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3,7·10⁻³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20 °C; EL07:4 / EL10:4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Bly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0,210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4,1·10⁻³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20 °C; EL07:4 / EL10:4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Guld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0,022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3,4·10⁻³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20 °C; EL07:4 / EL10:4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Jern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0,140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6,4·10⁻³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20 °C; EL07:4 / EL10:4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Kanthal A1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1,45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Ikke angivet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20 °C; EL07:4 / EL10:4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Kobber (ledning)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0,0175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4,0·10⁻³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20 °C; EL07:4 / EL10:4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Konstantan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0,488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5·10⁻⁶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20 °C; EL07:4 / EL10:4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Kromnikkel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1,05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0,13·10⁻³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20 °C; EL07:4 / EL10:4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material-note-1"/>
          <p:cNvSpPr txBox="1"/>
          <p:nvPr/>
        </p:nvSpPr>
        <p:spPr>
          <a:xfrm>
            <a:off x="411480" y="6720840"/>
            <a:ext cx="98069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7212B"/>
                </a:solidFill>
                <a:latin typeface="Calibri"/>
              </a:defRPr>
            </a:pPr>
            <a:r>
              <a:t>Kildens tabelværdier, ikke universelle naturkonstanter. Renhed/legering og temperatur ændrer værdierne. Med ρ i Ω·m: gang tabellens ρ med 10⁻⁶.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526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Materialeværdier ved 20 °C ·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629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257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3725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458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41 / 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092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material-table-2"/>
          <p:cNvGraphicFramePr>
            <a:graphicFrameLocks noGrp="1"/>
          </p:cNvGraphicFramePr>
          <p:nvPr/>
        </p:nvGraphicFramePr>
        <p:xfrm>
          <a:off x="411480" y="1042415"/>
          <a:ext cx="9784077" cy="5513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4757"/>
                <a:gridCol w="1888155"/>
                <a:gridCol w="1544854"/>
                <a:gridCol w="3776311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Materiale</a:t>
                      </a:r>
                    </a:p>
                  </a:txBody>
                  <a:tcPr marL="59436" marR="59436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ρ [Ω·mm²/m]</a:t>
                      </a:r>
                    </a:p>
                  </a:txBody>
                  <a:tcPr marL="59436" marR="59436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α20 [K⁻¹]</a:t>
                      </a:r>
                    </a:p>
                  </a:txBody>
                  <a:tcPr marL="59436" marR="59436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Reference / kilde</a:t>
                      </a:r>
                    </a:p>
                  </a:txBody>
                  <a:tcPr marL="59436" marR="59436" marT="45720" marB="45720">
                    <a:solidFill>
                      <a:srgbClr val="075B70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Kviksølv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0,960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0,9·10⁻³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20 °C; EL07:4 / EL10:4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Manganin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0,420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30·10⁻⁶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20 °C; EL07:4 / EL10:4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Platin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0,090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4,0·10⁻³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20 °C; EL07:4 / EL10:4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Sølv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0,0158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4,0·10⁻³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20 °C; EL07:4 / EL10:4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Tin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0,200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4,6·10⁻³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20 °C; EL07:4 / EL10:4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Wolfram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0,055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4,0·10⁻³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20 °C; EL07:4 / EL10:4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Kul (glødetråd)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40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−0,4·10⁻³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20 °C; EL07:4 / EL10:4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Zink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0,0625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3,9·10⁻³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20 °C; EL07:4 / EL10:4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material-note-2"/>
          <p:cNvSpPr txBox="1"/>
          <p:nvPr/>
        </p:nvSpPr>
        <p:spPr>
          <a:xfrm>
            <a:off x="411480" y="6720840"/>
            <a:ext cx="98069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7212B"/>
                </a:solidFill>
                <a:latin typeface="Calibri"/>
              </a:defRPr>
            </a:pPr>
            <a:r>
              <a:t>Kildens tabelværdier, ikke universelle naturkonstanter. Renhed/legering og temperatur ændrer værdierne. Med ρ i Ω·m: gang tabellens ρ med 10⁻⁶.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526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Kilder og dækningskontrol ·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629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257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3725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458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42 / 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092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source-table-1"/>
          <p:cNvGraphicFramePr>
            <a:graphicFrameLocks noGrp="1"/>
          </p:cNvGraphicFramePr>
          <p:nvPr/>
        </p:nvGraphicFramePr>
        <p:xfrm>
          <a:off x="411480" y="1042415"/>
          <a:ext cx="9784079" cy="5513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5949"/>
                <a:gridCol w="5188527"/>
                <a:gridCol w="1185949"/>
                <a:gridCol w="2223654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ID</a:t>
                      </a:r>
                    </a:p>
                  </a:txBody>
                  <a:tcPr marL="59436" marR="59436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Original præsentation</a:t>
                      </a:r>
                    </a:p>
                  </a:txBody>
                  <a:tcPr marL="59436" marR="59436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Slides</a:t>
                      </a:r>
                    </a:p>
                  </a:txBody>
                  <a:tcPr marL="59436" marR="59436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Opslagsfamilier</a:t>
                      </a:r>
                    </a:p>
                  </a:txBody>
                  <a:tcPr marL="59436" marR="59436" marT="45720" marB="45720">
                    <a:solidFill>
                      <a:srgbClr val="075B70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EL01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1 -  4.1 + 4.2 Det magnetiske felt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14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B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EL02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1 - STA Definition af elektriske basisenheder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11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I, R, U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EL03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 Elektrisk felt Coulombs lov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F, I, W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EL04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 Jævnstrømskredsløb og kredsløbsberegninger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I, R, U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EL05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2 - 4.3  for den magnetiske kreds formler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B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EL06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2 - 4.3 Den magnetiske Kreds+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13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B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EL07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2 - STA Specifik resistans og ledningsevne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9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G, R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EL08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 Kredsløbsberegninger (Kirchoff) - Lånt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14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N, U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526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Kilder og dækningskontrol ·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629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257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3725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458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43 / 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092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source-table-2"/>
          <p:cNvGraphicFramePr>
            <a:graphicFrameLocks noGrp="1"/>
          </p:cNvGraphicFramePr>
          <p:nvPr/>
        </p:nvGraphicFramePr>
        <p:xfrm>
          <a:off x="411480" y="1042415"/>
          <a:ext cx="9784078" cy="5513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8248"/>
                <a:gridCol w="5111086"/>
                <a:gridCol w="1168248"/>
                <a:gridCol w="2336496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ID</a:t>
                      </a:r>
                    </a:p>
                  </a:txBody>
                  <a:tcPr marL="59436" marR="59436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Original præsentation</a:t>
                      </a:r>
                    </a:p>
                  </a:txBody>
                  <a:tcPr marL="59436" marR="59436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Slides</a:t>
                      </a:r>
                    </a:p>
                  </a:txBody>
                  <a:tcPr marL="59436" marR="59436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Opslagsfamilier</a:t>
                      </a:r>
                    </a:p>
                  </a:txBody>
                  <a:tcPr marL="59436" marR="59436" marT="45720" marB="45720">
                    <a:solidFill>
                      <a:srgbClr val="075B70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EL09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 Kredsløbsberegninger med kirchhoff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I, N, U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EL10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3 - STA resistansers temperaturafhængighed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G, R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EL11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 4.4 magnetisering af jern og permanente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B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EL12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 4.7 Induktion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B, E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EL13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4 - for elektrisk energi og effekt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18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I, M, P, R, U, W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EL14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4 Faraday lenz hvirvelstrøm selvinduktion induktans bifilar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11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B, E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EL15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6 Kraftpåvirkning ledere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EL16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6 Leder i magnetfelt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526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Faglige præciseringer i forhold til kilderne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629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257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3725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458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44 / 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092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corrections-table"/>
          <p:cNvGraphicFramePr>
            <a:graphicFrameLocks noGrp="1"/>
          </p:cNvGraphicFramePr>
          <p:nvPr/>
        </p:nvGraphicFramePr>
        <p:xfrm>
          <a:off x="411480" y="1042415"/>
          <a:ext cx="9784079" cy="5513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289"/>
                <a:gridCol w="3891395"/>
                <a:gridCol w="3891395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Kilde</a:t>
                      </a:r>
                    </a:p>
                  </a:txBody>
                  <a:tcPr marL="59436" marR="59436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Problem / tvetydighed</a:t>
                      </a:r>
                    </a:p>
                  </a:txBody>
                  <a:tcPr marL="59436" marR="59436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Præcisering</a:t>
                      </a:r>
                    </a:p>
                  </a:txBody>
                  <a:tcPr marL="59436" marR="59436" marT="45720" marB="45720">
                    <a:solidFill>
                      <a:srgbClr val="075B70"/>
                    </a:solidFill>
                  </a:tcPr>
                </a:tc>
              </a:tr>
              <a:tr h="57200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EL02:6; EL15:4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Historisk ampere via kraft mellem ledere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SI baseres nu på eksakt elementarladning e; kraftformlen bevares som fysik.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</a:tr>
              <a:tr h="57200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EL01:11; EL06:9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μ0 = 4π·10⁻⁷ som eksakt naturkonstant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Bevares som afrunding; efter SI-revisionen er μ0 målebestemt.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</a:tr>
              <a:tr h="57200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EL02:9-10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Ohms lov gælder kun DC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U = RI gælder også øjebliksværdier for en ideal ohmsk R; ikke hele vilkårlige AC-belastninger.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</a:tr>
              <a:tr h="57200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EL01:10; EL03:9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Flux som felt / antal feltlinjer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Φ [Wb], B [T], H [A/m] og Ψ [V·m] holdes adskilt. Feltlinjer er en tegne-model.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</a:tr>
              <a:tr h="57200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EL06:10,13; EL11:3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Ledende materialer og Rm-enhed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Ferromagnetisme er ikke elektrisk ledningsevne. μ er H/m; Rm er A/Wb = H⁻¹.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</a:tr>
              <a:tr h="57200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EL13:10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n har [rad/s]; antal omdrejninger/frekvens blandes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n er s⁻¹ eller rpm; ω er rad/s. Rotationsarbejde bruger vinkel eller et antal omdrejninger.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</a:tr>
              <a:tr h="57200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EL13:17, opg. 8b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Moment fra elektrisk motor-effekt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Der mangler η eller Pmek. En ideal antagelse η = 1 skal angives; ikke bruges skjult.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</a:tr>
              <a:tr h="57200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EL10:3,5,9-10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α og referencetemperatur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αt følger referencen t. α20 kan ikke ubetinget bruges med en anden reference.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</a:tr>
              <a:tr h="57200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EL08:9-14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Alle knudepunkter som uafhængige ligninger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Vælg reference. Brug n−1 uafhængige KCL-ligninger; superknude ved relevant spændingskilde.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526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Afgrænsning · vælg ikke formel ud fra enheder alene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629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257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3725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458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45 / 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092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scope-table"/>
          <p:cNvGraphicFramePr>
            <a:graphicFrameLocks noGrp="1"/>
          </p:cNvGraphicFramePr>
          <p:nvPr/>
        </p:nvGraphicFramePr>
        <p:xfrm>
          <a:off x="411480" y="1042415"/>
          <a:ext cx="9784078" cy="5513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6602"/>
                <a:gridCol w="4028738"/>
                <a:gridCol w="4028738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Status / opslag</a:t>
                      </a:r>
                    </a:p>
                  </a:txBody>
                  <a:tcPr marL="59436" marR="59436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Fundet / givet</a:t>
                      </a:r>
                    </a:p>
                  </a:txBody>
                  <a:tcPr marL="59436" marR="59436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Afgrænsning / nødvendige oplysninger</a:t>
                      </a:r>
                    </a:p>
                  </a:txBody>
                  <a:tcPr marL="59436" marR="59436" marT="45720" marB="45720">
                    <a:solidFill>
                      <a:srgbClr val="075B70"/>
                    </a:solidFill>
                  </a:tcPr>
                </a:tc>
              </a:tr>
              <a:tr h="57200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Dokumenteret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DC, ledermodstand, temperatur, energi/moment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Elektriske og magnetiske felter, induktion, selvinduktion og magnetiske kræfter.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</a:tr>
              <a:tr h="57200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Beregningsvej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Knudepunktsmetoden er primær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KCL med reference/pile → ligninger → grenstrømme. KVL og effektbalance er kontroller.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</a:tr>
              <a:tr h="57200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AC-omtale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Induktans nævnes som grundlag for AC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Ingen systematisk dokumentation af sinus, RMS, fase eller effektfaktor i de fundne slides.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</a:tr>
              <a:tr h="57200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AC: har P og U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Oplysningerne er utilstrækkelige uden model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Afklar aktiv/tilsyneladende effekt, RMS/kurveform og effektfaktor. DC-opslag I = P/U vælges ikke alene på enheder.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</a:tr>
              <a:tr h="57200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Ikke fundet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Kapacitans, reaktans, impedans, fasorer, RLC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Ingen formeldækning påstås for disse emner; kræver relevante undervisningsfiler.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</a:tr>
              <a:tr h="57200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Ikke fundet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Resonans, transformerforhold, trefase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Transformerprincippet omtales, men beregningsformler/pensum er ikke dokumenteret.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</a:tr>
              <a:tr h="57200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AC-skelnen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Spidsværdi/RMS; fase/linje; effektfaktor/cos φ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Kan ikke sidestilles uden kurveform, topologi og betingelser. Disse emner er ikke udfyldt generisk.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</a:tr>
              <a:tr h="57200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Kilder mangler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Henviste bøger, Word-øvelser og Teams-opgaver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Deres indhold er ikke verificeret. Cheatsheetet dækker de faktiske lokale kilder, ikke hele BM4-pensum.</a:t>
                      </a:r>
                    </a:p>
                  </a:txBody>
                  <a:tcPr marL="59436" marR="59436" marT="45720" marB="45720">
                    <a:solidFill>
                      <a:srgbClr val="FFFFFF"/>
                    </a:solidFill>
                  </a:tcPr>
                </a:tc>
              </a:tr>
              <a:tr h="57200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Redigerbarhed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Tekst, tabeller, strøm-/kredsløbsfigur er native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Brøkformler er højopløste billeder fra LaTeX. Formeltekst og data bevares i database og slideplan.</a:t>
                      </a:r>
                    </a:p>
                  </a:txBody>
                  <a:tcPr marL="59436" marR="59436" marT="45720" marB="45720">
                    <a:solidFill>
                      <a:srgbClr val="F0F5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PowerPoint-app basisskabelon</dc:title>
  <dc:subject>Fast 16:9-skabelon til lokal undervisningspræsentation</dc:subject>
  <dc:creator>PowerPoint App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