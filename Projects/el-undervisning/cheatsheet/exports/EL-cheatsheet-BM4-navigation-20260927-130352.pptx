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Genveje og sidetal beregnes ud fra slideplanens id’er og samme formeldatabase som HTML-opslaget.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W04: EL03:4,10, EL13:12</a:t>
            </a:r>
          </a:p>
          <a:p>
            <a:r>
              <a:t>I01: EL02:9-11</a:t>
            </a:r>
          </a:p>
          <a:p>
            <a:r>
              <a:t>I02: EL02:10, EL13:13,17</a:t>
            </a:r>
          </a:p>
          <a:p>
            <a:r>
              <a:t>I03: EL02:10, EL13:13,16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I04: EL02:7, EL03:4</a:t>
            </a:r>
          </a:p>
          <a:p>
            <a:r>
              <a:t>I05: EL04:3-4</a:t>
            </a:r>
          </a:p>
          <a:p>
            <a:r>
              <a:t>I06: EL04:6-7, EL09:3-10</a:t>
            </a:r>
          </a:p>
          <a:p>
            <a:r>
              <a:t>I07: EL04:7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B10: EL05:3, EL06:9-12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U01: EL02:9-11</a:t>
            </a:r>
          </a:p>
          <a:p>
            <a:r>
              <a:t>U02: EL02:10, EL13:13</a:t>
            </a:r>
          </a:p>
          <a:p>
            <a:r>
              <a:t>U03: EL02:10, EL13:13,15</a:t>
            </a:r>
          </a:p>
          <a:p>
            <a:r>
              <a:t>U04: EL13:11-12, EL02:5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U05: EL04:3</a:t>
            </a:r>
          </a:p>
          <a:p>
            <a:r>
              <a:t>U06: EL04:5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R01: EL02:8-11</a:t>
            </a:r>
          </a:p>
          <a:p>
            <a:r>
              <a:t>R02: EL02:10, EL13:15</a:t>
            </a:r>
          </a:p>
          <a:p>
            <a:r>
              <a:t>R03: EL02:10, EL13:13</a:t>
            </a:r>
          </a:p>
          <a:p>
            <a:r>
              <a:t>R04: EL07:3-5,8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R05: EL10:3-5</a:t>
            </a:r>
          </a:p>
          <a:p>
            <a:r>
              <a:t>R06: EL10:9-10</a:t>
            </a:r>
          </a:p>
          <a:p>
            <a:r>
              <a:t>R07: EL04:4-5,8</a:t>
            </a:r>
          </a:p>
          <a:p>
            <a:r>
              <a:t>R08: EL04:6-8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R09: EL04:3,8</a:t>
            </a:r>
          </a:p>
          <a:p>
            <a:r>
              <a:t>R10: EL07:6</a:t>
            </a:r>
          </a:p>
          <a:p>
            <a:r>
              <a:t>G03: EL07:3,6</a:t>
            </a:r>
          </a:p>
          <a:p>
            <a:r>
              <a:t>G04: EL07:3,8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G05: EL07:3,8</a:t>
            </a:r>
          </a:p>
          <a:p>
            <a:r>
              <a:t>G06: EL10:5,8</a:t>
            </a:r>
          </a:p>
          <a:p>
            <a:r>
              <a:t>G01: EL07:6,9</a:t>
            </a:r>
          </a:p>
          <a:p>
            <a:r>
              <a:t>G02: EL07:6,9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P01: EL13:6,12-13</a:t>
            </a:r>
          </a:p>
          <a:p>
            <a:r>
              <a:t>P02: EL13:12-15</a:t>
            </a:r>
          </a:p>
          <a:p>
            <a:r>
              <a:t>P03: EL13:12-13</a:t>
            </a:r>
          </a:p>
          <a:p>
            <a:r>
              <a:t>P04: EL13:6-7,17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P05: EL13:4</a:t>
            </a:r>
          </a:p>
          <a:p>
            <a:r>
              <a:t>P06: EL13:4</a:t>
            </a:r>
          </a:p>
          <a:p>
            <a:r>
              <a:t>P07: EL13:4</a:t>
            </a:r>
          </a:p>
          <a:p>
            <a:r>
              <a:t>P08: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W01: EL13:7-8,13,16</a:t>
            </a:r>
          </a:p>
          <a:p>
            <a:r>
              <a:t>W02: EL13:11-12</a:t>
            </a:r>
          </a:p>
          <a:p>
            <a:r>
              <a:t>W03: EL13:17</a:t>
            </a:r>
          </a:p>
          <a:p>
            <a:r>
              <a:t>W05: EL13:9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M01: EL13:5,14,18</a:t>
            </a:r>
          </a:p>
          <a:p>
            <a:r>
              <a:t>M02: EL13:5</a:t>
            </a:r>
          </a:p>
          <a:p>
            <a:r>
              <a:t>M05: EL13:10,15</a:t>
            </a:r>
          </a:p>
          <a:p>
            <a:r>
              <a:t>M03: EL13:10,15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M04: EL13:10,15</a:t>
            </a:r>
          </a:p>
          <a:p>
            <a:r>
              <a:t>M06: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F01: EL03:5,7,9</a:t>
            </a:r>
          </a:p>
          <a:p>
            <a:r>
              <a:t>F02: EL03:8-10</a:t>
            </a:r>
          </a:p>
          <a:p>
            <a:r>
              <a:t>F03: EL03:8,10</a:t>
            </a:r>
          </a:p>
          <a:p>
            <a:r>
              <a:t>F04: EL03:7,10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F05: EL03:10</a:t>
            </a:r>
          </a:p>
          <a:p>
            <a:r>
              <a:t>F06: EL03:9</a:t>
            </a:r>
          </a:p>
          <a:p>
            <a:r>
              <a:t>F07: EL03:7,9</a:t>
            </a:r>
          </a:p>
          <a:p>
            <a:r>
              <a:t>B01: EL01:10-11, EL12:2,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B02: EL01:11, EL05:2-3</a:t>
            </a:r>
          </a:p>
          <a:p>
            <a:r>
              <a:t>B03: EL05:3, EL06:9-12, EL11:3-4,8</a:t>
            </a:r>
          </a:p>
          <a:p>
            <a:r>
              <a:t>B04: EL01:12-13</a:t>
            </a:r>
          </a:p>
          <a:p>
            <a:r>
              <a:t>B05: EL05:3, EL06:9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B06: EL05:2, EL06:5-8</a:t>
            </a:r>
          </a:p>
          <a:p>
            <a:r>
              <a:t>B07: EL05:2, EL06:6,13, EL11:3</a:t>
            </a:r>
          </a:p>
          <a:p>
            <a:r>
              <a:t>B08: EL05:2, EL06:6,8,13</a:t>
            </a:r>
          </a:p>
          <a:p>
            <a:r>
              <a:t>B09: EL06:10-11, EL11:3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B11: EL05:2, EL06:6</a:t>
            </a:r>
          </a:p>
          <a:p>
            <a:r>
              <a:t>B12: EL05:3, EL11:4,8</a:t>
            </a:r>
          </a:p>
          <a:p>
            <a:r>
              <a:t>B13: EL06:10-11</a:t>
            </a:r>
          </a:p>
          <a:p>
            <a:r>
              <a:t>K01: EL16:3-5,7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K02: EL16:7</a:t>
            </a:r>
          </a:p>
          <a:p>
            <a:r>
              <a:t>K03: EL16:7</a:t>
            </a:r>
          </a:p>
          <a:p>
            <a:r>
              <a:t>K04: EL15:2,4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E01: EL14:3-5, EL12:3</a:t>
            </a:r>
          </a:p>
          <a:p>
            <a:r>
              <a:t>E02: EL14:4,8</a:t>
            </a:r>
          </a:p>
          <a:p>
            <a:r>
              <a:t>E03: EL12:3-4</a:t>
            </a:r>
          </a:p>
          <a:p>
            <a:r>
              <a:t>E05: EL14:7-9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E04: EL14:8-9</a:t>
            </a:r>
          </a:p>
          <a:p>
            <a:r>
              <a:t>E06: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N02: EL08:2, EL09:3-4</a:t>
            </a:r>
          </a:p>
          <a:p>
            <a:r>
              <a:t>U07: EL09:4-10, EL08:4-10</a:t>
            </a:r>
          </a:p>
          <a:p>
            <a:r>
              <a:t>N01: EL08:2-10, EL09:3-10</a:t>
            </a:r>
          </a:p>
          <a:p>
            <a:r>
              <a:t>N03: EL08:3,9-14, EL09:3-10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 EL09:4–10. Her hedder grenstrømmene I1, I2 og I3; i originalen I, I1 og I2. Alle pile er bevidst valgt ud af a, så kildegrenen får −3 A i stedet for originalens +3 A. Belastningsresistansen R i originalen kaldes her R3. Begge kildepolariteter følger originalen. Knudepunktsmetoden er den primære løsningsvej; KVL bruges til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Formler og beregningsveje dokumenteret i de 16 originale EL-præsentationer; 160 slides. Laboratorierapporten bruges som praksiskontekst. Ikke en fuld pensumdækning af BM4.</a:t>
            </a:r>
          </a:p>
          <a:p>
            <a:r>
              <a:t>De refererede undervisningsfiler om AC, RLC, trefase samt opgavesamlingen er ikke tilgængelige i de gennemgåede lokale mapper. Der er ikke opfundet adgang eller fyldt generiske AC-kapitler 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11.xml"/><Relationship Id="rId10" Type="http://schemas.openxmlformats.org/officeDocument/2006/relationships/slide" Target="slide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.xml"/><Relationship Id="rId16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3.xml"/><Relationship Id="rId9" Type="http://schemas.openxmlformats.org/officeDocument/2006/relationships/slide" Target="slide16.xml"/><Relationship Id="rId10" Type="http://schemas.openxmlformats.org/officeDocument/2006/relationships/slide" Target="slide17.xml"/><Relationship Id="rId11" Type="http://schemas.openxmlformats.org/officeDocument/2006/relationships/slide" Target="slide1.xml"/><Relationship Id="rId1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notesSlide" Target="../notesSlides/notesSlide4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1.xml"/><Relationship Id="rId17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notesSlide" Target="../notesSlides/notesSlide5.xml"/><Relationship Id="rId9" Type="http://schemas.openxmlformats.org/officeDocument/2006/relationships/slide" Target="slide20.xml"/><Relationship Id="rId10" Type="http://schemas.openxmlformats.org/officeDocument/2006/relationships/slide" Target="slide21.xml"/><Relationship Id="rId11" Type="http://schemas.openxmlformats.org/officeDocument/2006/relationships/slide" Target="slide1.xml"/><Relationship Id="rId12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notesSlide" Target="../notesSlides/notesSlide6.xml"/><Relationship Id="rId11" Type="http://schemas.openxmlformats.org/officeDocument/2006/relationships/slide" Target="slide22.xml"/><Relationship Id="rId12" Type="http://schemas.openxmlformats.org/officeDocument/2006/relationships/slide" Target="slide23.xml"/><Relationship Id="rId13" Type="http://schemas.openxmlformats.org/officeDocument/2006/relationships/slide" Target="slide1.xml"/><Relationship Id="rId1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notesSlide" Target="../notesSlides/notesSlide7.xml"/><Relationship Id="rId13" Type="http://schemas.openxmlformats.org/officeDocument/2006/relationships/slide" Target="slide24.xml"/><Relationship Id="rId14" Type="http://schemas.openxmlformats.org/officeDocument/2006/relationships/slide" Target="slide25.xml"/><Relationship Id="rId15" Type="http://schemas.openxmlformats.org/officeDocument/2006/relationships/slide" Target="slide26.xml"/><Relationship Id="rId16" Type="http://schemas.openxmlformats.org/officeDocument/2006/relationships/slide" Target="slide1.xml"/><Relationship Id="rId17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notesSlide" Target="../notesSlides/notesSlide8.xml"/><Relationship Id="rId13" Type="http://schemas.openxmlformats.org/officeDocument/2006/relationships/slide" Target="slide27.xml"/><Relationship Id="rId14" Type="http://schemas.openxmlformats.org/officeDocument/2006/relationships/slide" Target="slide28.xml"/><Relationship Id="rId15" Type="http://schemas.openxmlformats.org/officeDocument/2006/relationships/slide" Target="slide29.xml"/><Relationship Id="rId16" Type="http://schemas.openxmlformats.org/officeDocument/2006/relationships/slide" Target="slide1.xml"/><Relationship Id="rId17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notesSlide" Target="../notesSlides/notesSlide9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.xml"/><Relationship Id="rId17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10.xml"/><Relationship Id="rId6" Type="http://schemas.openxmlformats.org/officeDocument/2006/relationships/slide" Target="slide32.xml"/><Relationship Id="rId7" Type="http://schemas.openxmlformats.org/officeDocument/2006/relationships/slide" Target="slide1.xml"/><Relationship Id="rId8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notesSlide" Target="../notesSlides/notesSlide11.xml"/><Relationship Id="rId9" Type="http://schemas.openxmlformats.org/officeDocument/2006/relationships/slide" Target="slide33.xml"/><Relationship Id="rId10" Type="http://schemas.openxmlformats.org/officeDocument/2006/relationships/slide" Target="slide34.xml"/><Relationship Id="rId11" Type="http://schemas.openxmlformats.org/officeDocument/2006/relationships/slide" Target="slide1.xml"/><Relationship Id="rId12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12.xml"/><Relationship Id="rId7" Type="http://schemas.openxmlformats.org/officeDocument/2006/relationships/slide" Target="slide35.xml"/><Relationship Id="rId8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3.xml"/><Relationship Id="rId7" Type="http://schemas.openxmlformats.org/officeDocument/2006/relationships/slide" Target="slide2.xml"/><Relationship Id="rId8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4.xml"/><Relationship Id="rId7" Type="http://schemas.openxmlformats.org/officeDocument/2006/relationships/slide" Target="slide2.xml"/><Relationship Id="rId8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Relationship Id="rId4" Type="http://schemas.openxmlformats.org/officeDocument/2006/relationships/slide" Target="slide2.xml"/><Relationship Id="rId5" Type="http://schemas.openxmlformats.org/officeDocument/2006/relationships/slide" Target="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6.xml"/><Relationship Id="rId7" Type="http://schemas.openxmlformats.org/officeDocument/2006/relationships/slide" Target="slide3.xml"/><Relationship Id="rId8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7.xml"/><Relationship Id="rId5" Type="http://schemas.openxmlformats.org/officeDocument/2006/relationships/slide" Target="slide3.xml"/><Relationship Id="rId6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8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19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20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21.xml"/><Relationship Id="rId7" Type="http://schemas.openxmlformats.org/officeDocument/2006/relationships/slide" Target="slide5.xml"/><Relationship Id="rId8" Type="http://schemas.openxmlformats.org/officeDocument/2006/relationships/slide" Target="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22.xml"/><Relationship Id="rId7" Type="http://schemas.openxmlformats.org/officeDocument/2006/relationships/slide" Target="slide6.xml"/><Relationship Id="rId8" Type="http://schemas.openxmlformats.org/officeDocument/2006/relationships/slide" Target="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notesSlide" Target="../notesSlides/notesSlide23.xml"/><Relationship Id="rId7" Type="http://schemas.openxmlformats.org/officeDocument/2006/relationships/slide" Target="slide6.xml"/><Relationship Id="rId8" Type="http://schemas.openxmlformats.org/officeDocument/2006/relationships/slide" Target="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24.xml"/><Relationship Id="rId7" Type="http://schemas.openxmlformats.org/officeDocument/2006/relationships/slide" Target="slide7.xml"/><Relationship Id="rId8" Type="http://schemas.openxmlformats.org/officeDocument/2006/relationships/slide" Target="slide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25.xml"/><Relationship Id="rId7" Type="http://schemas.openxmlformats.org/officeDocument/2006/relationships/slide" Target="slide7.xml"/><Relationship Id="rId8" Type="http://schemas.openxmlformats.org/officeDocument/2006/relationships/slide" Target="slide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26.xml"/><Relationship Id="rId5" Type="http://schemas.openxmlformats.org/officeDocument/2006/relationships/slide" Target="slide7.xml"/><Relationship Id="rId6" Type="http://schemas.openxmlformats.org/officeDocument/2006/relationships/slide" Target="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notesSlide" Target="../notesSlides/notesSlide27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notesSlide" Target="../notesSlides/notesSlide28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notesSlide" Target="../notesSlides/notesSlide29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notesSlide" Target="../notesSlides/notesSlide30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notesSlide" Target="../notesSlides/notesSlide31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32.xml"/><Relationship Id="rId6" Type="http://schemas.openxmlformats.org/officeDocument/2006/relationships/slide" Target="slide10.xml"/><Relationship Id="rId7" Type="http://schemas.openxmlformats.org/officeDocument/2006/relationships/slide" Target="slide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notesSlide" Target="../notesSlides/notesSlide33.xml"/><Relationship Id="rId7" Type="http://schemas.openxmlformats.org/officeDocument/2006/relationships/slide" Target="slide11.xml"/><Relationship Id="rId8" Type="http://schemas.openxmlformats.org/officeDocument/2006/relationships/slide" Target="slide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notesSlide" Target="../notesSlides/notesSlide34.xml"/><Relationship Id="rId5" Type="http://schemas.openxmlformats.org/officeDocument/2006/relationships/slide" Target="slide11.xml"/><Relationship Id="rId6" Type="http://schemas.openxmlformats.org/officeDocument/2006/relationships/slide" Target="slide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35.xml"/><Relationship Id="rId7" Type="http://schemas.openxmlformats.org/officeDocument/2006/relationships/slide" Target="slide12.xml"/><Relationship Id="rId8" Type="http://schemas.openxmlformats.org/officeDocument/2006/relationships/slide" Target="slide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notesSlide" Target="../notesSlides/notesSlide36.xml"/><Relationship Id="rId6" Type="http://schemas.openxmlformats.org/officeDocument/2006/relationships/slide" Target="slide12.xml"/><Relationship Id="rId7" Type="http://schemas.openxmlformats.org/officeDocument/2006/relationships/slide" Target="slide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slide" Target="slide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slide" Target="slide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slide" Target="slide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slide" Target="slide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slide" Target="slide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slide" Target="slide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slide" Target="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slide" Target="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slide" Target="slide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slide" Target="slide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slide" Target="slide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slide" Target="slide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slide" Target="slide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EL · find den rigtige formel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start-guide"/>
          <p:cNvSpPr txBox="1"/>
          <p:nvPr/>
        </p:nvSpPr>
        <p:spPr>
          <a:xfrm>
            <a:off x="411480" y="102412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en søgt størrelse. I indekset vælger du både givne oplysninger og fysisk situation.</a:t>
            </a:r>
          </a:p>
        </p:txBody>
      </p:sp>
      <p:sp>
        <p:nvSpPr>
          <p:cNvPr id="9" name="start-scope"/>
          <p:cNvSpPr txBox="1"/>
          <p:nvPr/>
        </p:nvSpPr>
        <p:spPr>
          <a:xfrm>
            <a:off x="411480" y="154533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DC, ledere, energi og felter er kildebaserede. Flere AC-emner mangler undervisningskilder.</a:t>
            </a:r>
          </a:p>
        </p:txBody>
      </p:sp>
      <p:sp>
        <p:nvSpPr>
          <p:cNvPr id="10" name="nav-group-current" descr="Strøm&#10;I [A] · ladning Q [C]">
            <a:hlinkClick action="ppaction://hlinksldjump" r:id="rId3" tooltip="Strøm&#10;I [A] · ladning Q [C]"/>
          </p:cNvPr>
          <p:cNvSpPr/>
          <p:nvPr/>
        </p:nvSpPr>
        <p:spPr>
          <a:xfrm>
            <a:off x="576072" y="218541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Strøm</a:t>
            </a:r>
            <a:br/>
            <a:r>
              <a:rPr sz="1100" b="0"/>
              <a:t>I [A] · ladning Q [C]</a:t>
            </a:r>
          </a:p>
        </p:txBody>
      </p:sp>
      <p:sp>
        <p:nvSpPr>
          <p:cNvPr id="11" name="nav-group-voltage" descr="Spænding&#10;U [V] · kilder og spændingsdeling">
            <a:hlinkClick action="ppaction://hlinksldjump" r:id="rId4" tooltip="Spænding&#10;U [V] · kilder og spændingsdeling"/>
          </p:cNvPr>
          <p:cNvSpPr/>
          <p:nvPr/>
        </p:nvSpPr>
        <p:spPr>
          <a:xfrm>
            <a:off x="5696712" y="218541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Spænding</a:t>
            </a:r>
            <a:br/>
            <a:r>
              <a:rPr sz="1100" b="0"/>
              <a:t>U [V] · kilder og spændingsdeling</a:t>
            </a:r>
          </a:p>
        </p:txBody>
      </p:sp>
      <p:sp>
        <p:nvSpPr>
          <p:cNvPr id="12" name="nav-group-resistance" descr="Modstand&#10;R [Ω] · ledere, temperatur og ledningsevne">
            <a:hlinkClick action="ppaction://hlinksldjump" r:id="rId5" tooltip="Modstand&#10;R [Ω] · ledere, temperatur og ledningsevne"/>
          </p:cNvPr>
          <p:cNvSpPr/>
          <p:nvPr/>
        </p:nvSpPr>
        <p:spPr>
          <a:xfrm>
            <a:off x="576072" y="314553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Modstand</a:t>
            </a:r>
            <a:br/>
            <a:r>
              <a:rPr sz="1100" b="0"/>
              <a:t>R [Ω] · ledere, temperatur og ledningsevne</a:t>
            </a:r>
          </a:p>
        </p:txBody>
      </p:sp>
      <p:sp>
        <p:nvSpPr>
          <p:cNvPr id="13" name="nav-group-power" descr="Effekt&#10;P [W] · virkningsgrad og tab">
            <a:hlinkClick action="ppaction://hlinksldjump" r:id="rId6" tooltip="Effekt&#10;P [W] · virkningsgrad og tab"/>
          </p:cNvPr>
          <p:cNvSpPr/>
          <p:nvPr/>
        </p:nvSpPr>
        <p:spPr>
          <a:xfrm>
            <a:off x="5696712" y="314553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Effekt</a:t>
            </a:r>
            <a:br/>
            <a:r>
              <a:rPr sz="1100" b="0"/>
              <a:t>P [W] · virkningsgrad og tab</a:t>
            </a:r>
          </a:p>
        </p:txBody>
      </p:sp>
      <p:sp>
        <p:nvSpPr>
          <p:cNvPr id="14" name="nav-group-energy" descr="Energi&#10;W [J] · tid og mekanisk arbejde">
            <a:hlinkClick action="ppaction://hlinksldjump" r:id="rId7" tooltip="Energi&#10;W [J] · tid og mekanisk arbejde"/>
          </p:cNvPr>
          <p:cNvSpPr/>
          <p:nvPr/>
        </p:nvSpPr>
        <p:spPr>
          <a:xfrm>
            <a:off x="576072" y="410565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Energi</a:t>
            </a:r>
            <a:br/>
            <a:r>
              <a:rPr sz="1100" b="0"/>
              <a:t>W [J] · tid og mekanisk arbejde</a:t>
            </a:r>
          </a:p>
        </p:txBody>
      </p:sp>
      <p:sp>
        <p:nvSpPr>
          <p:cNvPr id="15" name="nav-group-magnetism" descr="Magnetisme&#10;Magnetiske og elektriske felter · kræfter">
            <a:hlinkClick action="ppaction://hlinksldjump" r:id="rId8" tooltip="Magnetisme&#10;Magnetiske og elektriske felter · kræfter"/>
          </p:cNvPr>
          <p:cNvSpPr/>
          <p:nvPr/>
        </p:nvSpPr>
        <p:spPr>
          <a:xfrm>
            <a:off x="5696712" y="410565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Magnetisme</a:t>
            </a:r>
            <a:br/>
            <a:r>
              <a:rPr sz="1100" b="0"/>
              <a:t>Magnetiske og elektriske felter · kræfter</a:t>
            </a:r>
          </a:p>
        </p:txBody>
      </p:sp>
      <p:sp>
        <p:nvSpPr>
          <p:cNvPr id="16" name="nav-group-induction" descr="Induktion&#10;Induceret spænding · induktans">
            <a:hlinkClick action="ppaction://hlinksldjump" r:id="rId9" tooltip="Induktion&#10;Induceret spænding · induktans"/>
          </p:cNvPr>
          <p:cNvSpPr/>
          <p:nvPr/>
        </p:nvSpPr>
        <p:spPr>
          <a:xfrm>
            <a:off x="576072" y="506577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Induktion</a:t>
            </a:r>
            <a:br/>
            <a:r>
              <a:rPr sz="1100" b="0"/>
              <a:t>Induceret spænding · induktans</a:t>
            </a:r>
          </a:p>
        </p:txBody>
      </p:sp>
      <p:sp>
        <p:nvSpPr>
          <p:cNvPr id="17" name="nav-group-methods" descr="Kredsløbsmetoder&#10;Knudepunkter, Kirchhoff og reference">
            <a:hlinkClick action="ppaction://hlinksldjump" r:id="rId10" tooltip="Kredsløbsmetoder&#10;Knudepunkter, Kirchhoff og reference"/>
          </p:cNvPr>
          <p:cNvSpPr/>
          <p:nvPr/>
        </p:nvSpPr>
        <p:spPr>
          <a:xfrm>
            <a:off x="5696712" y="506577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Kredsløbsmetoder</a:t>
            </a:r>
            <a:br/>
            <a:r>
              <a:rPr sz="1100" b="0"/>
              <a:t>Knudepunkter, Kirchhoff og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Strøm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urrent-1-table"/>
          <p:cNvGraphicFramePr>
            <a:graphicFrameLocks noGrp="1"/>
          </p:cNvGraphicFramePr>
          <p:nvPr/>
        </p:nvGraphicFramePr>
        <p:xfrm>
          <a:off x="411480" y="1042415"/>
          <a:ext cx="9784079" cy="4999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W04 · Ladning Q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strøm; ellers sum af delintervaller.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I01 · 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DC eller konsistente AC-magnituder.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I02 · 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P er elektrisk indgangseffekt.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I03 · Strømmens størrelse |I|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resistans; P er tabet i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I04 · Middelstrøm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Netto passeret ladning i valgt interval.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I05 · Kildestrøm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ri [Ω],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DC-kilde med intern serie-modstand.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I06 · Grenstrøm Ik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Ugren [V], Rk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Parallelgrene har samme knudespænding.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I07 · Grenstrøm I1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Itotal [A],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parallelle ohmske modstande.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B10 · Viklingsstrøm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l [m], N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vej/spole-model som B05.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current-1-table-f1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632" y="1444752"/>
            <a:ext cx="1034735" cy="441655"/>
          </a:xfrm>
          <a:prstGeom prst="rect">
            <a:avLst/>
          </a:prstGeom>
        </p:spPr>
      </p:pic>
      <p:pic>
        <p:nvPicPr>
          <p:cNvPr id="10" name="index-current-1-table-f2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94" y="1959559"/>
            <a:ext cx="572611" cy="441655"/>
          </a:xfrm>
          <a:prstGeom prst="rect">
            <a:avLst/>
          </a:prstGeom>
        </p:spPr>
      </p:pic>
      <p:pic>
        <p:nvPicPr>
          <p:cNvPr id="11" name="index-current-1-table-f3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49" y="2474366"/>
            <a:ext cx="569301" cy="441655"/>
          </a:xfrm>
          <a:prstGeom prst="rect">
            <a:avLst/>
          </a:prstGeom>
        </p:spPr>
      </p:pic>
      <p:pic>
        <p:nvPicPr>
          <p:cNvPr id="12" name="index-current-1-table-f4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205" y="2989173"/>
            <a:ext cx="819589" cy="441655"/>
          </a:xfrm>
          <a:prstGeom prst="rect">
            <a:avLst/>
          </a:prstGeom>
        </p:spPr>
      </p:pic>
      <p:pic>
        <p:nvPicPr>
          <p:cNvPr id="13" name="index-current-1-table-f5" descr="I_{\mathrm{middel}}=\frac{Q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822" y="3503980"/>
            <a:ext cx="1044355" cy="441655"/>
          </a:xfrm>
          <a:prstGeom prst="rect">
            <a:avLst/>
          </a:prstGeom>
        </p:spPr>
      </p:pic>
      <p:pic>
        <p:nvPicPr>
          <p:cNvPr id="14" name="index-current-1-table-f6" descr="I=\frac{E}{r_i+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417" y="4018787"/>
            <a:ext cx="785164" cy="441655"/>
          </a:xfrm>
          <a:prstGeom prst="rect">
            <a:avLst/>
          </a:prstGeom>
        </p:spPr>
      </p:pic>
      <p:pic>
        <p:nvPicPr>
          <p:cNvPr id="15" name="index-current-1-table-f7" descr="I_k=\frac{U_{\mathrm{gren}}}{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513" y="4533595"/>
            <a:ext cx="768973" cy="441655"/>
          </a:xfrm>
          <a:prstGeom prst="rect">
            <a:avLst/>
          </a:prstGeom>
        </p:spPr>
      </p:pic>
      <p:pic>
        <p:nvPicPr>
          <p:cNvPr id="16" name="index-current-1-table-f8" descr="I_1=I_{\mathrm{total}}\frac{R_2}{R_1+R_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201" y="5048402"/>
            <a:ext cx="1301597" cy="441655"/>
          </a:xfrm>
          <a:prstGeom prst="rect">
            <a:avLst/>
          </a:prstGeom>
        </p:spPr>
      </p:pic>
      <p:pic>
        <p:nvPicPr>
          <p:cNvPr id="17" name="index-current-1-table-f9" descr="I=\frac{Hl}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412" y="5563209"/>
            <a:ext cx="603174" cy="441655"/>
          </a:xfrm>
          <a:prstGeom prst="rect">
            <a:avLst/>
          </a:prstGeom>
        </p:spPr>
      </p:pic>
      <p:sp>
        <p:nvSpPr>
          <p:cNvPr id="18" name="index-current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9" name="nav-entry-W04" descr="Åbn W04">
            <a:hlinkClick action="ppaction://hlinksldjump" r:id="rId12" tooltip="Åbn W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I01" descr="Åbn I01">
            <a:hlinkClick action="ppaction://hlinksldjump" r:id="rId12" tooltip="Åbn I01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I02" descr="Åbn I02">
            <a:hlinkClick action="ppaction://hlinksldjump" r:id="rId12" tooltip="Åbn I02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I03" descr="Åbn I03">
            <a:hlinkClick action="ppaction://hlinksldjump" r:id="rId12" tooltip="Åbn I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I04" descr="Åbn I04">
            <a:hlinkClick action="ppaction://hlinksldjump" r:id="rId13" tooltip="Åbn I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I05" descr="Åbn I05">
            <a:hlinkClick action="ppaction://hlinksldjump" r:id="rId13" tooltip="Åbn I05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I06" descr="Åbn I06">
            <a:hlinkClick action="ppaction://hlinksldjump" r:id="rId13" tooltip="Åbn I06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I07" descr="Åbn I07">
            <a:hlinkClick action="ppaction://hlinksldjump" r:id="rId13" tooltip="Åbn I07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0" descr="Åbn B10">
            <a:hlinkClick action="ppaction://hlinksldjump" r:id="rId14" tooltip="Åbn B10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9" name="nav-next-index" descr="Næste indeks">
            <a:hlinkClick action="ppaction://hlinksldjump" r:id="rId16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Spænding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voltage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U01 · Spænding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belastning; U følger valgt polaritet.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U02 · Spænding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samme komponent for P og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U03 · Spændingens størrelse |U|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afsat i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U04 · Potentialforskel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Q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energi overført pr. ladning.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U05 · Klemspænding Ukl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I [A],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Afladning; I ud af kildens pluspol.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U06 · Delspænding U1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serie-R; midtpunktet er ubelastet.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voltage-1-table-f1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94" y="1444752"/>
            <a:ext cx="918011" cy="441655"/>
          </a:xfrm>
          <a:prstGeom prst="rect">
            <a:avLst/>
          </a:prstGeom>
        </p:spPr>
      </p:pic>
      <p:pic>
        <p:nvPicPr>
          <p:cNvPr id="10" name="index-voltage-1-table-f2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313" y="1959559"/>
            <a:ext cx="639372" cy="441655"/>
          </a:xfrm>
          <a:prstGeom prst="rect">
            <a:avLst/>
          </a:prstGeom>
        </p:spPr>
      </p:pic>
      <p:pic>
        <p:nvPicPr>
          <p:cNvPr id="11" name="index-voltage-1-table-f3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92" y="2474366"/>
            <a:ext cx="1105414" cy="441655"/>
          </a:xfrm>
          <a:prstGeom prst="rect">
            <a:avLst/>
          </a:prstGeom>
        </p:spPr>
      </p:pic>
      <p:pic>
        <p:nvPicPr>
          <p:cNvPr id="12" name="index-voltage-1-table-f4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304" y="2989173"/>
            <a:ext cx="667390" cy="441655"/>
          </a:xfrm>
          <a:prstGeom prst="rect">
            <a:avLst/>
          </a:prstGeom>
        </p:spPr>
      </p:pic>
      <p:pic>
        <p:nvPicPr>
          <p:cNvPr id="13" name="index-voltage-1-table-f5" descr="U_{\mathrm{kl}}=E-I r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186" y="3503980"/>
            <a:ext cx="1501627" cy="441655"/>
          </a:xfrm>
          <a:prstGeom prst="rect">
            <a:avLst/>
          </a:prstGeom>
        </p:spPr>
      </p:pic>
      <p:pic>
        <p:nvPicPr>
          <p:cNvPr id="14" name="index-voltage-1-table-f6" descr="U_1=U\frac{R_1}{R_1+R_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800" y="4018787"/>
            <a:ext cx="1168400" cy="441655"/>
          </a:xfrm>
          <a:prstGeom prst="rect">
            <a:avLst/>
          </a:prstGeom>
        </p:spPr>
      </p:pic>
      <p:sp>
        <p:nvSpPr>
          <p:cNvPr id="15" name="index-voltag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U01" descr="Åbn U01">
            <a:hlinkClick action="ppaction://hlinksldjump" r:id="rId9" tooltip="Åbn U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U02" descr="Åbn U02">
            <a:hlinkClick action="ppaction://hlinksldjump" r:id="rId9" tooltip="Åbn U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U03" descr="Åbn U03">
            <a:hlinkClick action="ppaction://hlinksldjump" r:id="rId9" tooltip="Åbn U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U04" descr="Åbn U04">
            <a:hlinkClick action="ppaction://hlinksldjump" r:id="rId9" tooltip="Åbn U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U05" descr="Åbn U05">
            <a:hlinkClick action="ppaction://hlinksldjump" r:id="rId10" tooltip="Åbn U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U06" descr="Åbn U06">
            <a:hlinkClick action="ppaction://hlinksldjump" r:id="rId10" tooltip="Åbn U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R01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 ved den aktuelle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R02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P er dens afsatte effekt.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R03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U måles over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R04 · Ledermodstand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ρ ved relevant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R05 · Varm modstand RT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metalmodel; α hører til referencen 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R06 · Kold modstand Rt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lineære model og reference som R05.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R07 · Seriemodstand Rs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strømvej; samme strøm i alle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R08 · Parallelmodstand Rp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R mellem de samme to knuder.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R09 · Indre modstand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Ukl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Belastet DC-kilde; afladning.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R10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1-table-f1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178" y="1444752"/>
            <a:ext cx="649643" cy="441655"/>
          </a:xfrm>
          <a:prstGeom prst="rect">
            <a:avLst/>
          </a:prstGeom>
        </p:spPr>
      </p:pic>
      <p:pic>
        <p:nvPicPr>
          <p:cNvPr id="10" name="index-resistance-1-table-f2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009" y="1959559"/>
            <a:ext cx="631981" cy="441655"/>
          </a:xfrm>
          <a:prstGeom prst="rect">
            <a:avLst/>
          </a:prstGeom>
        </p:spPr>
      </p:pic>
      <p:pic>
        <p:nvPicPr>
          <p:cNvPr id="11" name="index-resistance-1-table-f3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728" y="2474366"/>
            <a:ext cx="690543" cy="441655"/>
          </a:xfrm>
          <a:prstGeom prst="rect">
            <a:avLst/>
          </a:prstGeom>
        </p:spPr>
      </p:pic>
      <p:pic>
        <p:nvPicPr>
          <p:cNvPr id="12" name="index-resistance-1-table-f4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458" y="2989173"/>
            <a:ext cx="741082" cy="441655"/>
          </a:xfrm>
          <a:prstGeom prst="rect">
            <a:avLst/>
          </a:prstGeom>
        </p:spPr>
      </p:pic>
      <p:pic>
        <p:nvPicPr>
          <p:cNvPr id="13" name="index-resistance-1-table-f5" descr="R_T=R_t[1+\alpha_t(T-t)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577" y="3503980"/>
            <a:ext cx="2562844" cy="441655"/>
          </a:xfrm>
          <a:prstGeom prst="rect">
            <a:avLst/>
          </a:prstGeom>
        </p:spPr>
      </p:pic>
      <p:pic>
        <p:nvPicPr>
          <p:cNvPr id="14" name="index-resistance-1-table-f6" descr="R_t=\frac{R_T}{1+\alpha_t(T-t)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265" y="4018787"/>
            <a:ext cx="1269469" cy="441655"/>
          </a:xfrm>
          <a:prstGeom prst="rect">
            <a:avLst/>
          </a:prstGeom>
        </p:spPr>
      </p:pic>
      <p:pic>
        <p:nvPicPr>
          <p:cNvPr id="15" name="index-resistance-1-table-f7" descr="R_s=\sum_{k=1}^{n}R_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1143" y="4533595"/>
            <a:ext cx="759712" cy="441655"/>
          </a:xfrm>
          <a:prstGeom prst="rect">
            <a:avLst/>
          </a:prstGeom>
        </p:spPr>
      </p:pic>
      <p:pic>
        <p:nvPicPr>
          <p:cNvPr id="16" name="index-resistance-1-table-f8" descr="R_p=\left(\sum_{k=1}^{n}\frac{1}{R_k}\right)^{-1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1890" y="5048402"/>
            <a:ext cx="1038219" cy="441655"/>
          </a:xfrm>
          <a:prstGeom prst="rect">
            <a:avLst/>
          </a:prstGeom>
        </p:spPr>
      </p:pic>
      <p:pic>
        <p:nvPicPr>
          <p:cNvPr id="17" name="index-resistance-1-table-f9" descr="r_i=\frac{E-U_{\mathrm{kl}}}{I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943" y="5563209"/>
            <a:ext cx="932112" cy="441655"/>
          </a:xfrm>
          <a:prstGeom prst="rect">
            <a:avLst/>
          </a:prstGeom>
        </p:spPr>
      </p:pic>
      <p:pic>
        <p:nvPicPr>
          <p:cNvPr id="18" name="index-resistance-1-table-f10" descr="R=\frac{1}{G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6104" y="6078016"/>
            <a:ext cx="649791" cy="441655"/>
          </a:xfrm>
          <a:prstGeom prst="rect">
            <a:avLst/>
          </a:prstGeom>
        </p:spPr>
      </p:pic>
      <p:sp>
        <p:nvSpPr>
          <p:cNvPr id="19" name="index-resistanc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R01" descr="Åbn R01">
            <a:hlinkClick action="ppaction://hlinksldjump" r:id="rId13" tooltip="Åbn R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R02" descr="Åbn R02">
            <a:hlinkClick action="ppaction://hlinksldjump" r:id="rId13" tooltip="Åbn R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R03" descr="Åbn R03">
            <a:hlinkClick action="ppaction://hlinksldjump" r:id="rId13" tooltip="Åbn R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R04" descr="Åbn R04">
            <a:hlinkClick action="ppaction://hlinksldjump" r:id="rId13" tooltip="Åbn R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R05" descr="Åbn R05">
            <a:hlinkClick action="ppaction://hlinksldjump" r:id="rId14" tooltip="Åbn R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R06" descr="Åbn R06">
            <a:hlinkClick action="ppaction://hlinksldjump" r:id="rId14" tooltip="Åbn R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R07" descr="Åbn R07">
            <a:hlinkClick action="ppaction://hlinksldjump" r:id="rId14" tooltip="Åbn R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R08" descr="Åbn R08">
            <a:hlinkClick action="ppaction://hlinksldjump" r:id="rId14" tooltip="Åbn R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R09" descr="Åbn R09">
            <a:hlinkClick action="ppaction://hlinksldjump" r:id="rId15" tooltip="Åbn R0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R10" descr="Åbn R10">
            <a:hlinkClick action="ppaction://hlinksldjump" r:id="rId15" tooltip="Åbn R1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2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G03 · Resistivitet 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l [m], S [mm²]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 ved kendt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G04 · Tværsnit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kendt materialeværdi.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G05 ·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S [mm²], ρ [Ω·mm²/m]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G06 · Temperaturstigning ΔT [K]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RT, Rt [Ω], αt [K⁻¹]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 med kendt 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G01 · Konduktans G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 eller I [A],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ohmske komponent.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G02 · Specifik ledningsevne 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i kendt enhed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Materialeværdi ved samme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2-table-f1" descr="\rho=\frac{R S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314" y="1444752"/>
            <a:ext cx="717370" cy="441655"/>
          </a:xfrm>
          <a:prstGeom prst="rect">
            <a:avLst/>
          </a:prstGeom>
        </p:spPr>
      </p:pic>
      <p:pic>
        <p:nvPicPr>
          <p:cNvPr id="10" name="index-resistance-2-table-f2" descr="S=\rho\frac{l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608" y="1959559"/>
            <a:ext cx="748783" cy="441655"/>
          </a:xfrm>
          <a:prstGeom prst="rect">
            <a:avLst/>
          </a:prstGeom>
        </p:spPr>
      </p:pic>
      <p:pic>
        <p:nvPicPr>
          <p:cNvPr id="11" name="index-resistance-2-table-f3" descr="l=\frac{R S}{\rho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484" y="2474366"/>
            <a:ext cx="641030" cy="441655"/>
          </a:xfrm>
          <a:prstGeom prst="rect">
            <a:avLst/>
          </a:prstGeom>
        </p:spPr>
      </p:pic>
      <p:pic>
        <p:nvPicPr>
          <p:cNvPr id="12" name="index-resistance-2-table-f4" descr="\Delta T=\frac{R_T-R_t}{R_t\alpha_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735" y="2989173"/>
            <a:ext cx="1030528" cy="441655"/>
          </a:xfrm>
          <a:prstGeom prst="rect">
            <a:avLst/>
          </a:prstGeom>
        </p:spPr>
      </p:pic>
      <p:pic>
        <p:nvPicPr>
          <p:cNvPr id="13" name="index-resistance-2-table-f5" descr="G=\frac{1}{R}=\frac{I}{U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415" y="3503980"/>
            <a:ext cx="1021168" cy="441655"/>
          </a:xfrm>
          <a:prstGeom prst="rect">
            <a:avLst/>
          </a:prstGeom>
        </p:spPr>
      </p:pic>
      <p:pic>
        <p:nvPicPr>
          <p:cNvPr id="14" name="index-resistance-2-table-f6" descr="\gamma=\frac{1}{\rho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4649" y="4018787"/>
            <a:ext cx="612700" cy="441655"/>
          </a:xfrm>
          <a:prstGeom prst="rect">
            <a:avLst/>
          </a:prstGeom>
        </p:spPr>
      </p:pic>
      <p:sp>
        <p:nvSpPr>
          <p:cNvPr id="15" name="index-resistance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G03" descr="Åbn G03">
            <a:hlinkClick action="ppaction://hlinksldjump" r:id="rId9" tooltip="Åbn G03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G04" descr="Åbn G04">
            <a:hlinkClick action="ppaction://hlinksldjump" r:id="rId9" tooltip="Åbn G04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G05" descr="Åbn G05">
            <a:hlinkClick action="ppaction://hlinksldjump" r:id="rId10" tooltip="Åbn G05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G06" descr="Åbn G06">
            <a:hlinkClick action="ppaction://hlinksldjump" r:id="rId10" tooltip="Åbn G06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G01" descr="Åbn G01">
            <a:hlinkClick action="ppaction://hlinksldjump" r:id="rId10" tooltip="Åbn G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G02" descr="Åbn G02">
            <a:hlinkClick action="ppaction://hlinksldjump" r:id="rId10" tooltip="Åbn G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Effekt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power-1-table"/>
          <p:cNvGraphicFramePr>
            <a:graphicFrameLocks noGrp="1"/>
          </p:cNvGraphicFramePr>
          <p:nvPr/>
        </p:nvGraphicFramePr>
        <p:xfrm>
          <a:off x="411480" y="1042415"/>
          <a:ext cx="9784079" cy="448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P01 · Elektrisk 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forbrugerens pluspol mod strømpilen.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P02 · Varmeeffekt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 ved aktuel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P03 · Varmeeffekt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er spændingen over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P04 · Middel-effekt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Energi/arbejde omsat i et interval.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P05 · Afgiven effekt Pud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η [1],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maskine og driftspunkt.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P06 · Effekttab Ptab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Pind, Pud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energibalance.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P07 · Virkningsgrad η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Pud,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drift; eller samme energiperiode.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P08 · Mekanisk 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Rotation; n er omdrejninger pr. minut i sidste udtryk.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power-1-table-f1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035" y="1444752"/>
            <a:ext cx="895929" cy="441655"/>
          </a:xfrm>
          <a:prstGeom prst="rect">
            <a:avLst/>
          </a:prstGeom>
        </p:spPr>
      </p:pic>
      <p:pic>
        <p:nvPicPr>
          <p:cNvPr id="10" name="index-power-1-table-f2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83" y="1959559"/>
            <a:ext cx="1000033" cy="441655"/>
          </a:xfrm>
          <a:prstGeom prst="rect">
            <a:avLst/>
          </a:prstGeom>
        </p:spPr>
      </p:pic>
      <p:pic>
        <p:nvPicPr>
          <p:cNvPr id="11" name="index-power-1-table-f3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488" y="2474366"/>
            <a:ext cx="671023" cy="441655"/>
          </a:xfrm>
          <a:prstGeom prst="rect">
            <a:avLst/>
          </a:prstGeom>
        </p:spPr>
      </p:pic>
      <p:pic>
        <p:nvPicPr>
          <p:cNvPr id="12" name="index-power-1-table-f4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625" y="2989173"/>
            <a:ext cx="1144749" cy="441655"/>
          </a:xfrm>
          <a:prstGeom prst="rect">
            <a:avLst/>
          </a:prstGeom>
        </p:spPr>
      </p:pic>
      <p:pic>
        <p:nvPicPr>
          <p:cNvPr id="13" name="index-power-1-table-f5" descr="P_{\mathrm{ud}}=\eta P_{\mathrm{ind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194" y="3503980"/>
            <a:ext cx="1399611" cy="441655"/>
          </a:xfrm>
          <a:prstGeom prst="rect">
            <a:avLst/>
          </a:prstGeom>
        </p:spPr>
      </p:pic>
      <p:pic>
        <p:nvPicPr>
          <p:cNvPr id="14" name="index-power-1-table-f6" descr="P_{\mathrm{tab}}=P_{\mathrm{ind}}-P_{\mathrm{ud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5698" y="4018787"/>
            <a:ext cx="1990603" cy="441655"/>
          </a:xfrm>
          <a:prstGeom prst="rect">
            <a:avLst/>
          </a:prstGeom>
        </p:spPr>
      </p:pic>
      <p:pic>
        <p:nvPicPr>
          <p:cNvPr id="15" name="index-power-1-table-f7" descr="\eta=\frac{P_{\mathrm{ud}}}{P_{\mathrm{ind}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1162" y="4533595"/>
            <a:ext cx="699674" cy="441655"/>
          </a:xfrm>
          <a:prstGeom prst="rect">
            <a:avLst/>
          </a:prstGeom>
        </p:spPr>
      </p:pic>
      <p:pic>
        <p:nvPicPr>
          <p:cNvPr id="16" name="index-power-1-table-f8" descr="P=M\omega=M\frac{2\pi n}{60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7662" y="5048402"/>
            <a:ext cx="1506675" cy="441655"/>
          </a:xfrm>
          <a:prstGeom prst="rect">
            <a:avLst/>
          </a:prstGeom>
        </p:spPr>
      </p:pic>
      <p:sp>
        <p:nvSpPr>
          <p:cNvPr id="17" name="index-power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8" name="nav-entry-P01" descr="Åbn P01">
            <a:hlinkClick action="ppaction://hlinksldjump" r:id="rId11" tooltip="Åbn P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P02" descr="Åbn P02">
            <a:hlinkClick action="ppaction://hlinksldjump" r:id="rId11" tooltip="Åbn P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P03" descr="Åbn P03">
            <a:hlinkClick action="ppaction://hlinksldjump" r:id="rId11" tooltip="Åbn P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P04" descr="Åbn P04">
            <a:hlinkClick action="ppaction://hlinksldjump" r:id="rId11" tooltip="Åbn P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P05" descr="Åbn P05">
            <a:hlinkClick action="ppaction://hlinksldjump" r:id="rId12" tooltip="Åbn P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P06" descr="Åbn P06">
            <a:hlinkClick action="ppaction://hlinksldjump" r:id="rId12" tooltip="Åbn P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P07" descr="Åbn P07">
            <a:hlinkClick action="ppaction://hlinksldjump" r:id="rId12" tooltip="Åbn P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P08" descr="Åbn P08">
            <a:hlinkClick action="ppaction://hlinksldjump" r:id="rId12" tooltip="Åbn P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7" name="nav-next-index" descr="Næste indeks">
            <a:hlinkClick action="ppaction://hlinksldjump" r:id="rId14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Energi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energy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W01 · Energi W [J] eller [kWh]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 eller [kW], t [s] eller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 i hele perioden.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W02 · Elektrisk energi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Q [C] eller I [A], 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spænding; ved UIt også konstant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W03 · Tid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W05 · Brændselsenergi W [MJ]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Mængde og brændværdi Hu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omregningstabel; samme brændsel og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M01 · Løftearbejde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[kg], g [m/s²], h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Roligt løft; ændringen i potentiel energi.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M02 · Arbejde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s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kraft parallelt med bevægelsen.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M05 · Rotationsarbejde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θ [rad]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moment.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M03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arm r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Kraften står vinkelret på armen.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M04 · Vinkelhastighed ω [rad/s]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Δθ [rad], Δt [s] eller n [s⁻¹]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rotation; ellers middelværdi.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M06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Pmek [W],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aksel-effekt og omdrejningshastighed.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energy-1-table-f1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37" y="1444752"/>
            <a:ext cx="993724" cy="441655"/>
          </a:xfrm>
          <a:prstGeom prst="rect">
            <a:avLst/>
          </a:prstGeom>
        </p:spPr>
      </p:pic>
      <p:pic>
        <p:nvPicPr>
          <p:cNvPr id="10" name="index-energy-1-table-f2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421" y="1959559"/>
            <a:ext cx="1757156" cy="441655"/>
          </a:xfrm>
          <a:prstGeom prst="rect">
            <a:avLst/>
          </a:prstGeom>
        </p:spPr>
      </p:pic>
      <p:pic>
        <p:nvPicPr>
          <p:cNvPr id="11" name="index-energy-1-table-f3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318" y="2474366"/>
            <a:ext cx="635363" cy="441655"/>
          </a:xfrm>
          <a:prstGeom prst="rect">
            <a:avLst/>
          </a:prstGeom>
        </p:spPr>
      </p:pic>
      <p:pic>
        <p:nvPicPr>
          <p:cNvPr id="12" name="index-energy-1-table-f4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634" y="2989173"/>
            <a:ext cx="3260730" cy="441655"/>
          </a:xfrm>
          <a:prstGeom prst="rect">
            <a:avLst/>
          </a:prstGeom>
        </p:spPr>
      </p:pic>
      <p:pic>
        <p:nvPicPr>
          <p:cNvPr id="13" name="index-energy-1-table-f5" descr="W=mg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667" y="3503980"/>
            <a:ext cx="1244664" cy="441655"/>
          </a:xfrm>
          <a:prstGeom prst="rect">
            <a:avLst/>
          </a:prstGeom>
        </p:spPr>
      </p:pic>
      <p:pic>
        <p:nvPicPr>
          <p:cNvPr id="14" name="index-energy-1-table-f6" descr="W=F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7828" y="4018787"/>
            <a:ext cx="1006342" cy="441655"/>
          </a:xfrm>
          <a:prstGeom prst="rect">
            <a:avLst/>
          </a:prstGeom>
        </p:spPr>
      </p:pic>
      <p:pic>
        <p:nvPicPr>
          <p:cNvPr id="15" name="index-energy-1-table-f7" descr="W=M\thet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085" y="4533595"/>
            <a:ext cx="1097828" cy="441655"/>
          </a:xfrm>
          <a:prstGeom prst="rect">
            <a:avLst/>
          </a:prstGeom>
        </p:spPr>
      </p:pic>
      <p:pic>
        <p:nvPicPr>
          <p:cNvPr id="16" name="index-energy-1-table-f8" descr="M=F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8333" y="5048402"/>
            <a:ext cx="965332" cy="441655"/>
          </a:xfrm>
          <a:prstGeom prst="rect">
            <a:avLst/>
          </a:prstGeom>
        </p:spPr>
      </p:pic>
      <p:pic>
        <p:nvPicPr>
          <p:cNvPr id="17" name="index-energy-1-table-f9" descr="\omega=\frac{\Delta\theta}{\Delta t}=2\pi 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2279" y="5563209"/>
            <a:ext cx="1337441" cy="441655"/>
          </a:xfrm>
          <a:prstGeom prst="rect">
            <a:avLst/>
          </a:prstGeom>
        </p:spPr>
      </p:pic>
      <p:pic>
        <p:nvPicPr>
          <p:cNvPr id="18" name="index-energy-1-table-f10" descr="M=\frac{P_{\mathrm{mek}}}{\omega}=\frac{60P_{\mathrm{mek}}}{2\pi n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7305" y="6078016"/>
            <a:ext cx="1507388" cy="441655"/>
          </a:xfrm>
          <a:prstGeom prst="rect">
            <a:avLst/>
          </a:prstGeom>
        </p:spPr>
      </p:pic>
      <p:sp>
        <p:nvSpPr>
          <p:cNvPr id="19" name="index-energy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W01" descr="Åbn W01">
            <a:hlinkClick action="ppaction://hlinksldjump" r:id="rId13" tooltip="Åbn W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W02" descr="Åbn W02">
            <a:hlinkClick action="ppaction://hlinksldjump" r:id="rId13" tooltip="Åbn W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W03" descr="Åbn W03">
            <a:hlinkClick action="ppaction://hlinksldjump" r:id="rId13" tooltip="Åbn W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W05" descr="Åbn W05">
            <a:hlinkClick action="ppaction://hlinksldjump" r:id="rId13" tooltip="Åbn W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M01" descr="Åbn M01">
            <a:hlinkClick action="ppaction://hlinksldjump" r:id="rId14" tooltip="Åbn M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M02" descr="Åbn M02">
            <a:hlinkClick action="ppaction://hlinksldjump" r:id="rId14" tooltip="Åbn M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M05" descr="Åbn M05">
            <a:hlinkClick action="ppaction://hlinksldjump" r:id="rId14" tooltip="Åbn M05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M03" descr="Åbn M03">
            <a:hlinkClick action="ppaction://hlinksldjump" r:id="rId14" tooltip="Åbn M03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M04" descr="Åbn M04">
            <a:hlinkClick action="ppaction://hlinksldjump" r:id="rId15" tooltip="Åbn M04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M06" descr="Åbn M06">
            <a:hlinkClick action="ppaction://hlinksldjump" r:id="rId15" tooltip="Åbn M06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F01 · Elektrisk kraft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Q1, Q2 [C], a [m],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 i ensartet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F02 · Elektrisk feltstyrke Ef [V/m]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Q [C] eller kildeladning Qk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F/Q er feltet på prøveladningen; a ved punktkilden.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F03 · Kraft F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Ef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Prøveladning i givet elektrisk felt.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F04 · Afstand a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Q1, Q2 [C], ε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punktladningsmodel som F01.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F05 · Ukendt ladning |Q2|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a [m], Q1 [C], ε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Punktladninger; fortegnet afgøres af tiltrækning/frastødning.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F06 · Elektrisk flux Ψ [V·m]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Ef [V/m], A [m²] eller Q [C], ε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normalt felt; eller lukket kugle i ensartet medium.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F07 · Permittivitet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εr [1], ε0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B01 · Magnetisk flux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vinkelret på fladen.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B02 · Fluxtæthed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felt; A er areal normalt på feltet.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med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1-table-f1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70" y="1444752"/>
            <a:ext cx="952458" cy="441655"/>
          </a:xfrm>
          <a:prstGeom prst="rect">
            <a:avLst/>
          </a:prstGeom>
        </p:spPr>
      </p:pic>
      <p:pic>
        <p:nvPicPr>
          <p:cNvPr id="10" name="index-magnetism-1-table-f2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155" y="1959559"/>
            <a:ext cx="1873688" cy="441655"/>
          </a:xfrm>
          <a:prstGeom prst="rect">
            <a:avLst/>
          </a:prstGeom>
        </p:spPr>
      </p:pic>
      <p:pic>
        <p:nvPicPr>
          <p:cNvPr id="11" name="index-magnetism-1-table-f3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378" y="2474366"/>
            <a:ext cx="921243" cy="441655"/>
          </a:xfrm>
          <a:prstGeom prst="rect">
            <a:avLst/>
          </a:prstGeom>
        </p:spPr>
      </p:pic>
      <p:pic>
        <p:nvPicPr>
          <p:cNvPr id="12" name="index-magnetism-1-table-f4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058" y="2989173"/>
            <a:ext cx="921882" cy="441655"/>
          </a:xfrm>
          <a:prstGeom prst="rect">
            <a:avLst/>
          </a:prstGeom>
        </p:spPr>
      </p:pic>
      <p:pic>
        <p:nvPicPr>
          <p:cNvPr id="13" name="index-magnetism-1-table-f5" descr="|Q_2|=\frac{4\pi\varepsilon a^2|F|}{|Q_1|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529" y="3503980"/>
            <a:ext cx="1132941" cy="441655"/>
          </a:xfrm>
          <a:prstGeom prst="rect">
            <a:avLst/>
          </a:prstGeom>
        </p:spPr>
      </p:pic>
      <p:pic>
        <p:nvPicPr>
          <p:cNvPr id="14" name="index-magnetism-1-table-f6" descr="\Psi=E_f A=\frac{Q}{\varepsilon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020" y="4018787"/>
            <a:ext cx="1229958" cy="441655"/>
          </a:xfrm>
          <a:prstGeom prst="rect">
            <a:avLst/>
          </a:prstGeom>
        </p:spPr>
      </p:pic>
      <p:pic>
        <p:nvPicPr>
          <p:cNvPr id="15" name="index-magnetism-1-table-f7" descr="\varepsilon=\varepsilon_0\varepsilon_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5240" y="4533595"/>
            <a:ext cx="1091519" cy="441655"/>
          </a:xfrm>
          <a:prstGeom prst="rect">
            <a:avLst/>
          </a:prstGeom>
        </p:spPr>
      </p:pic>
      <p:pic>
        <p:nvPicPr>
          <p:cNvPr id="16" name="index-magnetism-1-table-f8" descr="\Phi=B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4673" y="5048402"/>
            <a:ext cx="1012652" cy="441655"/>
          </a:xfrm>
          <a:prstGeom prst="rect">
            <a:avLst/>
          </a:prstGeom>
        </p:spPr>
      </p:pic>
      <p:pic>
        <p:nvPicPr>
          <p:cNvPr id="17" name="index-magnetism-1-table-f9" descr="B=\frac{\Phi}{A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0404" y="5563209"/>
            <a:ext cx="661191" cy="441655"/>
          </a:xfrm>
          <a:prstGeom prst="rect">
            <a:avLst/>
          </a:prstGeom>
        </p:spPr>
      </p:pic>
      <p:pic>
        <p:nvPicPr>
          <p:cNvPr id="18" name="index-magnetism-1-table-f10" descr="B=\mu 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9928" y="6078016"/>
            <a:ext cx="982142" cy="441655"/>
          </a:xfrm>
          <a:prstGeom prst="rect">
            <a:avLst/>
          </a:prstGeom>
        </p:spPr>
      </p:pic>
      <p:sp>
        <p:nvSpPr>
          <p:cNvPr id="19" name="index-magnetism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F01" descr="Åbn F01">
            <a:hlinkClick action="ppaction://hlinksldjump" r:id="rId13" tooltip="Åbn F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F02" descr="Åbn F02">
            <a:hlinkClick action="ppaction://hlinksldjump" r:id="rId13" tooltip="Åbn F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F03" descr="Åbn F03">
            <a:hlinkClick action="ppaction://hlinksldjump" r:id="rId13" tooltip="Åbn F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F04" descr="Åbn F04">
            <a:hlinkClick action="ppaction://hlinksldjump" r:id="rId13" tooltip="Åbn F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F05" descr="Åbn F05">
            <a:hlinkClick action="ppaction://hlinksldjump" r:id="rId14" tooltip="Åbn F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F06" descr="Åbn F06">
            <a:hlinkClick action="ppaction://hlinksldjump" r:id="rId14" tooltip="Åbn F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F07" descr="Åbn F07">
            <a:hlinkClick action="ppaction://hlinksldjump" r:id="rId14" tooltip="Åbn F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01" descr="Åbn B01">
            <a:hlinkClick action="ppaction://hlinksldjump" r:id="rId14" tooltip="Åbn B01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02" descr="Åbn B02">
            <a:hlinkClick action="ppaction://hlinksldjump" r:id="rId15" tooltip="Åbn B02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B03" descr="Åbn B03">
            <a:hlinkClick action="ppaction://hlinksldjump" r:id="rId15" tooltip="Åbn B03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2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B04 · Felt om lang leder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Lang, lige leder; punkt uden for lederen.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B05 · Magnetisk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N [1],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vej; ringkerne/længere spole-model.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B06 · Magnetomotorisk kraft Fm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I [A] eller Rm [A/Wb],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Amperevindingstal i magnetkredsmodellen.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B07 · Reluktans Rm [A/Wb]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[m], μ [H/m],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segment; lineær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B08 · Flux Φ [Wb]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N, I [A], Rm [A/Wb]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Lukket lineær 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B09 · Permeabilitet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μr [1], μ0 [H/m] eller B [T],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medium eller sekantværdi ved givet driftspunkt.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B11 · Magnetkredsens areal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normalt på kernens tværsnit.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B12 ·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ved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B13 · Relativ permeabilitet μr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 [H/m], μ0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enhed for absolutte permeabiliteter.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K01 · Kraft på leder |F| [N]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I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ensartet magnetfelt.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2-table-f1" descr="B=\frac{\mu I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383" y="1444752"/>
            <a:ext cx="747232" cy="441655"/>
          </a:xfrm>
          <a:prstGeom prst="rect">
            <a:avLst/>
          </a:prstGeom>
        </p:spPr>
      </p:pic>
      <p:pic>
        <p:nvPicPr>
          <p:cNvPr id="10" name="index-magnetism-2-table-f2" descr="H=\frac{NI}{l}=\frac{F_m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838" y="1959559"/>
            <a:ext cx="1094323" cy="441655"/>
          </a:xfrm>
          <a:prstGeom prst="rect">
            <a:avLst/>
          </a:prstGeom>
        </p:spPr>
      </p:pic>
      <p:pic>
        <p:nvPicPr>
          <p:cNvPr id="11" name="index-magnetism-2-table-f3" descr="F_m=NI=R_m\Ph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905" y="2474366"/>
            <a:ext cx="1880189" cy="441655"/>
          </a:xfrm>
          <a:prstGeom prst="rect">
            <a:avLst/>
          </a:prstGeom>
        </p:spPr>
      </p:pic>
      <p:pic>
        <p:nvPicPr>
          <p:cNvPr id="12" name="index-magnetism-2-table-f4" descr="R_m=\frac{l}{\mu 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6348" y="2989173"/>
            <a:ext cx="809303" cy="441655"/>
          </a:xfrm>
          <a:prstGeom prst="rect">
            <a:avLst/>
          </a:prstGeom>
        </p:spPr>
      </p:pic>
      <p:pic>
        <p:nvPicPr>
          <p:cNvPr id="13" name="index-magnetism-2-table-f5" descr="\Phi=\frac{NI}{R_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867" y="3503980"/>
            <a:ext cx="722264" cy="441655"/>
          </a:xfrm>
          <a:prstGeom prst="rect">
            <a:avLst/>
          </a:prstGeom>
        </p:spPr>
      </p:pic>
      <p:pic>
        <p:nvPicPr>
          <p:cNvPr id="14" name="index-magnetism-2-table-f6" descr="\mu=\mu_0\mu_r=\frac{B}{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6491" y="4018787"/>
            <a:ext cx="1289016" cy="441655"/>
          </a:xfrm>
          <a:prstGeom prst="rect">
            <a:avLst/>
          </a:prstGeom>
        </p:spPr>
      </p:pic>
      <p:pic>
        <p:nvPicPr>
          <p:cNvPr id="15" name="index-magnetism-2-table-f7" descr="A=\frac{\Phi}{B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7190" y="4533595"/>
            <a:ext cx="667618" cy="441655"/>
          </a:xfrm>
          <a:prstGeom prst="rect">
            <a:avLst/>
          </a:prstGeom>
        </p:spPr>
      </p:pic>
      <p:pic>
        <p:nvPicPr>
          <p:cNvPr id="16" name="index-magnetism-2-table-f8" descr="H=\frac{B}{\mu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5502" y="5048402"/>
            <a:ext cx="650994" cy="441655"/>
          </a:xfrm>
          <a:prstGeom prst="rect">
            <a:avLst/>
          </a:prstGeom>
        </p:spPr>
      </p:pic>
      <p:pic>
        <p:nvPicPr>
          <p:cNvPr id="17" name="index-magnetism-2-table-f9" descr="\mu_r=\frac{\mu}{\mu_0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7877" y="5563209"/>
            <a:ext cx="746244" cy="441655"/>
          </a:xfrm>
          <a:prstGeom prst="rect">
            <a:avLst/>
          </a:prstGeom>
        </p:spPr>
      </p:pic>
      <p:pic>
        <p:nvPicPr>
          <p:cNvPr id="18" name="index-magnetism-2-table-f10" descr="|F|=B|I|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9942" y="6078016"/>
            <a:ext cx="1222114" cy="441655"/>
          </a:xfrm>
          <a:prstGeom prst="rect">
            <a:avLst/>
          </a:prstGeom>
        </p:spPr>
      </p:pic>
      <p:sp>
        <p:nvSpPr>
          <p:cNvPr id="19" name="index-magnetism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B04" descr="Åbn B04">
            <a:hlinkClick action="ppaction://hlinksldjump" r:id="rId13" tooltip="Åbn B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B05" descr="Åbn B05">
            <a:hlinkClick action="ppaction://hlinksldjump" r:id="rId13" tooltip="Åbn B05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B06" descr="Åbn B06">
            <a:hlinkClick action="ppaction://hlinksldjump" r:id="rId14" tooltip="Åbn B06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B07" descr="Åbn B07">
            <a:hlinkClick action="ppaction://hlinksldjump" r:id="rId14" tooltip="Åbn B07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B08" descr="Åbn B08">
            <a:hlinkClick action="ppaction://hlinksldjump" r:id="rId14" tooltip="Åbn B08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B09" descr="Åbn B09">
            <a:hlinkClick action="ppaction://hlinksldjump" r:id="rId14" tooltip="Åbn B09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B11" descr="Åbn B11">
            <a:hlinkClick action="ppaction://hlinksldjump" r:id="rId15" tooltip="Åbn B11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2" descr="Åbn B12">
            <a:hlinkClick action="ppaction://hlinksldjump" r:id="rId15" tooltip="Åbn B12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13" descr="Åbn B13">
            <a:hlinkClick action="ppaction://hlinksldjump" r:id="rId15" tooltip="Åbn B13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K01" descr="Åbn K01">
            <a:hlinkClick action="ppaction://hlinksldjump" r:id="rId15" tooltip="Åbn K01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3-table"/>
          <p:cNvGraphicFramePr>
            <a:graphicFrameLocks noGrp="1"/>
          </p:cNvGraphicFramePr>
          <p:nvPr/>
        </p:nvGraphicFramePr>
        <p:xfrm>
          <a:off x="411480" y="1042415"/>
          <a:ext cx="9784079" cy="191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K02 · Aktiv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B [T], |I|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B.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|I|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feltet.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K04 · Kraft mellem ledere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I1, I2 [A], l,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Lange parallelle ledere; a er centerafstand.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3-table-f1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778" y="1444752"/>
            <a:ext cx="598442" cy="441655"/>
          </a:xfrm>
          <a:prstGeom prst="rect">
            <a:avLst/>
          </a:prstGeom>
        </p:spPr>
      </p:pic>
      <p:pic>
        <p:nvPicPr>
          <p:cNvPr id="10" name="index-magnetism-3-table-f2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841" y="1959559"/>
            <a:ext cx="618317" cy="441655"/>
          </a:xfrm>
          <a:prstGeom prst="rect">
            <a:avLst/>
          </a:prstGeom>
        </p:spPr>
      </p:pic>
      <p:pic>
        <p:nvPicPr>
          <p:cNvPr id="11" name="index-magnetism-3-table-f3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598" y="2474366"/>
            <a:ext cx="990803" cy="441655"/>
          </a:xfrm>
          <a:prstGeom prst="rect">
            <a:avLst/>
          </a:prstGeom>
        </p:spPr>
      </p:pic>
      <p:sp>
        <p:nvSpPr>
          <p:cNvPr id="12" name="index-magnetism-3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3" name="nav-entry-K02" descr="Åbn K02">
            <a:hlinkClick action="ppaction://hlinksldjump" r:id="rId6" tooltip="Åbn K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entry-K03" descr="Åbn K03">
            <a:hlinkClick action="ppaction://hlinksldjump" r:id="rId6" tooltip="Åbn K03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K04" descr="Åbn K04">
            <a:hlinkClick action="ppaction://hlinksldjump" r:id="rId6" tooltip="Åbn K04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17" name="nav-next-index" descr="Næste indeks">
            <a:hlinkClick action="ppaction://hlinksldjump" r:id="rId8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Induktion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induction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E01 · Induceret spænding e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ΔΦ [Wb],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Middel-EMK over interval; samme flux gennem hver vinding.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E02 · Øjebliks-EMK e(t)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Φ(t)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Valgt positiv fluxnormal og konsistent omløbsretning.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E03 · Bevægelses-EMK |E|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l [m], v [m/s]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Lige leder; l, v og B står indbyrdes vinkelret.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E05 · Selvinduktions-EMK es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[H], di/dt [A/s]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induktans; induceret modspænding.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E04 · Induktans L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μ [H/m], A [m²],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ensartet spole/magnetkreds;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E06 · Induktans L [H]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es [V], ΔI [A],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strømrampe; tab adskilt fra selvinduktion.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induction-1-table-f1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409" y="1444752"/>
            <a:ext cx="1505181" cy="441655"/>
          </a:xfrm>
          <a:prstGeom prst="rect">
            <a:avLst/>
          </a:prstGeom>
        </p:spPr>
      </p:pic>
      <p:pic>
        <p:nvPicPr>
          <p:cNvPr id="10" name="index-induction-1-table-f2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31" y="1959559"/>
            <a:ext cx="1235137" cy="441655"/>
          </a:xfrm>
          <a:prstGeom prst="rect">
            <a:avLst/>
          </a:prstGeom>
        </p:spPr>
      </p:pic>
      <p:pic>
        <p:nvPicPr>
          <p:cNvPr id="11" name="index-induction-1-table-f3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30" y="2474366"/>
            <a:ext cx="1152538" cy="441655"/>
          </a:xfrm>
          <a:prstGeom prst="rect">
            <a:avLst/>
          </a:prstGeom>
        </p:spPr>
      </p:pic>
      <p:pic>
        <p:nvPicPr>
          <p:cNvPr id="12" name="index-induction-1-table-f4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706" y="2989173"/>
            <a:ext cx="1000586" cy="441655"/>
          </a:xfrm>
          <a:prstGeom prst="rect">
            <a:avLst/>
          </a:prstGeom>
        </p:spPr>
      </p:pic>
      <p:pic>
        <p:nvPicPr>
          <p:cNvPr id="13" name="index-induction-1-table-f5" descr="L=\frac{N^2\mu A}{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6500" y="3503980"/>
            <a:ext cx="788998" cy="441655"/>
          </a:xfrm>
          <a:prstGeom prst="rect">
            <a:avLst/>
          </a:prstGeom>
        </p:spPr>
      </p:pic>
      <p:pic>
        <p:nvPicPr>
          <p:cNvPr id="14" name="index-induction-1-table-f6" descr="L=-\frac{e_s\Delta t}{\Delta I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164" y="4018787"/>
            <a:ext cx="929671" cy="441655"/>
          </a:xfrm>
          <a:prstGeom prst="rect">
            <a:avLst/>
          </a:prstGeom>
        </p:spPr>
      </p:pic>
      <p:sp>
        <p:nvSpPr>
          <p:cNvPr id="15" name="index-induction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E01" descr="Åbn E01">
            <a:hlinkClick action="ppaction://hlinksldjump" r:id="rId9" tooltip="Åbn E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E02" descr="Åbn E02">
            <a:hlinkClick action="ppaction://hlinksldjump" r:id="rId9" tooltip="Åbn E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E03" descr="Åbn E03">
            <a:hlinkClick action="ppaction://hlinksldjump" r:id="rId9" tooltip="Åbn E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E05" descr="Åbn E05">
            <a:hlinkClick action="ppaction://hlinksldjump" r:id="rId9" tooltip="Åbn E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E04" descr="Åbn E04">
            <a:hlinkClick action="ppaction://hlinksldjump" r:id="rId10" tooltip="Åbn E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E06" descr="Åbn E06">
            <a:hlinkClick action="ppaction://hlinksldjump" r:id="rId10" tooltip="Åbn E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Kredsløbsmetoder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ethods-1-table"/>
          <p:cNvGraphicFramePr>
            <a:graphicFrameLocks noGrp="1"/>
          </p:cNvGraphicFramePr>
          <p:nvPr/>
        </p:nvGraphicFramePr>
        <p:xfrm>
          <a:off x="411480" y="1042415"/>
          <a:ext cx="9784079" cy="2424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N02 · Ukendt grenstrøm Ix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Alle øvrige ind- og udstrømme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i én knude; stationær kreds.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U07 · Knudespænding Va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Grenkilder Ek [V], Rk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Fælles knude a og reference 0; kilder + mod a.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N01 · Knudespændinger Va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Topologi, R [Ω], kilder og reference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DC-net; strømmene ud af hver ukendt knude.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N03 · Kontrol af spændinger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Kilders polaritet, I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KVL i lukket DC-sløjfe; kontrol efter KCL-løsning.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ethods-1-table-f1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848" y="1444752"/>
            <a:ext cx="2174302" cy="441655"/>
          </a:xfrm>
          <a:prstGeom prst="rect">
            <a:avLst/>
          </a:prstGeom>
        </p:spPr>
      </p:pic>
      <p:pic>
        <p:nvPicPr>
          <p:cNvPr id="10" name="index-methods-1-table-f2" descr="V_a=\frac{\sum_k E_k/R_k}{\sum_k 1/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270" y="1959559"/>
            <a:ext cx="617459" cy="441655"/>
          </a:xfrm>
          <a:prstGeom prst="rect">
            <a:avLst/>
          </a:prstGeom>
        </p:spPr>
      </p:pic>
      <p:pic>
        <p:nvPicPr>
          <p:cNvPr id="11" name="index-methods-1-table-f3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055" y="2474366"/>
            <a:ext cx="1137888" cy="441655"/>
          </a:xfrm>
          <a:prstGeom prst="rect">
            <a:avLst/>
          </a:prstGeom>
        </p:spPr>
      </p:pic>
      <p:pic>
        <p:nvPicPr>
          <p:cNvPr id="12" name="index-methods-1-table-f4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013" y="2989173"/>
            <a:ext cx="815972" cy="441655"/>
          </a:xfrm>
          <a:prstGeom prst="rect">
            <a:avLst/>
          </a:prstGeom>
        </p:spPr>
      </p:pic>
      <p:sp>
        <p:nvSpPr>
          <p:cNvPr id="13" name="index-methods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4" name="nav-entry-N02" descr="Åbn N02">
            <a:hlinkClick action="ppaction://hlinksldjump" r:id="rId7" tooltip="Åbn N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U07" descr="Åbn U07">
            <a:hlinkClick action="ppaction://hlinksldjump" r:id="rId7" tooltip="Åbn U07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entry-N01" descr="Åbn N01">
            <a:hlinkClick action="ppaction://hlinksldjump" r:id="rId7" tooltip="Åbn N01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N03" descr="Åbn N03">
            <a:hlinkClick action="ppaction://hlinksldjump" r:id="rId7" tooltip="Åbn N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W04 – I03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W04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strøm; ellers sum af delintervaller.</a:t>
            </a:r>
          </a:p>
        </p:txBody>
      </p:sp>
      <p:pic>
        <p:nvPicPr>
          <p:cNvPr id="11" name="W04-formula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958" y="2304288"/>
            <a:ext cx="1413923" cy="603504"/>
          </a:xfrm>
          <a:prstGeom prst="rect">
            <a:avLst/>
          </a:prstGeom>
        </p:spPr>
      </p:pic>
      <p:sp>
        <p:nvSpPr>
          <p:cNvPr id="12" name="W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Antal elementarladninger: Ne = |Q|/e.</a:t>
            </a:r>
            <a:br/>
            <a:r>
              <a:t>ENH.  A·s = C; 1 Ah = 3600 C.</a:t>
            </a:r>
            <a:br/>
            <a:r>
              <a:t>PAS PÅ  Elektroner bevæger sig modsat den konventionelle strøm.</a:t>
            </a:r>
            <a:br/>
            <a:r>
              <a:t>EKS.  50 A·60 s = 3000 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I01 · Søger: 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DC eller konsistente AC-magnituder.</a:t>
            </a:r>
          </a:p>
        </p:txBody>
      </p:sp>
      <p:pic>
        <p:nvPicPr>
          <p:cNvPr id="17" name="I01-formula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335" y="2304288"/>
            <a:ext cx="782449" cy="603504"/>
          </a:xfrm>
          <a:prstGeom prst="rect">
            <a:avLst/>
          </a:prstGeom>
        </p:spPr>
      </p:pic>
      <p:sp>
        <p:nvSpPr>
          <p:cNvPr id="18" name="I01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Indsæt spændingen over netop R.</a:t>
            </a:r>
            <a:br/>
            <a:r>
              <a:t>ENH.  mA → A: ÷ 1000.</a:t>
            </a:r>
            <a:br/>
            <a:r>
              <a:t>PAS PÅ  AC: U og I skal være samtidige værdier eller begge RMS. Brug U over netop R.</a:t>
            </a:r>
            <a:br/>
            <a:r>
              <a:t>EKS.  24 V / 12 Ω = 2 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2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I02 · Søger: Strøm I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P er elektrisk indgangseffekt.</a:t>
            </a:r>
          </a:p>
        </p:txBody>
      </p:sp>
      <p:pic>
        <p:nvPicPr>
          <p:cNvPr id="23" name="I02-formula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956" y="5431536"/>
            <a:ext cx="777927" cy="603504"/>
          </a:xfrm>
          <a:prstGeom prst="rect">
            <a:avLst/>
          </a:prstGeom>
        </p:spPr>
      </p:pic>
      <p:sp>
        <p:nvSpPr>
          <p:cNvPr id="24" name="I02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mekanisk P: find først Pind = Pud/η.</a:t>
            </a:r>
            <a:br/>
            <a:r>
              <a:t>ENH.  kW → W: × 1000.</a:t>
            </a:r>
            <a:br/>
            <a:r>
              <a:t>PAS PÅ  Ved AC mangler kurveform/fase/effektfaktor. Se afgrænsning.</a:t>
            </a:r>
            <a:br/>
            <a:r>
              <a:t>EKS.  200 W / 37,5 V = 5,333 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I03 · Søger: Strømmens størrelse |I|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resistans; P er tabet i R.</a:t>
            </a:r>
          </a:p>
        </p:txBody>
      </p:sp>
      <p:pic>
        <p:nvPicPr>
          <p:cNvPr id="29" name="I03-formula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592" y="5431536"/>
            <a:ext cx="1119935" cy="603504"/>
          </a:xfrm>
          <a:prstGeom prst="rect">
            <a:avLst/>
          </a:prstGeom>
        </p:spPr>
      </p:pic>
      <p:sp>
        <p:nvSpPr>
          <p:cNvPr id="30" name="I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retningen særskilt.</a:t>
            </a:r>
            <a:br/>
            <a:r>
              <a:t>ENH.  R i Ω; P i W.</a:t>
            </a:r>
            <a:br/>
            <a:r>
              <a:t>PAS PÅ  Kvadratroden giver størrelse, ikke retning.</a:t>
            </a:r>
            <a:br/>
            <a:r>
              <a:t>EKS.  √(150/0,96) = 12,5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I04 – I07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I04 · Søger: Middelstrøm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Netto passeret ladning i valgt interval.</a:t>
            </a:r>
          </a:p>
        </p:txBody>
      </p:sp>
      <p:pic>
        <p:nvPicPr>
          <p:cNvPr id="11" name="I04-formula" descr="I_{\mathrm{middel}}=\frac{Q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384" y="2304288"/>
            <a:ext cx="1427070" cy="603504"/>
          </a:xfrm>
          <a:prstGeom prst="rect">
            <a:avLst/>
          </a:prstGeom>
        </p:spPr>
      </p:pic>
      <p:sp>
        <p:nvSpPr>
          <p:cNvPr id="12" name="I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konstant strøm er middel = øjebliksværdi.</a:t>
            </a:r>
            <a:br/>
            <a:r>
              <a:t>ENH.  min → s: × 60.</a:t>
            </a:r>
            <a:br/>
            <a:r>
              <a:t>PAS PÅ  Strøm og energi er forskellige; ladning bruges ikke op.</a:t>
            </a:r>
            <a:br/>
            <a:r>
              <a:t>EKS.  2 C / 1 s = 2 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I05 · Søger: Kildestrøm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ri [Ω],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DC-kilde med intern serie-modstand.</a:t>
            </a:r>
          </a:p>
        </p:txBody>
      </p:sp>
      <p:pic>
        <p:nvPicPr>
          <p:cNvPr id="17" name="I05-formula" descr="I=\frac{E}{r_i+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111" y="2304288"/>
            <a:ext cx="1072896" cy="603504"/>
          </a:xfrm>
          <a:prstGeom prst="rect">
            <a:avLst/>
          </a:prstGeom>
        </p:spPr>
      </p:pic>
      <p:sp>
        <p:nvSpPr>
          <p:cNvPr id="18" name="I05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først hele seriens modstand.</a:t>
            </a:r>
            <a:br/>
            <a:r>
              <a:t>ENH.  Alle modstande i Ω.</a:t>
            </a:r>
            <a:br/>
            <a:r>
              <a:t>PAS PÅ  Ukl er mindre end E ved afladning.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6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I06 · Søger: Grenstrøm Ik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Ugren [V], Rk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Parallelgrene har samme knudespænding.</a:t>
            </a:r>
          </a:p>
        </p:txBody>
      </p:sp>
      <p:pic>
        <p:nvPicPr>
          <p:cNvPr id="23" name="I06-formula" descr="I_k=\frac{U_{\mathrm{gren}}}{R_k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534" y="5431536"/>
            <a:ext cx="1050770" cy="603504"/>
          </a:xfrm>
          <a:prstGeom prst="rect">
            <a:avLst/>
          </a:prstGeom>
        </p:spPr>
      </p:pic>
      <p:sp>
        <p:nvSpPr>
          <p:cNvPr id="24" name="I06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Ugren med knudepunktsmetoden ved flere kilder.</a:t>
            </a:r>
            <a:br/>
            <a:r>
              <a:t>ENH.  kΩ → Ω: × 1000.</a:t>
            </a:r>
            <a:br/>
            <a:r>
              <a:t>PAS PÅ  Alle grene er ikke nødvendigvis over hele kildespændingen.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7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I07 · Søger: Grenstrøm I1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Itotal [A], R1, R2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parallelle ohmske modstande.</a:t>
            </a:r>
          </a:p>
        </p:txBody>
      </p:sp>
      <p:pic>
        <p:nvPicPr>
          <p:cNvPr id="29" name="I07-formula" descr="I_1=I_{\mathrm{total}}\frac{R_2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269" y="5431536"/>
            <a:ext cx="1778580" cy="603504"/>
          </a:xfrm>
          <a:prstGeom prst="rect">
            <a:avLst/>
          </a:prstGeom>
        </p:spPr>
      </p:pic>
      <p:sp>
        <p:nvSpPr>
          <p:cNvPr id="30" name="I07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grene: Ik = Itotal·Gk/ΣG.</a:t>
            </a:r>
            <a:br/>
            <a:r>
              <a:t>ENH.  Samme modstandsenhed i forholdet.</a:t>
            </a:r>
            <a:br/>
            <a:r>
              <a:t>PAS PÅ  Den modsatte modstand står i tælleren.</a:t>
            </a:r>
            <a:br/>
            <a:r>
              <a:t>EKS.  6 A·20/(10+20) = 4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B10 – 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0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B10 · Søger: Viklingsstrøm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l [m], N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Magnetisk vej/spole-model som B05.</a:t>
            </a:r>
          </a:p>
        </p:txBody>
      </p:sp>
      <p:pic>
        <p:nvPicPr>
          <p:cNvPr id="11" name="B10-formula" descr="I=\frac{Hl}{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2" y="2304288"/>
            <a:ext cx="824214" cy="603504"/>
          </a:xfrm>
          <a:prstGeom prst="rect">
            <a:avLst/>
          </a:prstGeom>
        </p:spPr>
      </p:pic>
      <p:sp>
        <p:nvSpPr>
          <p:cNvPr id="12" name="B10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B ønskes i jern: aflæs H fra B(H)-kurven først.</a:t>
            </a:r>
            <a:br/>
            <a:r>
              <a:t>ENH.  l i m; H i A/m.</a:t>
            </a:r>
            <a:br/>
            <a:r>
              <a:t>PAS PÅ  Aflæs ved relevant materiale og magnetiseringstilstand.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back-index" descr="Til indeks">
            <a:hlinkClick action="ppaction://hlinksldjump" r:id="rId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15" name="nav-back-start" descr="Til start">
            <a:hlinkClick action="ppaction://hlinksldjump" r:id="rId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U01 – U04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U01 · Søger: Spænding U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belastning; U følger valgt polaritet.</a:t>
            </a:r>
          </a:p>
        </p:txBody>
      </p:sp>
      <p:pic>
        <p:nvPicPr>
          <p:cNvPr id="11" name="U01-formula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06" y="2304288"/>
            <a:ext cx="1254426" cy="603504"/>
          </a:xfrm>
          <a:prstGeom prst="rect">
            <a:avLst/>
          </a:prstGeom>
        </p:spPr>
      </p:pic>
      <p:sp>
        <p:nvSpPr>
          <p:cNvPr id="12" name="U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Strømpil ind i + på R giver positivt spændingsfald.</a:t>
            </a:r>
            <a:br/>
            <a:r>
              <a:t>ENH.  mA → A: ÷ 1000.</a:t>
            </a:r>
            <a:br/>
            <a:r>
              <a:t>PAS PÅ  Et negativt resultat vender valgt polaritet.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U02 · Søger: Spænding U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samme komponent for P og I.</a:t>
            </a:r>
          </a:p>
        </p:txBody>
      </p:sp>
      <p:pic>
        <p:nvPicPr>
          <p:cNvPr id="17" name="U02-formula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721" y="2304288"/>
            <a:ext cx="873677" cy="603504"/>
          </a:xfrm>
          <a:prstGeom prst="rect">
            <a:avLst/>
          </a:prstGeom>
        </p:spPr>
      </p:pic>
      <p:sp>
        <p:nvSpPr>
          <p:cNvPr id="18" name="U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I ≠ 0.</a:t>
            </a:r>
            <a:br/>
            <a:r>
              <a:t>ENH.  W og A.</a:t>
            </a:r>
            <a:br/>
            <a:r>
              <a:t>PAS PÅ  Mekanisk udgangseffekt kan ikke indsættes direkte.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U03 · Søger: Spændingens størrelse |U|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Effekt afsat i ohmsk R.</a:t>
            </a:r>
          </a:p>
        </p:txBody>
      </p:sp>
      <p:pic>
        <p:nvPicPr>
          <p:cNvPr id="23" name="U03-formula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667" y="5431536"/>
            <a:ext cx="1510504" cy="603504"/>
          </a:xfrm>
          <a:prstGeom prst="rect">
            <a:avLst/>
          </a:prstGeom>
        </p:spPr>
      </p:pic>
      <p:sp>
        <p:nvSpPr>
          <p:cNvPr id="24" name="U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Polariteten vælges separat.</a:t>
            </a:r>
            <a:br/>
            <a:r>
              <a:t>ENH.  P i W; R i Ω.</a:t>
            </a:r>
            <a:br/>
            <a:r>
              <a:t>PAS PÅ  Kvadratroden giver størrelse.</a:t>
            </a:r>
            <a:br/>
            <a:r>
              <a:t>EKS.  √(57,6·10) = 24 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U04 · Søger: Potentialforskel U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Q [C]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Elektrisk energi overført pr. ladning.</a:t>
            </a:r>
          </a:p>
        </p:txBody>
      </p:sp>
      <p:pic>
        <p:nvPicPr>
          <p:cNvPr id="29" name="U04-formula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3579" y="5431536"/>
            <a:ext cx="911961" cy="603504"/>
          </a:xfrm>
          <a:prstGeom prst="rect">
            <a:avLst/>
          </a:prstGeom>
        </p:spPr>
      </p:pic>
      <p:sp>
        <p:nvSpPr>
          <p:cNvPr id="30" name="U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W for elektrisk arbejde mellem de valgte punkter.</a:t>
            </a:r>
            <a:br/>
            <a:r>
              <a:t>ENH.  1 J/C = 1 V.</a:t>
            </a:r>
            <a:br/>
            <a:r>
              <a:t>PAS PÅ  W er her energi, ikke enhedssymbolet watt.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U05 – U06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U05 · Søger: Klemspænding Ukl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I [A], ri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Afladning; I ud af kildens pluspol.</a:t>
            </a:r>
          </a:p>
        </p:txBody>
      </p:sp>
      <p:pic>
        <p:nvPicPr>
          <p:cNvPr id="11" name="U05-formula" descr="U_{\mathrm{kl}}=E-I r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963" y="2304288"/>
            <a:ext cx="2051913" cy="603504"/>
          </a:xfrm>
          <a:prstGeom prst="rect">
            <a:avLst/>
          </a:prstGeom>
        </p:spPr>
      </p:pic>
      <p:sp>
        <p:nvSpPr>
          <p:cNvPr id="12" name="U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Beregn internt fald I·ri først.</a:t>
            </a:r>
            <a:br/>
            <a:r>
              <a:t>ENH.  A og Ω.</a:t>
            </a:r>
            <a:br/>
            <a:r>
              <a:t>PAS PÅ  Ved opladning med samme positive I: Ukl = E + I·ri.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U06 · Søger: Delspænding U1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R1, R2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serie-R; midtpunktet er ubelastet.</a:t>
            </a:r>
          </a:p>
        </p:txBody>
      </p:sp>
      <p:pic>
        <p:nvPicPr>
          <p:cNvPr id="17" name="U06-formula" descr="U_1=U\frac{R_1}{R_1+R_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274" y="2304288"/>
            <a:ext cx="1596571" cy="603504"/>
          </a:xfrm>
          <a:prstGeom prst="rect">
            <a:avLst/>
          </a:prstGeom>
        </p:spPr>
      </p:pic>
      <p:sp>
        <p:nvSpPr>
          <p:cNvPr id="18" name="U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last: erstat belastet R med dens parallelkombination.</a:t>
            </a:r>
            <a:br/>
            <a:r>
              <a:t>ENH.  Samme enhed for R1 og R2.</a:t>
            </a:r>
            <a:br/>
            <a:r>
              <a:t>PAS PÅ  En tilsluttet last ændrer spændingsdelingen.</a:t>
            </a:r>
            <a:br/>
            <a:r>
              <a:t>EKS.  24·100/(100+200) = 8 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R01 – 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R01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 ved den aktuelle temperatur.</a:t>
            </a:r>
          </a:p>
        </p:txBody>
      </p:sp>
      <p:pic>
        <p:nvPicPr>
          <p:cNvPr id="11" name="R01-formula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063" y="2304288"/>
            <a:ext cx="887712" cy="603504"/>
          </a:xfrm>
          <a:prstGeom prst="rect">
            <a:avLst/>
          </a:prstGeom>
        </p:spPr>
      </p:pic>
      <p:sp>
        <p:nvSpPr>
          <p:cNvPr id="12" name="R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U og I skal høre til samme komponent.</a:t>
            </a:r>
            <a:br/>
            <a:r>
              <a:t>ENH.  mA → A: ÷ 1000.</a:t>
            </a:r>
            <a:br/>
            <a:r>
              <a:t>PAS PÅ  R er komponentens modstand; ρ er materialets resistivitet.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R02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P er dens afsatte effekt.</a:t>
            </a:r>
          </a:p>
        </p:txBody>
      </p:sp>
      <p:pic>
        <p:nvPicPr>
          <p:cNvPr id="17" name="R02-formula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771" y="2304288"/>
            <a:ext cx="863577" cy="603504"/>
          </a:xfrm>
          <a:prstGeom prst="rect">
            <a:avLst/>
          </a:prstGeom>
        </p:spPr>
      </p:pic>
      <p:sp>
        <p:nvSpPr>
          <p:cNvPr id="18" name="R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Kvadrér I efter enhedsomregning.</a:t>
            </a:r>
            <a:br/>
            <a:r>
              <a:t>ENH.  A, ikke mA.</a:t>
            </a:r>
            <a:br/>
            <a:r>
              <a:t>PAS PÅ  Et mA-tal uden omregning giver fejl på faktor 10⁶.</a:t>
            </a:r>
            <a:br/>
            <a:r>
              <a:t>EKS.  24/2² = 6 Ω.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R03 · Søger: Resistans R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U måles over R.</a:t>
            </a:r>
          </a:p>
        </p:txBody>
      </p:sp>
      <p:pic>
        <p:nvPicPr>
          <p:cNvPr id="23" name="R03-formula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119" y="5431536"/>
            <a:ext cx="943600" cy="603504"/>
          </a:xfrm>
          <a:prstGeom prst="rect">
            <a:avLst/>
          </a:prstGeom>
        </p:spPr>
      </p:pic>
      <p:sp>
        <p:nvSpPr>
          <p:cNvPr id="24" name="R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skal være tabet i den samme R.</a:t>
            </a:r>
            <a:br/>
            <a:r>
              <a:t>ENH.  V og W.</a:t>
            </a:r>
            <a:br/>
            <a:r>
              <a:t>PAS PÅ  Gælder ikke motorens mekaniske udgangseffekt.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R04 · Søger: Ledermodstand R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S [mm²]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ρ ved relevant temperatur.</a:t>
            </a:r>
          </a:p>
        </p:txBody>
      </p:sp>
      <p:pic>
        <p:nvPicPr>
          <p:cNvPr id="29" name="R04-formula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230" y="5431536"/>
            <a:ext cx="1012659" cy="603504"/>
          </a:xfrm>
          <a:prstGeom prst="rect">
            <a:avLst/>
          </a:prstGeom>
        </p:spPr>
      </p:pic>
      <p:sp>
        <p:nvSpPr>
          <p:cNvPr id="30" name="R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2·l ved identiske frem- og returledere.</a:t>
            </a:r>
            <a:br/>
            <a:r>
              <a:t>ENH.  Med ρ [Ω·m] skal S være i m².</a:t>
            </a:r>
            <a:br/>
            <a:r>
              <a:t>PAS PÅ  Et 4×10 mm²-kabel har fire ledere; én leder har S = 10 mm².</a:t>
            </a:r>
            <a:br/>
            <a:r>
              <a:t>EKS.  Cu: 0,0175·300/10 = 0,525 Ω pr. leder.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R05 – 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R05 · Søger: Varm modstand RT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metalmodel; α hører til referencen t.</a:t>
            </a:r>
          </a:p>
        </p:txBody>
      </p:sp>
      <p:pic>
        <p:nvPicPr>
          <p:cNvPr id="11" name="R05-formula" descr="R_T=R_t[1+\alpha_t(T-t)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08" y="2304288"/>
            <a:ext cx="3502023" cy="603504"/>
          </a:xfrm>
          <a:prstGeom prst="rect">
            <a:avLst/>
          </a:prstGeom>
        </p:spPr>
      </p:pic>
      <p:sp>
        <p:nvSpPr>
          <p:cNvPr id="12" name="R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t = 20 °C bruges α20 fra materialetabellen.</a:t>
            </a:r>
            <a:br/>
            <a:r>
              <a:t>ENH.  Temperaturforskel: 1 °C = 1 K.</a:t>
            </a:r>
            <a:br/>
            <a:r>
              <a:t>PAS PÅ  Ikke en generel model for NTC/PTC eller stor temperaturændring.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R06 · Søger: Kold modstand Rt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lineære model og reference som R05.</a:t>
            </a:r>
          </a:p>
        </p:txBody>
      </p:sp>
      <p:pic>
        <p:nvPicPr>
          <p:cNvPr id="17" name="R06-formula" descr="R_t=\frac{R_T}{1+\alpha_t(T-t)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220" y="2304288"/>
            <a:ext cx="1734679" cy="603504"/>
          </a:xfrm>
          <a:prstGeom prst="rect">
            <a:avLst/>
          </a:prstGeom>
        </p:spPr>
      </p:pic>
      <p:sp>
        <p:nvSpPr>
          <p:cNvPr id="18" name="R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nævneren og referencetemperaturen.</a:t>
            </a:r>
            <a:br/>
            <a:r>
              <a:t>ENH.  Forskel i K eller °C.</a:t>
            </a:r>
            <a:br/>
            <a:r>
              <a:t>PAS PÅ  Brug ikke α20 ukritisk med reference 0 °C.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R07 · Søger: Seriemodstand Rs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strømvej; samme strøm i alle R.</a:t>
            </a:r>
          </a:p>
        </p:txBody>
      </p:sp>
      <p:pic>
        <p:nvPicPr>
          <p:cNvPr id="23" name="R07-formula" descr="R_s=\sum_{k=1}^{n}R_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861" y="5431536"/>
            <a:ext cx="1038116" cy="603504"/>
          </a:xfrm>
          <a:prstGeom prst="rect">
            <a:avLst/>
          </a:prstGeom>
        </p:spPr>
      </p:pic>
      <p:sp>
        <p:nvSpPr>
          <p:cNvPr id="24" name="R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Spændinger og effekter summeres også.</a:t>
            </a:r>
            <a:br/>
            <a:r>
              <a:t>ENH.  Alle R i samme enhed.</a:t>
            </a:r>
            <a:br/>
            <a:r>
              <a:t>PAS PÅ  R i separate strømveje er ikke i serie.</a:t>
            </a:r>
            <a:br/>
            <a:r>
              <a:t>EKS.  200+160+140 = 500 Ω.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8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R08 · Søger: Parallelmodstand Rp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Alle R mellem de samme to knuder.</a:t>
            </a:r>
          </a:p>
        </p:txBody>
      </p:sp>
      <p:pic>
        <p:nvPicPr>
          <p:cNvPr id="29" name="R08-formula" descr="R_p=\left(\sum_{k=1}^{n}\frac{1}{R_k}\right)^{-1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217" y="5431536"/>
            <a:ext cx="1418684" cy="603504"/>
          </a:xfrm>
          <a:prstGeom prst="rect">
            <a:avLst/>
          </a:prstGeom>
        </p:spPr>
      </p:pic>
      <p:sp>
        <p:nvSpPr>
          <p:cNvPr id="30" name="R08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To R: Rp = R1·R2/(R1+R2).</a:t>
            </a:r>
            <a:br/>
            <a:r>
              <a:t>ENH.  Alle R i samme enhed.</a:t>
            </a:r>
            <a:br/>
            <a:r>
              <a:t>PAS PÅ  Rp skal være mindre end mindste R.</a:t>
            </a:r>
            <a:br/>
            <a:r>
              <a:t>EKS.  125 || 100 || 40 = 23,256 Ω.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R09 – G04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R09 · Søger: Indre modstand ri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Ukl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Belastet DC-kilde; afladning.</a:t>
            </a:r>
          </a:p>
        </p:txBody>
      </p:sp>
      <p:pic>
        <p:nvPicPr>
          <p:cNvPr id="11" name="R09-formula" descr="r_i=\frac{E-U_{\mathrm{kl}}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73" y="2304288"/>
            <a:ext cx="1273693" cy="603504"/>
          </a:xfrm>
          <a:prstGeom prst="rect">
            <a:avLst/>
          </a:prstGeom>
        </p:spPr>
      </p:pic>
      <p:sp>
        <p:nvSpPr>
          <p:cNvPr id="12" name="R09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E findes ved tomgang I = 0.</a:t>
            </a:r>
            <a:br/>
            <a:r>
              <a:t>ENH.  V og A.</a:t>
            </a:r>
            <a:br/>
            <a:r>
              <a:t>PAS PÅ  Målingerne skal være ved samme kildetilstand.</a:t>
            </a:r>
            <a:br/>
            <a:r>
              <a:t>EKS.  (12,4−11,2)/6 = 0,2 Ω.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1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R10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komponent.</a:t>
            </a:r>
          </a:p>
        </p:txBody>
      </p:sp>
      <p:pic>
        <p:nvPicPr>
          <p:cNvPr id="17" name="R10-formula" descr="R=\frac{1}{G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603" y="2304288"/>
            <a:ext cx="887913" cy="603504"/>
          </a:xfrm>
          <a:prstGeom prst="rect">
            <a:avLst/>
          </a:prstGeom>
        </p:spPr>
      </p:pic>
      <p:sp>
        <p:nvSpPr>
          <p:cNvPr id="18" name="R10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en leder: G = γ·S/l først.</a:t>
            </a:r>
            <a:br/>
            <a:r>
              <a:t>ENH.  mS → S: ÷ 1000.</a:t>
            </a:r>
            <a:br/>
            <a:r>
              <a:t>PAS PÅ  Specifik γ og komponentens G er forskellige.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G03 · Søger: Resistivitet 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l [m], S [mm²]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 ved kendt temperatur.</a:t>
            </a:r>
          </a:p>
        </p:txBody>
      </p:sp>
      <p:pic>
        <p:nvPicPr>
          <p:cNvPr id="23" name="G03-formula" descr="\rho=\frac{R S}{l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91" y="5431536"/>
            <a:ext cx="980257" cy="603504"/>
          </a:xfrm>
          <a:prstGeom prst="rect">
            <a:avLst/>
          </a:prstGeom>
        </p:spPr>
      </p:pic>
      <p:sp>
        <p:nvSpPr>
          <p:cNvPr id="24" name="G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enten mm²-systemet eller SI konsekvent.</a:t>
            </a:r>
            <a:br/>
            <a:r>
              <a:t>ENH.  S i mm² giver ρ i Ω·mm²/m.</a:t>
            </a:r>
            <a:br/>
            <a:r>
              <a:t>PAS PÅ  Materialeværdi, ikke hele lederens modstand.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G04 · Søger: Tværsnit S [mm²]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kendt materialeværdi.</a:t>
            </a:r>
          </a:p>
        </p:txBody>
      </p:sp>
      <p:pic>
        <p:nvPicPr>
          <p:cNvPr id="29" name="G04-formula" descr="S=\rho\frac{l}{R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968" y="5431536"/>
            <a:ext cx="1023182" cy="603504"/>
          </a:xfrm>
          <a:prstGeom prst="rect">
            <a:avLst/>
          </a:prstGeom>
        </p:spPr>
      </p:pic>
      <p:sp>
        <p:nvSpPr>
          <p:cNvPr id="30" name="G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rund leder: S = π·d²/4.</a:t>
            </a:r>
            <a:br/>
            <a:r>
              <a:t>ENH.  Med SI-ρ fås S i m².</a:t>
            </a:r>
            <a:br/>
            <a:r>
              <a:t>PAS PÅ  Radius og diameter giver forskellige arealformler.</a:t>
            </a:r>
            <a:br/>
            <a:r>
              <a:t>EKS.  Al: 0,029·500/0,740 = 19,595 mm².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G05 – G02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G05 · Søger: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S [mm²], ρ [Ω·mm²/m]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leder.</a:t>
            </a:r>
          </a:p>
        </p:txBody>
      </p:sp>
      <p:pic>
        <p:nvPicPr>
          <p:cNvPr id="11" name="G05-formula" descr="l=\frac{R S}{\rho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948" y="2304288"/>
            <a:ext cx="875942" cy="603504"/>
          </a:xfrm>
          <a:prstGeom prst="rect">
            <a:avLst/>
          </a:prstGeom>
        </p:spPr>
      </p:pic>
      <p:sp>
        <p:nvSpPr>
          <p:cNvPr id="12" name="G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Afklar om R er én leder eller en hel sløjfe.</a:t>
            </a:r>
            <a:br/>
            <a:r>
              <a:t>ENH.  mΩ → Ω: ÷ 1000.</a:t>
            </a:r>
            <a:br/>
            <a:r>
              <a:t>PAS PÅ  Sløjfens samlede længde er frem + retur.</a:t>
            </a:r>
            <a:br/>
            <a:r>
              <a:t>EKS.  Cu: 0,080·10/0,0175 = 45,714 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G06 · Søger: Temperaturstigning ΔT [K]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RT, Rt [Ω], αt [K⁻¹]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 med kendt t.</a:t>
            </a:r>
          </a:p>
        </p:txBody>
      </p:sp>
      <p:pic>
        <p:nvPicPr>
          <p:cNvPr id="17" name="G06-formula" descr="\Delta T=\frac{R_T-R_t}{R_t\alpha_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304288"/>
            <a:ext cx="1408176" cy="603504"/>
          </a:xfrm>
          <a:prstGeom prst="rect">
            <a:avLst/>
          </a:prstGeom>
        </p:spPr>
      </p:pic>
      <p:sp>
        <p:nvSpPr>
          <p:cNvPr id="18" name="G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Den endelige temperatur er T = t + ΔT.</a:t>
            </a:r>
            <a:br/>
            <a:r>
              <a:t>ENH.  ΔT i K har samme talværdi som °C.</a:t>
            </a:r>
            <a:br/>
            <a:r>
              <a:t>PAS PÅ  En stigning på 32,7 K fra 20 °C giver 52,7 °C.</a:t>
            </a:r>
            <a:br/>
            <a:r>
              <a:t>EKS.  (475−420)/(420·0,004) = 32,738 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1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G01 · Søger: Konduktans G [S]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 eller I [A],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ohmske komponent.</a:t>
            </a:r>
          </a:p>
        </p:txBody>
      </p:sp>
      <p:pic>
        <p:nvPicPr>
          <p:cNvPr id="23" name="G01-formula" descr="G=\frac{1}{R}=\frac{I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227" y="5431536"/>
            <a:ext cx="1395384" cy="603504"/>
          </a:xfrm>
          <a:prstGeom prst="rect">
            <a:avLst/>
          </a:prstGeom>
        </p:spPr>
      </p:pic>
      <p:sp>
        <p:nvSpPr>
          <p:cNvPr id="24" name="G01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 = γ·S/l for en ensartet leder.</a:t>
            </a:r>
            <a:br/>
            <a:r>
              <a:t>ENH.  1 S = 1/Ω.</a:t>
            </a:r>
            <a:br/>
            <a:r>
              <a:t>PAS PÅ  G [S] og tværsnit S [mm²] er forskellige størrelser.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2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G02 · Søger: Specifik ledningsevne 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i kendt enhed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Materialeværdi ved samme temperatur.</a:t>
            </a:r>
          </a:p>
        </p:txBody>
      </p:sp>
      <p:pic>
        <p:nvPicPr>
          <p:cNvPr id="29" name="G02-formula" descr="\gamma=\frac{1}{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944" y="5431536"/>
            <a:ext cx="837230" cy="603504"/>
          </a:xfrm>
          <a:prstGeom prst="rect">
            <a:avLst/>
          </a:prstGeom>
        </p:spPr>
      </p:pic>
      <p:sp>
        <p:nvSpPr>
          <p:cNvPr id="30" name="G02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SI: γ [S/m]. Med ρ i Ω·mm²/m: γ [m/(Ω·mm²)].</a:t>
            </a:r>
            <a:br/>
            <a:r>
              <a:t>ENH.  Omregn ρ først ved skift til SI.</a:t>
            </a:r>
            <a:br/>
            <a:r>
              <a:t>PAS PÅ  Konduktans G afhænger også af geometri.</a:t>
            </a:r>
            <a:br/>
            <a:r>
              <a:t>EKS.  Al: 1/0,029 = 34,483 m/(Ω·mm²).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P01 – P04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P01 · Søger: Elektrisk 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forbrugerens pluspol mod strømpilen.</a:t>
            </a:r>
          </a:p>
        </p:txBody>
      </p:sp>
      <p:pic>
        <p:nvPicPr>
          <p:cNvPr id="11" name="P01-formula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794" y="2304288"/>
            <a:ext cx="1224250" cy="603504"/>
          </a:xfrm>
          <a:prstGeom prst="rect">
            <a:avLst/>
          </a:prstGeom>
        </p:spPr>
      </p:pic>
      <p:sp>
        <p:nvSpPr>
          <p:cNvPr id="12" name="P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&gt; 0 er optaget effekt ved passiv fortegnskonvention.</a:t>
            </a:r>
            <a:br/>
            <a:r>
              <a:t>ENH.  kV·A = kW; V·A = W i DC.</a:t>
            </a:r>
            <a:br/>
            <a:r>
              <a:t>PAS PÅ  AC kræver en særskilt model; P = UI er ikke generelt aktiv AC-effekt.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P02 · Søger: Varmeeffekt P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 ved aktuel temperatur.</a:t>
            </a:r>
          </a:p>
        </p:txBody>
      </p:sp>
      <p:pic>
        <p:nvPicPr>
          <p:cNvPr id="17" name="P02-formula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7" y="2304288"/>
            <a:ext cx="1366505" cy="603504"/>
          </a:xfrm>
          <a:prstGeom prst="rect">
            <a:avLst/>
          </a:prstGeom>
        </p:spPr>
      </p:pic>
      <p:sp>
        <p:nvSpPr>
          <p:cNvPr id="18" name="P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samme R som strømmen løber i.</a:t>
            </a:r>
            <a:br/>
            <a:r>
              <a:t>ENH.  A og Ω.</a:t>
            </a:r>
            <a:br/>
            <a:r>
              <a:t>PAS PÅ  P er energioverførsel pr. tid; strøm bruges ikke op.</a:t>
            </a:r>
            <a:br/>
            <a:r>
              <a:t>EKS.  2²·7 = 28 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P03 · Søger: Varmeeffekt P 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U er spændingen over ohmsk R.</a:t>
            </a:r>
          </a:p>
        </p:txBody>
      </p:sp>
      <p:pic>
        <p:nvPicPr>
          <p:cNvPr id="23" name="P03-formula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7" y="5431536"/>
            <a:ext cx="916925" cy="603504"/>
          </a:xfrm>
          <a:prstGeom prst="rect">
            <a:avLst/>
          </a:prstGeom>
        </p:spPr>
      </p:pic>
      <p:sp>
        <p:nvSpPr>
          <p:cNvPr id="24" name="P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Omregn R før indsættelse.</a:t>
            </a:r>
            <a:br/>
            <a:r>
              <a:t>ENH.  kΩ → Ω: × 1000.</a:t>
            </a:r>
            <a:br/>
            <a:r>
              <a:t>PAS PÅ  U over en hel serie er ikke U over hver modstand.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P04 · Søger: Middel-effekt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Δt [s]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Energi/arbejde omsat i et interval.</a:t>
            </a:r>
          </a:p>
        </p:txBody>
      </p:sp>
      <p:pic>
        <p:nvPicPr>
          <p:cNvPr id="29" name="P04-formula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432" y="5431536"/>
            <a:ext cx="1564254" cy="603504"/>
          </a:xfrm>
          <a:prstGeom prst="rect">
            <a:avLst/>
          </a:prstGeom>
        </p:spPr>
      </p:pic>
      <p:sp>
        <p:nvSpPr>
          <p:cNvPr id="30" name="P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er konstant kun hvis forløbet er stationært.</a:t>
            </a:r>
            <a:br/>
            <a:r>
              <a:t>ENH.  kJ → J: × 1000; min → s: × 60.</a:t>
            </a:r>
            <a:br/>
            <a:r>
              <a:t>PAS PÅ  kWh/h giver kW, ikke W.</a:t>
            </a:r>
            <a:br/>
            <a:r>
              <a:t>EKS.  117 kJ / 120 s = 975 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P05 – P08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P05 · Søger: Afgiven effekt Pud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η [1], Pind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maskine og driftspunkt.</a:t>
            </a:r>
          </a:p>
        </p:txBody>
      </p:sp>
      <p:pic>
        <p:nvPicPr>
          <p:cNvPr id="11" name="P05-formula" descr="P_{\mathrm{ud}}=\eta P_{\mathrm{in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663" y="2304288"/>
            <a:ext cx="1912512" cy="603504"/>
          </a:xfrm>
          <a:prstGeom prst="rect">
            <a:avLst/>
          </a:prstGeom>
        </p:spPr>
      </p:pic>
      <p:sp>
        <p:nvSpPr>
          <p:cNvPr id="12" name="P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Omvendt: Pind = Pud/η.</a:t>
            </a:r>
            <a:br/>
            <a:r>
              <a:t>ENH.  85 % → η = 0,85.</a:t>
            </a:r>
            <a:br/>
            <a:r>
              <a:t>PAS PÅ  Kaskade: ηtotal er produktet af virkningsgraderne.</a:t>
            </a:r>
            <a:br/>
            <a:r>
              <a:t>EKS.  0,85·1000 = 850 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P06 · Søger: Effekttab Ptab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Pind, Pud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energibalance.</a:t>
            </a:r>
          </a:p>
        </p:txBody>
      </p:sp>
      <p:pic>
        <p:nvPicPr>
          <p:cNvPr id="17" name="P06-formula" descr="P_{\mathrm{tab}}=P_{\mathrm{ind}}-P_{\mathrm{u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520" y="2304288"/>
            <a:ext cx="2720078" cy="603504"/>
          </a:xfrm>
          <a:prstGeom prst="rect">
            <a:avLst/>
          </a:prstGeom>
        </p:spPr>
      </p:pic>
      <p:sp>
        <p:nvSpPr>
          <p:cNvPr id="18" name="P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Ohmsk ledningstab kan findes som I²·Rledning.</a:t>
            </a:r>
            <a:br/>
            <a:r>
              <a:t>ENH.  Begge effekter i samme enhed.</a:t>
            </a:r>
            <a:br/>
            <a:r>
              <a:t>PAS PÅ  Effekter skal høre til samme afgrænsning; energi forsvinder ikke.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P07 · Søger: Virkningsgrad η 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Pud, Pind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drift; eller samme energiperiode.</a:t>
            </a:r>
          </a:p>
        </p:txBody>
      </p:sp>
      <p:pic>
        <p:nvPicPr>
          <p:cNvPr id="23" name="P07-formula" descr="\eta=\frac{P_{\mathrm{ud}}}{P_{\mathrm{ind}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881" y="5431536"/>
            <a:ext cx="956077" cy="603504"/>
          </a:xfrm>
          <a:prstGeom prst="rect">
            <a:avLst/>
          </a:prstGeom>
        </p:spPr>
      </p:pic>
      <p:sp>
        <p:nvSpPr>
          <p:cNvPr id="24" name="P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energier: η = Wud/Wind.</a:t>
            </a:r>
            <a:br/>
            <a:r>
              <a:t>ENH.  Gang med 100 for procent.</a:t>
            </a:r>
            <a:br/>
            <a:r>
              <a:t>PAS PÅ  Måleperioder og systemgrænser skal være 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8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P08 · Søger: Mekanisk 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ω [rad/s] eller n [rpm]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Rotation; n er omdrejninger pr. minut i sidste udtryk.</a:t>
            </a:r>
          </a:p>
        </p:txBody>
      </p:sp>
      <p:pic>
        <p:nvPicPr>
          <p:cNvPr id="29" name="P08-formula" descr="P=M\omega=M\frac{2\pi n}{6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154" y="5431536"/>
            <a:ext cx="2058810" cy="603504"/>
          </a:xfrm>
          <a:prstGeom prst="rect">
            <a:avLst/>
          </a:prstGeom>
        </p:spPr>
      </p:pic>
      <p:sp>
        <p:nvSpPr>
          <p:cNvPr id="30" name="P08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 [s⁻¹] → ω = 2πn. P [kW], n [rpm]: M ≈ 9550·P/n.</a:t>
            </a:r>
            <a:br/>
            <a:r>
              <a:t>ENH.  n/60 omregner rpm til s⁻¹.</a:t>
            </a:r>
            <a:br/>
            <a:r>
              <a:t>PAS PÅ  En motors elektriske Pind er ikke mekanisk Pud uden η.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W01 – W05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W01 · Søger: Energi W [J] eller [kWh]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 eller [kW], t [s] eller [h]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 i hele perioden.</a:t>
            </a:r>
          </a:p>
        </p:txBody>
      </p:sp>
      <p:pic>
        <p:nvPicPr>
          <p:cNvPr id="11" name="W01-formula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978" y="2304288"/>
            <a:ext cx="1357884" cy="603504"/>
          </a:xfrm>
          <a:prstGeom prst="rect">
            <a:avLst/>
          </a:prstGeom>
        </p:spPr>
      </p:pic>
      <p:sp>
        <p:nvSpPr>
          <p:cNvPr id="12" name="W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Varierende effekt: summér delperioder eller integrér.</a:t>
            </a:r>
            <a:br/>
            <a:r>
              <a:t>ENH.  W·s = J; kW·h = kWh.</a:t>
            </a:r>
            <a:br/>
            <a:r>
              <a:t>PAS PÅ  kW·s er kJ, ikke kWh.</a:t>
            </a:r>
            <a:br/>
            <a:r>
              <a:t>EKS.  875 W·180 s = 157500 J = 0,04375 kWh.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W02 · Søger: Elektrisk energi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Q [C] eller I [A], 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spænding; ved UIt også konstant I.</a:t>
            </a:r>
          </a:p>
        </p:txBody>
      </p:sp>
      <p:pic>
        <p:nvPicPr>
          <p:cNvPr id="17" name="W02-formula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018" y="2304288"/>
            <a:ext cx="2401083" cy="603504"/>
          </a:xfrm>
          <a:prstGeom prst="rect">
            <a:avLst/>
          </a:prstGeom>
        </p:spPr>
      </p:pic>
      <p:sp>
        <p:nvSpPr>
          <p:cNvPr id="18" name="W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Q = I·t, før U·Q bruges.</a:t>
            </a:r>
            <a:br/>
            <a:r>
              <a:t>ENH.  1 V·C = 1 J.</a:t>
            </a:r>
            <a:br/>
            <a:r>
              <a:t>PAS PÅ  Energi og ladning er forskellige størrelser.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W03 · Søger: Tid t [s]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effekt.</a:t>
            </a:r>
          </a:p>
        </p:txBody>
      </p:sp>
      <p:pic>
        <p:nvPicPr>
          <p:cNvPr id="23" name="W03-formula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820" y="5431536"/>
            <a:ext cx="868198" cy="603504"/>
          </a:xfrm>
          <a:prstGeom prst="rect">
            <a:avLst/>
          </a:prstGeom>
        </p:spPr>
      </p:pic>
      <p:sp>
        <p:nvSpPr>
          <p:cNvPr id="24" name="W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ændret effekt bruges den relevante nye P.</a:t>
            </a:r>
            <a:br/>
            <a:r>
              <a:t>ENH.  J/W = s; kWh/kW = h.</a:t>
            </a:r>
            <a:br/>
            <a:r>
              <a:t>PAS PÅ  Brug ikke mængden fra én delperiode med effekten fra en anden.</a:t>
            </a:r>
            <a:br/>
            <a:r>
              <a:t>EKS.  1200 kJ / 300 W = 4000 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W05 · Søger: Brændselsenergi W [MJ]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Mængde og brændværdi Hu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Kildens omregningstabel; samme brændsel og reference.</a:t>
            </a:r>
          </a:p>
        </p:txBody>
      </p:sp>
      <p:pic>
        <p:nvPicPr>
          <p:cNvPr id="29" name="W05-formula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731" y="5431536"/>
            <a:ext cx="4455657" cy="603504"/>
          </a:xfrm>
          <a:prstGeom prst="rect">
            <a:avLst/>
          </a:prstGeom>
        </p:spPr>
      </p:pic>
      <p:sp>
        <p:nvSpPr>
          <p:cNvPr id="30" name="W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Hu i MJ/kg, MJ/L eller MJ/m³ efter mængden.</a:t>
            </a:r>
            <a:br/>
            <a:r>
              <a:t>ENH.  MJ → kWh: ÷ 3,6.</a:t>
            </a:r>
            <a:br/>
            <a:r>
              <a:t>PAS PÅ  Brændværdi og gasvolumen afhænger af sammensætning/reference; ikke universelle konstanter.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M01 – M03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M01 · Søger: Løftearbejde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[kg], g [m/s²], h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Roligt løft; ændringen i potentiel energi.</a:t>
            </a:r>
          </a:p>
        </p:txBody>
      </p:sp>
      <p:pic>
        <p:nvPicPr>
          <p:cNvPr id="11" name="M01-formula" descr="W=mg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2304288"/>
            <a:ext cx="1700784" cy="603504"/>
          </a:xfrm>
          <a:prstGeom prst="rect">
            <a:avLst/>
          </a:prstGeom>
        </p:spPr>
      </p:pic>
      <p:sp>
        <p:nvSpPr>
          <p:cNvPr id="12" name="M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 = m·g, derefter W = F·h.</a:t>
            </a:r>
            <a:br/>
            <a:r>
              <a:t>ENH.  Løftehøjden i m.</a:t>
            </a:r>
            <a:br/>
            <a:r>
              <a:t>PAS PÅ  Motorens optagne energi er W/η, hvis η er opgivet.</a:t>
            </a:r>
            <a:br/>
            <a:r>
              <a:t>EKS.  90·9,82·20 = 17676 J; /3600 = 4,91 Wh.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M02 · Søger: Arbejde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s [m]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kraft parallelt med bevægelsen.</a:t>
            </a:r>
          </a:p>
        </p:txBody>
      </p:sp>
      <p:pic>
        <p:nvPicPr>
          <p:cNvPr id="17" name="M02-formula" descr="W=F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996" y="2304288"/>
            <a:ext cx="1375126" cy="603504"/>
          </a:xfrm>
          <a:prstGeom prst="rect">
            <a:avLst/>
          </a:prstGeom>
        </p:spPr>
      </p:pic>
      <p:sp>
        <p:nvSpPr>
          <p:cNvPr id="18" name="M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θ: W = F·s·cos θ.</a:t>
            </a:r>
            <a:br/>
            <a:r>
              <a:t>ENH.  N·m = J.</a:t>
            </a:r>
            <a:br/>
            <a:r>
              <a:t>PAS PÅ  En vinkelret kraft udfører ikke arbejde langs bevægelsen.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05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M05 · Søger: Rotationsarbejde W [J]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θ [rad]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moment.</a:t>
            </a:r>
          </a:p>
        </p:txBody>
      </p:sp>
      <p:pic>
        <p:nvPicPr>
          <p:cNvPr id="23" name="M05-formula" descr="W=M\th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850" y="5431536"/>
            <a:ext cx="1500138" cy="603504"/>
          </a:xfrm>
          <a:prstGeom prst="rect">
            <a:avLst/>
          </a:prstGeom>
        </p:spPr>
      </p:pic>
      <p:sp>
        <p:nvSpPr>
          <p:cNvPr id="24" name="M05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fulde omdrejninger z: θ = 2πz.</a:t>
            </a:r>
            <a:br/>
            <a:r>
              <a:t>ENH.  Grader → rad: × π/180.</a:t>
            </a:r>
            <a:br/>
            <a:r>
              <a:t>PAS PÅ  Antal omdrejninger er ikke det samme som n [rpm].</a:t>
            </a:r>
            <a:br/>
            <a:r>
              <a:t>EKS.  0,20·(π/4) = 0,157080 J.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M03 · Søger: Moment M [N·m]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arm r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Kraften står vinkelret på armen.</a:t>
            </a:r>
          </a:p>
        </p:txBody>
      </p:sp>
      <p:pic>
        <p:nvPicPr>
          <p:cNvPr id="29" name="M03-formula" descr="M=F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016" y="5431536"/>
            <a:ext cx="1319087" cy="603504"/>
          </a:xfrm>
          <a:prstGeom prst="rect">
            <a:avLst/>
          </a:prstGeom>
        </p:spPr>
      </p:pic>
      <p:sp>
        <p:nvSpPr>
          <p:cNvPr id="30" name="M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Generelt: brug den vinkelrette momentarm.</a:t>
            </a:r>
            <a:br/>
            <a:r>
              <a:t>ENH.  cm → m: ÷ 100.</a:t>
            </a:r>
            <a:br/>
            <a:r>
              <a:t>PAS PÅ  Geometrisk radius er ikke altid momentarm.</a:t>
            </a:r>
            <a:br/>
            <a:r>
              <a:t>EKS.  2 N·0,10 m = 0,20 N·m.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M04 – M06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M04 · Søger: Vinkelhastighed ω [rad/s]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Δθ [rad], Δt [s] eller n [s⁻¹]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rotation; ellers middelværdi.</a:t>
            </a:r>
          </a:p>
        </p:txBody>
      </p:sp>
      <p:pic>
        <p:nvPicPr>
          <p:cNvPr id="11" name="M04-formula" descr="\omega=\frac{\Delta\theta}{\Delta t}=2\pi 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39" y="2304288"/>
            <a:ext cx="1827560" cy="603504"/>
          </a:xfrm>
          <a:prstGeom prst="rect">
            <a:avLst/>
          </a:prstGeom>
        </p:spPr>
      </p:pic>
      <p:sp>
        <p:nvSpPr>
          <p:cNvPr id="12" name="M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rpm: n/60. Fra grader: θrad = θ°·π/180.</a:t>
            </a:r>
            <a:br/>
            <a:r>
              <a:t>ENH.  rad/s, ikke omdrejninger/s.</a:t>
            </a:r>
            <a:br/>
            <a:r>
              <a:t>PAS PÅ  45° er π/4 rad. n i kilden har en fejlagtig [rad/s]-etiket.</a:t>
            </a:r>
            <a:br/>
            <a:r>
              <a:t>EKS.  (45·π/180)/3 = 0,261799 rad/s.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M06 · Søger: Moment M [N·m]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Pmek [W], ω [rad/s] eller n [rpm]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Mekanisk aksel-effekt og omdrejningshastighed.</a:t>
            </a:r>
          </a:p>
        </p:txBody>
      </p:sp>
      <p:pic>
        <p:nvPicPr>
          <p:cNvPr id="17" name="M06-formula" descr="M=\frac{P_{\mathrm{mek}}}{\omega}=\frac{60P_{\mathrm{mek}}}{2\pi 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667" y="2304288"/>
            <a:ext cx="2059785" cy="603504"/>
          </a:xfrm>
          <a:prstGeom prst="rect">
            <a:avLst/>
          </a:prstGeom>
        </p:spPr>
      </p:pic>
      <p:sp>
        <p:nvSpPr>
          <p:cNvPr id="18" name="M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Kun Pind opgivet: Pmek = η·Pind først.</a:t>
            </a:r>
            <a:br/>
            <a:r>
              <a:t>ENH.  P i W; n i rpm i sidste udtryk.</a:t>
            </a:r>
            <a:br/>
            <a:r>
              <a:t>PAS PÅ  Med Pind=200 W og n=3000 rpm mangler η.</a:t>
            </a:r>
            <a:br/>
            <a:r>
              <a:t>EKS.  Momentet er 0,6366·η N·m; ikke ubetinget 0,6366 N·m.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F01 – F04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F01 · Søger: Elektrisk kraft |F|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Q1, Q2 [C], a [m],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 i ensartet isotropt medium.</a:t>
            </a:r>
          </a:p>
        </p:txBody>
      </p:sp>
      <p:pic>
        <p:nvPicPr>
          <p:cNvPr id="11" name="F01-formula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72" y="2304288"/>
            <a:ext cx="1301496" cy="603504"/>
          </a:xfrm>
          <a:prstGeom prst="rect">
            <a:avLst/>
          </a:prstGeom>
        </p:spPr>
      </p:pic>
      <p:sp>
        <p:nvSpPr>
          <p:cNvPr id="12" name="F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ε = ε0·εr; samme fortegn frastøder, modsat tiltrækker.</a:t>
            </a:r>
            <a:br/>
            <a:r>
              <a:t>ENH.  µC → C: × 10⁻⁶.</a:t>
            </a:r>
            <a:br/>
            <a:r>
              <a:t>PAS PÅ  Beregner størrelse. Retning fastlægges separat.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F02 · Søger: Elektrisk feltstyrke Ef [V/m]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Q [C] eller kildeladning Qk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F/Q er feltet på prøveladningen; a ved punktkilden.</a:t>
            </a:r>
          </a:p>
        </p:txBody>
      </p:sp>
      <p:pic>
        <p:nvPicPr>
          <p:cNvPr id="17" name="F02-formula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2560320" cy="603504"/>
          </a:xfrm>
          <a:prstGeom prst="rect">
            <a:avLst/>
          </a:prstGeom>
        </p:spPr>
      </p:pic>
      <p:sp>
        <p:nvSpPr>
          <p:cNvPr id="18" name="F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Feltretningen defineres med en positiv prøveladning.</a:t>
            </a:r>
            <a:br/>
            <a:r>
              <a:t>ENH.  1 N/C = 1 V/m.</a:t>
            </a:r>
            <a:br/>
            <a:r>
              <a:t>PAS PÅ  Ef [V/m] må ikke forveksles med kildens E [V].</a:t>
            </a:r>
            <a:br/>
            <a:r>
              <a:t>EKS.  300 V/m·0,1 µC = 30 µN.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F03 · Søger: Kraft F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Ef [V/m]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Prøveladning i givet elektrisk felt.</a:t>
            </a:r>
          </a:p>
        </p:txBody>
      </p:sp>
      <p:pic>
        <p:nvPicPr>
          <p:cNvPr id="23" name="F03-formula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498" y="5431536"/>
            <a:ext cx="1258842" cy="603504"/>
          </a:xfrm>
          <a:prstGeom prst="rect">
            <a:avLst/>
          </a:prstGeom>
        </p:spPr>
      </p:pic>
      <p:sp>
        <p:nvSpPr>
          <p:cNvPr id="24" name="F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Negativ Q giver kraft modsat feltretningen.</a:t>
            </a:r>
            <a:br/>
            <a:r>
              <a:t>ENH.  Q i C.</a:t>
            </a:r>
            <a:br/>
            <a:r>
              <a:t>PAS PÅ  Feltet fra prøveladningen selv indgår ikke.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F04 · Søger: Afstand a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Q1, Q2 [C], ε [F/m]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punktladningsmodel som F01.</a:t>
            </a:r>
          </a:p>
        </p:txBody>
      </p:sp>
      <p:pic>
        <p:nvPicPr>
          <p:cNvPr id="29" name="F04-formula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702" y="5431536"/>
            <a:ext cx="1259715" cy="603504"/>
          </a:xfrm>
          <a:prstGeom prst="rect">
            <a:avLst/>
          </a:prstGeom>
        </p:spPr>
      </p:pic>
      <p:sp>
        <p:nvSpPr>
          <p:cNvPr id="30" name="F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lige ladninger: |Q| = a·√(F/k), k = 1/(4πε).</a:t>
            </a:r>
            <a:br/>
            <a:r>
              <a:t>ENH.  mm → m: ÷ 1000.</a:t>
            </a:r>
            <a:br/>
            <a:r>
              <a:t>PAS PÅ  Kraften varierer med 1/a², ikke 1/a.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F05 – 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F05 · Søger: Ukendt ladning |Q2|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a [m], Q1 [C], 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Punktladninger; fortegnet afgøres af tiltrækning/frastødning.</a:t>
            </a:r>
          </a:p>
        </p:txBody>
      </p:sp>
      <p:pic>
        <p:nvPicPr>
          <p:cNvPr id="11" name="F05-formula" descr="|Q_2|=\frac{4\pi\varepsilon a^2|F|}{|Q_1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60" y="2304288"/>
            <a:ext cx="1548118" cy="603504"/>
          </a:xfrm>
          <a:prstGeom prst="rect">
            <a:avLst/>
          </a:prstGeom>
        </p:spPr>
      </p:pic>
      <p:sp>
        <p:nvSpPr>
          <p:cNvPr id="12" name="F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Tiltrækning → modsat fortegn af Q1.</a:t>
            </a:r>
            <a:br/>
            <a:r>
              <a:t>ENH.  nC → C: × 10⁻⁹; mN → N: × 10⁻³.</a:t>
            </a:r>
            <a:br/>
            <a:r>
              <a:t>PAS PÅ  Q1 = 0 giver ingen bestemt løsning med denne formel.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F06 · Søger: Elektrisk flux Ψ [V·m]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Ef [V/m], A [m²] eller Q [C], 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normalt felt; eller lukket kugle i ensartet medium.</a:t>
            </a:r>
          </a:p>
        </p:txBody>
      </p:sp>
      <p:pic>
        <p:nvPicPr>
          <p:cNvPr id="17" name="F06-formula" descr="\Psi=E_f A=\frac{Q}{\varepsilo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215" y="2304288"/>
            <a:ext cx="1680688" cy="603504"/>
          </a:xfrm>
          <a:prstGeom prst="rect">
            <a:avLst/>
          </a:prstGeom>
        </p:spPr>
      </p:pic>
      <p:sp>
        <p:nvSpPr>
          <p:cNvPr id="18" name="F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Kuglens A = 4πa². Q/ε gælder fluxen gennem en lukket flade.</a:t>
            </a:r>
            <a:br/>
            <a:r>
              <a:t>ENH.  V/m·m² = V·m.</a:t>
            </a:r>
            <a:br/>
            <a:r>
              <a:t>PAS PÅ  Flux er ikke et bogstaveligt antal feltlinjer; ikke magnetisk Φ [Wb].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F07 · Søger: Permittivitet ε [F/m]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εr [1], ε0 [F/m]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isotropt medium.</a:t>
            </a:r>
          </a:p>
        </p:txBody>
      </p:sp>
      <p:pic>
        <p:nvPicPr>
          <p:cNvPr id="23" name="F07-formula" descr="\varepsilon=\varepsilon_0\varepsilon_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61" y="5431536"/>
            <a:ext cx="1491517" cy="603504"/>
          </a:xfrm>
          <a:prstGeom prst="rect">
            <a:avLst/>
          </a:prstGeom>
        </p:spPr>
      </p:pic>
      <p:sp>
        <p:nvSpPr>
          <p:cNvPr id="24" name="F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Coulombkonstanten i mediet: k = 1/(4πε).</a:t>
            </a:r>
            <a:br/>
            <a:r>
              <a:t>ENH.  εr er dimensionsløs.</a:t>
            </a:r>
            <a:br/>
            <a:r>
              <a:t>PAS PÅ  Brug en materialeværdi; εr = 1 er vakuum/luft-tilnærmelse.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B01 · Søger: Magnetisk flux Φ [Wb]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A [m²]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vinkelret på fladen.</a:t>
            </a:r>
          </a:p>
        </p:txBody>
      </p:sp>
      <p:pic>
        <p:nvPicPr>
          <p:cNvPr id="29" name="B01-formula" descr="\Phi=B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685" y="5431536"/>
            <a:ext cx="1383748" cy="603504"/>
          </a:xfrm>
          <a:prstGeom prst="rect">
            <a:avLst/>
          </a:prstGeom>
        </p:spPr>
      </p:pic>
      <p:sp>
        <p:nvSpPr>
          <p:cNvPr id="30" name="B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til fladenormalen: Φ = BA·cos θ.</a:t>
            </a:r>
            <a:br/>
            <a:r>
              <a:t>ENH.  cm² → m²: × 10⁻⁴.</a:t>
            </a:r>
            <a:br/>
            <a:r>
              <a:t>PAS PÅ  B er fluxtæthed; Φ er flux, ikke samme størrelse.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B02 – B05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B02 · Søger: Fluxtæthed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felt; A er areal normalt på feltet.</a:t>
            </a:r>
          </a:p>
        </p:txBody>
      </p:sp>
      <p:pic>
        <p:nvPicPr>
          <p:cNvPr id="11" name="B02-formula" descr="B=\frac{\Phi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174" y="2304288"/>
            <a:ext cx="903491" cy="603504"/>
          </a:xfrm>
          <a:prstGeom prst="rect">
            <a:avLst/>
          </a:prstGeom>
        </p:spPr>
      </p:pic>
      <p:sp>
        <p:nvSpPr>
          <p:cNvPr id="12" name="B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1 T = 1 Wb/m².</a:t>
            </a:r>
            <a:br/>
            <a:r>
              <a:t>ENH.  mWb → Wb: × 10⁻³.</a:t>
            </a:r>
            <a:br/>
            <a:r>
              <a:t>PAS PÅ  Skift ikke fra m² til mm² uden faktor 10⁶.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B03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med kendt μ.</a:t>
            </a:r>
          </a:p>
        </p:txBody>
      </p:sp>
      <p:pic>
        <p:nvPicPr>
          <p:cNvPr id="17" name="B03-formula" descr="B=\mu 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531" y="2304288"/>
            <a:ext cx="1342057" cy="603504"/>
          </a:xfrm>
          <a:prstGeom prst="rect">
            <a:avLst/>
          </a:prstGeom>
        </p:spPr>
      </p:pic>
      <p:sp>
        <p:nvSpPr>
          <p:cNvPr id="18" name="B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Ferromagnetisk materiale: aflæs B på B(H)-kurven ved relevant driftspunkt.</a:t>
            </a:r>
            <a:br/>
            <a:r>
              <a:t>ENH.  μ = μ0·μr.</a:t>
            </a:r>
            <a:br/>
            <a:r>
              <a:t>PAS PÅ  Jern har ikke én universel konstant μ; mætning/hysterese kræver kurve.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B04 · Søger: Felt om lang leder B [T]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a [m],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Lang, lige leder; punkt uden for lederen.</a:t>
            </a:r>
          </a:p>
        </p:txBody>
      </p:sp>
      <p:pic>
        <p:nvPicPr>
          <p:cNvPr id="23" name="B04-formula" descr="B=\frac{\mu I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388" y="5431536"/>
            <a:ext cx="1021063" cy="603504"/>
          </a:xfrm>
          <a:prstGeom prst="rect">
            <a:avLst/>
          </a:prstGeom>
        </p:spPr>
      </p:pic>
      <p:sp>
        <p:nvSpPr>
          <p:cNvPr id="24" name="B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μ ≈ μ0; undervisning: B ≈ 2·10⁻⁷·I/a.</a:t>
            </a:r>
            <a:br/>
            <a:r>
              <a:t>ENH.  a er afstand fra centrum i m.</a:t>
            </a:r>
            <a:br/>
            <a:r>
              <a:t>PAS PÅ  Ikke generelt feltet inden i lederen eller nær ender.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B05 · Søger: Magnetisk feltstyrke H [A/m]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N [1], l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vej; ringkerne/længere spole-model.</a:t>
            </a:r>
          </a:p>
        </p:txBody>
      </p:sp>
      <p:pic>
        <p:nvPicPr>
          <p:cNvPr id="29" name="B05-formula" descr="H=\frac{NI}{l}=\frac{F_m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885" y="5431536"/>
            <a:ext cx="1495348" cy="603504"/>
          </a:xfrm>
          <a:prstGeom prst="rect">
            <a:avLst/>
          </a:prstGeom>
        </p:spPr>
      </p:pic>
      <p:sp>
        <p:nvSpPr>
          <p:cNvPr id="30" name="B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middel-længden af den magnetiske vej.</a:t>
            </a:r>
            <a:br/>
            <a:r>
              <a:t>ENH.  N er antal vindinger, ikke enheden newton.</a:t>
            </a:r>
            <a:br/>
            <a:r>
              <a:t>PAS PÅ  Ledertrådens længde er ikke magnetkredsens 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B06 – B09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B06 · Søger: Magnetomotorisk kraft Fm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I [A] eller Rm [A/Wb], 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Amperevindingstal i magnetkredsmodellen.</a:t>
            </a:r>
          </a:p>
        </p:txBody>
      </p:sp>
      <p:pic>
        <p:nvPicPr>
          <p:cNvPr id="11" name="B06-formula" descr="F_m=NI=R_m\Ph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18" y="2304288"/>
            <a:ext cx="2569202" cy="603504"/>
          </a:xfrm>
          <a:prstGeom prst="rect">
            <a:avLst/>
          </a:prstGeom>
        </p:spPr>
      </p:pic>
      <p:sp>
        <p:nvSpPr>
          <p:cNvPr id="12" name="B06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Flere viklinger: summér NI med fortegn efter feltretningen.</a:t>
            </a:r>
            <a:br/>
            <a:r>
              <a:t>ENH.  Amperevinding er dimensionelt A.</a:t>
            </a:r>
            <a:br/>
            <a:r>
              <a:t>PAS PÅ  Fm er ikke mekanisk kraft [N].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B07 · Søger: Reluktans Rm [A/Wb]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[m], μ [H/m], A [m²]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segment; lineær μ.</a:t>
            </a:r>
          </a:p>
        </p:txBody>
      </p:sp>
      <p:pic>
        <p:nvPicPr>
          <p:cNvPr id="17" name="B07-formula" descr="R_m=\frac{l}{\mu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619" y="2304288"/>
            <a:ext cx="1105880" cy="603504"/>
          </a:xfrm>
          <a:prstGeom prst="rect">
            <a:avLst/>
          </a:prstGeom>
        </p:spPr>
      </p:pic>
      <p:sp>
        <p:nvSpPr>
          <p:cNvPr id="18" name="B07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serielle segmenter: Rm,total = ΣRm,k.</a:t>
            </a:r>
            <a:br/>
            <a:r>
              <a:t>ENH.  1 A/Wb = 1/H.</a:t>
            </a:r>
            <a:br/>
            <a:r>
              <a:t>PAS PÅ  Reluktans måles ikke i Ω eller H; det er H⁻¹.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8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B08 · Søger: Flux Φ [Wb]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N, I [A], Rm [A/Wb]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Lukket lineær magnetkreds; lækage negligeres.</a:t>
            </a:r>
          </a:p>
        </p:txBody>
      </p:sp>
      <p:pic>
        <p:nvPicPr>
          <p:cNvPr id="23" name="B08-formula" descr="\Phi=\frac{NI}{R_m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447" y="5431536"/>
            <a:ext cx="986945" cy="603504"/>
          </a:xfrm>
          <a:prstGeom prst="rect">
            <a:avLst/>
          </a:prstGeom>
        </p:spPr>
      </p:pic>
      <p:sp>
        <p:nvSpPr>
          <p:cNvPr id="24" name="B08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μ, derefter Rm, så Φ og evt. B = Φ/A.</a:t>
            </a:r>
            <a:br/>
            <a:r>
              <a:t>ENH.  A i m² ved Rm-beregningen.</a:t>
            </a:r>
            <a:br/>
            <a:r>
              <a:t>PAS PÅ  Luftgab kan dominere Rm; strømkredsens R er en anden størrelse.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9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B09 · Søger: Permeabilitet μ [H/m]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μr [1], μ0 [H/m] eller B [T], H [A/m]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medium eller sekantværdi ved givet driftspunkt.</a:t>
            </a:r>
          </a:p>
        </p:txBody>
      </p:sp>
      <p:pic>
        <p:nvPicPr>
          <p:cNvPr id="29" name="B09-formula" descr="\mu=\mu_0\mu_r=\frac{B}{H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865" y="5431536"/>
            <a:ext cx="1761389" cy="603504"/>
          </a:xfrm>
          <a:prstGeom prst="rect">
            <a:avLst/>
          </a:prstGeom>
        </p:spPr>
      </p:pic>
      <p:sp>
        <p:nvSpPr>
          <p:cNvPr id="30" name="B09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μr = μ/μ0; B/H kræver H ≠ 0.</a:t>
            </a:r>
            <a:br/>
            <a:r>
              <a:t>ENH.  μr er dimensionsløs.</a:t>
            </a:r>
            <a:br/>
            <a:r>
              <a:t>PAS PÅ  Elektrisk ledningsevne afgør ikke, om materialet er ferromagnetisk.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B11 – K01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B11 · Søger: Magnetkredsens areal A [m²]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B [T]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normalt på kernens tværsnit.</a:t>
            </a:r>
          </a:p>
        </p:txBody>
      </p:sp>
      <p:pic>
        <p:nvPicPr>
          <p:cNvPr id="11" name="B11-formula" descr="A=\frac{\Phi}{B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83" y="2304288"/>
            <a:ext cx="912273" cy="603504"/>
          </a:xfrm>
          <a:prstGeom prst="rect">
            <a:avLst/>
          </a:prstGeom>
        </p:spPr>
      </p:pic>
      <p:sp>
        <p:nvSpPr>
          <p:cNvPr id="12" name="B1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Konvertér til cm² eller mm² efter beregningen.</a:t>
            </a:r>
            <a:br/>
            <a:r>
              <a:t>ENH.  1 m² = 10⁴ cm² = 10⁶ mm².</a:t>
            </a:r>
            <a:br/>
            <a:r>
              <a:t>PAS PÅ  Effektivt kerneareal kan afvige fra ydre geometri.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1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B12 · Søger: Feltstyrke H [A/m]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ved kendt μ.</a:t>
            </a:r>
          </a:p>
        </p:txBody>
      </p:sp>
      <p:pic>
        <p:nvPicPr>
          <p:cNvPr id="17" name="B12-formula" descr="H=\frac{B}{\mu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81" y="2304288"/>
            <a:ext cx="889557" cy="603504"/>
          </a:xfrm>
          <a:prstGeom prst="rect">
            <a:avLst/>
          </a:prstGeom>
        </p:spPr>
      </p:pic>
      <p:sp>
        <p:nvSpPr>
          <p:cNvPr id="18" name="B1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Jern: find H fra B(H)-kurven ved det ønskede B.</a:t>
            </a:r>
            <a:br/>
            <a:r>
              <a:t>ENH.  μ = μ0·μr.</a:t>
            </a:r>
            <a:br/>
            <a:r>
              <a:t>PAS PÅ  Ved hysterese afhænger B også af forhistorien.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1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B13 · Søger: Relativ permeabilitet μr 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 [H/m], μ0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enhed for absolutte permeabiliteter.</a:t>
            </a:r>
          </a:p>
        </p:txBody>
      </p:sp>
      <p:pic>
        <p:nvPicPr>
          <p:cNvPr id="23" name="B13-formula" descr="\mu_r=\frac{\mu}{\mu_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063" y="5431536"/>
            <a:ext cx="1019713" cy="603504"/>
          </a:xfrm>
          <a:prstGeom prst="rect">
            <a:avLst/>
          </a:prstGeom>
        </p:spPr>
      </p:pic>
      <p:sp>
        <p:nvSpPr>
          <p:cNvPr id="24" name="B1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Luft har μr ≈ 1 i undervisningsmodellen.</a:t>
            </a:r>
            <a:br/>
            <a:r>
              <a:t>ENH.  μr har ingen enhed.</a:t>
            </a:r>
            <a:br/>
            <a:r>
              <a:t>PAS PÅ  μr = 600 i kilden er et eksempel, ikke en universel jerneegenskab.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K01 · Søger: Kraft på leder |F| [N]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I [A], l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ensartet magnetfelt.</a:t>
            </a:r>
          </a:p>
        </p:txBody>
      </p:sp>
      <p:pic>
        <p:nvPicPr>
          <p:cNvPr id="29" name="K01-formula" descr="|F|=B|I|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4575" y="5431536"/>
            <a:ext cx="1669969" cy="603504"/>
          </a:xfrm>
          <a:prstGeom prst="rect">
            <a:avLst/>
          </a:prstGeom>
        </p:spPr>
      </p:pic>
      <p:sp>
        <p:nvSpPr>
          <p:cNvPr id="30" name="K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mellem leder og felt: |F| = B·|I|·l·sin θ.</a:t>
            </a:r>
            <a:br/>
            <a:r>
              <a:t>ENH.  mT → T: ÷ 1000.</a:t>
            </a:r>
            <a:br/>
            <a:r>
              <a:t>PAS PÅ  l er kun den del, som er i feltet; retning af I×B.</a:t>
            </a:r>
            <a:br/>
            <a:r>
              <a:t>EKS.  20 mT·3 A·6 m = 0,36 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K02 – K04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K02 · Søger: Aktiv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B [T], |I|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B.</a:t>
            </a:r>
          </a:p>
        </p:txBody>
      </p:sp>
      <p:pic>
        <p:nvPicPr>
          <p:cNvPr id="11" name="K02-formula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046" y="2304288"/>
            <a:ext cx="817747" cy="603504"/>
          </a:xfrm>
          <a:prstGeom prst="rect">
            <a:avLst/>
          </a:prstGeom>
        </p:spPr>
      </p:pic>
      <p:sp>
        <p:nvSpPr>
          <p:cNvPr id="12" name="K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skrå leder indgår sin θ i nævneren.</a:t>
            </a:r>
            <a:br/>
            <a:r>
              <a:t>ENH.  50 mT = 0,050 T.</a:t>
            </a:r>
            <a:br/>
            <a:r>
              <a:t>PAS PÅ  Brug ikke hele kablets længde, hvis feltet kun dækker en del.</a:t>
            </a:r>
            <a:br/>
            <a:r>
              <a:t>EKS.  1/(0,050·10) = 2 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K03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|I| [A], l [m]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feltet.</a:t>
            </a:r>
          </a:p>
        </p:txBody>
      </p:sp>
      <p:pic>
        <p:nvPicPr>
          <p:cNvPr id="17" name="K03-formula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107" y="2304288"/>
            <a:ext cx="844905" cy="603504"/>
          </a:xfrm>
          <a:prstGeom prst="rect">
            <a:avLst/>
          </a:prstGeom>
        </p:spPr>
      </p:pic>
      <p:sp>
        <p:nvSpPr>
          <p:cNvPr id="18" name="K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kraften er den magnetiske kraft.</a:t>
            </a:r>
            <a:br/>
            <a:r>
              <a:t>ENH.  T → mT: × 1000.</a:t>
            </a:r>
            <a:br/>
            <a:r>
              <a:t>PAS PÅ  Andre mekaniske kræfter må ikke medregnes i F.</a:t>
            </a:r>
            <a:br/>
            <a:r>
              <a:t>EKS.  75/(15·200) = 0,025 T = 25 mT.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K04 · Søger: Kraft mellem ledere |F|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I1, I2 [A], l, a [m],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Lange parallelle ledere; a er centerafstand.</a:t>
            </a:r>
          </a:p>
        </p:txBody>
      </p:sp>
      <p:pic>
        <p:nvPicPr>
          <p:cNvPr id="23" name="K04-formula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73" y="5431536"/>
            <a:ext cx="1353892" cy="603504"/>
          </a:xfrm>
          <a:prstGeom prst="rect">
            <a:avLst/>
          </a:prstGeom>
        </p:spPr>
      </p:pic>
      <p:sp>
        <p:nvSpPr>
          <p:cNvPr id="24" name="K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|F| ≈ 2·10⁻⁷·|I1I2|·l/a.</a:t>
            </a:r>
            <a:br/>
            <a:r>
              <a:t>ENH.  Kraft pr. meter: |F|/l i N/m.</a:t>
            </a:r>
            <a:br/>
            <a:r>
              <a:t>PAS PÅ  Samme strømretning tiltrækker; modsat frastøder.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7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E01 – E05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E01 · Søger: Induceret spænding e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ΔΦ [Wb],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Middel-EMK over interval; samme flux gennem hver vinding.</a:t>
            </a:r>
          </a:p>
        </p:txBody>
      </p:sp>
      <p:pic>
        <p:nvPicPr>
          <p:cNvPr id="11" name="E01-formula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35" y="2304288"/>
            <a:ext cx="2056769" cy="603504"/>
          </a:xfrm>
          <a:prstGeom prst="rect">
            <a:avLst/>
          </a:prstGeom>
        </p:spPr>
      </p:pic>
      <p:sp>
        <p:nvSpPr>
          <p:cNvPr id="12" name="E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ΔΦ = Φslut − Φstart. Størrelse: |e| = N·|ΔΦ|/Δt.</a:t>
            </a:r>
            <a:br/>
            <a:r>
              <a:t>ENH.  mWb → Wb; ms → s.</a:t>
            </a:r>
            <a:br/>
            <a:r>
              <a:t>PAS PÅ  Minus er Lenz-retningen ift. valgt fluxnormal og omløbsretning.</a:t>
            </a:r>
            <a:br/>
            <a:r>
              <a:t>EKS.  N=100; ΔΦ=2 mWb; Δt=0,1 s → e=−2 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E02 · Søger: Øjebliks-EMK e(t)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Φ(t) [Wb]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Valgt positiv fluxnormal og konsistent omløbsretning.</a:t>
            </a:r>
          </a:p>
        </p:txBody>
      </p:sp>
      <p:pic>
        <p:nvPicPr>
          <p:cNvPr id="17" name="E02-formula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677" y="2304288"/>
            <a:ext cx="1687765" cy="603504"/>
          </a:xfrm>
          <a:prstGeom prst="rect">
            <a:avLst/>
          </a:prstGeom>
        </p:spPr>
      </p:pic>
      <p:sp>
        <p:nvSpPr>
          <p:cNvPr id="18" name="E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Differentier fluxfunktionen; eller aflæs dens lokale hældning.</a:t>
            </a:r>
            <a:br/>
            <a:r>
              <a:t>ENH.  Wb/s = V.</a:t>
            </a:r>
            <a:br/>
            <a:r>
              <a:t>PAS PÅ  ΔΦ/Δt er middelhældningen; dΦ/dt er øjeblikshældningen.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E03 · Søger: Bevægelses-EMK |E|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l [m], v [m/s]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Lige leder; l, v og B står indbyrdes vinkelret.</a:t>
            </a:r>
          </a:p>
        </p:txBody>
      </p:sp>
      <p:pic>
        <p:nvPicPr>
          <p:cNvPr id="23" name="E03-formula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71" y="5431536"/>
            <a:ext cx="1574897" cy="603504"/>
          </a:xfrm>
          <a:prstGeom prst="rect">
            <a:avLst/>
          </a:prstGeom>
        </p:spPr>
      </p:pic>
      <p:sp>
        <p:nvSpPr>
          <p:cNvPr id="24" name="E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længden i feltet. Polaritet findes af v×B / generatorreglen.</a:t>
            </a:r>
            <a:br/>
            <a:r>
              <a:t>ENH.  km/h → m/s: ÷ 3,6.</a:t>
            </a:r>
            <a:br/>
            <a:r>
              <a:t>PAS PÅ  Kun størrelse; vilkårlig bevægelsesretning kræver projektion.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E05 · Søger: Selvinduktions-EMK es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[H], di/dt [A/s]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induktans; induceret modspænding.</a:t>
            </a:r>
          </a:p>
        </p:txBody>
      </p:sp>
      <p:pic>
        <p:nvPicPr>
          <p:cNvPr id="29" name="E05-formula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929" y="5431536"/>
            <a:ext cx="1367260" cy="603504"/>
          </a:xfrm>
          <a:prstGeom prst="rect">
            <a:avLst/>
          </a:prstGeom>
        </p:spPr>
      </p:pic>
      <p:sp>
        <p:nvSpPr>
          <p:cNvPr id="30" name="E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lineær rampe: es,middel = −L·ΔI/Δt.</a:t>
            </a:r>
            <a:br/>
            <a:r>
              <a:t>ENH.  mH → H: ÷ 1000.</a:t>
            </a:r>
            <a:br/>
            <a:r>
              <a:t>PAS PÅ  Passiv klemspænding er uL = +L·di/dt; modsatrettet EMK er es.</a:t>
            </a:r>
            <a:br/>
            <a:r>
              <a:t>EKS.  L=20 mH; ΔI=2 A/10 ms → es=−4 V.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E04 – E06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E04 · Søger: Induktans L [H]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μ [H/m], A [m²],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ensartet spole/magnetkreds; lækage negligeres.</a:t>
            </a:r>
          </a:p>
        </p:txBody>
      </p:sp>
      <p:pic>
        <p:nvPicPr>
          <p:cNvPr id="11" name="E04-formula" descr="L=\frac{N^2\mu A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852" y="2304288"/>
            <a:ext cx="1078134" cy="603504"/>
          </a:xfrm>
          <a:prstGeom prst="rect">
            <a:avLst/>
          </a:prstGeom>
        </p:spPr>
      </p:pic>
      <p:sp>
        <p:nvSpPr>
          <p:cNvPr id="12" name="E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 = μ0·μr; alternativt L = N²/Rm.</a:t>
            </a:r>
            <a:br/>
            <a:r>
              <a:t>ENH.  A skal være m².</a:t>
            </a:r>
            <a:br/>
            <a:r>
              <a:t>PAS PÅ  Mætning, luftgab og geometri kan gøre denne model utilstrækkelig.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E06 · Søger: Induktans L [H]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es [V], ΔI [A], Δt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strømrampe; tab adskilt fra selvinduktion.</a:t>
            </a:r>
          </a:p>
        </p:txBody>
      </p:sp>
      <p:pic>
        <p:nvPicPr>
          <p:cNvPr id="17" name="E06-formula" descr="L=-\frac{e_s\Delta t}{\Delta 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380" y="2304288"/>
            <a:ext cx="1270359" cy="603504"/>
          </a:xfrm>
          <a:prstGeom prst="rect">
            <a:avLst/>
          </a:prstGeom>
        </p:spPr>
      </p:pic>
      <p:sp>
        <p:nvSpPr>
          <p:cNvPr id="18" name="E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positiv med konsistente fortegn.</a:t>
            </a:r>
            <a:br/>
            <a:r>
              <a:t>ENH.  A og s.</a:t>
            </a:r>
            <a:br/>
            <a:r>
              <a:t>PAS PÅ  Målt spole-U inkluderer ofte også resistivt I·R.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Kredsløbsmetoder · N02 – N03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N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N02 · Søger: Ukendt grenstrøm Ix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Alle øvrige ind- og udstrømme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KCL i én knude; stationær kreds.</a:t>
            </a:r>
          </a:p>
        </p:txBody>
      </p:sp>
      <p:pic>
        <p:nvPicPr>
          <p:cNvPr id="11" name="N02-formula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13" y="2249424"/>
            <a:ext cx="3826412" cy="777240"/>
          </a:xfrm>
          <a:prstGeom prst="rect">
            <a:avLst/>
          </a:prstGeom>
        </p:spPr>
      </p:pic>
      <p:sp>
        <p:nvSpPr>
          <p:cNvPr id="12" name="N02-details"/>
          <p:cNvSpPr txBox="1"/>
          <p:nvPr/>
        </p:nvSpPr>
        <p:spPr>
          <a:xfrm>
            <a:off x="411480" y="3072384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Ix ud af knuden. Ind = ud.</a:t>
            </a:r>
            <a:br/>
            <a:r>
              <a:t>ENH.  Omregn alle strømme til A eller alle til mA.</a:t>
            </a:r>
            <a:br/>
            <a:r>
              <a:t>PAS PÅ  Ix &lt; 0 betyder modsat den valgte pil; ikke en fejl i sig selv.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U07 · Søger: Knudespænding Va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Grenkilder Ek [V], Rk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Fælles knude a og reference 0; kilder + mod a.</a:t>
            </a:r>
          </a:p>
        </p:txBody>
      </p:sp>
      <p:pic>
        <p:nvPicPr>
          <p:cNvPr id="17" name="U07-formula" descr="V_a=\frac{\sum_k E_k/R_k}{\sum_k 1/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246" y="2249424"/>
            <a:ext cx="1086626" cy="777240"/>
          </a:xfrm>
          <a:prstGeom prst="rect">
            <a:avLst/>
          </a:prstGeom>
        </p:spPr>
      </p:pic>
      <p:sp>
        <p:nvSpPr>
          <p:cNvPr id="18" name="U07-details"/>
          <p:cNvSpPr txBox="1"/>
          <p:nvPr/>
        </p:nvSpPr>
        <p:spPr>
          <a:xfrm>
            <a:off x="5532120" y="3072384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Sæt en ren modstandsgren til Ek = 0. Find Ik = (Va − Ek)/Rk.</a:t>
            </a:r>
            <a:br/>
            <a:r>
              <a:t>ENH.  V og Ω.</a:t>
            </a:r>
            <a:br/>
            <a:r>
              <a:t>PAS PÅ  Gælder denne to-knude-topologi; ellers løs KCL-ligninger.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1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N01 · Søger: Knudespændinger Va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Topologi, R [Ω], kilder og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DC-net; strømmene ud af hver ukendt knude.</a:t>
            </a:r>
          </a:p>
        </p:txBody>
      </p:sp>
      <p:pic>
        <p:nvPicPr>
          <p:cNvPr id="23" name="N01-formula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480" y="5431536"/>
            <a:ext cx="1554879" cy="603504"/>
          </a:xfrm>
          <a:prstGeom prst="rect">
            <a:avLst/>
          </a:prstGeom>
        </p:spPr>
      </p:pic>
      <p:sp>
        <p:nvSpPr>
          <p:cNvPr id="24" name="N01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reference 0. Skriv KCL; løs samtidige ligninger. Ik = (Va−Vb)/Rk.</a:t>
            </a:r>
            <a:br/>
            <a:r>
              <a:t>ENH.  V og Ω.</a:t>
            </a:r>
            <a:br/>
            <a:r>
              <a:t>PAS PÅ  Ideel spændingskilde mellem ukendte knuder: superknude plus Va−Vb = 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N03 · Søger: Kontrol af spændinger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Kilders polaritet, I [A],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KVL i lukket DC-sløjfe; kontrol efter KCL-løsning.</a:t>
            </a:r>
          </a:p>
        </p:txBody>
      </p:sp>
      <p:pic>
        <p:nvPicPr>
          <p:cNvPr id="29" name="N03-formula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063" y="5431536"/>
            <a:ext cx="1114993" cy="603504"/>
          </a:xfrm>
          <a:prstGeom prst="rect">
            <a:avLst/>
          </a:prstGeom>
        </p:spPr>
      </p:pic>
      <p:sp>
        <p:nvSpPr>
          <p:cNvPr id="30" name="N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−→+ over kilde: +E. Med strøm gennem R: −IR.</a:t>
            </a:r>
            <a:br/>
            <a:r>
              <a:t>ENH.  Alle led i V.</a:t>
            </a:r>
            <a:br/>
            <a:r>
              <a:t>PAS PÅ  Kun n−1 knudeligninger er uafhængige i et net med n knuder.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Knudepunktsmetoden · to kilder og ét referencepunkt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pSp>
        <p:nvGrpSpPr>
          <p:cNvPr id="38" name="nodal-circuit"/>
          <p:cNvGrpSpPr/>
          <p:nvPr/>
        </p:nvGrpSpPr>
        <p:grpSpPr>
          <a:xfrm>
            <a:off x="502920" y="1051560"/>
            <a:ext cx="4846320" cy="4818888"/>
            <a:chOff x="502920" y="1051560"/>
            <a:chExt cx="4846320" cy="4818888"/>
          </a:xfrm>
        </p:grpSpPr>
        <p:cxnSp>
          <p:nvCxnSpPr>
            <p:cNvPr id="8" name="Connector 7"/>
            <p:cNvCxnSpPr/>
            <p:nvPr/>
          </p:nvCxnSpPr>
          <p:spPr>
            <a:xfrm>
              <a:off x="822960" y="1572768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822960" y="5349240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8640" y="105156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a: Va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5504688"/>
              <a:ext cx="406908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00" b="1">
                  <a:solidFill>
                    <a:srgbClr val="075B70"/>
                  </a:solidFill>
                  <a:latin typeface="Calibri"/>
                </a:defRPr>
              </a:pPr>
              <a:r>
                <a:t>0: reference = 0 V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2296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14300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23444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5156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R1</a:t>
              </a:r>
              <a:br/>
              <a:r>
                <a:t>1 Ω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82296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2296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50292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237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872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E1</a:t>
              </a:r>
              <a:br/>
              <a:r>
                <a:t>27 V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237744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69748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78892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I2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5856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604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R2</a:t>
              </a:r>
              <a:br/>
              <a:r>
                <a:t>2 Ω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37744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37744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205740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7685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4320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E2</a:t>
              </a:r>
              <a:br/>
              <a:r>
                <a:t>24 V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93192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4251959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34340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1304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6052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R3</a:t>
              </a:r>
              <a:br/>
              <a:r>
                <a:t>8 Ω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3931920" y="3154680"/>
              <a:ext cx="0" cy="219456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nodal-model"/>
          <p:cNvSpPr txBox="1"/>
          <p:nvPr/>
        </p:nvSpPr>
        <p:spPr>
          <a:xfrm>
            <a:off x="5486400" y="1078992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nederste knude som 0 V. Alle tre strømpile går ud af a. Skriv KCL med spændinger; kilders pluspoler er øverst.</a:t>
            </a:r>
          </a:p>
        </p:txBody>
      </p:sp>
      <p:pic>
        <p:nvPicPr>
          <p:cNvPr id="40" name="nodal-kcl" descr="\frac{V_a-27}{1}+\frac{V_a-24}{2}+\frac{V_a}{8}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299" y="2066543"/>
            <a:ext cx="3462793" cy="731520"/>
          </a:xfrm>
          <a:prstGeom prst="rect">
            <a:avLst/>
          </a:prstGeom>
        </p:spPr>
      </p:pic>
      <p:pic>
        <p:nvPicPr>
          <p:cNvPr id="41" name="nodal-voltage" descr="V_a=\frac{27/1+24/2}{1/1+1/2+1/8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873" y="2953511"/>
            <a:ext cx="3589644" cy="731520"/>
          </a:xfrm>
          <a:prstGeom prst="rect">
            <a:avLst/>
          </a:prstGeom>
        </p:spPr>
      </p:pic>
      <p:pic>
        <p:nvPicPr>
          <p:cNvPr id="42" name="nodal-currents" descr="I_1=-3\,\mathrm{A},\quad I_2=0,\quad I_3=3\,\mathrm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02055"/>
            <a:ext cx="4736592" cy="608369"/>
          </a:xfrm>
          <a:prstGeom prst="rect">
            <a:avLst/>
          </a:prstGeom>
        </p:spPr>
      </p:pic>
      <p:sp>
        <p:nvSpPr>
          <p:cNvPr id="43" name="nodal-check"/>
          <p:cNvSpPr txBox="1"/>
          <p:nvPr/>
        </p:nvSpPr>
        <p:spPr>
          <a:xfrm>
            <a:off x="5486400" y="4727447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Kontrol: −3 + 0 + 3 = 0 A. Den faktiske I1 løber opad. P i R: 3²·8 = 72 W. Kilden E1 afgiver 27·3 = 81 W; R1 taber 9 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26480"/>
            <a:ext cx="9646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pile går ud af a. Minus betyder strøm mod pilen. + og − angiver kildernes faste polaritet.</a:t>
            </a:r>
          </a:p>
        </p:txBody>
      </p:sp>
      <p:sp>
        <p:nvSpPr>
          <p:cNvPr id="45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930"/>
                <a:gridCol w="3424428"/>
                <a:gridCol w="1663293"/>
                <a:gridCol w="342442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I, 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Strøm; i(t) ved tidsvariation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Konventionel retning; elektroner modsat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Q, 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Ladning; antal elementarladninger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 er et antal, ikke en ladningsmængde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U, Ukl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Potentialforskel; klemspænding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+ og − angiver refereret polaritet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E, e, 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Kilde-EMK; induceret og selvinduktions-EMK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 i originalen kan også betyde felt; her Ef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V/m = N/C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 originalens feltkapitel bruges 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R, ri, Rs, Rp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Resistans, indre, serie, parallel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Afhænger af komponent og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Ω·m eller Ω·mm²/m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materialets massefylde; samme græske bogstav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Konduktans for komponent/leder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S = 1/Ω; ikke ledertværsnittet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2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73736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Specifik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S/m eller m/(Ω·mm²)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γ = 1/ρ; også kaldet σ i andre bøger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Ledertværsnit; felt-/kerneareal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mm² eller 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fra lederkapitlet; A fra magnetkapitlet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l, s, h, a,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Længde, strækning, højde, afstand, radius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 i magnetkredsen er feltvejens middellængde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Δt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Tid, tidsinterval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eller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i tidsenhed er time, ikke løftehøjde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t, ΔT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Temperatur, reference,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°C; K for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 t er ikke tidsvariablen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αt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Resistansens temperaturkoefficient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K⁻¹ = °C⁻¹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Hører til angivet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P, Pind, Pud, Ptab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Effekt, tilført, afgivet, 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er energi pr. tid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Arbejde/energi, som i kilderne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J, Wh, kWh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Størrelsen W må ikke forveksles med enheden W (watt)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99"/>
                <a:gridCol w="3292719"/>
                <a:gridCol w="2351942"/>
                <a:gridCol w="329271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η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Virkningsgrad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eller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0,85 = 85 %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Masse; tyngdeacceleration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kg;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Undervisningens g = 9,82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F, 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kraft; 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N; N·m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 som moment og J som arbejde holdes adskilt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ω, θ, 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Vinkelhastighed, vinkel, omdrejningsfrekvens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rad/s; rad; s⁻¹ eller rpm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aldrig rad/s; rpm kræver faktor 1/60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magnetisk feltstyrke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fluxtæthed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= Wb/m²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som enhed er tesla, ikke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som enhedssymbol er henry, ikke feltstyrken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μ, μ0, μr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permeabilitet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H/m; H/m;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μr er ikke altid konstant for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4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68"/>
                <a:gridCol w="3530338"/>
                <a:gridCol w="1714735"/>
                <a:gridCol w="35303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Magnetomotorisk 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 (amperevinding)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mekanisk kraft i newton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Reluktans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A/Wb = H⁻¹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resistans i ohm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N, 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Antal vindinger; induktans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1;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også SI-enheden newton i kraftformler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Hastighed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Ved bevægelsesinduktion skal retningen kendes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ε, ε0, εr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permittivitet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F/m; F/m;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den magnetiske permeabilitet μ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Ψ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feltflux i kildens notation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et fysisk antal linjer; ikke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Coulombkonstant i mediet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N·m²/C²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 = 1/(4πε); ikke kilo-præfikset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Va, Vb, Ik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Knudespændinger og grenstrøm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V;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Relativt til samme reference; Ik følger valgt pil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1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622"/>
                <a:gridCol w="2812923"/>
                <a:gridCol w="428053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G, M,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10¹², 10⁹, 10⁶, 10³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Store præfikser; k er lille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µ, n, 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10⁻³, 10⁻⁶, 10⁻⁹, 10⁻¹²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milli, mikro, nano, pico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 → A; mV → 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Omregn før kvadrering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 → m; cm → 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 omregnes én gang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mm² → m²; cm² → 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10⁻⁶; × 10⁻⁴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Areal: længdefaktoren kvadreres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ρ: Ω·mm²/m → Ω·m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Cu: 0,0175 → 1,75·10⁻⁸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γ: m/(Ω·mm²) → S/m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Konduktivitet omregnes modsat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ms → s; min → s; h →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× 60; × 3600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Sekunder i SI-formler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2"/>
          <p:cNvGraphicFramePr>
            <a:graphicFrameLocks noGrp="1"/>
          </p:cNvGraphicFramePr>
          <p:nvPr/>
        </p:nvGraphicFramePr>
        <p:xfrm>
          <a:off x="411480" y="1042415"/>
          <a:ext cx="9784078" cy="551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36"/>
                <a:gridCol w="3517871"/>
                <a:gridCol w="384767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Ah; 1 Wh; 1 kWh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3600 C; 3600 J; 3,6 MJ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Ah er ladning; Wh og kWh er energi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kW; 1 kJ; 1 mT; 1 mH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1000 W; 1000 J; 0,001 T; 0,001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W, J, T og H i SI-beregninger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rpm → s⁻¹ → rad/s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n/60 → 2π·n/60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Rotationshastighed; ikke dokumentation for AC-pensum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grader → radianer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θrad = θ°·π/180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45° = π/4; 360° = 2π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ΔT [°C] → ΔT [K]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talværdi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 temperatur: TK = T°C + 273,15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% → forholdstal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85 % = 0,85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V; 1 W; 1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J/C; 1 J/s; 1 Wb/m²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 og enhedssymbol er forskellige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1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07"/>
                <a:gridCol w="1680094"/>
                <a:gridCol w="790632"/>
                <a:gridCol w="3459018"/>
                <a:gridCol w="2470727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1,602176634·10⁻¹⁹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Fysisk konstant; eksakt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BIPM; ampere-definition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4π·10⁻⁷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Undervisningsafrunding; ikke længere eksakt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EL01:11; NIST CODATA 2022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8,85·10⁻¹²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EL03:7; NIST CODATA 2022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9,82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Undervisningsmæssig tilnærmelse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EL13:14,18; facit 17676 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luft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Materialetilnærmelse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Kun kildens regneeksempel; ikke fast jerntal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2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59"/>
                <a:gridCol w="1057738"/>
                <a:gridCol w="1057738"/>
                <a:gridCol w="4627605"/>
                <a:gridCol w="1057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HK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736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 af metrisk hestekraft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EL13:7-8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kcal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4187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omregning; definition/afrunding varierer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EL13:8-9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naturgas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38,9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MJ/m³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brændselsmodel; volumens reference er ikke oplyst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fuelolie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40,6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MJ/kg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kvalitet afhænger af brændsel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fyringsolie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36,2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volumen afhænger af temperatur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316"/>
                <a:gridCol w="1764342"/>
                <a:gridCol w="1924737"/>
                <a:gridCol w="352868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Aluminium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3,7·10⁻³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Bly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4,1·10⁻³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Guld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6,4·10⁻³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Kanthal A1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angivet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Kobber (ledning)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0,0175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Konstantan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0,488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5·10⁻⁶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Kromnikkel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1,05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0,13·10⁻³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2"/>
          <p:cNvGraphicFramePr>
            <a:graphicFrameLocks noGrp="1"/>
          </p:cNvGraphicFramePr>
          <p:nvPr/>
        </p:nvGraphicFramePr>
        <p:xfrm>
          <a:off x="411480" y="1042415"/>
          <a:ext cx="9784077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757"/>
                <a:gridCol w="1888155"/>
                <a:gridCol w="1544854"/>
                <a:gridCol w="377631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Kviksølv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Manganin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30·10⁻⁶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Platin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0,090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Sølv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0,0158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4,6·10⁻³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Wolfram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0,055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Kul (glødetråd)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−0,4·10⁻³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Zink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0,0625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3,9·10⁻³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 4.1 + 4.2 Det magnetiske felt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STA Definition af elektriske basisenheder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Elektrisk felt Coulombs lov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F, I,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Jævnstrømskredsløb og kredsløbsberegninger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 for den magnetiske kreds 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Den magnetiske Kreds+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STA Specifik resistans og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(Kirchoff) - Lånt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48"/>
                <a:gridCol w="5111086"/>
                <a:gridCol w="1168248"/>
                <a:gridCol w="2336496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med kirchhoff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N, U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3 - STA resistansers temperaturafhængighed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4.4 magnetisering af jern og permanente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4.7 Induktion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4 - for elektrisk energi og 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M, P, R, U,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Faraday lenz hvirvelstrøm selvinduktion induktans bifilar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Kraftpåvirkning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Leder i magnetfelt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Faglige præciseringer i forhold til kilderne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289"/>
                <a:gridCol w="3891395"/>
                <a:gridCol w="389139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/ tvetydighed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Præcisering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EL02:6; EL15:4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Historisk ampere via kraft mellem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SI baseres nu på eksakt elementarladning e; kraftformlen bevares som fysik.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EL01:11; EL06:9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μ0 = 4π·10⁻⁷ som eksakt naturkonstant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Bevares som afrunding; efter SI-revisionen er μ0 målebestemt.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EL02:9-10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 lov gælder kun DC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= RI gælder også øjebliksværdier for en ideal ohmsk R; ikke hele vilkårlige AC-belastninger.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EL01:10; EL03:9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Flux som felt / antal feltlinjer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Φ [Wb], B [T], H [A/m] og Ψ [V·m] holdes adskilt. Feltlinjer er en tegne-model.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EL06:10,13; EL11:3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Ledende materialer og Rm-enhed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Ferromagnetisme er ikke elektrisk ledningsevne. μ er H/m; Rm er A/Wb = H⁻¹.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har [rad/s]; antal omdrejninger/frekvens blandes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s⁻¹ eller rpm; ω er rad/s. Rotationsarbejde bruger vinkel eller et antal omdrejninger.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EL13:17, opg. 8b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Moment fra elektrisk motor-effekt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 mangler η eller Pmek. En ideal antagelse η = 1 skal angives; ikke bruges skjult.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EL10:3,5,9-10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 og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αt følger referencen t. α20 kan ikke ubetinget bruges med en anden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EL08:9-14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knudepunkter som uafhængige ligninger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Vælg reference. Brug n−1 uafhængige KCL-ligninger; superknude ved relevant spændingskilde.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Afgrænsning · vælg ikke formel ud fra enheder alene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cope-table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02"/>
                <a:gridCol w="4028738"/>
                <a:gridCol w="4028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/ opslag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Fundet / 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Afgrænsning / nødvendige oplysninger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Dokumenteret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DC, ledermodstand, temperatur, energi/moment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Elektriske og magnetiske felter, induktion, selvinduktion og magnetiske kræfter.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Beregningsvej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Knudepunktsmetoden er primær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med reference/pile → ligninger → grenstrømme. KVL og effektbalance er kontroller.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AC-omtale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Induktans nævnes som grundlag for AC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systematisk dokumentation af sinus, RMS, fase eller effektfaktor i de fundne slides.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AC: har P og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Oplysningerne er utilstrækkelige uden model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Afklar aktiv/tilsyneladende effekt, RMS/kurveform og effektfaktor. DC-opslag I = P/U vælges ikke alene på enheder.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Kapacitans, reaktans, impedans, fasorer, RLC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formeldækning påstås for disse emner; kræver relevante undervisningsfiler.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Resonans, transformerforhold, trefase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Transformerprincippet omtales, men beregningsformler/pensum er ikke dokumenteret.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AC-skelnen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Spidsværdi/RMS; fase/linje; effektfaktor/cos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Kan ikke sidestilles uden kurveform, topologi og betingelser. Disse emner er ikke udfyldt generisk.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Kilder mangler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Henviste bøger, Word-øvelser og Teams-opgaver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Deres indhold er ikke verificeret. Cheatsheetet dækker de faktiske lokale kilder, ikke hele BM4-pensum.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Redigerbarhed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Tekst, tabeller, strøm-/kredsløbsfigur er native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Brøkformler er højopløste billeder fra LaTeX. Formeltekst og data bevares i database og slideplan.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