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Genveje og sidetal beregnes ud fra slideplanens id’er og samme formeldatabase som HTML-opslaget.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W04: EL03:4,10, EL13:12</a:t>
            </a:r>
          </a:p>
          <a:p>
            <a:r>
              <a:t>I01: EL02:9-11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I02: EL02:10, EL13:13,17</a:t>
            </a:r>
          </a:p>
          <a:p>
            <a:r>
              <a:t>I03: EL02:10, EL13:13,16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I04: EL02:7, EL03:4</a:t>
            </a:r>
          </a:p>
          <a:p>
            <a:r>
              <a:t>I05: EL04:3-4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I06: EL04:6-7, EL09:3-10</a:t>
            </a:r>
          </a:p>
          <a:p>
            <a:r>
              <a:t>I07: EL04:7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B10: EL05:3, EL06:9-12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U01: EL02:9-11</a:t>
            </a:r>
          </a:p>
          <a:p>
            <a:r>
              <a:t>U02: EL02:10, EL13:13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U03: EL02:10, EL13:13,15</a:t>
            </a:r>
          </a:p>
          <a:p>
            <a:r>
              <a:t>U04: EL13:11-12, EL02:5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U05: EL04:3</a:t>
            </a:r>
          </a:p>
          <a:p>
            <a:r>
              <a:t>U06: EL04:5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R01: EL02:8-11</a:t>
            </a:r>
          </a:p>
          <a:p>
            <a:r>
              <a:t>R02: EL02:10, EL13:15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R03: EL02:10, EL13:13</a:t>
            </a:r>
          </a:p>
          <a:p>
            <a:r>
              <a:t>R04: EL07:3-5,8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R05: EL10:3-5</a:t>
            </a:r>
          </a:p>
          <a:p>
            <a:r>
              <a:t>R06: EL10:9-10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R07: EL04:4-5,8</a:t>
            </a:r>
          </a:p>
          <a:p>
            <a:r>
              <a:t>R08: EL04:6-8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R09: EL04:3,8</a:t>
            </a:r>
          </a:p>
          <a:p>
            <a:r>
              <a:t>R10: EL07:6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G03: EL07:3,6</a:t>
            </a:r>
          </a:p>
          <a:p>
            <a:r>
              <a:t>G04: EL07:3,8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G05: EL07:3,8</a:t>
            </a:r>
          </a:p>
          <a:p>
            <a:r>
              <a:t>G06: EL10:5,8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G01: EL07:6,9</a:t>
            </a:r>
          </a:p>
          <a:p>
            <a:r>
              <a:t>G02: EL07:6,9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P01: EL13:6,12-13</a:t>
            </a:r>
          </a:p>
          <a:p>
            <a:r>
              <a:t>P02: EL13:12-15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P03: EL13:12-13</a:t>
            </a:r>
          </a:p>
          <a:p>
            <a:r>
              <a:t>P04: EL13:6-7,17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P05: EL13:4</a:t>
            </a:r>
          </a:p>
          <a:p>
            <a:r>
              <a:t>P06: EL13:4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P07: EL13:4</a:t>
            </a:r>
          </a:p>
          <a:p>
            <a:r>
              <a:t>P08: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W01: EL13:7-8,13,16</a:t>
            </a:r>
          </a:p>
          <a:p>
            <a:r>
              <a:t>W02: EL13:11-12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W03: EL13:17</a:t>
            </a:r>
          </a:p>
          <a:p>
            <a:r>
              <a:t>W05: EL13:9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M01: EL13:5,14,18</a:t>
            </a:r>
          </a:p>
          <a:p>
            <a:r>
              <a:t>M02: EL13:5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M05: EL13:10,15</a:t>
            </a:r>
          </a:p>
          <a:p>
            <a:r>
              <a:t>M03: EL13:10,15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M04: EL13:10,15</a:t>
            </a:r>
          </a:p>
          <a:p>
            <a:r>
              <a:t>M06: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F01: EL03:5,7,9</a:t>
            </a:r>
          </a:p>
          <a:p>
            <a:r>
              <a:t>F02: EL03:8-10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F03: EL03:8,10</a:t>
            </a:r>
          </a:p>
          <a:p>
            <a:r>
              <a:t>F04: EL03:7,10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F05: EL03:10</a:t>
            </a:r>
          </a:p>
          <a:p>
            <a:r>
              <a:t>F06: EL03:9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F07: EL03:7,9</a:t>
            </a:r>
          </a:p>
          <a:p>
            <a:r>
              <a:t>B01: EL01:10-11, EL12:2,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B02: EL01:11, EL05:2-3</a:t>
            </a:r>
          </a:p>
          <a:p>
            <a:r>
              <a:t>B03: EL05:3, EL06:9-12, EL11:3-4,8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B04: EL01:12-13</a:t>
            </a:r>
          </a:p>
          <a:p>
            <a:r>
              <a:t>B05: EL05:3, EL06:9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B06: EL05:2, EL06:5-8</a:t>
            </a:r>
          </a:p>
          <a:p>
            <a:r>
              <a:t>B07: EL05:2, EL06:6,13, EL11:3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B08: EL05:2, EL06:6,8,13</a:t>
            </a:r>
          </a:p>
          <a:p>
            <a:r>
              <a:t>B09: EL06:10-11, EL11:3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B11: EL05:2, EL06:6</a:t>
            </a:r>
          </a:p>
          <a:p>
            <a:r>
              <a:t>B12: EL05:3, EL11:4,8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B13: EL06:10-11</a:t>
            </a:r>
          </a:p>
          <a:p>
            <a:r>
              <a:t>K01: EL16:3-5,7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K02: EL16:7</a:t>
            </a:r>
          </a:p>
          <a:p>
            <a:r>
              <a:t>K03: EL16:7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K04: EL15:2,4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E01: EL14:3-5, EL12:3</a:t>
            </a:r>
          </a:p>
          <a:p>
            <a:r>
              <a:t>E02: EL14:4,8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E03: EL12:3-4</a:t>
            </a:r>
          </a:p>
          <a:p>
            <a:r>
              <a:t>E05: EL14:7-9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E04: EL14:8-9</a:t>
            </a:r>
          </a:p>
          <a:p>
            <a:r>
              <a:t>E06: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N02: EL08:2, EL09:3-4</a:t>
            </a:r>
          </a:p>
          <a:p>
            <a:r>
              <a:t>U07: EL09:4-10, EL08:4-10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N01: EL08:2-10, EL09:3-10</a:t>
            </a:r>
          </a:p>
          <a:p>
            <a:r>
              <a:t>N03: EL08:3,9-14, EL09:3-10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C01: EL17:10,13</a:t>
            </a:r>
          </a:p>
          <a:p>
            <a:r>
              <a:t>C02: EL17:10,13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C03: EL17:13</a:t>
            </a:r>
          </a:p>
          <a:p>
            <a:r>
              <a:t>C04: EL17:13-14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C05: EL17:7,13-14</a:t>
            </a:r>
          </a:p>
          <a:p>
            <a:r>
              <a:t>C06: EL17:5,10,14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C07: EL17:5,10,14</a:t>
            </a:r>
          </a:p>
          <a:p>
            <a:r>
              <a:t>C08: EL17:7,14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C09: EL17:7,14</a:t>
            </a:r>
          </a:p>
          <a:p>
            <a:r>
              <a:t>C10: EL17:13-14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C11: EL17:15</a:t>
            </a:r>
          </a:p>
          <a:p>
            <a:r>
              <a:t>C12: EL17:15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C13: EL18:3-5</a:t>
            </a:r>
          </a:p>
          <a:p>
            <a:r>
              <a:t>C14: EL18:5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C15: EL18:5</a:t>
            </a:r>
          </a:p>
          <a:p>
            <a:r>
              <a:t>C16: EL18:5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C17: EL18:5</a:t>
            </a:r>
          </a:p>
          <a:p>
            <a:r>
              <a:t>C18: EL18:5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C19: EL18:7,9</a:t>
            </a:r>
          </a:p>
          <a:p>
            <a:r>
              <a:t>C20: EL18:6-7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C21: EL18:3-4,6-7</a:t>
            </a:r>
          </a:p>
          <a:p>
            <a:r>
              <a:t>C22: EL18:7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C23: EL18:7</a:t>
            </a:r>
          </a:p>
          <a:p>
            <a:r>
              <a:t>C24: EL18:7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C25: EL18:8-9,12</a:t>
            </a:r>
          </a:p>
          <a:p>
            <a:r>
              <a:t>C26: EL18:3-4,8-9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C27: EL18:9,13</a:t>
            </a:r>
          </a:p>
          <a:p>
            <a:r>
              <a:t>C28: EL18:9,14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C29: EL18:9</a:t>
            </a:r>
          </a:p>
          <a:p>
            <a:r>
              <a:t>C30: EL18:10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C31: EL17:7,14, EL18:10</a:t>
            </a:r>
          </a:p>
          <a:p>
            <a:r>
              <a:t>C32: EL17:7,14, EL18:10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C33: EL18:10</a:t>
            </a:r>
          </a:p>
          <a:p>
            <a:r>
              <a:t>C34: EL18:10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C35: EL17:13</a:t>
            </a:r>
          </a:p>
          <a:p>
            <a:r>
              <a:t>C36: EL17:13-14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C37: EL17:13-14</a:t>
            </a:r>
          </a:p>
          <a:p>
            <a:r>
              <a:t>C38: EL17:10,13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C39: EL17:15</a:t>
            </a:r>
          </a:p>
          <a:p>
            <a:r>
              <a:t>C40: EL17:15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 EL09:4–10. Her hedder grenstrømmene I1, I2 og I3; i originalen I, I1 og I2. Alle pile er bevidst valgt ud af a, så kildegrenen får −3 A i stedet for originalens +3 A. Belastningsresistansen R i originalen kaldes her R3. Begge kildepolariteter følger originalen. Knudepunktsmetoden er den primære løsningsvej; KVL bruges til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189 kildesider er gennemgået. Billedformler er visuelt transskriberet; source_locations peger på konkrete sider. Originalfiler og PDF-kopi har SHA256 i databasen.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189 kildesider er gennemgået. Billedformler er visuelt transskriberet; source_locations peger på konkrete sider. Originalfiler og PDF-kopi har SHA256 i databasen.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189 kildesider er gennemgået. Billedformler er visuelt transskriberet; source_locations peger på konkrete sider. Originalfiler og PDF-kopi har SHA256 i databasen.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Korrekturer er angivet åbent. BIPM: https://www.bipm.org/en/si-base-units/ampere ; NIST: https://physics.nist.gov/cuu/pdf/wall_2022.pdf. Ingen originale præsentationer er ændret.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Korrekturer er angivet åbent. BIPM: https://www.bipm.org/en/si-base-units/ampere ; NIST: https://physics.nist.gov/cuu/pdf/wall_2022.pdf. Ingen originale præsentationer er ændret.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Kildebaserede DC-formler fra 16 oprindelige EL-præsentationer og to kondensatorlektioner (29 sider). Kapacitans, konstantstrøm og RC-transienter er dækket under angivne idealantagelser. AC-reaktans, impedans og øvrig AC er fortsat udækket; ikke en fuld BM4-pensumdækning.</a:t>
            </a:r>
          </a:p>
          <a:p>
            <a:r>
              <a:t>De refererede undervisningsfiler om AC, RLC, trefase samt opgavesamlingen er ikke tilgængelige i de gennemgåede lokale mapper. Der er ikke opfundet adgang eller fyldt generiske AC-kapitler 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2.xml"/><Relationship Id="rId12" Type="http://schemas.openxmlformats.org/officeDocument/2006/relationships/slide" Target="slide17.xml"/><Relationship Id="rId13" Type="http://schemas.openxmlformats.org/officeDocument/2006/relationships/slide" Target="slide18.xml"/><Relationship Id="rId14" Type="http://schemas.openxmlformats.org/officeDocument/2006/relationships/slide" Target="slide19.xml"/><Relationship Id="rId15" Type="http://schemas.openxmlformats.org/officeDocument/2006/relationships/slide" Target="slide20.xml"/><Relationship Id="rId16" Type="http://schemas.openxmlformats.org/officeDocument/2006/relationships/slide" Target="slide21.xml"/><Relationship Id="rId17" Type="http://schemas.openxmlformats.org/officeDocument/2006/relationships/slide" Target="slide1.xml"/><Relationship Id="rId18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3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1.xml"/><Relationship Id="rId13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notesSlide" Target="../notesSlides/notesSlide4.xml"/><Relationship Id="rId13" Type="http://schemas.openxmlformats.org/officeDocument/2006/relationships/slide" Target="slide25.xml"/><Relationship Id="rId14" Type="http://schemas.openxmlformats.org/officeDocument/2006/relationships/slide" Target="slide26.xml"/><Relationship Id="rId15" Type="http://schemas.openxmlformats.org/officeDocument/2006/relationships/slide" Target="slide27.xml"/><Relationship Id="rId16" Type="http://schemas.openxmlformats.org/officeDocument/2006/relationships/slide" Target="slide28.xml"/><Relationship Id="rId17" Type="http://schemas.openxmlformats.org/officeDocument/2006/relationships/slide" Target="slide29.xml"/><Relationship Id="rId18" Type="http://schemas.openxmlformats.org/officeDocument/2006/relationships/slide" Target="slide1.xml"/><Relationship Id="rId19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notesSlide" Target="../notesSlides/notesSlide5.xml"/><Relationship Id="rId9" Type="http://schemas.openxmlformats.org/officeDocument/2006/relationships/slide" Target="slide30.xml"/><Relationship Id="rId10" Type="http://schemas.openxmlformats.org/officeDocument/2006/relationships/slide" Target="slide31.xml"/><Relationship Id="rId11" Type="http://schemas.openxmlformats.org/officeDocument/2006/relationships/slide" Target="slide32.xml"/><Relationship Id="rId12" Type="http://schemas.openxmlformats.org/officeDocument/2006/relationships/slide" Target="slide1.xml"/><Relationship Id="rId13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notesSlide" Target="../notesSlides/notesSlide6.xml"/><Relationship Id="rId11" Type="http://schemas.openxmlformats.org/officeDocument/2006/relationships/slide" Target="slide33.xml"/><Relationship Id="rId12" Type="http://schemas.openxmlformats.org/officeDocument/2006/relationships/slide" Target="slide34.xml"/><Relationship Id="rId13" Type="http://schemas.openxmlformats.org/officeDocument/2006/relationships/slide" Target="slide35.xml"/><Relationship Id="rId14" Type="http://schemas.openxmlformats.org/officeDocument/2006/relationships/slide" Target="slide36.xml"/><Relationship Id="rId15" Type="http://schemas.openxmlformats.org/officeDocument/2006/relationships/slide" Target="slide1.xml"/><Relationship Id="rId16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notesSlide" Target="../notesSlides/notesSlide7.xml"/><Relationship Id="rId13" Type="http://schemas.openxmlformats.org/officeDocument/2006/relationships/slide" Target="slide37.xml"/><Relationship Id="rId14" Type="http://schemas.openxmlformats.org/officeDocument/2006/relationships/slide" Target="slide38.xml"/><Relationship Id="rId15" Type="http://schemas.openxmlformats.org/officeDocument/2006/relationships/slide" Target="slide39.xml"/><Relationship Id="rId16" Type="http://schemas.openxmlformats.org/officeDocument/2006/relationships/slide" Target="slide40.xml"/><Relationship Id="rId17" Type="http://schemas.openxmlformats.org/officeDocument/2006/relationships/slide" Target="slide41.xml"/><Relationship Id="rId18" Type="http://schemas.openxmlformats.org/officeDocument/2006/relationships/slide" Target="slide1.xml"/><Relationship Id="rId19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notesSlide" Target="../notesSlides/notesSlide8.xml"/><Relationship Id="rId13" Type="http://schemas.openxmlformats.org/officeDocument/2006/relationships/slide" Target="slide42.xml"/><Relationship Id="rId14" Type="http://schemas.openxmlformats.org/officeDocument/2006/relationships/slide" Target="slide43.xml"/><Relationship Id="rId15" Type="http://schemas.openxmlformats.org/officeDocument/2006/relationships/slide" Target="slide44.xml"/><Relationship Id="rId16" Type="http://schemas.openxmlformats.org/officeDocument/2006/relationships/slide" Target="slide45.xml"/><Relationship Id="rId17" Type="http://schemas.openxmlformats.org/officeDocument/2006/relationships/slide" Target="slide46.xml"/><Relationship Id="rId18" Type="http://schemas.openxmlformats.org/officeDocument/2006/relationships/slide" Target="slide1.xml"/><Relationship Id="rId19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notesSlide" Target="../notesSlides/notesSlide9.xml"/><Relationship Id="rId13" Type="http://schemas.openxmlformats.org/officeDocument/2006/relationships/slide" Target="slide47.xml"/><Relationship Id="rId14" Type="http://schemas.openxmlformats.org/officeDocument/2006/relationships/slide" Target="slide48.xml"/><Relationship Id="rId15" Type="http://schemas.openxmlformats.org/officeDocument/2006/relationships/slide" Target="slide49.xml"/><Relationship Id="rId16" Type="http://schemas.openxmlformats.org/officeDocument/2006/relationships/slide" Target="slide50.xml"/><Relationship Id="rId17" Type="http://schemas.openxmlformats.org/officeDocument/2006/relationships/slide" Target="slide51.xml"/><Relationship Id="rId18" Type="http://schemas.openxmlformats.org/officeDocument/2006/relationships/slide" Target="slide1.xml"/><Relationship Id="rId1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10.xml"/><Relationship Id="rId6" Type="http://schemas.openxmlformats.org/officeDocument/2006/relationships/slide" Target="slide52.xml"/><Relationship Id="rId7" Type="http://schemas.openxmlformats.org/officeDocument/2006/relationships/slide" Target="slide53.xml"/><Relationship Id="rId8" Type="http://schemas.openxmlformats.org/officeDocument/2006/relationships/slide" Target="slide1.xml"/><Relationship Id="rId9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notesSlide" Target="../notesSlides/notesSlide11.xml"/><Relationship Id="rId9" Type="http://schemas.openxmlformats.org/officeDocument/2006/relationships/slide" Target="slide54.xml"/><Relationship Id="rId10" Type="http://schemas.openxmlformats.org/officeDocument/2006/relationships/slide" Target="slide55.xml"/><Relationship Id="rId11" Type="http://schemas.openxmlformats.org/officeDocument/2006/relationships/slide" Target="slide56.xml"/><Relationship Id="rId12" Type="http://schemas.openxmlformats.org/officeDocument/2006/relationships/slide" Target="slide1.xml"/><Relationship Id="rId13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notesSlide" Target="../notesSlides/notesSlide12.xml"/><Relationship Id="rId7" Type="http://schemas.openxmlformats.org/officeDocument/2006/relationships/slide" Target="slide57.xml"/><Relationship Id="rId8" Type="http://schemas.openxmlformats.org/officeDocument/2006/relationships/slide" Target="slide58.xml"/><Relationship Id="rId9" Type="http://schemas.openxmlformats.org/officeDocument/2006/relationships/slide" Target="slide1.xml"/><Relationship Id="rId10" Type="http://schemas.openxmlformats.org/officeDocument/2006/relationships/slide" Target="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Relationship Id="rId9" Type="http://schemas.openxmlformats.org/officeDocument/2006/relationships/image" Target="../media/image90.png"/><Relationship Id="rId10" Type="http://schemas.openxmlformats.org/officeDocument/2006/relationships/image" Target="../media/image91.png"/><Relationship Id="rId11" Type="http://schemas.openxmlformats.org/officeDocument/2006/relationships/image" Target="../media/image92.png"/><Relationship Id="rId12" Type="http://schemas.openxmlformats.org/officeDocument/2006/relationships/notesSlide" Target="../notesSlides/notesSlide13.xml"/><Relationship Id="rId13" Type="http://schemas.openxmlformats.org/officeDocument/2006/relationships/slide" Target="slide59.xml"/><Relationship Id="rId14" Type="http://schemas.openxmlformats.org/officeDocument/2006/relationships/slide" Target="slide60.xml"/><Relationship Id="rId15" Type="http://schemas.openxmlformats.org/officeDocument/2006/relationships/slide" Target="slide61.xml"/><Relationship Id="rId16" Type="http://schemas.openxmlformats.org/officeDocument/2006/relationships/slide" Target="slide62.xml"/><Relationship Id="rId17" Type="http://schemas.openxmlformats.org/officeDocument/2006/relationships/slide" Target="slide63.xml"/><Relationship Id="rId18" Type="http://schemas.openxmlformats.org/officeDocument/2006/relationships/slide" Target="slide1.xml"/><Relationship Id="rId19" Type="http://schemas.openxmlformats.org/officeDocument/2006/relationships/slide" Target="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99.png"/><Relationship Id="rId9" Type="http://schemas.openxmlformats.org/officeDocument/2006/relationships/image" Target="../media/image100.png"/><Relationship Id="rId10" Type="http://schemas.openxmlformats.org/officeDocument/2006/relationships/image" Target="../media/image101.png"/><Relationship Id="rId11" Type="http://schemas.openxmlformats.org/officeDocument/2006/relationships/image" Target="../media/image102.png"/><Relationship Id="rId12" Type="http://schemas.openxmlformats.org/officeDocument/2006/relationships/notesSlide" Target="../notesSlides/notesSlide14.xml"/><Relationship Id="rId13" Type="http://schemas.openxmlformats.org/officeDocument/2006/relationships/slide" Target="slide64.xml"/><Relationship Id="rId14" Type="http://schemas.openxmlformats.org/officeDocument/2006/relationships/slide" Target="slide65.xml"/><Relationship Id="rId15" Type="http://schemas.openxmlformats.org/officeDocument/2006/relationships/slide" Target="slide66.xml"/><Relationship Id="rId16" Type="http://schemas.openxmlformats.org/officeDocument/2006/relationships/slide" Target="slide67.xml"/><Relationship Id="rId17" Type="http://schemas.openxmlformats.org/officeDocument/2006/relationships/slide" Target="slide68.xml"/><Relationship Id="rId18" Type="http://schemas.openxmlformats.org/officeDocument/2006/relationships/slide" Target="slide1.xml"/><Relationship Id="rId19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notesSlide" Target="../notesSlides/notesSlide15.xml"/><Relationship Id="rId13" Type="http://schemas.openxmlformats.org/officeDocument/2006/relationships/slide" Target="slide69.xml"/><Relationship Id="rId14" Type="http://schemas.openxmlformats.org/officeDocument/2006/relationships/slide" Target="slide70.xml"/><Relationship Id="rId15" Type="http://schemas.openxmlformats.org/officeDocument/2006/relationships/slide" Target="slide71.xml"/><Relationship Id="rId16" Type="http://schemas.openxmlformats.org/officeDocument/2006/relationships/slide" Target="slide72.xml"/><Relationship Id="rId17" Type="http://schemas.openxmlformats.org/officeDocument/2006/relationships/slide" Target="slide73.xml"/><Relationship Id="rId18" Type="http://schemas.openxmlformats.org/officeDocument/2006/relationships/slide" Target="slide1.xml"/><Relationship Id="rId19" Type="http://schemas.openxmlformats.org/officeDocument/2006/relationships/slide" Target="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Relationship Id="rId12" Type="http://schemas.openxmlformats.org/officeDocument/2006/relationships/notesSlide" Target="../notesSlides/notesSlide16.xml"/><Relationship Id="rId13" Type="http://schemas.openxmlformats.org/officeDocument/2006/relationships/slide" Target="slide74.xml"/><Relationship Id="rId14" Type="http://schemas.openxmlformats.org/officeDocument/2006/relationships/slide" Target="slide75.xml"/><Relationship Id="rId15" Type="http://schemas.openxmlformats.org/officeDocument/2006/relationships/slide" Target="slide76.xml"/><Relationship Id="rId16" Type="http://schemas.openxmlformats.org/officeDocument/2006/relationships/slide" Target="slide77.xml"/><Relationship Id="rId17" Type="http://schemas.openxmlformats.org/officeDocument/2006/relationships/slide" Target="slide78.xml"/><Relationship Id="rId18" Type="http://schemas.openxmlformats.org/officeDocument/2006/relationships/slide" Target="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2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notesSlide" Target="../notesSlides/notesSlide17.xml"/><Relationship Id="rId11" Type="http://schemas.openxmlformats.org/officeDocument/2006/relationships/slide" Target="slide2.xml"/><Relationship Id="rId12" Type="http://schemas.openxmlformats.org/officeDocument/2006/relationships/slide" Target="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4.png"/><Relationship Id="rId7" Type="http://schemas.openxmlformats.org/officeDocument/2006/relationships/image" Target="../media/image132.png"/><Relationship Id="rId8" Type="http://schemas.openxmlformats.org/officeDocument/2006/relationships/notesSlide" Target="../notesSlides/notesSlide18.xml"/><Relationship Id="rId9" Type="http://schemas.openxmlformats.org/officeDocument/2006/relationships/slide" Target="slide2.xml"/><Relationship Id="rId10" Type="http://schemas.openxmlformats.org/officeDocument/2006/relationships/slide" Target="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6.png"/><Relationship Id="rId7" Type="http://schemas.openxmlformats.org/officeDocument/2006/relationships/image" Target="../media/image136.png"/><Relationship Id="rId8" Type="http://schemas.openxmlformats.org/officeDocument/2006/relationships/notesSlide" Target="../notesSlides/notesSlide19.xml"/><Relationship Id="rId9" Type="http://schemas.openxmlformats.org/officeDocument/2006/relationships/slide" Target="slide2.xml"/><Relationship Id="rId10" Type="http://schemas.openxmlformats.org/officeDocument/2006/relationships/slide" Target="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37.png"/><Relationship Id="rId4" Type="http://schemas.openxmlformats.org/officeDocument/2006/relationships/image" Target="../media/image8.png"/><Relationship Id="rId5" Type="http://schemas.openxmlformats.org/officeDocument/2006/relationships/image" Target="../media/image138.png"/><Relationship Id="rId6" Type="http://schemas.openxmlformats.org/officeDocument/2006/relationships/image" Target="../media/image139.png"/><Relationship Id="rId7" Type="http://schemas.openxmlformats.org/officeDocument/2006/relationships/notesSlide" Target="../notesSlides/notesSlide20.xml"/><Relationship Id="rId8" Type="http://schemas.openxmlformats.org/officeDocument/2006/relationships/slide" Target="slide2.xml"/><Relationship Id="rId9" Type="http://schemas.openxmlformats.org/officeDocument/2006/relationships/slide" Target="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1.xml"/><Relationship Id="rId4" Type="http://schemas.openxmlformats.org/officeDocument/2006/relationships/slide" Target="slide2.xml"/><Relationship Id="rId5" Type="http://schemas.openxmlformats.org/officeDocument/2006/relationships/slide" Target="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27.png"/><Relationship Id="rId4" Type="http://schemas.openxmlformats.org/officeDocument/2006/relationships/image" Target="../media/image11.png"/><Relationship Id="rId5" Type="http://schemas.openxmlformats.org/officeDocument/2006/relationships/image" Target="../media/image140.png"/><Relationship Id="rId6" Type="http://schemas.openxmlformats.org/officeDocument/2006/relationships/notesSlide" Target="../notesSlides/notesSlide22.xml"/><Relationship Id="rId7" Type="http://schemas.openxmlformats.org/officeDocument/2006/relationships/slide" Target="slide3.xml"/><Relationship Id="rId8" Type="http://schemas.openxmlformats.org/officeDocument/2006/relationships/slide" Target="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41.png"/><Relationship Id="rId4" Type="http://schemas.openxmlformats.org/officeDocument/2006/relationships/image" Target="../media/image13.png"/><Relationship Id="rId5" Type="http://schemas.openxmlformats.org/officeDocument/2006/relationships/image" Target="../media/image142.png"/><Relationship Id="rId6" Type="http://schemas.openxmlformats.org/officeDocument/2006/relationships/notesSlide" Target="../notesSlides/notesSlide23.xml"/><Relationship Id="rId7" Type="http://schemas.openxmlformats.org/officeDocument/2006/relationships/slide" Target="slide3.xml"/><Relationship Id="rId8" Type="http://schemas.openxmlformats.org/officeDocument/2006/relationships/slide" Target="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5.png"/><Relationship Id="rId6" Type="http://schemas.openxmlformats.org/officeDocument/2006/relationships/image" Target="../media/image145.png"/><Relationship Id="rId7" Type="http://schemas.openxmlformats.org/officeDocument/2006/relationships/notesSlide" Target="../notesSlides/notesSlide24.xml"/><Relationship Id="rId8" Type="http://schemas.openxmlformats.org/officeDocument/2006/relationships/slide" Target="slide3.xml"/><Relationship Id="rId9" Type="http://schemas.openxmlformats.org/officeDocument/2006/relationships/slide" Target="slide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27.png"/><Relationship Id="rId4" Type="http://schemas.openxmlformats.org/officeDocument/2006/relationships/image" Target="../media/image17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notesSlide" Target="../notesSlides/notesSlide25.xml"/><Relationship Id="rId8" Type="http://schemas.openxmlformats.org/officeDocument/2006/relationships/slide" Target="slide4.xml"/><Relationship Id="rId9" Type="http://schemas.openxmlformats.org/officeDocument/2006/relationships/slide" Target="slide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Relationship Id="rId6" Type="http://schemas.openxmlformats.org/officeDocument/2006/relationships/image" Target="../media/image150.png"/><Relationship Id="rId7" Type="http://schemas.openxmlformats.org/officeDocument/2006/relationships/image" Target="../media/image151.png"/><Relationship Id="rId8" Type="http://schemas.openxmlformats.org/officeDocument/2006/relationships/notesSlide" Target="../notesSlides/notesSlide26.xml"/><Relationship Id="rId9" Type="http://schemas.openxmlformats.org/officeDocument/2006/relationships/slide" Target="slide4.xml"/><Relationship Id="rId10" Type="http://schemas.openxmlformats.org/officeDocument/2006/relationships/slide" Target="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Relationship Id="rId5" Type="http://schemas.openxmlformats.org/officeDocument/2006/relationships/image" Target="../media/image154.png"/><Relationship Id="rId6" Type="http://schemas.openxmlformats.org/officeDocument/2006/relationships/image" Target="../media/image21.png"/><Relationship Id="rId7" Type="http://schemas.openxmlformats.org/officeDocument/2006/relationships/notesSlide" Target="../notesSlides/notesSlide27.xml"/><Relationship Id="rId8" Type="http://schemas.openxmlformats.org/officeDocument/2006/relationships/slide" Target="slide4.xml"/><Relationship Id="rId9" Type="http://schemas.openxmlformats.org/officeDocument/2006/relationships/slide" Target="slide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155.png"/><Relationship Id="rId4" Type="http://schemas.openxmlformats.org/officeDocument/2006/relationships/image" Target="../media/image156.png"/><Relationship Id="rId5" Type="http://schemas.openxmlformats.org/officeDocument/2006/relationships/image" Target="../media/image23.png"/><Relationship Id="rId6" Type="http://schemas.openxmlformats.org/officeDocument/2006/relationships/image" Target="../media/image157.png"/><Relationship Id="rId7" Type="http://schemas.openxmlformats.org/officeDocument/2006/relationships/image" Target="../media/image158.png"/><Relationship Id="rId8" Type="http://schemas.openxmlformats.org/officeDocument/2006/relationships/image" Target="../media/image159.png"/><Relationship Id="rId9" Type="http://schemas.openxmlformats.org/officeDocument/2006/relationships/notesSlide" Target="../notesSlides/notesSlide28.xml"/><Relationship Id="rId10" Type="http://schemas.openxmlformats.org/officeDocument/2006/relationships/slide" Target="slide4.xml"/><Relationship Id="rId11" Type="http://schemas.openxmlformats.org/officeDocument/2006/relationships/slide" Target="slide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60.png"/><Relationship Id="rId4" Type="http://schemas.openxmlformats.org/officeDocument/2006/relationships/image" Target="../media/image161.png"/><Relationship Id="rId5" Type="http://schemas.openxmlformats.org/officeDocument/2006/relationships/image" Target="../media/image25.png"/><Relationship Id="rId6" Type="http://schemas.openxmlformats.org/officeDocument/2006/relationships/image" Target="../media/image162.png"/><Relationship Id="rId7" Type="http://schemas.openxmlformats.org/officeDocument/2006/relationships/image" Target="../media/image163.png"/><Relationship Id="rId8" Type="http://schemas.openxmlformats.org/officeDocument/2006/relationships/notesSlide" Target="../notesSlides/notesSlide29.xml"/><Relationship Id="rId9" Type="http://schemas.openxmlformats.org/officeDocument/2006/relationships/slide" Target="slide4.xml"/><Relationship Id="rId10" Type="http://schemas.openxmlformats.org/officeDocument/2006/relationships/slide" Target="slide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164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notesSlide" Target="../notesSlides/notesSlide30.xml"/><Relationship Id="rId8" Type="http://schemas.openxmlformats.org/officeDocument/2006/relationships/slide" Target="slide5.xml"/><Relationship Id="rId9" Type="http://schemas.openxmlformats.org/officeDocument/2006/relationships/slide" Target="slide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167.png"/><Relationship Id="rId4" Type="http://schemas.openxmlformats.org/officeDocument/2006/relationships/image" Target="../media/image168.png"/><Relationship Id="rId5" Type="http://schemas.openxmlformats.org/officeDocument/2006/relationships/image" Target="../media/image169.png"/><Relationship Id="rId6" Type="http://schemas.openxmlformats.org/officeDocument/2006/relationships/image" Target="../media/image29.png"/><Relationship Id="rId7" Type="http://schemas.openxmlformats.org/officeDocument/2006/relationships/image" Target="../media/image170.png"/><Relationship Id="rId8" Type="http://schemas.openxmlformats.org/officeDocument/2006/relationships/image" Target="../media/image171.png"/><Relationship Id="rId9" Type="http://schemas.openxmlformats.org/officeDocument/2006/relationships/image" Target="../media/image172.png"/><Relationship Id="rId10" Type="http://schemas.openxmlformats.org/officeDocument/2006/relationships/notesSlide" Target="../notesSlides/notesSlide31.xml"/><Relationship Id="rId11" Type="http://schemas.openxmlformats.org/officeDocument/2006/relationships/slide" Target="slide5.xml"/><Relationship Id="rId12" Type="http://schemas.openxmlformats.org/officeDocument/2006/relationships/slide" Target="slide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162.png"/><Relationship Id="rId4" Type="http://schemas.openxmlformats.org/officeDocument/2006/relationships/image" Target="../media/image173.png"/><Relationship Id="rId5" Type="http://schemas.openxmlformats.org/officeDocument/2006/relationships/image" Target="../media/image31.png"/><Relationship Id="rId6" Type="http://schemas.openxmlformats.org/officeDocument/2006/relationships/image" Target="../media/image174.png"/><Relationship Id="rId7" Type="http://schemas.openxmlformats.org/officeDocument/2006/relationships/image" Target="../media/image175.png"/><Relationship Id="rId8" Type="http://schemas.openxmlformats.org/officeDocument/2006/relationships/image" Target="../media/image176.png"/><Relationship Id="rId9" Type="http://schemas.openxmlformats.org/officeDocument/2006/relationships/image" Target="../media/image177.png"/><Relationship Id="rId10" Type="http://schemas.openxmlformats.org/officeDocument/2006/relationships/notesSlide" Target="../notesSlides/notesSlide32.xml"/><Relationship Id="rId11" Type="http://schemas.openxmlformats.org/officeDocument/2006/relationships/slide" Target="slide5.xml"/><Relationship Id="rId12" Type="http://schemas.openxmlformats.org/officeDocument/2006/relationships/slide" Target="slide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78.png"/><Relationship Id="rId4" Type="http://schemas.openxmlformats.org/officeDocument/2006/relationships/image" Target="../media/image179.png"/><Relationship Id="rId5" Type="http://schemas.openxmlformats.org/officeDocument/2006/relationships/image" Target="../media/image180.png"/><Relationship Id="rId6" Type="http://schemas.openxmlformats.org/officeDocument/2006/relationships/image" Target="../media/image33.png"/><Relationship Id="rId7" Type="http://schemas.openxmlformats.org/officeDocument/2006/relationships/image" Target="../media/image181.png"/><Relationship Id="rId8" Type="http://schemas.openxmlformats.org/officeDocument/2006/relationships/notesSlide" Target="../notesSlides/notesSlide33.xml"/><Relationship Id="rId9" Type="http://schemas.openxmlformats.org/officeDocument/2006/relationships/slide" Target="slide6.xml"/><Relationship Id="rId10" Type="http://schemas.openxmlformats.org/officeDocument/2006/relationships/slide" Target="slide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137.png"/><Relationship Id="rId4" Type="http://schemas.openxmlformats.org/officeDocument/2006/relationships/image" Target="../media/image35.png"/><Relationship Id="rId5" Type="http://schemas.openxmlformats.org/officeDocument/2006/relationships/image" Target="../media/image182.png"/><Relationship Id="rId6" Type="http://schemas.openxmlformats.org/officeDocument/2006/relationships/image" Target="../media/image134.png"/><Relationship Id="rId7" Type="http://schemas.openxmlformats.org/officeDocument/2006/relationships/image" Target="../media/image183.png"/><Relationship Id="rId8" Type="http://schemas.openxmlformats.org/officeDocument/2006/relationships/image" Target="../media/image184.png"/><Relationship Id="rId9" Type="http://schemas.openxmlformats.org/officeDocument/2006/relationships/notesSlide" Target="../notesSlides/notesSlide34.xml"/><Relationship Id="rId10" Type="http://schemas.openxmlformats.org/officeDocument/2006/relationships/slide" Target="slide6.xml"/><Relationship Id="rId11" Type="http://schemas.openxmlformats.org/officeDocument/2006/relationships/slide" Target="slide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129.png"/><Relationship Id="rId4" Type="http://schemas.openxmlformats.org/officeDocument/2006/relationships/image" Target="../media/image185.png"/><Relationship Id="rId5" Type="http://schemas.openxmlformats.org/officeDocument/2006/relationships/image" Target="../media/image186.png"/><Relationship Id="rId6" Type="http://schemas.openxmlformats.org/officeDocument/2006/relationships/image" Target="../media/image187.png"/><Relationship Id="rId7" Type="http://schemas.openxmlformats.org/officeDocument/2006/relationships/image" Target="../media/image37.png"/><Relationship Id="rId8" Type="http://schemas.openxmlformats.org/officeDocument/2006/relationships/image" Target="../media/image188.png"/><Relationship Id="rId9" Type="http://schemas.openxmlformats.org/officeDocument/2006/relationships/notesSlide" Target="../notesSlides/notesSlide35.xml"/><Relationship Id="rId10" Type="http://schemas.openxmlformats.org/officeDocument/2006/relationships/slide" Target="slide6.xml"/><Relationship Id="rId11" Type="http://schemas.openxmlformats.org/officeDocument/2006/relationships/slide" Target="slide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189.png"/><Relationship Id="rId4" Type="http://schemas.openxmlformats.org/officeDocument/2006/relationships/image" Target="../media/image190.png"/><Relationship Id="rId5" Type="http://schemas.openxmlformats.org/officeDocument/2006/relationships/image" Target="../media/image39.png"/><Relationship Id="rId6" Type="http://schemas.openxmlformats.org/officeDocument/2006/relationships/image" Target="../media/image191.png"/><Relationship Id="rId7" Type="http://schemas.openxmlformats.org/officeDocument/2006/relationships/image" Target="../media/image192.png"/><Relationship Id="rId8" Type="http://schemas.openxmlformats.org/officeDocument/2006/relationships/image" Target="../media/image193.png"/><Relationship Id="rId9" Type="http://schemas.openxmlformats.org/officeDocument/2006/relationships/notesSlide" Target="../notesSlides/notesSlide36.xml"/><Relationship Id="rId10" Type="http://schemas.openxmlformats.org/officeDocument/2006/relationships/slide" Target="slide6.xml"/><Relationship Id="rId11" Type="http://schemas.openxmlformats.org/officeDocument/2006/relationships/slide" Target="slide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194.png"/><Relationship Id="rId4" Type="http://schemas.openxmlformats.org/officeDocument/2006/relationships/image" Target="../media/image195.png"/><Relationship Id="rId5" Type="http://schemas.openxmlformats.org/officeDocument/2006/relationships/image" Target="../media/image196.png"/><Relationship Id="rId6" Type="http://schemas.openxmlformats.org/officeDocument/2006/relationships/image" Target="../media/image197.png"/><Relationship Id="rId7" Type="http://schemas.openxmlformats.org/officeDocument/2006/relationships/image" Target="../media/image198.png"/><Relationship Id="rId8" Type="http://schemas.openxmlformats.org/officeDocument/2006/relationships/image" Target="../media/image41.png"/><Relationship Id="rId9" Type="http://schemas.openxmlformats.org/officeDocument/2006/relationships/image" Target="../media/image199.png"/><Relationship Id="rId10" Type="http://schemas.openxmlformats.org/officeDocument/2006/relationships/image" Target="../media/image200.png"/><Relationship Id="rId11" Type="http://schemas.openxmlformats.org/officeDocument/2006/relationships/notesSlide" Target="../notesSlides/notesSlide37.xml"/><Relationship Id="rId12" Type="http://schemas.openxmlformats.org/officeDocument/2006/relationships/slide" Target="slide7.xml"/><Relationship Id="rId13" Type="http://schemas.openxmlformats.org/officeDocument/2006/relationships/slide" Target="slide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201.png"/><Relationship Id="rId4" Type="http://schemas.openxmlformats.org/officeDocument/2006/relationships/image" Target="../media/image202.png"/><Relationship Id="rId5" Type="http://schemas.openxmlformats.org/officeDocument/2006/relationships/image" Target="../media/image203.png"/><Relationship Id="rId6" Type="http://schemas.openxmlformats.org/officeDocument/2006/relationships/image" Target="../media/image43.png"/><Relationship Id="rId7" Type="http://schemas.openxmlformats.org/officeDocument/2006/relationships/image" Target="../media/image204.png"/><Relationship Id="rId8" Type="http://schemas.openxmlformats.org/officeDocument/2006/relationships/notesSlide" Target="../notesSlides/notesSlide38.xml"/><Relationship Id="rId9" Type="http://schemas.openxmlformats.org/officeDocument/2006/relationships/slide" Target="slide7.xml"/><Relationship Id="rId10" Type="http://schemas.openxmlformats.org/officeDocument/2006/relationships/slide" Target="slide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205.png"/><Relationship Id="rId4" Type="http://schemas.openxmlformats.org/officeDocument/2006/relationships/image" Target="../media/image206.png"/><Relationship Id="rId5" Type="http://schemas.openxmlformats.org/officeDocument/2006/relationships/image" Target="../media/image207.png"/><Relationship Id="rId6" Type="http://schemas.openxmlformats.org/officeDocument/2006/relationships/image" Target="../media/image208.png"/><Relationship Id="rId7" Type="http://schemas.openxmlformats.org/officeDocument/2006/relationships/image" Target="../media/image209.png"/><Relationship Id="rId8" Type="http://schemas.openxmlformats.org/officeDocument/2006/relationships/image" Target="../media/image45.png"/><Relationship Id="rId9" Type="http://schemas.openxmlformats.org/officeDocument/2006/relationships/image" Target="../media/image210.png"/><Relationship Id="rId10" Type="http://schemas.openxmlformats.org/officeDocument/2006/relationships/image" Target="../media/image211.png"/><Relationship Id="rId11" Type="http://schemas.openxmlformats.org/officeDocument/2006/relationships/notesSlide" Target="../notesSlides/notesSlide39.xml"/><Relationship Id="rId12" Type="http://schemas.openxmlformats.org/officeDocument/2006/relationships/slide" Target="slide7.xml"/><Relationship Id="rId13" Type="http://schemas.openxmlformats.org/officeDocument/2006/relationships/slide" Target="slide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212.png"/><Relationship Id="rId4" Type="http://schemas.openxmlformats.org/officeDocument/2006/relationships/image" Target="../media/image213.png"/><Relationship Id="rId5" Type="http://schemas.openxmlformats.org/officeDocument/2006/relationships/image" Target="../media/image214.png"/><Relationship Id="rId6" Type="http://schemas.openxmlformats.org/officeDocument/2006/relationships/image" Target="../media/image215.png"/><Relationship Id="rId7" Type="http://schemas.openxmlformats.org/officeDocument/2006/relationships/image" Target="../media/image47.png"/><Relationship Id="rId8" Type="http://schemas.openxmlformats.org/officeDocument/2006/relationships/image" Target="../media/image216.png"/><Relationship Id="rId9" Type="http://schemas.openxmlformats.org/officeDocument/2006/relationships/image" Target="../media/image217.png"/><Relationship Id="rId10" Type="http://schemas.openxmlformats.org/officeDocument/2006/relationships/notesSlide" Target="../notesSlides/notesSlide40.xml"/><Relationship Id="rId11" Type="http://schemas.openxmlformats.org/officeDocument/2006/relationships/slide" Target="slide7.xml"/><Relationship Id="rId12" Type="http://schemas.openxmlformats.org/officeDocument/2006/relationships/slide" Target="slide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193.png"/><Relationship Id="rId4" Type="http://schemas.openxmlformats.org/officeDocument/2006/relationships/image" Target="../media/image213.png"/><Relationship Id="rId5" Type="http://schemas.openxmlformats.org/officeDocument/2006/relationships/image" Target="../media/image218.png"/><Relationship Id="rId6" Type="http://schemas.openxmlformats.org/officeDocument/2006/relationships/image" Target="../media/image219.png"/><Relationship Id="rId7" Type="http://schemas.openxmlformats.org/officeDocument/2006/relationships/image" Target="../media/image220.png"/><Relationship Id="rId8" Type="http://schemas.openxmlformats.org/officeDocument/2006/relationships/image" Target="../media/image49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Relationship Id="rId12" Type="http://schemas.openxmlformats.org/officeDocument/2006/relationships/image" Target="../media/image224.png"/><Relationship Id="rId13" Type="http://schemas.openxmlformats.org/officeDocument/2006/relationships/notesSlide" Target="../notesSlides/notesSlide41.xml"/><Relationship Id="rId14" Type="http://schemas.openxmlformats.org/officeDocument/2006/relationships/slide" Target="slide7.xml"/><Relationship Id="rId15" Type="http://schemas.openxmlformats.org/officeDocument/2006/relationships/slide" Target="slide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225.png"/><Relationship Id="rId5" Type="http://schemas.openxmlformats.org/officeDocument/2006/relationships/image" Target="../media/image51.png"/><Relationship Id="rId6" Type="http://schemas.openxmlformats.org/officeDocument/2006/relationships/image" Target="../media/image226.png"/><Relationship Id="rId7" Type="http://schemas.openxmlformats.org/officeDocument/2006/relationships/image" Target="../media/image227.png"/><Relationship Id="rId8" Type="http://schemas.openxmlformats.org/officeDocument/2006/relationships/image" Target="../media/image228.png"/><Relationship Id="rId9" Type="http://schemas.openxmlformats.org/officeDocument/2006/relationships/notesSlide" Target="../notesSlides/notesSlide42.xml"/><Relationship Id="rId10" Type="http://schemas.openxmlformats.org/officeDocument/2006/relationships/slide" Target="slide8.xml"/><Relationship Id="rId11" Type="http://schemas.openxmlformats.org/officeDocument/2006/relationships/slide" Target="slide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image" Target="../media/image232.png"/><Relationship Id="rId8" Type="http://schemas.openxmlformats.org/officeDocument/2006/relationships/image" Target="../media/image233.png"/><Relationship Id="rId9" Type="http://schemas.openxmlformats.org/officeDocument/2006/relationships/notesSlide" Target="../notesSlides/notesSlide43.xml"/><Relationship Id="rId10" Type="http://schemas.openxmlformats.org/officeDocument/2006/relationships/slide" Target="slide8.xml"/><Relationship Id="rId11" Type="http://schemas.openxmlformats.org/officeDocument/2006/relationships/slide" Target="slide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234.png"/><Relationship Id="rId4" Type="http://schemas.openxmlformats.org/officeDocument/2006/relationships/image" Target="../media/image235.png"/><Relationship Id="rId5" Type="http://schemas.openxmlformats.org/officeDocument/2006/relationships/image" Target="../media/image236.png"/><Relationship Id="rId6" Type="http://schemas.openxmlformats.org/officeDocument/2006/relationships/image" Target="../media/image55.png"/><Relationship Id="rId7" Type="http://schemas.openxmlformats.org/officeDocument/2006/relationships/image" Target="../media/image237.png"/><Relationship Id="rId8" Type="http://schemas.openxmlformats.org/officeDocument/2006/relationships/image" Target="../media/image238.png"/><Relationship Id="rId9" Type="http://schemas.openxmlformats.org/officeDocument/2006/relationships/image" Target="../media/image239.png"/><Relationship Id="rId10" Type="http://schemas.openxmlformats.org/officeDocument/2006/relationships/notesSlide" Target="../notesSlides/notesSlide44.xml"/><Relationship Id="rId11" Type="http://schemas.openxmlformats.org/officeDocument/2006/relationships/slide" Target="slide8.xml"/><Relationship Id="rId12" Type="http://schemas.openxmlformats.org/officeDocument/2006/relationships/slide" Target="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230.png"/><Relationship Id="rId4" Type="http://schemas.openxmlformats.org/officeDocument/2006/relationships/image" Target="../media/image240.png"/><Relationship Id="rId5" Type="http://schemas.openxmlformats.org/officeDocument/2006/relationships/image" Target="../media/image57.png"/><Relationship Id="rId6" Type="http://schemas.openxmlformats.org/officeDocument/2006/relationships/image" Target="../media/image241.png"/><Relationship Id="rId7" Type="http://schemas.openxmlformats.org/officeDocument/2006/relationships/image" Target="../media/image242.png"/><Relationship Id="rId8" Type="http://schemas.openxmlformats.org/officeDocument/2006/relationships/notesSlide" Target="../notesSlides/notesSlide45.xml"/><Relationship Id="rId9" Type="http://schemas.openxmlformats.org/officeDocument/2006/relationships/slide" Target="slide8.xml"/><Relationship Id="rId10" Type="http://schemas.openxmlformats.org/officeDocument/2006/relationships/slide" Target="slide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243.png"/><Relationship Id="rId4" Type="http://schemas.openxmlformats.org/officeDocument/2006/relationships/image" Target="../media/image244.png"/><Relationship Id="rId5" Type="http://schemas.openxmlformats.org/officeDocument/2006/relationships/image" Target="../media/image146.png"/><Relationship Id="rId6" Type="http://schemas.openxmlformats.org/officeDocument/2006/relationships/image" Target="../media/image59.png"/><Relationship Id="rId7" Type="http://schemas.openxmlformats.org/officeDocument/2006/relationships/image" Target="../media/image245.png"/><Relationship Id="rId8" Type="http://schemas.openxmlformats.org/officeDocument/2006/relationships/notesSlide" Target="../notesSlides/notesSlide46.xml"/><Relationship Id="rId9" Type="http://schemas.openxmlformats.org/officeDocument/2006/relationships/slide" Target="slide8.xml"/><Relationship Id="rId10" Type="http://schemas.openxmlformats.org/officeDocument/2006/relationships/slide" Target="slide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246.png"/><Relationship Id="rId4" Type="http://schemas.openxmlformats.org/officeDocument/2006/relationships/image" Target="../media/image247.png"/><Relationship Id="rId5" Type="http://schemas.openxmlformats.org/officeDocument/2006/relationships/image" Target="../media/image61.png"/><Relationship Id="rId6" Type="http://schemas.openxmlformats.org/officeDocument/2006/relationships/notesSlide" Target="../notesSlides/notesSlide47.xml"/><Relationship Id="rId7" Type="http://schemas.openxmlformats.org/officeDocument/2006/relationships/slide" Target="slide9.xml"/><Relationship Id="rId8" Type="http://schemas.openxmlformats.org/officeDocument/2006/relationships/slide" Target="slide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248.png"/><Relationship Id="rId4" Type="http://schemas.openxmlformats.org/officeDocument/2006/relationships/image" Target="../media/image63.png"/><Relationship Id="rId5" Type="http://schemas.openxmlformats.org/officeDocument/2006/relationships/image" Target="../media/image249.png"/><Relationship Id="rId6" Type="http://schemas.openxmlformats.org/officeDocument/2006/relationships/image" Target="../media/image250.png"/><Relationship Id="rId7" Type="http://schemas.openxmlformats.org/officeDocument/2006/relationships/image" Target="../media/image251.png"/><Relationship Id="rId8" Type="http://schemas.openxmlformats.org/officeDocument/2006/relationships/notesSlide" Target="../notesSlides/notesSlide48.xml"/><Relationship Id="rId9" Type="http://schemas.openxmlformats.org/officeDocument/2006/relationships/slide" Target="slide9.xml"/><Relationship Id="rId10" Type="http://schemas.openxmlformats.org/officeDocument/2006/relationships/slide" Target="slide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58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image" Target="../media/image252.png"/><Relationship Id="rId7" Type="http://schemas.openxmlformats.org/officeDocument/2006/relationships/notesSlide" Target="../notesSlides/notesSlide49.xml"/><Relationship Id="rId8" Type="http://schemas.openxmlformats.org/officeDocument/2006/relationships/slide" Target="slide9.xml"/><Relationship Id="rId9" Type="http://schemas.openxmlformats.org/officeDocument/2006/relationships/slide" Target="slide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253.png"/><Relationship Id="rId4" Type="http://schemas.openxmlformats.org/officeDocument/2006/relationships/image" Target="../media/image254.png"/><Relationship Id="rId5" Type="http://schemas.openxmlformats.org/officeDocument/2006/relationships/image" Target="../media/image67.png"/><Relationship Id="rId6" Type="http://schemas.openxmlformats.org/officeDocument/2006/relationships/image" Target="../media/image245.png"/><Relationship Id="rId7" Type="http://schemas.openxmlformats.org/officeDocument/2006/relationships/notesSlide" Target="../notesSlides/notesSlide50.xml"/><Relationship Id="rId8" Type="http://schemas.openxmlformats.org/officeDocument/2006/relationships/slide" Target="slide9.xml"/><Relationship Id="rId9" Type="http://schemas.openxmlformats.org/officeDocument/2006/relationships/slide" Target="slide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255.png"/><Relationship Id="rId4" Type="http://schemas.openxmlformats.org/officeDocument/2006/relationships/image" Target="../media/image256.png"/><Relationship Id="rId5" Type="http://schemas.openxmlformats.org/officeDocument/2006/relationships/image" Target="../media/image69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notesSlide" Target="../notesSlides/notesSlide51.xml"/><Relationship Id="rId12" Type="http://schemas.openxmlformats.org/officeDocument/2006/relationships/slide" Target="slide9.xml"/><Relationship Id="rId13" Type="http://schemas.openxmlformats.org/officeDocument/2006/relationships/slide" Target="slide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262.png"/><Relationship Id="rId4" Type="http://schemas.openxmlformats.org/officeDocument/2006/relationships/image" Target="../media/image263.png"/><Relationship Id="rId5" Type="http://schemas.openxmlformats.org/officeDocument/2006/relationships/image" Target="../media/image264.png"/><Relationship Id="rId6" Type="http://schemas.openxmlformats.org/officeDocument/2006/relationships/image" Target="../media/image71.png"/><Relationship Id="rId7" Type="http://schemas.openxmlformats.org/officeDocument/2006/relationships/image" Target="../media/image265.png"/><Relationship Id="rId8" Type="http://schemas.openxmlformats.org/officeDocument/2006/relationships/image" Target="../media/image266.png"/><Relationship Id="rId9" Type="http://schemas.openxmlformats.org/officeDocument/2006/relationships/image" Target="../media/image267.png"/><Relationship Id="rId10" Type="http://schemas.openxmlformats.org/officeDocument/2006/relationships/notesSlide" Target="../notesSlides/notesSlide52.xml"/><Relationship Id="rId11" Type="http://schemas.openxmlformats.org/officeDocument/2006/relationships/slide" Target="slide10.xml"/><Relationship Id="rId12" Type="http://schemas.openxmlformats.org/officeDocument/2006/relationships/slide" Target="slide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268.png"/><Relationship Id="rId4" Type="http://schemas.openxmlformats.org/officeDocument/2006/relationships/image" Target="../media/image269.png"/><Relationship Id="rId5" Type="http://schemas.openxmlformats.org/officeDocument/2006/relationships/notesSlide" Target="../notesSlides/notesSlide53.xml"/><Relationship Id="rId6" Type="http://schemas.openxmlformats.org/officeDocument/2006/relationships/slide" Target="slide10.xml"/><Relationship Id="rId7" Type="http://schemas.openxmlformats.org/officeDocument/2006/relationships/slide" Target="slide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270.png"/><Relationship Id="rId4" Type="http://schemas.openxmlformats.org/officeDocument/2006/relationships/image" Target="../media/image271.png"/><Relationship Id="rId5" Type="http://schemas.openxmlformats.org/officeDocument/2006/relationships/image" Target="../media/image272.png"/><Relationship Id="rId6" Type="http://schemas.openxmlformats.org/officeDocument/2006/relationships/image" Target="../media/image273.png"/><Relationship Id="rId7" Type="http://schemas.openxmlformats.org/officeDocument/2006/relationships/image" Target="../media/image274.png"/><Relationship Id="rId8" Type="http://schemas.openxmlformats.org/officeDocument/2006/relationships/image" Target="../media/image275.png"/><Relationship Id="rId9" Type="http://schemas.openxmlformats.org/officeDocument/2006/relationships/image" Target="../media/image276.png"/><Relationship Id="rId10" Type="http://schemas.openxmlformats.org/officeDocument/2006/relationships/image" Target="../media/image74.png"/><Relationship Id="rId11" Type="http://schemas.openxmlformats.org/officeDocument/2006/relationships/image" Target="../media/image277.png"/><Relationship Id="rId12" Type="http://schemas.openxmlformats.org/officeDocument/2006/relationships/image" Target="../media/image278.png"/><Relationship Id="rId13" Type="http://schemas.openxmlformats.org/officeDocument/2006/relationships/image" Target="../media/image279.png"/><Relationship Id="rId14" Type="http://schemas.openxmlformats.org/officeDocument/2006/relationships/notesSlide" Target="../notesSlides/notesSlide54.xml"/><Relationship Id="rId15" Type="http://schemas.openxmlformats.org/officeDocument/2006/relationships/slide" Target="slide11.xml"/><Relationship Id="rId16" Type="http://schemas.openxmlformats.org/officeDocument/2006/relationships/slide" Target="slide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280.png"/><Relationship Id="rId4" Type="http://schemas.openxmlformats.org/officeDocument/2006/relationships/image" Target="../media/image281.png"/><Relationship Id="rId5" Type="http://schemas.openxmlformats.org/officeDocument/2006/relationships/image" Target="../media/image76.png"/><Relationship Id="rId6" Type="http://schemas.openxmlformats.org/officeDocument/2006/relationships/image" Target="../media/image282.png"/><Relationship Id="rId7" Type="http://schemas.openxmlformats.org/officeDocument/2006/relationships/image" Target="../media/image283.png"/><Relationship Id="rId8" Type="http://schemas.openxmlformats.org/officeDocument/2006/relationships/image" Target="../media/image284.png"/><Relationship Id="rId9" Type="http://schemas.openxmlformats.org/officeDocument/2006/relationships/image" Target="../media/image285.png"/><Relationship Id="rId10" Type="http://schemas.openxmlformats.org/officeDocument/2006/relationships/image" Target="../media/image286.png"/><Relationship Id="rId11" Type="http://schemas.openxmlformats.org/officeDocument/2006/relationships/image" Target="../media/image287.png"/><Relationship Id="rId12" Type="http://schemas.openxmlformats.org/officeDocument/2006/relationships/notesSlide" Target="../notesSlides/notesSlide55.xml"/><Relationship Id="rId13" Type="http://schemas.openxmlformats.org/officeDocument/2006/relationships/slide" Target="slide11.xml"/><Relationship Id="rId14" Type="http://schemas.openxmlformats.org/officeDocument/2006/relationships/slide" Target="slide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245.png"/><Relationship Id="rId4" Type="http://schemas.openxmlformats.org/officeDocument/2006/relationships/image" Target="../media/image288.png"/><Relationship Id="rId5" Type="http://schemas.openxmlformats.org/officeDocument/2006/relationships/image" Target="../media/image78.png"/><Relationship Id="rId6" Type="http://schemas.openxmlformats.org/officeDocument/2006/relationships/image" Target="../media/image289.png"/><Relationship Id="rId7" Type="http://schemas.openxmlformats.org/officeDocument/2006/relationships/notesSlide" Target="../notesSlides/notesSlide56.xml"/><Relationship Id="rId8" Type="http://schemas.openxmlformats.org/officeDocument/2006/relationships/slide" Target="slide11.xml"/><Relationship Id="rId9" Type="http://schemas.openxmlformats.org/officeDocument/2006/relationships/slide" Target="slide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290.png"/><Relationship Id="rId4" Type="http://schemas.openxmlformats.org/officeDocument/2006/relationships/image" Target="../media/image291.png"/><Relationship Id="rId5" Type="http://schemas.openxmlformats.org/officeDocument/2006/relationships/image" Target="../media/image80.png"/><Relationship Id="rId6" Type="http://schemas.openxmlformats.org/officeDocument/2006/relationships/image" Target="../media/image292.png"/><Relationship Id="rId7" Type="http://schemas.openxmlformats.org/officeDocument/2006/relationships/image" Target="../media/image293.png"/><Relationship Id="rId8" Type="http://schemas.openxmlformats.org/officeDocument/2006/relationships/notesSlide" Target="../notesSlides/notesSlide57.xml"/><Relationship Id="rId9" Type="http://schemas.openxmlformats.org/officeDocument/2006/relationships/slide" Target="slide12.xml"/><Relationship Id="rId10" Type="http://schemas.openxmlformats.org/officeDocument/2006/relationships/slide" Target="slide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294.png"/><Relationship Id="rId4" Type="http://schemas.openxmlformats.org/officeDocument/2006/relationships/image" Target="../media/image295.png"/><Relationship Id="rId5" Type="http://schemas.openxmlformats.org/officeDocument/2006/relationships/image" Target="../media/image82.png"/><Relationship Id="rId6" Type="http://schemas.openxmlformats.org/officeDocument/2006/relationships/image" Target="../media/image296.png"/><Relationship Id="rId7" Type="http://schemas.openxmlformats.org/officeDocument/2006/relationships/image" Target="../media/image297.png"/><Relationship Id="rId8" Type="http://schemas.openxmlformats.org/officeDocument/2006/relationships/image" Target="../media/image298.png"/><Relationship Id="rId9" Type="http://schemas.openxmlformats.org/officeDocument/2006/relationships/notesSlide" Target="../notesSlides/notesSlide58.xml"/><Relationship Id="rId10" Type="http://schemas.openxmlformats.org/officeDocument/2006/relationships/slide" Target="slide12.xml"/><Relationship Id="rId11" Type="http://schemas.openxmlformats.org/officeDocument/2006/relationships/slide" Target="slide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299.png"/><Relationship Id="rId5" Type="http://schemas.openxmlformats.org/officeDocument/2006/relationships/image" Target="../media/image300.png"/><Relationship Id="rId6" Type="http://schemas.openxmlformats.org/officeDocument/2006/relationships/image" Target="../media/image301.png"/><Relationship Id="rId7" Type="http://schemas.openxmlformats.org/officeDocument/2006/relationships/notesSlide" Target="../notesSlides/notesSlide59.xml"/><Relationship Id="rId8" Type="http://schemas.openxmlformats.org/officeDocument/2006/relationships/slide" Target="slide13.xml"/><Relationship Id="rId9" Type="http://schemas.openxmlformats.org/officeDocument/2006/relationships/slide" Target="slide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56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86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304.png"/><Relationship Id="rId10" Type="http://schemas.openxmlformats.org/officeDocument/2006/relationships/notesSlide" Target="../notesSlides/notesSlide60.xml"/><Relationship Id="rId11" Type="http://schemas.openxmlformats.org/officeDocument/2006/relationships/slide" Target="slide13.xml"/><Relationship Id="rId12" Type="http://schemas.openxmlformats.org/officeDocument/2006/relationships/slide" Target="slide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56.png"/><Relationship Id="rId4" Type="http://schemas.openxmlformats.org/officeDocument/2006/relationships/image" Target="../media/image305.png"/><Relationship Id="rId5" Type="http://schemas.openxmlformats.org/officeDocument/2006/relationships/image" Target="../media/image306.png"/><Relationship Id="rId6" Type="http://schemas.openxmlformats.org/officeDocument/2006/relationships/image" Target="../media/image88.png"/><Relationship Id="rId7" Type="http://schemas.openxmlformats.org/officeDocument/2006/relationships/image" Target="../media/image307.png"/><Relationship Id="rId8" Type="http://schemas.openxmlformats.org/officeDocument/2006/relationships/image" Target="../media/image308.png"/><Relationship Id="rId9" Type="http://schemas.openxmlformats.org/officeDocument/2006/relationships/notesSlide" Target="../notesSlides/notesSlide61.xml"/><Relationship Id="rId10" Type="http://schemas.openxmlformats.org/officeDocument/2006/relationships/slide" Target="slide13.xml"/><Relationship Id="rId11" Type="http://schemas.openxmlformats.org/officeDocument/2006/relationships/slide" Target="slide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307.png"/><Relationship Id="rId4" Type="http://schemas.openxmlformats.org/officeDocument/2006/relationships/image" Target="../media/image309.png"/><Relationship Id="rId5" Type="http://schemas.openxmlformats.org/officeDocument/2006/relationships/image" Target="../media/image90.png"/><Relationship Id="rId6" Type="http://schemas.openxmlformats.org/officeDocument/2006/relationships/image" Target="../media/image91.png"/><Relationship Id="rId7" Type="http://schemas.openxmlformats.org/officeDocument/2006/relationships/image" Target="../media/image310.png"/><Relationship Id="rId8" Type="http://schemas.openxmlformats.org/officeDocument/2006/relationships/notesSlide" Target="../notesSlides/notesSlide62.xml"/><Relationship Id="rId9" Type="http://schemas.openxmlformats.org/officeDocument/2006/relationships/slide" Target="slide13.xml"/><Relationship Id="rId10" Type="http://schemas.openxmlformats.org/officeDocument/2006/relationships/slide" Target="slide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311.png"/><Relationship Id="rId4" Type="http://schemas.openxmlformats.org/officeDocument/2006/relationships/image" Target="../media/image312.png"/><Relationship Id="rId5" Type="http://schemas.openxmlformats.org/officeDocument/2006/relationships/image" Target="../media/image313.png"/><Relationship Id="rId6" Type="http://schemas.openxmlformats.org/officeDocument/2006/relationships/image" Target="../media/image314.png"/><Relationship Id="rId7" Type="http://schemas.openxmlformats.org/officeDocument/2006/relationships/image" Target="../media/image92.png"/><Relationship Id="rId8" Type="http://schemas.openxmlformats.org/officeDocument/2006/relationships/image" Target="../media/image56.png"/><Relationship Id="rId9" Type="http://schemas.openxmlformats.org/officeDocument/2006/relationships/image" Target="../media/image315.png"/><Relationship Id="rId10" Type="http://schemas.openxmlformats.org/officeDocument/2006/relationships/notesSlide" Target="../notesSlides/notesSlide63.xml"/><Relationship Id="rId11" Type="http://schemas.openxmlformats.org/officeDocument/2006/relationships/slide" Target="slide13.xml"/><Relationship Id="rId12" Type="http://schemas.openxmlformats.org/officeDocument/2006/relationships/slide" Target="slide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316.png"/><Relationship Id="rId4" Type="http://schemas.openxmlformats.org/officeDocument/2006/relationships/image" Target="../media/image317.png"/><Relationship Id="rId5" Type="http://schemas.openxmlformats.org/officeDocument/2006/relationships/image" Target="../media/image318.png"/><Relationship Id="rId6" Type="http://schemas.openxmlformats.org/officeDocument/2006/relationships/image" Target="../media/image319.png"/><Relationship Id="rId7" Type="http://schemas.openxmlformats.org/officeDocument/2006/relationships/image" Target="../media/image320.png"/><Relationship Id="rId8" Type="http://schemas.openxmlformats.org/officeDocument/2006/relationships/image" Target="../media/image94.png"/><Relationship Id="rId9" Type="http://schemas.openxmlformats.org/officeDocument/2006/relationships/image" Target="../media/image298.png"/><Relationship Id="rId10" Type="http://schemas.openxmlformats.org/officeDocument/2006/relationships/notesSlide" Target="../notesSlides/notesSlide64.xml"/><Relationship Id="rId11" Type="http://schemas.openxmlformats.org/officeDocument/2006/relationships/slide" Target="slide14.xml"/><Relationship Id="rId12" Type="http://schemas.openxmlformats.org/officeDocument/2006/relationships/slide" Target="slide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321.png"/><Relationship Id="rId4" Type="http://schemas.openxmlformats.org/officeDocument/2006/relationships/image" Target="../media/image124.png"/><Relationship Id="rId5" Type="http://schemas.openxmlformats.org/officeDocument/2006/relationships/image" Target="../media/image96.png"/><Relationship Id="rId6" Type="http://schemas.openxmlformats.org/officeDocument/2006/relationships/image" Target="../media/image322.png"/><Relationship Id="rId7" Type="http://schemas.openxmlformats.org/officeDocument/2006/relationships/image" Target="../media/image323.png"/><Relationship Id="rId8" Type="http://schemas.openxmlformats.org/officeDocument/2006/relationships/image" Target="../media/image324.png"/><Relationship Id="rId9" Type="http://schemas.openxmlformats.org/officeDocument/2006/relationships/image" Target="../media/image325.png"/><Relationship Id="rId10" Type="http://schemas.openxmlformats.org/officeDocument/2006/relationships/notesSlide" Target="../notesSlides/notesSlide65.xml"/><Relationship Id="rId11" Type="http://schemas.openxmlformats.org/officeDocument/2006/relationships/slide" Target="slide14.xml"/><Relationship Id="rId12" Type="http://schemas.openxmlformats.org/officeDocument/2006/relationships/slide" Target="slide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326.png"/><Relationship Id="rId4" Type="http://schemas.openxmlformats.org/officeDocument/2006/relationships/image" Target="../media/image327.png"/><Relationship Id="rId5" Type="http://schemas.openxmlformats.org/officeDocument/2006/relationships/image" Target="../media/image98.png"/><Relationship Id="rId6" Type="http://schemas.openxmlformats.org/officeDocument/2006/relationships/image" Target="../media/image328.png"/><Relationship Id="rId7" Type="http://schemas.openxmlformats.org/officeDocument/2006/relationships/image" Target="../media/image322.png"/><Relationship Id="rId8" Type="http://schemas.openxmlformats.org/officeDocument/2006/relationships/image" Target="../media/image124.png"/><Relationship Id="rId9" Type="http://schemas.openxmlformats.org/officeDocument/2006/relationships/notesSlide" Target="../notesSlides/notesSlide66.xml"/><Relationship Id="rId10" Type="http://schemas.openxmlformats.org/officeDocument/2006/relationships/slide" Target="slide14.xml"/><Relationship Id="rId11" Type="http://schemas.openxmlformats.org/officeDocument/2006/relationships/slide" Target="slide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image" Target="../media/image98.png"/><Relationship Id="rId4" Type="http://schemas.openxmlformats.org/officeDocument/2006/relationships/image" Target="../media/image329.png"/><Relationship Id="rId5" Type="http://schemas.openxmlformats.org/officeDocument/2006/relationships/image" Target="../media/image323.png"/><Relationship Id="rId6" Type="http://schemas.openxmlformats.org/officeDocument/2006/relationships/image" Target="../media/image330.png"/><Relationship Id="rId7" Type="http://schemas.openxmlformats.org/officeDocument/2006/relationships/image" Target="../media/image100.png"/><Relationship Id="rId8" Type="http://schemas.openxmlformats.org/officeDocument/2006/relationships/image" Target="../media/image331.png"/><Relationship Id="rId9" Type="http://schemas.openxmlformats.org/officeDocument/2006/relationships/image" Target="../media/image327.png"/><Relationship Id="rId10" Type="http://schemas.openxmlformats.org/officeDocument/2006/relationships/image" Target="../media/image332.png"/><Relationship Id="rId11" Type="http://schemas.openxmlformats.org/officeDocument/2006/relationships/notesSlide" Target="../notesSlides/notesSlide67.xml"/><Relationship Id="rId12" Type="http://schemas.openxmlformats.org/officeDocument/2006/relationships/slide" Target="slide14.xml"/><Relationship Id="rId13" Type="http://schemas.openxmlformats.org/officeDocument/2006/relationships/slide" Target="slide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image" Target="../media/image333.png"/><Relationship Id="rId4" Type="http://schemas.openxmlformats.org/officeDocument/2006/relationships/image" Target="../media/image334.png"/><Relationship Id="rId5" Type="http://schemas.openxmlformats.org/officeDocument/2006/relationships/image" Target="../media/image335.png"/><Relationship Id="rId6" Type="http://schemas.openxmlformats.org/officeDocument/2006/relationships/image" Target="../media/image336.png"/><Relationship Id="rId7" Type="http://schemas.openxmlformats.org/officeDocument/2006/relationships/image" Target="../media/image337.png"/><Relationship Id="rId8" Type="http://schemas.openxmlformats.org/officeDocument/2006/relationships/image" Target="../media/image102.png"/><Relationship Id="rId9" Type="http://schemas.openxmlformats.org/officeDocument/2006/relationships/image" Target="../media/image325.png"/><Relationship Id="rId10" Type="http://schemas.openxmlformats.org/officeDocument/2006/relationships/image" Target="../media/image338.png"/><Relationship Id="rId11" Type="http://schemas.openxmlformats.org/officeDocument/2006/relationships/image" Target="../media/image339.png"/><Relationship Id="rId12" Type="http://schemas.openxmlformats.org/officeDocument/2006/relationships/image" Target="../media/image340.png"/><Relationship Id="rId13" Type="http://schemas.openxmlformats.org/officeDocument/2006/relationships/notesSlide" Target="../notesSlides/notesSlide68.xml"/><Relationship Id="rId14" Type="http://schemas.openxmlformats.org/officeDocument/2006/relationships/slide" Target="slide14.xml"/><Relationship Id="rId15" Type="http://schemas.openxmlformats.org/officeDocument/2006/relationships/slide" Target="slide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openxmlformats.org/officeDocument/2006/relationships/image" Target="../media/image341.png"/><Relationship Id="rId4" Type="http://schemas.openxmlformats.org/officeDocument/2006/relationships/image" Target="../media/image342.png"/><Relationship Id="rId5" Type="http://schemas.openxmlformats.org/officeDocument/2006/relationships/image" Target="../media/image343.png"/><Relationship Id="rId6" Type="http://schemas.openxmlformats.org/officeDocument/2006/relationships/image" Target="../media/image344.png"/><Relationship Id="rId7" Type="http://schemas.openxmlformats.org/officeDocument/2006/relationships/image" Target="../media/image104.png"/><Relationship Id="rId8" Type="http://schemas.openxmlformats.org/officeDocument/2006/relationships/image" Target="../media/image345.png"/><Relationship Id="rId9" Type="http://schemas.openxmlformats.org/officeDocument/2006/relationships/image" Target="../media/image346.png"/><Relationship Id="rId10" Type="http://schemas.openxmlformats.org/officeDocument/2006/relationships/image" Target="../media/image347.png"/><Relationship Id="rId11" Type="http://schemas.openxmlformats.org/officeDocument/2006/relationships/notesSlide" Target="../notesSlides/notesSlide69.xml"/><Relationship Id="rId12" Type="http://schemas.openxmlformats.org/officeDocument/2006/relationships/slide" Target="slide15.xml"/><Relationship Id="rId13" Type="http://schemas.openxmlformats.org/officeDocument/2006/relationships/slide" Target="slide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image" Target="../media/image348.png"/><Relationship Id="rId4" Type="http://schemas.openxmlformats.org/officeDocument/2006/relationships/image" Target="../media/image349.png"/><Relationship Id="rId5" Type="http://schemas.openxmlformats.org/officeDocument/2006/relationships/image" Target="../media/image106.png"/><Relationship Id="rId6" Type="http://schemas.openxmlformats.org/officeDocument/2006/relationships/image" Target="../media/image350.png"/><Relationship Id="rId7" Type="http://schemas.openxmlformats.org/officeDocument/2006/relationships/notesSlide" Target="../notesSlides/notesSlide70.xml"/><Relationship Id="rId8" Type="http://schemas.openxmlformats.org/officeDocument/2006/relationships/slide" Target="slide15.xml"/><Relationship Id="rId9" Type="http://schemas.openxmlformats.org/officeDocument/2006/relationships/slide" Target="slide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Relationship Id="rId3" Type="http://schemas.openxmlformats.org/officeDocument/2006/relationships/image" Target="../media/image351.png"/><Relationship Id="rId4" Type="http://schemas.openxmlformats.org/officeDocument/2006/relationships/image" Target="../media/image352.png"/><Relationship Id="rId5" Type="http://schemas.openxmlformats.org/officeDocument/2006/relationships/image" Target="../media/image353.png"/><Relationship Id="rId6" Type="http://schemas.openxmlformats.org/officeDocument/2006/relationships/image" Target="../media/image339.png"/><Relationship Id="rId7" Type="http://schemas.openxmlformats.org/officeDocument/2006/relationships/image" Target="../media/image340.png"/><Relationship Id="rId8" Type="http://schemas.openxmlformats.org/officeDocument/2006/relationships/image" Target="../media/image354.png"/><Relationship Id="rId9" Type="http://schemas.openxmlformats.org/officeDocument/2006/relationships/image" Target="../media/image108.png"/><Relationship Id="rId10" Type="http://schemas.openxmlformats.org/officeDocument/2006/relationships/image" Target="../media/image355.png"/><Relationship Id="rId11" Type="http://schemas.openxmlformats.org/officeDocument/2006/relationships/image" Target="../media/image356.png"/><Relationship Id="rId12" Type="http://schemas.openxmlformats.org/officeDocument/2006/relationships/image" Target="../media/image343.png"/><Relationship Id="rId13" Type="http://schemas.openxmlformats.org/officeDocument/2006/relationships/notesSlide" Target="../notesSlides/notesSlide71.xml"/><Relationship Id="rId14" Type="http://schemas.openxmlformats.org/officeDocument/2006/relationships/slide" Target="slide15.xml"/><Relationship Id="rId15" Type="http://schemas.openxmlformats.org/officeDocument/2006/relationships/slide" Target="slide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357.png"/><Relationship Id="rId4" Type="http://schemas.openxmlformats.org/officeDocument/2006/relationships/image" Target="../media/image358.png"/><Relationship Id="rId5" Type="http://schemas.openxmlformats.org/officeDocument/2006/relationships/image" Target="../media/image359.png"/><Relationship Id="rId6" Type="http://schemas.openxmlformats.org/officeDocument/2006/relationships/image" Target="../media/image110.png"/><Relationship Id="rId7" Type="http://schemas.openxmlformats.org/officeDocument/2006/relationships/image" Target="../media/image360.png"/><Relationship Id="rId8" Type="http://schemas.openxmlformats.org/officeDocument/2006/relationships/image" Target="../media/image349.png"/><Relationship Id="rId9" Type="http://schemas.openxmlformats.org/officeDocument/2006/relationships/image" Target="../media/image361.png"/><Relationship Id="rId10" Type="http://schemas.openxmlformats.org/officeDocument/2006/relationships/notesSlide" Target="../notesSlides/notesSlide72.xml"/><Relationship Id="rId11" Type="http://schemas.openxmlformats.org/officeDocument/2006/relationships/slide" Target="slide15.xml"/><Relationship Id="rId12" Type="http://schemas.openxmlformats.org/officeDocument/2006/relationships/slide" Target="slide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3" Type="http://schemas.openxmlformats.org/officeDocument/2006/relationships/image" Target="../media/image360.png"/><Relationship Id="rId4" Type="http://schemas.openxmlformats.org/officeDocument/2006/relationships/image" Target="../media/image350.png"/><Relationship Id="rId5" Type="http://schemas.openxmlformats.org/officeDocument/2006/relationships/image" Target="../media/image112.png"/><Relationship Id="rId6" Type="http://schemas.openxmlformats.org/officeDocument/2006/relationships/image" Target="../media/image362.png"/><Relationship Id="rId7" Type="http://schemas.openxmlformats.org/officeDocument/2006/relationships/image" Target="../media/image363.png"/><Relationship Id="rId8" Type="http://schemas.openxmlformats.org/officeDocument/2006/relationships/image" Target="../media/image364.png"/><Relationship Id="rId9" Type="http://schemas.openxmlformats.org/officeDocument/2006/relationships/notesSlide" Target="../notesSlides/notesSlide73.xml"/><Relationship Id="rId10" Type="http://schemas.openxmlformats.org/officeDocument/2006/relationships/slide" Target="slide15.xml"/><Relationship Id="rId11" Type="http://schemas.openxmlformats.org/officeDocument/2006/relationships/slide" Target="slide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3" Type="http://schemas.openxmlformats.org/officeDocument/2006/relationships/image" Target="../media/image365.png"/><Relationship Id="rId4" Type="http://schemas.openxmlformats.org/officeDocument/2006/relationships/image" Target="../media/image112.png"/><Relationship Id="rId5" Type="http://schemas.openxmlformats.org/officeDocument/2006/relationships/image" Target="../media/image366.png"/><Relationship Id="rId6" Type="http://schemas.openxmlformats.org/officeDocument/2006/relationships/image" Target="../media/image114.png"/><Relationship Id="rId7" Type="http://schemas.openxmlformats.org/officeDocument/2006/relationships/image" Target="../media/image367.png"/><Relationship Id="rId8" Type="http://schemas.openxmlformats.org/officeDocument/2006/relationships/image" Target="../media/image368.png"/><Relationship Id="rId9" Type="http://schemas.openxmlformats.org/officeDocument/2006/relationships/notesSlide" Target="../notesSlides/notesSlide74.xml"/><Relationship Id="rId10" Type="http://schemas.openxmlformats.org/officeDocument/2006/relationships/slide" Target="slide16.xml"/><Relationship Id="rId11" Type="http://schemas.openxmlformats.org/officeDocument/2006/relationships/slide" Target="slide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2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116.png"/><Relationship Id="rId7" Type="http://schemas.openxmlformats.org/officeDocument/2006/relationships/image" Target="../media/image371.png"/><Relationship Id="rId8" Type="http://schemas.openxmlformats.org/officeDocument/2006/relationships/notesSlide" Target="../notesSlides/notesSlide75.xml"/><Relationship Id="rId9" Type="http://schemas.openxmlformats.org/officeDocument/2006/relationships/slide" Target="slide16.xml"/><Relationship Id="rId10" Type="http://schemas.openxmlformats.org/officeDocument/2006/relationships/slide" Target="slide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image" Target="../media/image372.png"/><Relationship Id="rId4" Type="http://schemas.openxmlformats.org/officeDocument/2006/relationships/image" Target="../media/image56.png"/><Relationship Id="rId5" Type="http://schemas.openxmlformats.org/officeDocument/2006/relationships/image" Target="../media/image373.png"/><Relationship Id="rId6" Type="http://schemas.openxmlformats.org/officeDocument/2006/relationships/image" Target="../media/image118.png"/><Relationship Id="rId7" Type="http://schemas.openxmlformats.org/officeDocument/2006/relationships/image" Target="../media/image374.png"/><Relationship Id="rId8" Type="http://schemas.openxmlformats.org/officeDocument/2006/relationships/image" Target="../media/image375.png"/><Relationship Id="rId9" Type="http://schemas.openxmlformats.org/officeDocument/2006/relationships/notesSlide" Target="../notesSlides/notesSlide76.xml"/><Relationship Id="rId10" Type="http://schemas.openxmlformats.org/officeDocument/2006/relationships/slide" Target="slide16.xml"/><Relationship Id="rId11" Type="http://schemas.openxmlformats.org/officeDocument/2006/relationships/slide" Target="slide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374.png"/><Relationship Id="rId4" Type="http://schemas.openxmlformats.org/officeDocument/2006/relationships/image" Target="../media/image376.png"/><Relationship Id="rId5" Type="http://schemas.openxmlformats.org/officeDocument/2006/relationships/image" Target="../media/image120.png"/><Relationship Id="rId6" Type="http://schemas.openxmlformats.org/officeDocument/2006/relationships/image" Target="../media/image117.png"/><Relationship Id="rId7" Type="http://schemas.openxmlformats.org/officeDocument/2006/relationships/image" Target="../media/image84.png"/><Relationship Id="rId8" Type="http://schemas.openxmlformats.org/officeDocument/2006/relationships/image" Target="../media/image377.png"/><Relationship Id="rId9" Type="http://schemas.openxmlformats.org/officeDocument/2006/relationships/notesSlide" Target="../notesSlides/notesSlide77.xml"/><Relationship Id="rId10" Type="http://schemas.openxmlformats.org/officeDocument/2006/relationships/slide" Target="slide16.xml"/><Relationship Id="rId11" Type="http://schemas.openxmlformats.org/officeDocument/2006/relationships/slide" Target="slide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Relationship Id="rId3" Type="http://schemas.openxmlformats.org/officeDocument/2006/relationships/image" Target="../media/image378.png"/><Relationship Id="rId4" Type="http://schemas.openxmlformats.org/officeDocument/2006/relationships/image" Target="../media/image319.png"/><Relationship Id="rId5" Type="http://schemas.openxmlformats.org/officeDocument/2006/relationships/image" Target="../media/image122.png"/><Relationship Id="rId6" Type="http://schemas.openxmlformats.org/officeDocument/2006/relationships/image" Target="../media/image320.png"/><Relationship Id="rId7" Type="http://schemas.openxmlformats.org/officeDocument/2006/relationships/notesSlide" Target="../notesSlides/notesSlide78.xml"/><Relationship Id="rId8" Type="http://schemas.openxmlformats.org/officeDocument/2006/relationships/slide" Target="slide16.xml"/><Relationship Id="rId9" Type="http://schemas.openxmlformats.org/officeDocument/2006/relationships/slide" Target="slide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9.png"/><Relationship Id="rId3" Type="http://schemas.openxmlformats.org/officeDocument/2006/relationships/image" Target="../media/image380.png"/><Relationship Id="rId4" Type="http://schemas.openxmlformats.org/officeDocument/2006/relationships/image" Target="../media/image381.png"/><Relationship Id="rId5" Type="http://schemas.openxmlformats.org/officeDocument/2006/relationships/image" Target="../media/image382.png"/><Relationship Id="rId6" Type="http://schemas.openxmlformats.org/officeDocument/2006/relationships/image" Target="../media/image383.png"/><Relationship Id="rId7" Type="http://schemas.openxmlformats.org/officeDocument/2006/relationships/image" Target="../media/image384.png"/><Relationship Id="rId8" Type="http://schemas.openxmlformats.org/officeDocument/2006/relationships/image" Target="../media/image385.png"/><Relationship Id="rId9" Type="http://schemas.openxmlformats.org/officeDocument/2006/relationships/image" Target="../media/image386.png"/><Relationship Id="rId10" Type="http://schemas.openxmlformats.org/officeDocument/2006/relationships/image" Target="../media/image387.png"/><Relationship Id="rId11" Type="http://schemas.openxmlformats.org/officeDocument/2006/relationships/image" Target="../media/image388.png"/><Relationship Id="rId12" Type="http://schemas.openxmlformats.org/officeDocument/2006/relationships/notesSlide" Target="../notesSlides/notesSlide79.xml"/><Relationship Id="rId13" Type="http://schemas.openxmlformats.org/officeDocument/2006/relationships/slide" Target="slide12.xml"/><Relationship Id="rId14" Type="http://schemas.openxmlformats.org/officeDocument/2006/relationships/slide" Target="slide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Relationship Id="rId3" Type="http://schemas.openxmlformats.org/officeDocument/2006/relationships/slide" Target="slide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slide" Target="slide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slide" Target="slide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Relationship Id="rId3" Type="http://schemas.openxmlformats.org/officeDocument/2006/relationships/slide" Target="slide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slide" Target="slide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Relationship Id="rId3" Type="http://schemas.openxmlformats.org/officeDocument/2006/relationships/slide" Target="slide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Relationship Id="rId3" Type="http://schemas.openxmlformats.org/officeDocument/2006/relationships/slide" Target="slide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Relationship Id="rId3" Type="http://schemas.openxmlformats.org/officeDocument/2006/relationships/slide" Target="slide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Relationship Id="rId3" Type="http://schemas.openxmlformats.org/officeDocument/2006/relationships/slide" Target="slide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slide" Target="slide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slide" Target="slide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Relationship Id="rId3" Type="http://schemas.openxmlformats.org/officeDocument/2006/relationships/slide" Target="slide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slide" Target="slide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Relationship Id="rId3" Type="http://schemas.openxmlformats.org/officeDocument/2006/relationships/slide" Target="slide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Relationship Id="rId3" Type="http://schemas.openxmlformats.org/officeDocument/2006/relationships/slide" Target="slide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Relationship Id="rId3" Type="http://schemas.openxmlformats.org/officeDocument/2006/relationships/slide" Target="slide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Relationship Id="rId3" Type="http://schemas.openxmlformats.org/officeDocument/2006/relationships/slide" Target="slide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EL · find den rigtige formel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start-guide"/>
          <p:cNvSpPr txBox="1"/>
          <p:nvPr/>
        </p:nvSpPr>
        <p:spPr>
          <a:xfrm>
            <a:off x="411480" y="1024128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en søgt størrelse. </a:t>
            </a:r>
            <a:r>
              <a:rPr>
                <a:latin typeface="Cambria Math"/>
              </a:rPr>
              <a:t>I</a:t>
            </a:r>
            <a:r>
              <a:t> indekset vælger du både givne oplysninger og fysisk situation.</a:t>
            </a:r>
          </a:p>
        </p:txBody>
      </p:sp>
      <p:sp>
        <p:nvSpPr>
          <p:cNvPr id="9" name="start-scope"/>
          <p:cNvSpPr txBox="1"/>
          <p:nvPr/>
        </p:nvSpPr>
        <p:spPr>
          <a:xfrm>
            <a:off x="411480" y="1545336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DC, kondensatorer, energi og felter er kildebaserede. AC-reaktans og flere AC-emner mangler kilder.</a:t>
            </a:r>
          </a:p>
        </p:txBody>
      </p:sp>
      <p:sp>
        <p:nvSpPr>
          <p:cNvPr id="10" name="nav-group-current" descr="Strøm&#10;I [A] · ladning Q [C]">
            <a:hlinkClick action="ppaction://hlinksldjump" r:id="rId3" tooltip="Strøm&#10;I [A] · ladning Q [C]"/>
          </p:cNvPr>
          <p:cNvSpPr/>
          <p:nvPr/>
        </p:nvSpPr>
        <p:spPr>
          <a:xfrm>
            <a:off x="576072" y="218541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Strøm</a:t>
            </a:r>
            <a:br/>
            <a:r>
              <a:rPr sz="1100" b="0"/>
              <a:t>I [A] · ladning Q [C]</a:t>
            </a:r>
          </a:p>
        </p:txBody>
      </p:sp>
      <p:sp>
        <p:nvSpPr>
          <p:cNvPr id="11" name="nav-group-voltage" descr="Spænding&#10;U [V] · kilder og spændingsdeling">
            <a:hlinkClick action="ppaction://hlinksldjump" r:id="rId4" tooltip="Spænding&#10;U [V] · kilder og spændingsdeling"/>
          </p:cNvPr>
          <p:cNvSpPr/>
          <p:nvPr/>
        </p:nvSpPr>
        <p:spPr>
          <a:xfrm>
            <a:off x="5696712" y="218541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Spænding</a:t>
            </a:r>
            <a:br/>
            <a:r>
              <a:rPr sz="1100" b="0"/>
              <a:t>U [V] · kilder og spændingsdeling</a:t>
            </a:r>
          </a:p>
        </p:txBody>
      </p:sp>
      <p:sp>
        <p:nvSpPr>
          <p:cNvPr id="12" name="nav-group-resistance" descr="Modstand&#10;R [Ω] · ledere, temperatur og ledningsevne">
            <a:hlinkClick action="ppaction://hlinksldjump" r:id="rId5" tooltip="Modstand&#10;R [Ω] · ledere, temperatur og ledningsevne"/>
          </p:cNvPr>
          <p:cNvSpPr/>
          <p:nvPr/>
        </p:nvSpPr>
        <p:spPr>
          <a:xfrm>
            <a:off x="576072" y="314553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Modstand</a:t>
            </a:r>
            <a:br/>
            <a:r>
              <a:rPr sz="1100" b="0"/>
              <a:t>R [Ω] · ledere, temperatur og ledningsevne</a:t>
            </a:r>
          </a:p>
        </p:txBody>
      </p:sp>
      <p:sp>
        <p:nvSpPr>
          <p:cNvPr id="13" name="nav-group-power" descr="Effekt&#10;P [W] · virkningsgrad og tab">
            <a:hlinkClick action="ppaction://hlinksldjump" r:id="rId6" tooltip="Effekt&#10;P [W] · virkningsgrad og tab"/>
          </p:cNvPr>
          <p:cNvSpPr/>
          <p:nvPr/>
        </p:nvSpPr>
        <p:spPr>
          <a:xfrm>
            <a:off x="5696712" y="314553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Effekt</a:t>
            </a:r>
            <a:br/>
            <a:r>
              <a:rPr sz="1100" b="0"/>
              <a:t>P [W] · virkningsgrad og tab</a:t>
            </a:r>
          </a:p>
        </p:txBody>
      </p:sp>
      <p:sp>
        <p:nvSpPr>
          <p:cNvPr id="14" name="nav-group-energy" descr="Energi&#10;W [J] · tid og mekanisk arbejde">
            <a:hlinkClick action="ppaction://hlinksldjump" r:id="rId7" tooltip="Energi&#10;W [J] · tid og mekanisk arbejde"/>
          </p:cNvPr>
          <p:cNvSpPr/>
          <p:nvPr/>
        </p:nvSpPr>
        <p:spPr>
          <a:xfrm>
            <a:off x="576072" y="410565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Energi</a:t>
            </a:r>
            <a:br/>
            <a:r>
              <a:rPr sz="1100" b="0"/>
              <a:t>W [J] · tid og mekanisk arbejde</a:t>
            </a:r>
          </a:p>
        </p:txBody>
      </p:sp>
      <p:sp>
        <p:nvSpPr>
          <p:cNvPr id="15" name="nav-group-magnetism" descr="Magnetisme&#10;Magnetiske og elektriske felter · kræfter">
            <a:hlinkClick action="ppaction://hlinksldjump" r:id="rId8" tooltip="Magnetisme&#10;Magnetiske og elektriske felter · kræfter"/>
          </p:cNvPr>
          <p:cNvSpPr/>
          <p:nvPr/>
        </p:nvSpPr>
        <p:spPr>
          <a:xfrm>
            <a:off x="5696712" y="410565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Magnetisme</a:t>
            </a:r>
            <a:br/>
            <a:r>
              <a:rPr sz="1100" b="0"/>
              <a:t>Magnetiske og elektriske felter · kræfter</a:t>
            </a:r>
          </a:p>
        </p:txBody>
      </p:sp>
      <p:sp>
        <p:nvSpPr>
          <p:cNvPr id="16" name="nav-group-induction" descr="Induktion&#10;Induceret spænding · induktans">
            <a:hlinkClick action="ppaction://hlinksldjump" r:id="rId9" tooltip="Induktion&#10;Induceret spænding · induktans"/>
          </p:cNvPr>
          <p:cNvSpPr/>
          <p:nvPr/>
        </p:nvSpPr>
        <p:spPr>
          <a:xfrm>
            <a:off x="576072" y="506577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Induktion</a:t>
            </a:r>
            <a:br/>
            <a:r>
              <a:rPr sz="1100" b="0"/>
              <a:t>Induceret spænding · induktans</a:t>
            </a:r>
          </a:p>
        </p:txBody>
      </p:sp>
      <p:sp>
        <p:nvSpPr>
          <p:cNvPr id="17" name="nav-group-methods" descr="Kredsløbsmetoder&#10;Knudepunkter, Kirchhoff og reference">
            <a:hlinkClick action="ppaction://hlinksldjump" r:id="rId10" tooltip="Kredsløbsmetoder&#10;Knudepunkter, Kirchhoff og reference"/>
          </p:cNvPr>
          <p:cNvSpPr/>
          <p:nvPr/>
        </p:nvSpPr>
        <p:spPr>
          <a:xfrm>
            <a:off x="5696712" y="506577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Kredsløbsmetoder</a:t>
            </a:r>
            <a:br/>
            <a:r>
              <a:rPr sz="1100" b="0"/>
              <a:t>Knudepunkter, Kirchhoff og reference</a:t>
            </a:r>
          </a:p>
        </p:txBody>
      </p:sp>
      <p:sp>
        <p:nvSpPr>
          <p:cNvPr id="18" name="nav-group-capacitors" descr="Kondensatorer&#10;C [F] · plader, DC-opladning og afladning">
            <a:hlinkClick action="ppaction://hlinksldjump" r:id="rId11" tooltip="Kondensatorer&#10;C [F] · plader, DC-opladning og afladning"/>
          </p:cNvPr>
          <p:cNvSpPr/>
          <p:nvPr/>
        </p:nvSpPr>
        <p:spPr>
          <a:xfrm>
            <a:off x="576072" y="602589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Kondensatorer</a:t>
            </a:r>
            <a:br/>
            <a:r>
              <a:rPr sz="1100" b="0"/>
              <a:t>C [F] · plader, DC-opladning og afladning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Strøm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current-1-table"/>
          <p:cNvGraphicFramePr>
            <a:graphicFrameLocks noGrp="1"/>
          </p:cNvGraphicFramePr>
          <p:nvPr/>
        </p:nvGraphicFramePr>
        <p:xfrm>
          <a:off x="411480" y="1042415"/>
          <a:ext cx="9784079" cy="4999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W04 · Ladning Q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strøm; ellers sum af delintervaller.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01 · 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DC eller konsistente AC-magnituder.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02 · 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P er elektrisk indgangseffekt.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03 · Strømmens størrelse |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|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resistans; P er tabet i 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04 · Middelstrøm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Netto passeret ladning i valgt interval.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05 · Kildestrøm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ri [Ω],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DC-kilde med intern serie-modstand.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06 · Grenstrøm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k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Ugren [V], Rk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Parallelgrene har samme knudespænding.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07 · Grenstrøm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1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total [A],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parallelle ohmske modstande.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B10 · Viklingsstrøm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l [m], N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vej/spole-model som B05.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current-1-table-f1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507" y="1444752"/>
            <a:ext cx="1298985" cy="441655"/>
          </a:xfrm>
          <a:prstGeom prst="rect">
            <a:avLst/>
          </a:prstGeom>
        </p:spPr>
      </p:pic>
      <p:pic>
        <p:nvPicPr>
          <p:cNvPr id="10" name="index-current-1-table-f2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309" y="1959559"/>
            <a:ext cx="529381" cy="441655"/>
          </a:xfrm>
          <a:prstGeom prst="rect">
            <a:avLst/>
          </a:prstGeom>
        </p:spPr>
      </p:pic>
      <p:pic>
        <p:nvPicPr>
          <p:cNvPr id="11" name="index-current-1-table-f3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309" y="2474366"/>
            <a:ext cx="529381" cy="441655"/>
          </a:xfrm>
          <a:prstGeom prst="rect">
            <a:avLst/>
          </a:prstGeom>
        </p:spPr>
      </p:pic>
      <p:pic>
        <p:nvPicPr>
          <p:cNvPr id="12" name="index-current-1-table-f4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795" y="2989173"/>
            <a:ext cx="734409" cy="441655"/>
          </a:xfrm>
          <a:prstGeom prst="rect">
            <a:avLst/>
          </a:prstGeom>
        </p:spPr>
      </p:pic>
      <p:pic>
        <p:nvPicPr>
          <p:cNvPr id="13" name="index-current-1-table-f5" descr="I_{\mathrm{middel}}=\frac{Q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6629" y="3503980"/>
            <a:ext cx="948740" cy="441655"/>
          </a:xfrm>
          <a:prstGeom prst="rect">
            <a:avLst/>
          </a:prstGeom>
        </p:spPr>
      </p:pic>
      <p:pic>
        <p:nvPicPr>
          <p:cNvPr id="14" name="index-current-1-table-f6" descr="I=\frac{E}{r_i+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3537" y="4018787"/>
            <a:ext cx="814925" cy="441655"/>
          </a:xfrm>
          <a:prstGeom prst="rect">
            <a:avLst/>
          </a:prstGeom>
        </p:spPr>
      </p:pic>
      <p:pic>
        <p:nvPicPr>
          <p:cNvPr id="15" name="index-current-1-table-f7" descr="I_k=\frac{U_{\mathrm{gren}}}{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7963" y="4533595"/>
            <a:ext cx="746072" cy="441655"/>
          </a:xfrm>
          <a:prstGeom prst="rect">
            <a:avLst/>
          </a:prstGeom>
        </p:spPr>
      </p:pic>
      <p:pic>
        <p:nvPicPr>
          <p:cNvPr id="16" name="index-current-1-table-f8" descr="I_1=I_{\mathrm{total}}\frac{R_2}{R_1+R_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6398" y="5048402"/>
            <a:ext cx="1349202" cy="441655"/>
          </a:xfrm>
          <a:prstGeom prst="rect">
            <a:avLst/>
          </a:prstGeom>
        </p:spPr>
      </p:pic>
      <p:pic>
        <p:nvPicPr>
          <p:cNvPr id="17" name="index-current-1-table-f9" descr="I=\frac{Hl}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4961" y="5563209"/>
            <a:ext cx="572076" cy="441655"/>
          </a:xfrm>
          <a:prstGeom prst="rect">
            <a:avLst/>
          </a:prstGeom>
        </p:spPr>
      </p:pic>
      <p:sp>
        <p:nvSpPr>
          <p:cNvPr id="18" name="index-current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19" name="nav-entry-W04" descr="Åbn W04">
            <a:hlinkClick action="ppaction://hlinksldjump" r:id="rId12" tooltip="Åbn W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I01" descr="Åbn I01">
            <a:hlinkClick action="ppaction://hlinksldjump" r:id="rId12" tooltip="Åbn I01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I02" descr="Åbn I02">
            <a:hlinkClick action="ppaction://hlinksldjump" r:id="rId13" tooltip="Åbn I02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I03" descr="Åbn I03">
            <a:hlinkClick action="ppaction://hlinksldjump" r:id="rId13" tooltip="Åbn I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I04" descr="Åbn I04">
            <a:hlinkClick action="ppaction://hlinksldjump" r:id="rId14" tooltip="Åbn I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I05" descr="Åbn I05">
            <a:hlinkClick action="ppaction://hlinksldjump" r:id="rId14" tooltip="Åbn I05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I06" descr="Åbn I06">
            <a:hlinkClick action="ppaction://hlinksldjump" r:id="rId15" tooltip="Åbn I06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I07" descr="Åbn I07">
            <a:hlinkClick action="ppaction://hlinksldjump" r:id="rId15" tooltip="Åbn I07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0" descr="Åbn B10">
            <a:hlinkClick action="ppaction://hlinksldjump" r:id="rId16" tooltip="Åbn B10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back-start" descr="Til start">
            <a:hlinkClick action="ppaction://hlinksldjump" r:id="rId17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9" name="nav-next-index" descr="Næste indeks">
            <a:hlinkClick action="ppaction://hlinksldjump" r:id="rId18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Spænding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voltage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U01 · Spænding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belastning; U følger valgt polaritet.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U02 · Spænding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samme komponent for P og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U03 · Spændingens størrelse |U|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afsat i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U04 · Potentialforskel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Q [C]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energi overført pr. ladning.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U05 · Klemspænding Ukl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Afladning;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ud af kildens pluspol.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U06 · Delspænding U1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serie-R; midtpunktet er ubelastet.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voltage-1-table-f1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528" y="1444752"/>
            <a:ext cx="1140942" cy="441655"/>
          </a:xfrm>
          <a:prstGeom prst="rect">
            <a:avLst/>
          </a:prstGeom>
        </p:spPr>
      </p:pic>
      <p:pic>
        <p:nvPicPr>
          <p:cNvPr id="10" name="index-voltage-1-table-f2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084" y="1959559"/>
            <a:ext cx="583831" cy="441655"/>
          </a:xfrm>
          <a:prstGeom prst="rect">
            <a:avLst/>
          </a:prstGeom>
        </p:spPr>
      </p:pic>
      <p:pic>
        <p:nvPicPr>
          <p:cNvPr id="11" name="index-voltage-1-table-f3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530" y="2474366"/>
            <a:ext cx="1358939" cy="441655"/>
          </a:xfrm>
          <a:prstGeom prst="rect">
            <a:avLst/>
          </a:prstGeom>
        </p:spPr>
      </p:pic>
      <p:pic>
        <p:nvPicPr>
          <p:cNvPr id="12" name="index-voltage-1-table-f4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563" y="2989173"/>
            <a:ext cx="588873" cy="441655"/>
          </a:xfrm>
          <a:prstGeom prst="rect">
            <a:avLst/>
          </a:prstGeom>
        </p:spPr>
      </p:pic>
      <p:pic>
        <p:nvPicPr>
          <p:cNvPr id="13" name="index-voltage-1-table-f5" descr="U_{\mathrm{kl}}=E-I r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6760" y="3503980"/>
            <a:ext cx="2008479" cy="441655"/>
          </a:xfrm>
          <a:prstGeom prst="rect">
            <a:avLst/>
          </a:prstGeom>
        </p:spPr>
      </p:pic>
      <p:pic>
        <p:nvPicPr>
          <p:cNvPr id="14" name="index-voltage-1-table-f6" descr="U_1=U\frac{R_1}{R_1+R_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5359" y="4018787"/>
            <a:ext cx="1231281" cy="441655"/>
          </a:xfrm>
          <a:prstGeom prst="rect">
            <a:avLst/>
          </a:prstGeom>
        </p:spPr>
      </p:pic>
      <p:sp>
        <p:nvSpPr>
          <p:cNvPr id="15" name="index-voltag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16" name="nav-entry-U01" descr="Åbn U01">
            <a:hlinkClick action="ppaction://hlinksldjump" r:id="rId9" tooltip="Åbn U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U02" descr="Åbn U02">
            <a:hlinkClick action="ppaction://hlinksldjump" r:id="rId9" tooltip="Åbn U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U03" descr="Åbn U03">
            <a:hlinkClick action="ppaction://hlinksldjump" r:id="rId10" tooltip="Åbn U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U04" descr="Åbn U04">
            <a:hlinkClick action="ppaction://hlinksldjump" r:id="rId10" tooltip="Åbn U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U05" descr="Åbn U05">
            <a:hlinkClick action="ppaction://hlinksldjump" r:id="rId11" tooltip="Åbn U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U06" descr="Åbn U06">
            <a:hlinkClick action="ppaction://hlinksldjump" r:id="rId11" tooltip="Åbn U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3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R01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 ved den aktuelle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R02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P er dens afsatte effekt.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R03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U måles over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R04 · Ledermodstand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ρ ved relevant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R05 · Varm modstand RT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metalmodel; α hører til referencen 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R06 · Kold modstand Rt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lineære model og reference som R05.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R07 · Seriemodstand Rs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strømvej; samme strøm i alle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R08 · Parallelmodstand Rp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R mellem de samme to knuder.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R09 · Indre modstand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Ukl [V],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Belastet DC-kilde; afladning.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R10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1-table-f1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060" y="1444752"/>
            <a:ext cx="591878" cy="441655"/>
          </a:xfrm>
          <a:prstGeom prst="rect">
            <a:avLst/>
          </a:prstGeom>
        </p:spPr>
      </p:pic>
      <p:pic>
        <p:nvPicPr>
          <p:cNvPr id="10" name="index-resistance-1-table-f2" descr="R=\frac{P}{I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317" y="1959559"/>
            <a:ext cx="551365" cy="441655"/>
          </a:xfrm>
          <a:prstGeom prst="rect">
            <a:avLst/>
          </a:prstGeom>
        </p:spPr>
      </p:pic>
      <p:pic>
        <p:nvPicPr>
          <p:cNvPr id="11" name="index-resistance-1-table-f3" descr="R=\frac{U^2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397" y="2474366"/>
            <a:ext cx="647205" cy="441655"/>
          </a:xfrm>
          <a:prstGeom prst="rect">
            <a:avLst/>
          </a:prstGeom>
        </p:spPr>
      </p:pic>
      <p:pic>
        <p:nvPicPr>
          <p:cNvPr id="12" name="index-resistance-1-table-f4" descr="R=\rho\frac{l}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008" y="2989173"/>
            <a:ext cx="635983" cy="441655"/>
          </a:xfrm>
          <a:prstGeom prst="rect">
            <a:avLst/>
          </a:prstGeom>
        </p:spPr>
      </p:pic>
      <p:pic>
        <p:nvPicPr>
          <p:cNvPr id="13" name="index-resistance-1-table-f5" descr="R_T=R_t[1+\alpha_t(T-t)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79" y="3509789"/>
            <a:ext cx="3291839" cy="430038"/>
          </a:xfrm>
          <a:prstGeom prst="rect">
            <a:avLst/>
          </a:prstGeom>
        </p:spPr>
      </p:pic>
      <p:pic>
        <p:nvPicPr>
          <p:cNvPr id="14" name="index-resistance-1-table-f6" descr="R_t=\frac{R_T}{1+\alpha_t(T-t)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2837" y="4018787"/>
            <a:ext cx="1356325" cy="441655"/>
          </a:xfrm>
          <a:prstGeom prst="rect">
            <a:avLst/>
          </a:prstGeom>
        </p:spPr>
      </p:pic>
      <p:pic>
        <p:nvPicPr>
          <p:cNvPr id="15" name="index-resistance-1-table-f7" descr="R_s=\sum_{k=1}^{n}R_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5154" y="4533595"/>
            <a:ext cx="791690" cy="441655"/>
          </a:xfrm>
          <a:prstGeom prst="rect">
            <a:avLst/>
          </a:prstGeom>
        </p:spPr>
      </p:pic>
      <p:pic>
        <p:nvPicPr>
          <p:cNvPr id="16" name="index-resistance-1-table-f8" descr="R_p=\left(\sum_{k=1}^{n}\frac{1}{R_k}\right)^{-1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6937" y="5048402"/>
            <a:ext cx="1208125" cy="441655"/>
          </a:xfrm>
          <a:prstGeom prst="rect">
            <a:avLst/>
          </a:prstGeom>
        </p:spPr>
      </p:pic>
      <p:pic>
        <p:nvPicPr>
          <p:cNvPr id="17" name="index-resistance-1-table-f9" descr="r_i=\frac{E-U_{\mathrm{kl}}}{I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4643" y="5563209"/>
            <a:ext cx="1012712" cy="441655"/>
          </a:xfrm>
          <a:prstGeom prst="rect">
            <a:avLst/>
          </a:prstGeom>
        </p:spPr>
      </p:pic>
      <p:pic>
        <p:nvPicPr>
          <p:cNvPr id="18" name="index-resistance-1-table-f10" descr="R=\frac{1}{G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3479" y="6078016"/>
            <a:ext cx="575040" cy="441655"/>
          </a:xfrm>
          <a:prstGeom prst="rect">
            <a:avLst/>
          </a:prstGeom>
        </p:spPr>
      </p:pic>
      <p:sp>
        <p:nvSpPr>
          <p:cNvPr id="19" name="index-resistanc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20" name="nav-entry-R01" descr="Åbn R01">
            <a:hlinkClick action="ppaction://hlinksldjump" r:id="rId13" tooltip="Åbn R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R02" descr="Åbn R02">
            <a:hlinkClick action="ppaction://hlinksldjump" r:id="rId13" tooltip="Åbn R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R03" descr="Åbn R03">
            <a:hlinkClick action="ppaction://hlinksldjump" r:id="rId14" tooltip="Åbn R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R04" descr="Åbn R04">
            <a:hlinkClick action="ppaction://hlinksldjump" r:id="rId14" tooltip="Åbn R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R05" descr="Åbn R05">
            <a:hlinkClick action="ppaction://hlinksldjump" r:id="rId15" tooltip="Åbn R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R06" descr="Åbn R06">
            <a:hlinkClick action="ppaction://hlinksldjump" r:id="rId15" tooltip="Åbn R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R07" descr="Åbn R07">
            <a:hlinkClick action="ppaction://hlinksldjump" r:id="rId16" tooltip="Åbn R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R08" descr="Åbn R08">
            <a:hlinkClick action="ppaction://hlinksldjump" r:id="rId16" tooltip="Åbn R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R09" descr="Åbn R09">
            <a:hlinkClick action="ppaction://hlinksldjump" r:id="rId17" tooltip="Åbn R09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R10" descr="Åbn R10">
            <a:hlinkClick action="ppaction://hlinksldjump" r:id="rId17" tooltip="Åbn R10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2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G03 · Resistivitet 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l [m], S [mm²]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 ved kendt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G04 · Tværsnit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kendt materialeværdi.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G05 ·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S [mm²], ρ [Ω·mm²/m]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G06 · Temperaturstigning ΔT [K]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RT, Rt [Ω], αt [K⁻¹]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 med kendt 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G01 · Konduktans G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 eller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ohmske komponent.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G02 · Specifik ledningsevne 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i kendt enhed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Materialeværdi ved samme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2-table-f1" descr="\rho=\frac{R S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063" y="1444752"/>
            <a:ext cx="641872" cy="441655"/>
          </a:xfrm>
          <a:prstGeom prst="rect">
            <a:avLst/>
          </a:prstGeom>
        </p:spPr>
      </p:pic>
      <p:pic>
        <p:nvPicPr>
          <p:cNvPr id="10" name="index-resistance-2-table-f2" descr="S=\rho\frac{l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203" y="1959559"/>
            <a:ext cx="641593" cy="441655"/>
          </a:xfrm>
          <a:prstGeom prst="rect">
            <a:avLst/>
          </a:prstGeom>
        </p:spPr>
      </p:pic>
      <p:pic>
        <p:nvPicPr>
          <p:cNvPr id="11" name="index-resistance-2-table-f3" descr="l=\frac{R S}{\rho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521" y="2474366"/>
            <a:ext cx="598957" cy="441655"/>
          </a:xfrm>
          <a:prstGeom prst="rect">
            <a:avLst/>
          </a:prstGeom>
        </p:spPr>
      </p:pic>
      <p:pic>
        <p:nvPicPr>
          <p:cNvPr id="12" name="index-resistance-2-table-f4" descr="\Delta T=\frac{R_T-R_t}{R_t\alpha_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243" y="2989173"/>
            <a:ext cx="1085513" cy="441655"/>
          </a:xfrm>
          <a:prstGeom prst="rect">
            <a:avLst/>
          </a:prstGeom>
        </p:spPr>
      </p:pic>
      <p:pic>
        <p:nvPicPr>
          <p:cNvPr id="13" name="index-resistance-2-table-f5" descr="G=\frac{1}{R}=\frac{I}{U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1153" y="3503980"/>
            <a:ext cx="999692" cy="441655"/>
          </a:xfrm>
          <a:prstGeom prst="rect">
            <a:avLst/>
          </a:prstGeom>
        </p:spPr>
      </p:pic>
      <p:pic>
        <p:nvPicPr>
          <p:cNvPr id="14" name="index-resistance-2-table-f6" descr="\gamma=\frac{1}{\rho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7484" y="4018787"/>
            <a:ext cx="487030" cy="441655"/>
          </a:xfrm>
          <a:prstGeom prst="rect">
            <a:avLst/>
          </a:prstGeom>
        </p:spPr>
      </p:pic>
      <p:sp>
        <p:nvSpPr>
          <p:cNvPr id="15" name="index-resistance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16" name="nav-entry-G03" descr="Åbn G03">
            <a:hlinkClick action="ppaction://hlinksldjump" r:id="rId9" tooltip="Åbn G03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G04" descr="Åbn G04">
            <a:hlinkClick action="ppaction://hlinksldjump" r:id="rId9" tooltip="Åbn G04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G05" descr="Åbn G05">
            <a:hlinkClick action="ppaction://hlinksldjump" r:id="rId10" tooltip="Åbn G05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G06" descr="Åbn G06">
            <a:hlinkClick action="ppaction://hlinksldjump" r:id="rId10" tooltip="Åbn G06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G01" descr="Åbn G01">
            <a:hlinkClick action="ppaction://hlinksldjump" r:id="rId11" tooltip="Åbn G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G02" descr="Åbn G02">
            <a:hlinkClick action="ppaction://hlinksldjump" r:id="rId11" tooltip="Åbn G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3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Effekt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power-1-table"/>
          <p:cNvGraphicFramePr>
            <a:graphicFrameLocks noGrp="1"/>
          </p:cNvGraphicFramePr>
          <p:nvPr/>
        </p:nvGraphicFramePr>
        <p:xfrm>
          <a:off x="411480" y="1042415"/>
          <a:ext cx="9784079" cy="448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P01 · Elektrisk 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forbrugerens pluspol mod strømpilen.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P02 · Varmeeffekt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 ved aktuel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P03 · Varmeeffekt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er spændingen over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P04 · Middel-effekt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Energi/arbejde omsat i et interval.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P05 · Afgiven effekt Pud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η [1],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maskine og driftspunkt.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P06 · Effekttab Ptab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Pind, Pud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energibalance.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P07 · Virkningsgrad η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Pud,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drift; eller samme energiperiode.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P08 · Mekanisk 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Rotation; n er omdrejninger pr. minut i sidste udtryk.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power-1-table-f1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528" y="1444752"/>
            <a:ext cx="1140942" cy="441655"/>
          </a:xfrm>
          <a:prstGeom prst="rect">
            <a:avLst/>
          </a:prstGeom>
        </p:spPr>
      </p:pic>
      <p:pic>
        <p:nvPicPr>
          <p:cNvPr id="10" name="index-power-1-table-f2" descr="P=I^2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3" y="1959559"/>
            <a:ext cx="1261872" cy="441655"/>
          </a:xfrm>
          <a:prstGeom prst="rect">
            <a:avLst/>
          </a:prstGeom>
        </p:spPr>
      </p:pic>
      <p:pic>
        <p:nvPicPr>
          <p:cNvPr id="11" name="index-power-1-table-f3" descr="P=\frac{U^2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799" y="2474366"/>
            <a:ext cx="640400" cy="441655"/>
          </a:xfrm>
          <a:prstGeom prst="rect">
            <a:avLst/>
          </a:prstGeom>
        </p:spPr>
      </p:pic>
      <p:pic>
        <p:nvPicPr>
          <p:cNvPr id="12" name="index-power-1-table-f4" descr="P_{\mathrm{middel}}=\frac{W}{\Delta 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600" y="2989173"/>
            <a:ext cx="1090799" cy="441655"/>
          </a:xfrm>
          <a:prstGeom prst="rect">
            <a:avLst/>
          </a:prstGeom>
        </p:spPr>
      </p:pic>
      <p:pic>
        <p:nvPicPr>
          <p:cNvPr id="13" name="index-power-1-table-f5" descr="P_{\mathrm{ud}}=\eta P_{\mathrm{ind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554" y="3503980"/>
            <a:ext cx="1776891" cy="441655"/>
          </a:xfrm>
          <a:prstGeom prst="rect">
            <a:avLst/>
          </a:prstGeom>
        </p:spPr>
      </p:pic>
      <p:pic>
        <p:nvPicPr>
          <p:cNvPr id="14" name="index-power-1-table-f6" descr="P_{\mathrm{tab}}=P_{\mathrm{ind}}-P_{\mathrm{ud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9178" y="4018787"/>
            <a:ext cx="2623642" cy="441655"/>
          </a:xfrm>
          <a:prstGeom prst="rect">
            <a:avLst/>
          </a:prstGeom>
        </p:spPr>
      </p:pic>
      <p:pic>
        <p:nvPicPr>
          <p:cNvPr id="15" name="index-power-1-table-f7" descr="\eta=\frac{P_{\mathrm{ud}}}{P_{\mathrm{ind}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3749" y="4533595"/>
            <a:ext cx="654501" cy="441655"/>
          </a:xfrm>
          <a:prstGeom prst="rect">
            <a:avLst/>
          </a:prstGeom>
        </p:spPr>
      </p:pic>
      <p:pic>
        <p:nvPicPr>
          <p:cNvPr id="16" name="index-power-1-table-f8" descr="P=M\omega=M\frac{2\pi n}{60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4602" y="5048402"/>
            <a:ext cx="1492794" cy="441655"/>
          </a:xfrm>
          <a:prstGeom prst="rect">
            <a:avLst/>
          </a:prstGeom>
        </p:spPr>
      </p:pic>
      <p:sp>
        <p:nvSpPr>
          <p:cNvPr id="17" name="index-power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18" name="nav-entry-P01" descr="Åbn P01">
            <a:hlinkClick action="ppaction://hlinksldjump" r:id="rId11" tooltip="Åbn P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P02" descr="Åbn P02">
            <a:hlinkClick action="ppaction://hlinksldjump" r:id="rId11" tooltip="Åbn P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P03" descr="Åbn P03">
            <a:hlinkClick action="ppaction://hlinksldjump" r:id="rId12" tooltip="Åbn P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P04" descr="Åbn P04">
            <a:hlinkClick action="ppaction://hlinksldjump" r:id="rId12" tooltip="Åbn P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P05" descr="Åbn P05">
            <a:hlinkClick action="ppaction://hlinksldjump" r:id="rId13" tooltip="Åbn P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P06" descr="Åbn P06">
            <a:hlinkClick action="ppaction://hlinksldjump" r:id="rId13" tooltip="Åbn P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P07" descr="Åbn P07">
            <a:hlinkClick action="ppaction://hlinksldjump" r:id="rId14" tooltip="Åbn P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P08" descr="Åbn P08">
            <a:hlinkClick action="ppaction://hlinksldjump" r:id="rId14" tooltip="Åbn P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back-start" descr="Til start">
            <a:hlinkClick action="ppaction://hlinksldjump" r:id="rId15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7" name="nav-next-index" descr="Næste indeks">
            <a:hlinkClick action="ppaction://hlinksldjump" r:id="rId16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Energi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energy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W01 · Energi W [J] eller [kWh]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 eller [kW], t [s] eller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 i hele perioden.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W02 · Elektrisk energi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Q [C] eller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spænding; ved UIt også konstant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W03 · Tid 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W05 · Brændselsenergi W [MJ]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Mængde og brændværdi Hu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omregningstabel; samme brændsel og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M01 · Løftearbejde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[kg], g [m/s²], h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Roligt løft; ændringen i potentiel energi.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M02 · Arbejde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s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kraft parallelt med bevægelsen.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M05 · Rotationsarbejde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θ [rad]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moment.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M03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arm r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Kraften står vinkelret på armen.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M04 · Vinkelhastighed ω [rad/s]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Δθ [rad], Δt [s] eller n [s⁻¹]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rotation; ellers middelværdi.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M06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Pmek [W],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aksel-effekt og omdrejningshastighed.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energy-1-table-f1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26" y="1444752"/>
            <a:ext cx="1177747" cy="441655"/>
          </a:xfrm>
          <a:prstGeom prst="rect">
            <a:avLst/>
          </a:prstGeom>
        </p:spPr>
      </p:pic>
      <p:pic>
        <p:nvPicPr>
          <p:cNvPr id="10" name="index-energy-1-table-f2" descr="W=UQ=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098" y="1959559"/>
            <a:ext cx="2301802" cy="441655"/>
          </a:xfrm>
          <a:prstGeom prst="rect">
            <a:avLst/>
          </a:prstGeom>
        </p:spPr>
      </p:pic>
      <p:pic>
        <p:nvPicPr>
          <p:cNvPr id="11" name="index-energy-1-table-f3" descr="t=\frac{W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5721" y="2474366"/>
            <a:ext cx="550556" cy="441655"/>
          </a:xfrm>
          <a:prstGeom prst="rect">
            <a:avLst/>
          </a:prstGeom>
        </p:spPr>
      </p:pic>
      <p:pic>
        <p:nvPicPr>
          <p:cNvPr id="12" name="index-energy-1-table-f4" descr="W=H_u m\quad\mathrm{eller}\quad W=H_u 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79" y="3040775"/>
            <a:ext cx="3291839" cy="338451"/>
          </a:xfrm>
          <a:prstGeom prst="rect">
            <a:avLst/>
          </a:prstGeom>
        </p:spPr>
      </p:pic>
      <p:pic>
        <p:nvPicPr>
          <p:cNvPr id="13" name="index-energy-1-table-f5" descr="W=mg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819" y="3503980"/>
            <a:ext cx="1430360" cy="441655"/>
          </a:xfrm>
          <a:prstGeom prst="rect">
            <a:avLst/>
          </a:prstGeom>
        </p:spPr>
      </p:pic>
      <p:pic>
        <p:nvPicPr>
          <p:cNvPr id="14" name="index-energy-1-table-f6" descr="W=F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6352" y="4018787"/>
            <a:ext cx="1209293" cy="441655"/>
          </a:xfrm>
          <a:prstGeom prst="rect">
            <a:avLst/>
          </a:prstGeom>
        </p:spPr>
      </p:pic>
      <p:pic>
        <p:nvPicPr>
          <p:cNvPr id="15" name="index-energy-1-table-f7" descr="W=M\thet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001" y="4533595"/>
            <a:ext cx="1345996" cy="441655"/>
          </a:xfrm>
          <a:prstGeom prst="rect">
            <a:avLst/>
          </a:prstGeom>
        </p:spPr>
      </p:pic>
      <p:pic>
        <p:nvPicPr>
          <p:cNvPr id="16" name="index-energy-1-table-f8" descr="M=F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5837" y="5048402"/>
            <a:ext cx="1230325" cy="441655"/>
          </a:xfrm>
          <a:prstGeom prst="rect">
            <a:avLst/>
          </a:prstGeom>
        </p:spPr>
      </p:pic>
      <p:pic>
        <p:nvPicPr>
          <p:cNvPr id="17" name="index-energy-1-table-f9" descr="\omega=\frac{\Delta\theta}{\Delta t}=2\pi 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0748" y="5563209"/>
            <a:ext cx="1280503" cy="441655"/>
          </a:xfrm>
          <a:prstGeom prst="rect">
            <a:avLst/>
          </a:prstGeom>
        </p:spPr>
      </p:pic>
      <p:pic>
        <p:nvPicPr>
          <p:cNvPr id="18" name="index-energy-1-table-f10" descr="M=\frac{P_{\mathrm{mek}}}{\omega}=\frac{60P_{\mathrm{mek}}}{2\pi n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6299" y="6078016"/>
            <a:ext cx="1669401" cy="441655"/>
          </a:xfrm>
          <a:prstGeom prst="rect">
            <a:avLst/>
          </a:prstGeom>
        </p:spPr>
      </p:pic>
      <p:sp>
        <p:nvSpPr>
          <p:cNvPr id="19" name="index-energy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20" name="nav-entry-W01" descr="Åbn W01">
            <a:hlinkClick action="ppaction://hlinksldjump" r:id="rId13" tooltip="Åbn W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W02" descr="Åbn W02">
            <a:hlinkClick action="ppaction://hlinksldjump" r:id="rId13" tooltip="Åbn W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W03" descr="Åbn W03">
            <a:hlinkClick action="ppaction://hlinksldjump" r:id="rId14" tooltip="Åbn W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W05" descr="Åbn W05">
            <a:hlinkClick action="ppaction://hlinksldjump" r:id="rId14" tooltip="Åbn W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M01" descr="Åbn M01">
            <a:hlinkClick action="ppaction://hlinksldjump" r:id="rId15" tooltip="Åbn M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M02" descr="Åbn M02">
            <a:hlinkClick action="ppaction://hlinksldjump" r:id="rId15" tooltip="Åbn M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M05" descr="Åbn M05">
            <a:hlinkClick action="ppaction://hlinksldjump" r:id="rId16" tooltip="Åbn M05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M03" descr="Åbn M03">
            <a:hlinkClick action="ppaction://hlinksldjump" r:id="rId16" tooltip="Åbn M03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M04" descr="Åbn M04">
            <a:hlinkClick action="ppaction://hlinksldjump" r:id="rId17" tooltip="Åbn M04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M06" descr="Åbn M06">
            <a:hlinkClick action="ppaction://hlinksldjump" r:id="rId17" tooltip="Åbn M06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F01 · Elektrisk kraft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Q1, Q2 [C], a [m],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 i ensartet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F02 · Elektrisk feltstyrke Ef [V/m]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Q [C] eller kildeladning Qk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F/Q er feltet på prøveladningen; a ved punktkilden.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F03 · Kraft F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Ef [V/m]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Prøveladning i givet elektrisk felt.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F04 · Afstand a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Q1, Q2 [C], ε [F/m]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punktladningsmodel som F01.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F05 · Ukendt ladning |Q2|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a [m], Q1 [C], ε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Punktladninger; fortegnet afgøres af tiltrækning/frastødning.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F06 · Elektrisk flux Ψ [V·m]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Ef [V/m], A [m²] eller Q [C], ε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normalt felt; eller lukket kugle i ensartet medium.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F07 · Permittivitet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εr [1], ε0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B01 · Magnetisk flux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vinkelret på fladen.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B02 · Fluxtæthed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felt; A er areal normalt på feltet.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med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1-table-f1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709" y="1444752"/>
            <a:ext cx="944580" cy="441655"/>
          </a:xfrm>
          <a:prstGeom prst="rect">
            <a:avLst/>
          </a:prstGeom>
        </p:spPr>
      </p:pic>
      <p:pic>
        <p:nvPicPr>
          <p:cNvPr id="10" name="index-magnetism-1-table-f2" descr="E_f=\frac{F}{Q},\qquad |E_f|=\frac{|Q_k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761" y="1959559"/>
            <a:ext cx="1804476" cy="441655"/>
          </a:xfrm>
          <a:prstGeom prst="rect">
            <a:avLst/>
          </a:prstGeom>
        </p:spPr>
      </p:pic>
      <p:pic>
        <p:nvPicPr>
          <p:cNvPr id="11" name="index-magnetism-1-table-f3" descr="\vec F=Q\vec E_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172" y="2474366"/>
            <a:ext cx="1011654" cy="441655"/>
          </a:xfrm>
          <a:prstGeom prst="rect">
            <a:avLst/>
          </a:prstGeom>
        </p:spPr>
      </p:pic>
      <p:pic>
        <p:nvPicPr>
          <p:cNvPr id="12" name="index-magnetism-1-table-f4" descr="a=\sqrt{\frac{|Q_1Q_2|}{4\pi\varepsilon |F|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911" y="2989173"/>
            <a:ext cx="1008176" cy="441655"/>
          </a:xfrm>
          <a:prstGeom prst="rect">
            <a:avLst/>
          </a:prstGeom>
        </p:spPr>
      </p:pic>
      <p:pic>
        <p:nvPicPr>
          <p:cNvPr id="13" name="index-magnetism-1-table-f5" descr="|Q_2|=\frac{4\pi\varepsilon a^2|F|}{|Q_1|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799" y="3503980"/>
            <a:ext cx="1174401" cy="441655"/>
          </a:xfrm>
          <a:prstGeom prst="rect">
            <a:avLst/>
          </a:prstGeom>
        </p:spPr>
      </p:pic>
      <p:pic>
        <p:nvPicPr>
          <p:cNvPr id="14" name="index-magnetism-1-table-f6" descr="\Psi=E_f A=\frac{Q}{\varepsilon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4458" y="4018787"/>
            <a:ext cx="1193082" cy="441655"/>
          </a:xfrm>
          <a:prstGeom prst="rect">
            <a:avLst/>
          </a:prstGeom>
        </p:spPr>
      </p:pic>
      <p:pic>
        <p:nvPicPr>
          <p:cNvPr id="15" name="index-magnetism-1-table-f7" descr="\varepsilon=\varepsilon_0\varepsilon_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6919" y="4533595"/>
            <a:ext cx="1288160" cy="441655"/>
          </a:xfrm>
          <a:prstGeom prst="rect">
            <a:avLst/>
          </a:prstGeom>
        </p:spPr>
      </p:pic>
      <p:pic>
        <p:nvPicPr>
          <p:cNvPr id="16" name="index-magnetism-1-table-f8" descr="\Phi=B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692" y="5048402"/>
            <a:ext cx="1256614" cy="441655"/>
          </a:xfrm>
          <a:prstGeom prst="rect">
            <a:avLst/>
          </a:prstGeom>
        </p:spPr>
      </p:pic>
      <p:pic>
        <p:nvPicPr>
          <p:cNvPr id="17" name="index-magnetism-1-table-f9" descr="B=\frac{\Phi}{A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8895" y="5563209"/>
            <a:ext cx="604208" cy="441655"/>
          </a:xfrm>
          <a:prstGeom prst="rect">
            <a:avLst/>
          </a:prstGeom>
        </p:spPr>
      </p:pic>
      <p:pic>
        <p:nvPicPr>
          <p:cNvPr id="18" name="index-magnetism-1-table-f10" descr="B=\mu 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2440" y="6078016"/>
            <a:ext cx="1217119" cy="441655"/>
          </a:xfrm>
          <a:prstGeom prst="rect">
            <a:avLst/>
          </a:prstGeom>
        </p:spPr>
      </p:pic>
      <p:sp>
        <p:nvSpPr>
          <p:cNvPr id="19" name="index-magnetism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20" name="nav-entry-F01" descr="Åbn F01">
            <a:hlinkClick action="ppaction://hlinksldjump" r:id="rId13" tooltip="Åbn F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F02" descr="Åbn F02">
            <a:hlinkClick action="ppaction://hlinksldjump" r:id="rId13" tooltip="Åbn F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F03" descr="Åbn F03">
            <a:hlinkClick action="ppaction://hlinksldjump" r:id="rId14" tooltip="Åbn F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F04" descr="Åbn F04">
            <a:hlinkClick action="ppaction://hlinksldjump" r:id="rId14" tooltip="Åbn F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F05" descr="Åbn F05">
            <a:hlinkClick action="ppaction://hlinksldjump" r:id="rId15" tooltip="Åbn F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F06" descr="Åbn F06">
            <a:hlinkClick action="ppaction://hlinksldjump" r:id="rId15" tooltip="Åbn F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F07" descr="Åbn F07">
            <a:hlinkClick action="ppaction://hlinksldjump" r:id="rId16" tooltip="Åbn F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01" descr="Åbn B01">
            <a:hlinkClick action="ppaction://hlinksldjump" r:id="rId16" tooltip="Åbn B01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02" descr="Åbn B02">
            <a:hlinkClick action="ppaction://hlinksldjump" r:id="rId17" tooltip="Åbn B02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B03" descr="Åbn B03">
            <a:hlinkClick action="ppaction://hlinksldjump" r:id="rId17" tooltip="Åbn B03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2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B04 · Felt om lang leder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Lang, lige leder; punkt uden for lederen.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B05 · Magnetisk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N [1],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vej; ringkerne/længere spole-model.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B06 · Magnetomotorisk kraft Fm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 eller Rm [A/Wb],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Amperevindingstal i magnetkredsmodellen.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B07 · Reluktans Rm [A/Wb]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[m], μ [H/m],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segment; lineær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B08 · Flux Φ [Wb]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Rm [A/Wb]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Lukket lineær 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B09 · Permeabilitet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μr [1], μ0 [H/m] eller B [T],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medium eller sekantværdi ved givet driftspunkt.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B11 · Magnetkredsens areal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normalt på kernens tværsnit.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B12 ·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ved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B13 · Relativ permeabilitet μr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 [H/m], μ0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enhed for absolutte permeabiliteter.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K01 · Kraft på leder |F| [N]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ensartet magnetfelt.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2-table-f1" descr="B=\frac{\mu I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333" y="1444752"/>
            <a:ext cx="681333" cy="441655"/>
          </a:xfrm>
          <a:prstGeom prst="rect">
            <a:avLst/>
          </a:prstGeom>
        </p:spPr>
      </p:pic>
      <p:pic>
        <p:nvPicPr>
          <p:cNvPr id="10" name="index-magnetism-2-table-f2" descr="H=\frac{NI}{l}=\frac{F_m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014" y="1959559"/>
            <a:ext cx="1099971" cy="441655"/>
          </a:xfrm>
          <a:prstGeom prst="rect">
            <a:avLst/>
          </a:prstGeom>
        </p:spPr>
      </p:pic>
      <p:pic>
        <p:nvPicPr>
          <p:cNvPr id="11" name="index-magnetism-2-table-f3" descr="F_m=NI=R_m\Ph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272" y="2474366"/>
            <a:ext cx="2497454" cy="441655"/>
          </a:xfrm>
          <a:prstGeom prst="rect">
            <a:avLst/>
          </a:prstGeom>
        </p:spPr>
      </p:pic>
      <p:pic>
        <p:nvPicPr>
          <p:cNvPr id="12" name="index-magnetism-2-table-f4" descr="R_m=\frac{l}{\mu 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322" y="2989173"/>
            <a:ext cx="717355" cy="441655"/>
          </a:xfrm>
          <a:prstGeom prst="rect">
            <a:avLst/>
          </a:prstGeom>
        </p:spPr>
      </p:pic>
      <p:pic>
        <p:nvPicPr>
          <p:cNvPr id="13" name="index-magnetism-2-table-f5" descr="\Phi=\frac{NI}{R_m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8360" y="3503980"/>
            <a:ext cx="665278" cy="441655"/>
          </a:xfrm>
          <a:prstGeom prst="rect">
            <a:avLst/>
          </a:prstGeom>
        </p:spPr>
      </p:pic>
      <p:pic>
        <p:nvPicPr>
          <p:cNvPr id="14" name="index-magnetism-2-table-f6" descr="\mu=\mu_0\mu_r=\frac{B}{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4522" y="4018787"/>
            <a:ext cx="1232954" cy="441655"/>
          </a:xfrm>
          <a:prstGeom prst="rect">
            <a:avLst/>
          </a:prstGeom>
        </p:spPr>
      </p:pic>
      <p:pic>
        <p:nvPicPr>
          <p:cNvPr id="15" name="index-magnetism-2-table-f7" descr="A=\frac{\Phi}{B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4295" y="4533595"/>
            <a:ext cx="613409" cy="441655"/>
          </a:xfrm>
          <a:prstGeom prst="rect">
            <a:avLst/>
          </a:prstGeom>
        </p:spPr>
      </p:pic>
      <p:pic>
        <p:nvPicPr>
          <p:cNvPr id="16" name="index-magnetism-2-table-f8" descr="H=\frac{B}{\mu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1415" y="5048402"/>
            <a:ext cx="599168" cy="441655"/>
          </a:xfrm>
          <a:prstGeom prst="rect">
            <a:avLst/>
          </a:prstGeom>
        </p:spPr>
      </p:pic>
      <p:pic>
        <p:nvPicPr>
          <p:cNvPr id="17" name="index-magnetism-2-table-f9" descr="\mu_r=\frac{\mu}{\mu_0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3917" y="5563209"/>
            <a:ext cx="714165" cy="441655"/>
          </a:xfrm>
          <a:prstGeom prst="rect">
            <a:avLst/>
          </a:prstGeom>
        </p:spPr>
      </p:pic>
      <p:pic>
        <p:nvPicPr>
          <p:cNvPr id="18" name="index-magnetism-2-table-f10" descr="|F|=B|I|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3361" y="6078016"/>
            <a:ext cx="1535277" cy="441655"/>
          </a:xfrm>
          <a:prstGeom prst="rect">
            <a:avLst/>
          </a:prstGeom>
        </p:spPr>
      </p:pic>
      <p:sp>
        <p:nvSpPr>
          <p:cNvPr id="19" name="index-magnetism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20" name="nav-entry-B04" descr="Åbn B04">
            <a:hlinkClick action="ppaction://hlinksldjump" r:id="rId13" tooltip="Åbn B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B05" descr="Åbn B05">
            <a:hlinkClick action="ppaction://hlinksldjump" r:id="rId13" tooltip="Åbn B05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B06" descr="Åbn B06">
            <a:hlinkClick action="ppaction://hlinksldjump" r:id="rId14" tooltip="Åbn B06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B07" descr="Åbn B07">
            <a:hlinkClick action="ppaction://hlinksldjump" r:id="rId14" tooltip="Åbn B07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B08" descr="Åbn B08">
            <a:hlinkClick action="ppaction://hlinksldjump" r:id="rId15" tooltip="Åbn B08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B09" descr="Åbn B09">
            <a:hlinkClick action="ppaction://hlinksldjump" r:id="rId15" tooltip="Åbn B09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B11" descr="Åbn B11">
            <a:hlinkClick action="ppaction://hlinksldjump" r:id="rId16" tooltip="Åbn B11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2" descr="Åbn B12">
            <a:hlinkClick action="ppaction://hlinksldjump" r:id="rId16" tooltip="Åbn B12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13" descr="Åbn B13">
            <a:hlinkClick action="ppaction://hlinksldjump" r:id="rId17" tooltip="Åbn B13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K01" descr="Åbn K01">
            <a:hlinkClick action="ppaction://hlinksldjump" r:id="rId17" tooltip="Åbn K01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10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3-table"/>
          <p:cNvGraphicFramePr>
            <a:graphicFrameLocks noGrp="1"/>
          </p:cNvGraphicFramePr>
          <p:nvPr/>
        </p:nvGraphicFramePr>
        <p:xfrm>
          <a:off x="411480" y="1042415"/>
          <a:ext cx="9784079" cy="1910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K02 · Aktiv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B [T], |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|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B.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|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|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feltet.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K04 · Kraft mellem ledere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1,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2 [A], l,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Lange parallelle ledere; a er centerafstand.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3-table-f1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356" y="1444752"/>
            <a:ext cx="637287" cy="441655"/>
          </a:xfrm>
          <a:prstGeom prst="rect">
            <a:avLst/>
          </a:prstGeom>
        </p:spPr>
      </p:pic>
      <p:pic>
        <p:nvPicPr>
          <p:cNvPr id="10" name="index-magnetism-3-table-f2" descr="B=\frac{|F|}{|I|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008" y="1959559"/>
            <a:ext cx="635983" cy="441655"/>
          </a:xfrm>
          <a:prstGeom prst="rect">
            <a:avLst/>
          </a:prstGeom>
        </p:spPr>
      </p:pic>
      <p:pic>
        <p:nvPicPr>
          <p:cNvPr id="11" name="index-magnetism-3-table-f3" descr="|F|=\frac{\mu|I_1I_2|l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457" y="2474366"/>
            <a:ext cx="1001085" cy="441655"/>
          </a:xfrm>
          <a:prstGeom prst="rect">
            <a:avLst/>
          </a:prstGeom>
        </p:spPr>
      </p:pic>
      <p:sp>
        <p:nvSpPr>
          <p:cNvPr id="12" name="index-magnetism-3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13" name="nav-entry-K02" descr="Åbn K02">
            <a:hlinkClick action="ppaction://hlinksldjump" r:id="rId6" tooltip="Åbn K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entry-K03" descr="Åbn K03">
            <a:hlinkClick action="ppaction://hlinksldjump" r:id="rId6" tooltip="Åbn K03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K04" descr="Åbn K04">
            <a:hlinkClick action="ppaction://hlinksldjump" r:id="rId7" tooltip="Åbn K04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17" name="nav-next-index" descr="Næste indeks">
            <a:hlinkClick action="ppaction://hlinksldjump" r:id="rId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Induktion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11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induction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E01 · Induceret spænding e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ΔΦ [Wb],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Middel-EMK over interval; samme flux gennem hver vinding.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E02 · Øjebliks-EMK e(t)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Φ(t)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Valgt positiv fluxnormal og konsistent omløbsretning.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E03 · Bevægelses-EMK |E|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l [m], v [m/s]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Lige leder; l, v og B står indbyrdes vinkelret.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E05 · Selvinduktions-EMK es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[H], di/dt [A/s]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induktans; induceret modspænding.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E04 · Induktans L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μ [H/m], A [m²],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ensartet spole/magnetkreds;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E06 · Induktans L [H]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es [V], Δ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strømrampe; tab adskilt fra selvinduktion.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induction-1-table-f1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913" y="1444752"/>
            <a:ext cx="1474173" cy="441655"/>
          </a:xfrm>
          <a:prstGeom prst="rect">
            <a:avLst/>
          </a:prstGeom>
        </p:spPr>
      </p:pic>
      <p:pic>
        <p:nvPicPr>
          <p:cNvPr id="10" name="index-induction-1-table-f2" descr="e(t)=-N\frac{\mathrm{d}\Phi}{\mathrm{d}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620" y="1959559"/>
            <a:ext cx="1176759" cy="441655"/>
          </a:xfrm>
          <a:prstGeom prst="rect">
            <a:avLst/>
          </a:prstGeom>
        </p:spPr>
      </p:pic>
      <p:pic>
        <p:nvPicPr>
          <p:cNvPr id="11" name="index-induction-1-table-f3" descr="|E|=Bl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825" y="2474366"/>
            <a:ext cx="1414348" cy="441655"/>
          </a:xfrm>
          <a:prstGeom prst="rect">
            <a:avLst/>
          </a:prstGeom>
        </p:spPr>
      </p:pic>
      <p:pic>
        <p:nvPicPr>
          <p:cNvPr id="12" name="index-induction-1-table-f4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970" y="2989173"/>
            <a:ext cx="904059" cy="441655"/>
          </a:xfrm>
          <a:prstGeom prst="rect">
            <a:avLst/>
          </a:prstGeom>
        </p:spPr>
      </p:pic>
      <p:pic>
        <p:nvPicPr>
          <p:cNvPr id="13" name="index-induction-1-table-f5" descr="L=\frac{N^2\mu A}{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5172" y="3503980"/>
            <a:ext cx="771655" cy="441655"/>
          </a:xfrm>
          <a:prstGeom prst="rect">
            <a:avLst/>
          </a:prstGeom>
        </p:spPr>
      </p:pic>
      <p:pic>
        <p:nvPicPr>
          <p:cNvPr id="14" name="index-induction-1-table-f6" descr="L=-\frac{e_s\Delta t}{\Delta I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9561" y="4018787"/>
            <a:ext cx="902877" cy="441655"/>
          </a:xfrm>
          <a:prstGeom prst="rect">
            <a:avLst/>
          </a:prstGeom>
        </p:spPr>
      </p:pic>
      <p:sp>
        <p:nvSpPr>
          <p:cNvPr id="15" name="index-induction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16" name="nav-entry-E01" descr="Åbn E01">
            <a:hlinkClick action="ppaction://hlinksldjump" r:id="rId9" tooltip="Åbn E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E02" descr="Åbn E02">
            <a:hlinkClick action="ppaction://hlinksldjump" r:id="rId9" tooltip="Åbn E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E03" descr="Åbn E03">
            <a:hlinkClick action="ppaction://hlinksldjump" r:id="rId10" tooltip="Åbn E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E05" descr="Åbn E05">
            <a:hlinkClick action="ppaction://hlinksldjump" r:id="rId10" tooltip="Åbn E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E04" descr="Åbn E04">
            <a:hlinkClick action="ppaction://hlinksldjump" r:id="rId11" tooltip="Åbn E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E06" descr="Åbn E06">
            <a:hlinkClick action="ppaction://hlinksldjump" r:id="rId11" tooltip="Åbn E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3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Kredsløbsmetoder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12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ethods-1-table"/>
          <p:cNvGraphicFramePr>
            <a:graphicFrameLocks noGrp="1"/>
          </p:cNvGraphicFramePr>
          <p:nvPr/>
        </p:nvGraphicFramePr>
        <p:xfrm>
          <a:off x="411480" y="1042415"/>
          <a:ext cx="9784079" cy="2424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N02 · Ukendt grenstrøm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x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Alle øvrige ind- og udstrømme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i én knude; stationær kreds.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U07 · Knudespænding Va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Grenkilder Ek [V], Rk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Fælles knude a og reference 0; kilder + mod a.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N01 · Knudespændinger Va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Topologi, R [Ω], kilder og reference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DC-net; strømmene ud af hver ukendt knude.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N03 · Kontrol af spændinger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Kilders polaritet,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KVL i lukket DC-sløjfe; kontrol efter KCL-løsning.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ethods-1-table-f1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759" y="1444752"/>
            <a:ext cx="3082480" cy="441655"/>
          </a:xfrm>
          <a:prstGeom prst="rect">
            <a:avLst/>
          </a:prstGeom>
        </p:spPr>
      </p:pic>
      <p:pic>
        <p:nvPicPr>
          <p:cNvPr id="10" name="index-methods-1-table-f2" descr="V_a=\dfrac{\sum_k\dfrac{E_k}{R_k}}{\sum_k\dfrac{1}{R_k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467" y="1959559"/>
            <a:ext cx="385064" cy="441655"/>
          </a:xfrm>
          <a:prstGeom prst="rect">
            <a:avLst/>
          </a:prstGeom>
        </p:spPr>
      </p:pic>
      <p:pic>
        <p:nvPicPr>
          <p:cNvPr id="11" name="index-methods-1-table-f3" descr="\sum_b\frac{V_a-V_b}{R_{ab}}=I_{\mathrm{ind},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157" y="2474366"/>
            <a:ext cx="1295684" cy="441655"/>
          </a:xfrm>
          <a:prstGeom prst="rect">
            <a:avLst/>
          </a:prstGeom>
        </p:spPr>
      </p:pic>
      <p:pic>
        <p:nvPicPr>
          <p:cNvPr id="12" name="index-methods-1-table-f4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9703" y="2989173"/>
            <a:ext cx="942592" cy="441655"/>
          </a:xfrm>
          <a:prstGeom prst="rect">
            <a:avLst/>
          </a:prstGeom>
        </p:spPr>
      </p:pic>
      <p:sp>
        <p:nvSpPr>
          <p:cNvPr id="13" name="index-methods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14" name="nav-entry-N02" descr="Åbn N02">
            <a:hlinkClick action="ppaction://hlinksldjump" r:id="rId7" tooltip="Åbn N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U07" descr="Åbn U07">
            <a:hlinkClick action="ppaction://hlinksldjump" r:id="rId7" tooltip="Åbn U07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entry-N01" descr="Åbn N01">
            <a:hlinkClick action="ppaction://hlinksldjump" r:id="rId8" tooltip="Åbn N01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N03" descr="Åbn N03">
            <a:hlinkClick action="ppaction://hlinksldjump" r:id="rId8" tooltip="Åbn N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19" name="nav-next-index" descr="Næste indeks">
            <a:hlinkClick action="ppaction://hlinksldjump" r:id="rId10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Kondensatorer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13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capacitors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C01 · Elektrisk fluxtæthed D [C/m²]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pladekondensator; fælles pladeareal A, afstand a, homogent dielektrikum.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C02 · Ladning Q [C]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D [C/m²],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pladekondensator; fælles pladeareal A, afstand a, homogent dielektrikum.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C03 · Feltstyrke E [V/m]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D [C/m²],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pladekondensator; fælles pladeareal A, afstand a, homogent dielektrikum.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C04 · Feltstyrke E [V/m]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a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pladekondensator; fælles pladeareal A, afstand a, homogent dielektrikum.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C05 · Kapacitans C [F]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U [V] eller ε, A, 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pladekondensator; fælles pladeareal A, afstand a, homogent dielektrikum.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C06 · Fælles pladeareal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C [F], a [m], ε [F/m]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pladekondensator; fælles pladeareal A, afstand a, homogent dielektrikum.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C07 · Pladeafstand a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C [F], A [m²],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pladekondensator; fælles pladeareal A, afstand a, homogent dielektrikum.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C08 · Spænding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C [F]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kapacitans og ladningens størrelse.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C09 · Ladning Q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C [F],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kapacitans; pladeladningens størrelse.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C10 · Relativ permittivitet εr [1]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C, a, A, ε₀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pladekondensator; fælles pladeareal A, afstand a, homogent dielektrikum.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capacitors-1-table-f1" descr="D=\dfrac{Q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205" y="1444752"/>
            <a:ext cx="557589" cy="441655"/>
          </a:xfrm>
          <a:prstGeom prst="rect">
            <a:avLst/>
          </a:prstGeom>
        </p:spPr>
      </p:pic>
      <p:pic>
        <p:nvPicPr>
          <p:cNvPr id="10" name="index-capacitors-1-table-f2" descr="Q=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496" y="1959559"/>
            <a:ext cx="1273006" cy="441655"/>
          </a:xfrm>
          <a:prstGeom prst="rect">
            <a:avLst/>
          </a:prstGeom>
        </p:spPr>
      </p:pic>
      <p:pic>
        <p:nvPicPr>
          <p:cNvPr id="11" name="index-capacitors-1-table-f3" descr="E=\dfrac{D}{\varepsilon}=\dfrac{Q}{\varepsilon_0\varepsilon_r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040" y="2474366"/>
            <a:ext cx="1151919" cy="441655"/>
          </a:xfrm>
          <a:prstGeom prst="rect">
            <a:avLst/>
          </a:prstGeom>
        </p:spPr>
      </p:pic>
      <p:pic>
        <p:nvPicPr>
          <p:cNvPr id="12" name="index-capacitors-1-table-f4" descr="E=\dfrac{U}{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601" y="2989173"/>
            <a:ext cx="660797" cy="441655"/>
          </a:xfrm>
          <a:prstGeom prst="rect">
            <a:avLst/>
          </a:prstGeom>
        </p:spPr>
      </p:pic>
      <p:pic>
        <p:nvPicPr>
          <p:cNvPr id="13" name="index-capacitors-1-table-f5" descr="C=\dfrac{Q}{U}=\dfrac{\varepsilon_0\varepsilon_r A}{a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3779" y="3503980"/>
            <a:ext cx="1234439" cy="441655"/>
          </a:xfrm>
          <a:prstGeom prst="rect">
            <a:avLst/>
          </a:prstGeom>
        </p:spPr>
      </p:pic>
      <p:pic>
        <p:nvPicPr>
          <p:cNvPr id="14" name="index-capacitors-1-table-f6" descr="A=\dfrac{Ca}{\varepsilon_0\varepsilon_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4582" y="4018787"/>
            <a:ext cx="832835" cy="441655"/>
          </a:xfrm>
          <a:prstGeom prst="rect">
            <a:avLst/>
          </a:prstGeom>
        </p:spPr>
      </p:pic>
      <p:pic>
        <p:nvPicPr>
          <p:cNvPr id="15" name="index-capacitors-1-table-f7" descr="a=\dfrac{\varepsilon_0\varepsilon_r A}{C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7121" y="4533595"/>
            <a:ext cx="827756" cy="441655"/>
          </a:xfrm>
          <a:prstGeom prst="rect">
            <a:avLst/>
          </a:prstGeom>
        </p:spPr>
      </p:pic>
      <p:pic>
        <p:nvPicPr>
          <p:cNvPr id="16" name="index-capacitors-1-table-f8" descr="U=\dfrac{Q}{C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5647" y="5048402"/>
            <a:ext cx="550705" cy="441655"/>
          </a:xfrm>
          <a:prstGeom prst="rect">
            <a:avLst/>
          </a:prstGeom>
        </p:spPr>
      </p:pic>
      <p:pic>
        <p:nvPicPr>
          <p:cNvPr id="17" name="index-capacitors-1-table-f9" descr="Q=CU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919" y="5563209"/>
            <a:ext cx="1330161" cy="441655"/>
          </a:xfrm>
          <a:prstGeom prst="rect">
            <a:avLst/>
          </a:prstGeom>
        </p:spPr>
      </p:pic>
      <p:pic>
        <p:nvPicPr>
          <p:cNvPr id="18" name="index-capacitors-1-table-f10" descr="\varepsilon_r=\dfrac{Ca}{\varepsilon_0 A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7612" y="6078016"/>
            <a:ext cx="726774" cy="441655"/>
          </a:xfrm>
          <a:prstGeom prst="rect">
            <a:avLst/>
          </a:prstGeom>
        </p:spPr>
      </p:pic>
      <p:sp>
        <p:nvSpPr>
          <p:cNvPr id="19" name="index-capacitors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20" name="nav-entry-C01" descr="Åbn C01">
            <a:hlinkClick action="ppaction://hlinksldjump" r:id="rId13" tooltip="Åbn C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C02" descr="Åbn C02">
            <a:hlinkClick action="ppaction://hlinksldjump" r:id="rId13" tooltip="Åbn C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C03" descr="Åbn C03">
            <a:hlinkClick action="ppaction://hlinksldjump" r:id="rId14" tooltip="Åbn C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C04" descr="Åbn C04">
            <a:hlinkClick action="ppaction://hlinksldjump" r:id="rId14" tooltip="Åbn C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C05" descr="Åbn C05">
            <a:hlinkClick action="ppaction://hlinksldjump" r:id="rId15" tooltip="Åbn C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C06" descr="Åbn C06">
            <a:hlinkClick action="ppaction://hlinksldjump" r:id="rId15" tooltip="Åbn C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C07" descr="Åbn C07">
            <a:hlinkClick action="ppaction://hlinksldjump" r:id="rId16" tooltip="Åbn C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C08" descr="Åbn C08">
            <a:hlinkClick action="ppaction://hlinksldjump" r:id="rId16" tooltip="Åbn C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C09" descr="Åbn C09">
            <a:hlinkClick action="ppaction://hlinksldjump" r:id="rId17" tooltip="Åbn C09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C10" descr="Åbn C10">
            <a:hlinkClick action="ppaction://hlinksldjump" r:id="rId17" tooltip="Åbn C10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Kondensatorer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14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capacitors-2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C11 · Variabel kapacitans C [F]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n, ε₀, εr, A, 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ens, skiftevis sammenkoblede plader; n−1 ens mellemrum, samme overlap A og dielektrikum; randfelter forsømmes.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C12 · Antal plader n [1]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C, ε₀, εr, A,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ens, skiftevis sammenkoblede plader; n−1 ens mellemrum, samme overlap A og dielektrikum; randfelter forsømmes.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C13 · Ladning q(t)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q₀,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[A], 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kondensator med konstant C og positiv, konstant strøm ind i den positive plade.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C14 · Spænding uC(t)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u₀,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t, C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kondensator med konstant C og positiv, konstant strøm ind i den positive plade.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C15 · Tid til målspænding 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u₀, uₘ,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kondensator med konstant C og positiv, konstant strøm ind i den positive plade. Målspænding over startspænding.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C16 · Ladning q(t) [C]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q₀,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ₐ, 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kondensator, konstant positiv afladningsstrøm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ₐ; kun indtil spændingen når nul.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C17 · Spænding uC(t)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u₀,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ₐ, t, 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kondensator, konstant positiv afladningsstrøm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ₐ; kun indtil spændingen når nul.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C18 · Afladetid 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u₀, uₘ,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ₐ, C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kondensator, konstant positiv afladningsstrøm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ₐ; kun indtil spændingen når nul. 0≤uₘ≤u₀.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C19 · Tidskonstant τ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C [F]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RC-kreds med konstant R og C; gælder både opladning og lukket afladning.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C20 · Opladningsspænding uC(t)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Uₛ, u₀, R, C, 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DC-seriekreds; konstant R,C og forsyningsspænding Uₛ. Før start er uC(0)=u₀.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capacitors-2-table-f1" descr="C=(n-1)\dfrac{\varepsilon_0\varepsilon_r A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221" y="1444752"/>
            <a:ext cx="1595557" cy="441655"/>
          </a:xfrm>
          <a:prstGeom prst="rect">
            <a:avLst/>
          </a:prstGeom>
        </p:spPr>
      </p:pic>
      <p:pic>
        <p:nvPicPr>
          <p:cNvPr id="10" name="index-capacitors-2-table-f2" descr="n=1+\dfrac{Ca}{\varepsilon_0\varepsilon_r 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568" y="1959559"/>
            <a:ext cx="1148862" cy="441655"/>
          </a:xfrm>
          <a:prstGeom prst="rect">
            <a:avLst/>
          </a:prstGeom>
        </p:spPr>
      </p:pic>
      <p:pic>
        <p:nvPicPr>
          <p:cNvPr id="11" name="index-capacitors-2-table-f3" descr="q(t)=q_0+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006" y="2474366"/>
            <a:ext cx="1989986" cy="441655"/>
          </a:xfrm>
          <a:prstGeom prst="rect">
            <a:avLst/>
          </a:prstGeom>
        </p:spPr>
      </p:pic>
      <p:pic>
        <p:nvPicPr>
          <p:cNvPr id="12" name="index-capacitors-2-table-f4" descr="u_C(t)=u_0+\dfrac{I}{C}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5691" y="2989173"/>
            <a:ext cx="1390617" cy="441655"/>
          </a:xfrm>
          <a:prstGeom prst="rect">
            <a:avLst/>
          </a:prstGeom>
        </p:spPr>
      </p:pic>
      <p:pic>
        <p:nvPicPr>
          <p:cNvPr id="13" name="index-capacitors-2-table-f5" descr="t=\dfrac{C(u_m-u_0)}{I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1610" y="3503980"/>
            <a:ext cx="1198778" cy="441655"/>
          </a:xfrm>
          <a:prstGeom prst="rect">
            <a:avLst/>
          </a:prstGeom>
        </p:spPr>
      </p:pic>
      <p:pic>
        <p:nvPicPr>
          <p:cNvPr id="14" name="index-capacitors-2-table-f6" descr="q(t)=q_0-I_a 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4782" y="4018787"/>
            <a:ext cx="2152434" cy="441655"/>
          </a:xfrm>
          <a:prstGeom prst="rect">
            <a:avLst/>
          </a:prstGeom>
        </p:spPr>
      </p:pic>
      <p:pic>
        <p:nvPicPr>
          <p:cNvPr id="15" name="index-capacitors-2-table-f7" descr="u_C(t)=u_0-\dfrac{I_a}{C}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5461" y="4533595"/>
            <a:ext cx="1311077" cy="441655"/>
          </a:xfrm>
          <a:prstGeom prst="rect">
            <a:avLst/>
          </a:prstGeom>
        </p:spPr>
      </p:pic>
      <p:pic>
        <p:nvPicPr>
          <p:cNvPr id="16" name="index-capacitors-2-table-f8" descr="t=\dfrac{C(u_0-u_m)}{I_a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6662" y="5048402"/>
            <a:ext cx="1128674" cy="441655"/>
          </a:xfrm>
          <a:prstGeom prst="rect">
            <a:avLst/>
          </a:prstGeom>
        </p:spPr>
      </p:pic>
      <p:pic>
        <p:nvPicPr>
          <p:cNvPr id="17" name="index-capacitors-2-table-f9" descr="\tau=R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7384" y="5563209"/>
            <a:ext cx="1167231" cy="441655"/>
          </a:xfrm>
          <a:prstGeom prst="rect">
            <a:avLst/>
          </a:prstGeom>
        </p:spPr>
      </p:pic>
      <p:pic>
        <p:nvPicPr>
          <p:cNvPr id="18" name="index-capacitors-2-table-f10" descr="u_C(t)=U_s+(u_0-U_s)e^{-t/(RC)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79" y="6116173"/>
            <a:ext cx="3291839" cy="365341"/>
          </a:xfrm>
          <a:prstGeom prst="rect">
            <a:avLst/>
          </a:prstGeom>
        </p:spPr>
      </p:pic>
      <p:sp>
        <p:nvSpPr>
          <p:cNvPr id="19" name="index-capacitors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20" name="nav-entry-C11" descr="Åbn C11">
            <a:hlinkClick action="ppaction://hlinksldjump" r:id="rId13" tooltip="Åbn C1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C12" descr="Åbn C12">
            <a:hlinkClick action="ppaction://hlinksldjump" r:id="rId13" tooltip="Åbn C1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C13" descr="Åbn C13">
            <a:hlinkClick action="ppaction://hlinksldjump" r:id="rId14" tooltip="Åbn C1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C14" descr="Åbn C14">
            <a:hlinkClick action="ppaction://hlinksldjump" r:id="rId14" tooltip="Åbn C1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C15" descr="Åbn C15">
            <a:hlinkClick action="ppaction://hlinksldjump" r:id="rId15" tooltip="Åbn C1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C16" descr="Åbn C16">
            <a:hlinkClick action="ppaction://hlinksldjump" r:id="rId15" tooltip="Åbn C1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C17" descr="Åbn C17">
            <a:hlinkClick action="ppaction://hlinksldjump" r:id="rId16" tooltip="Åbn C1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C18" descr="Åbn C18">
            <a:hlinkClick action="ppaction://hlinksldjump" r:id="rId16" tooltip="Åbn C1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C19" descr="Åbn C19">
            <a:hlinkClick action="ppaction://hlinksldjump" r:id="rId17" tooltip="Åbn C19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C20" descr="Åbn C20">
            <a:hlinkClick action="ppaction://hlinksldjump" r:id="rId17" tooltip="Åbn C20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Kondensatorer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15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capacitors-3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C21 · Opladningsstrøm i(t)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Uₛ, u₀, R, C,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DC-seriekreds; konstant R,C og forsyningsspænding Uₛ. Strøm ind i positiv plade.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C22 · Opladningstid 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Uₛ, u₀, uₘ, R, C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DC-seriekreds; konstant R,C og forsyningsspænding Uₛ. u₀&lt;uₘ&lt;Uₛ.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C23 · Opladningsmodstand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Uₛ, u₀, uₘ, t, 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DC-seriekreds; konstant R,C og forsyningsspænding Uₛ. u₀&lt;uₘ&lt;Uₛ.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C24 · Opladningskapacitans C [F]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Uₛ, u₀, uₘ, t, 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DC-seriekreds; konstant R,C og forsyningsspænding Uₛ. u₀&lt;uₘ&lt;Uₛ.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C25 · Afladningsspænding uC(t)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u₀, R, C,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Forsyning frakoblet; kondensator har lukket afladevej gennem konstant R og C.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C26 · Afladningsstrøm i(t)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u₀, R, C, 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Forsyning frakoblet; kondensator har lukket afladevej gennem konstant R og C. Positiv størrelse ud af kondensatoren.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C27 · Afladetid 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u₀, uₘ, R, 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Forsyning frakoblet; kondensator har lukket afladevej gennem konstant R og C. 0&lt;uₘ&lt;u₀.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C28 · Aflademodstand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u₀, uₘ, t, C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Forsyning frakoblet; kondensator har lukket afladevej gennem konstant R og C. 0&lt;uₘ&lt;u₀.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C29 · Afladningskapacitans C [F]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u₀, uₘ, t,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Forsyning frakoblet; kondensator har lukket afladevej gennem konstant R og C. 0&lt;uₘ&lt;u₀.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C30 · Lagret energi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C [F], uC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kondensator med konstant kapacitans C; spænding og ladning som størrelser.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capacitors-3-table-f1" descr="i(t)=\dfrac{U_s-u_0}{R}e^{-t/(RC)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105" y="1444752"/>
            <a:ext cx="1763789" cy="441655"/>
          </a:xfrm>
          <a:prstGeom prst="rect">
            <a:avLst/>
          </a:prstGeom>
        </p:spPr>
      </p:pic>
      <p:pic>
        <p:nvPicPr>
          <p:cNvPr id="10" name="index-capacitors-3-table-f2" descr="t=-RC\ln\!\left(\dfrac{U_s-u_m}{U_s-u_0}\righ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313" y="1959559"/>
            <a:ext cx="1729372" cy="441655"/>
          </a:xfrm>
          <a:prstGeom prst="rect">
            <a:avLst/>
          </a:prstGeom>
        </p:spPr>
      </p:pic>
      <p:pic>
        <p:nvPicPr>
          <p:cNvPr id="11" name="index-capacitors-3-table-f3" descr="R=\dfrac{-t}{C\ln((U_s-u_m)/(U_s-u_0))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520" y="2474366"/>
            <a:ext cx="2570959" cy="441655"/>
          </a:xfrm>
          <a:prstGeom prst="rect">
            <a:avLst/>
          </a:prstGeom>
        </p:spPr>
      </p:pic>
      <p:pic>
        <p:nvPicPr>
          <p:cNvPr id="12" name="index-capacitors-3-table-f4" descr="C=\dfrac{-t}{R\ln((U_s-u_m)/(U_s-u_0))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982" y="2989173"/>
            <a:ext cx="2568034" cy="441655"/>
          </a:xfrm>
          <a:prstGeom prst="rect">
            <a:avLst/>
          </a:prstGeom>
        </p:spPr>
      </p:pic>
      <p:pic>
        <p:nvPicPr>
          <p:cNvPr id="13" name="index-capacitors-3-table-f5" descr="u_C(t)=u_0e^{-t/(RC)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564" y="3503980"/>
            <a:ext cx="2344870" cy="441655"/>
          </a:xfrm>
          <a:prstGeom prst="rect">
            <a:avLst/>
          </a:prstGeom>
        </p:spPr>
      </p:pic>
      <p:pic>
        <p:nvPicPr>
          <p:cNvPr id="14" name="index-capacitors-3-table-f6" descr="i_{\mathrm{ud}}(t)=\dfrac{u_0}{R}e^{-t/(RC)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5350" y="4018787"/>
            <a:ext cx="1671299" cy="441655"/>
          </a:xfrm>
          <a:prstGeom prst="rect">
            <a:avLst/>
          </a:prstGeom>
        </p:spPr>
      </p:pic>
      <p:pic>
        <p:nvPicPr>
          <p:cNvPr id="15" name="index-capacitors-3-table-f7" descr="t=-RC\ln\!\left(\dfrac{u_m}{u_0}\right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9009" y="4533595"/>
            <a:ext cx="1583981" cy="441655"/>
          </a:xfrm>
          <a:prstGeom prst="rect">
            <a:avLst/>
          </a:prstGeom>
        </p:spPr>
      </p:pic>
      <p:pic>
        <p:nvPicPr>
          <p:cNvPr id="16" name="index-capacitors-3-table-f8" descr="R=\dfrac{-t}{C\ln(u_m/u_0)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3655" y="5048402"/>
            <a:ext cx="1374688" cy="441655"/>
          </a:xfrm>
          <a:prstGeom prst="rect">
            <a:avLst/>
          </a:prstGeom>
        </p:spPr>
      </p:pic>
      <p:pic>
        <p:nvPicPr>
          <p:cNvPr id="17" name="index-capacitors-3-table-f9" descr="C=\dfrac{-t}{R\ln(u_m/u_0)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118" y="5563209"/>
            <a:ext cx="1371763" cy="441655"/>
          </a:xfrm>
          <a:prstGeom prst="rect">
            <a:avLst/>
          </a:prstGeom>
        </p:spPr>
      </p:pic>
      <p:pic>
        <p:nvPicPr>
          <p:cNvPr id="18" name="index-capacitors-3-table-f10" descr="W=\dfrac{1}{2}Cu_C^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0106" y="6078016"/>
            <a:ext cx="981787" cy="441655"/>
          </a:xfrm>
          <a:prstGeom prst="rect">
            <a:avLst/>
          </a:prstGeom>
        </p:spPr>
      </p:pic>
      <p:sp>
        <p:nvSpPr>
          <p:cNvPr id="19" name="index-capacitors-3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20" name="nav-entry-C21" descr="Åbn C21">
            <a:hlinkClick action="ppaction://hlinksldjump" r:id="rId13" tooltip="Åbn C2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C22" descr="Åbn C22">
            <a:hlinkClick action="ppaction://hlinksldjump" r:id="rId13" tooltip="Åbn C2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C23" descr="Åbn C23">
            <a:hlinkClick action="ppaction://hlinksldjump" r:id="rId14" tooltip="Åbn C2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C24" descr="Åbn C24">
            <a:hlinkClick action="ppaction://hlinksldjump" r:id="rId14" tooltip="Åbn C2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C25" descr="Åbn C25">
            <a:hlinkClick action="ppaction://hlinksldjump" r:id="rId15" tooltip="Åbn C2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C26" descr="Åbn C26">
            <a:hlinkClick action="ppaction://hlinksldjump" r:id="rId15" tooltip="Åbn C2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C27" descr="Åbn C27">
            <a:hlinkClick action="ppaction://hlinksldjump" r:id="rId16" tooltip="Åbn C2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C28" descr="Åbn C28">
            <a:hlinkClick action="ppaction://hlinksldjump" r:id="rId16" tooltip="Åbn C2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C29" descr="Åbn C29">
            <a:hlinkClick action="ppaction://hlinksldjump" r:id="rId17" tooltip="Åbn C29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C30" descr="Åbn C30">
            <a:hlinkClick action="ppaction://hlinksldjump" r:id="rId17" tooltip="Åbn C30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Kondensatorer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16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capacitors-4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C31 · Lagret energi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uC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kondensator med konstant kapacitans C; spænding og ladning som størrelser.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C32 · Lagret energi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C [F]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kondensator med konstant kapacitans C; spænding og ladning som størrelser.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C33 · Kapacitans C [F]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uC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kondensator med konstant kapacitans C; spænding og ladning som størrelser. uC&gt;0.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C34 · Spænding uC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C [F]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kondensator med konstant kapacitans C; spænding og ladning som størrelser. uC≥0.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C35 · Elektrisk fluxtæthed D [C/m²]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ε [F/m], E [V/m]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pladekondensator; ensartet felt, homogent lineært dielektrikum og kendt pladegeometri.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C36 · Spænding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[V/m], a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pladekondensator; ensartet felt, homogent lineært dielektrikum og kendt pladegeometri.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C37 · Pladeafstand a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E [V/m]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pladekondensator; ensartet felt, homogent lineært dielektrikum og kendt pladegeometri.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C38 · Ladning Q [C]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ε [F/m], E [V/m],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Ideel pladekondensator; ensartet felt, homogent lineært dielektrikum og kendt pladegeometri.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C39 · Fælles overlapareal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C, n, ε₀, εr, 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ens skiftevis forbundne plader, n−1 ens mellemrum og fælles overlapareal pr. par.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C40 · Pladeafstand a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C, n, ε₀, εr,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ens skiftevis forbundne plader, n−1 ens mellemrum og fælles overlapareal pr. par.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capacitors-4-table-f1" descr="W=\dfrac{1}{2}Qu_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137" y="1444752"/>
            <a:ext cx="993724" cy="441655"/>
          </a:xfrm>
          <a:prstGeom prst="rect">
            <a:avLst/>
          </a:prstGeom>
        </p:spPr>
      </p:pic>
      <p:pic>
        <p:nvPicPr>
          <p:cNvPr id="10" name="index-capacitors-4-table-f2" descr="W=\dfrac{Q^2}{2C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6793" y="1959559"/>
            <a:ext cx="628412" cy="441655"/>
          </a:xfrm>
          <a:prstGeom prst="rect">
            <a:avLst/>
          </a:prstGeom>
        </p:spPr>
      </p:pic>
      <p:pic>
        <p:nvPicPr>
          <p:cNvPr id="11" name="index-capacitors-4-table-f3" descr="C=\dfrac{2W}{u_C^2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989" y="2474366"/>
            <a:ext cx="610020" cy="441655"/>
          </a:xfrm>
          <a:prstGeom prst="rect">
            <a:avLst/>
          </a:prstGeom>
        </p:spPr>
      </p:pic>
      <p:pic>
        <p:nvPicPr>
          <p:cNvPr id="12" name="index-capacitors-4-table-f4" descr="u_C=\sqrt{\dfrac{2W}{C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7076" y="2989173"/>
            <a:ext cx="907846" cy="441655"/>
          </a:xfrm>
          <a:prstGeom prst="rect">
            <a:avLst/>
          </a:prstGeom>
        </p:spPr>
      </p:pic>
      <p:pic>
        <p:nvPicPr>
          <p:cNvPr id="13" name="index-capacitors-4-table-f5" descr="D=\varepsilon 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8981" y="3503980"/>
            <a:ext cx="1204036" cy="441655"/>
          </a:xfrm>
          <a:prstGeom prst="rect">
            <a:avLst/>
          </a:prstGeom>
        </p:spPr>
      </p:pic>
      <p:pic>
        <p:nvPicPr>
          <p:cNvPr id="14" name="index-capacitors-4-table-f6" descr="U=E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8981" y="4018787"/>
            <a:ext cx="1204036" cy="441655"/>
          </a:xfrm>
          <a:prstGeom prst="rect">
            <a:avLst/>
          </a:prstGeom>
        </p:spPr>
      </p:pic>
      <p:pic>
        <p:nvPicPr>
          <p:cNvPr id="15" name="index-capacitors-4-table-f7" descr="a=\dfrac{U}{E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6646" y="4533595"/>
            <a:ext cx="568706" cy="441655"/>
          </a:xfrm>
          <a:prstGeom prst="rect">
            <a:avLst/>
          </a:prstGeom>
        </p:spPr>
      </p:pic>
      <p:pic>
        <p:nvPicPr>
          <p:cNvPr id="16" name="index-capacitors-4-table-f8" descr="Q=\varepsilon E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9547" y="5048402"/>
            <a:ext cx="1402904" cy="441655"/>
          </a:xfrm>
          <a:prstGeom prst="rect">
            <a:avLst/>
          </a:prstGeom>
        </p:spPr>
      </p:pic>
      <p:pic>
        <p:nvPicPr>
          <p:cNvPr id="17" name="index-capacitors-4-table-f9" descr="A=\dfrac{Ca}{(n-1)\varepsilon_0\varepsilon_r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1834" y="5563209"/>
            <a:ext cx="1278331" cy="441655"/>
          </a:xfrm>
          <a:prstGeom prst="rect">
            <a:avLst/>
          </a:prstGeom>
        </p:spPr>
      </p:pic>
      <p:pic>
        <p:nvPicPr>
          <p:cNvPr id="18" name="index-capacitors-4-table-f10" descr="a=\dfrac{(n-1)\varepsilon_0\varepsilon_r A}{C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9433" y="6078016"/>
            <a:ext cx="1363133" cy="441655"/>
          </a:xfrm>
          <a:prstGeom prst="rect">
            <a:avLst/>
          </a:prstGeom>
        </p:spPr>
      </p:pic>
      <p:sp>
        <p:nvSpPr>
          <p:cNvPr id="19" name="index-capacitors-4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79.</a:t>
            </a:r>
          </a:p>
        </p:txBody>
      </p:sp>
      <p:sp>
        <p:nvSpPr>
          <p:cNvPr id="20" name="nav-entry-C31" descr="Åbn C31">
            <a:hlinkClick action="ppaction://hlinksldjump" r:id="rId13" tooltip="Åbn C3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C32" descr="Åbn C32">
            <a:hlinkClick action="ppaction://hlinksldjump" r:id="rId13" tooltip="Åbn C3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C33" descr="Åbn C33">
            <a:hlinkClick action="ppaction://hlinksldjump" r:id="rId14" tooltip="Åbn C3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C34" descr="Åbn C34">
            <a:hlinkClick action="ppaction://hlinksldjump" r:id="rId14" tooltip="Åbn C3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C35" descr="Åbn C35">
            <a:hlinkClick action="ppaction://hlinksldjump" r:id="rId15" tooltip="Åbn C3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C36" descr="Åbn C36">
            <a:hlinkClick action="ppaction://hlinksldjump" r:id="rId15" tooltip="Åbn C3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C37" descr="Åbn C37">
            <a:hlinkClick action="ppaction://hlinksldjump" r:id="rId16" tooltip="Åbn C3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C38" descr="Åbn C38">
            <a:hlinkClick action="ppaction://hlinksldjump" r:id="rId16" tooltip="Åbn C3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C39" descr="Åbn C39">
            <a:hlinkClick action="ppaction://hlinksldjump" r:id="rId17" tooltip="Åbn C39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C40" descr="Åbn C40">
            <a:hlinkClick action="ppaction://hlinksldjump" r:id="rId17" tooltip="Åbn C40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W04, </a:t>
            </a:r>
            <a:r>
              <a:rPr>
                <a:latin typeface="Cambria Math"/>
              </a:rPr>
              <a:t>I</a:t>
            </a: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17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W04 · Søger: Ladning Q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 [A],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strøm; ellers sum af delintervaller.</a:t>
            </a:r>
          </a:p>
        </p:txBody>
      </p:sp>
      <p:sp>
        <p:nvSpPr>
          <p:cNvPr id="11" name="math-source-W04-formula"/>
          <p:cNvSpPr txBox="1"/>
          <p:nvPr/>
        </p:nvSpPr>
        <p:spPr>
          <a:xfrm>
            <a:off x="411480" y="2340864"/>
            <a:ext cx="4800600" cy="36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</a:t>
            </a:r>
            <a:r>
              <a:rPr>
                <a:latin typeface="Cambria Math"/>
              </a:rPr>
              <a:t>I</a:t>
            </a:r>
            <a:r>
              <a:t>Δ t</a:t>
            </a:r>
          </a:p>
        </p:txBody>
      </p:sp>
      <p:pic>
        <p:nvPicPr>
          <p:cNvPr id="12" name="W04-formula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80654" cy="3674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45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W04-details-0"/>
          <p:cNvSpPr txBox="1"/>
          <p:nvPr/>
        </p:nvSpPr>
        <p:spPr>
          <a:xfrm>
            <a:off x="1005840" y="28545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Antal elementarladninger:</a:t>
            </a:r>
          </a:p>
        </p:txBody>
      </p:sp>
      <p:sp>
        <p:nvSpPr>
          <p:cNvPr id="15" name="math-source-W04-details-1"/>
          <p:cNvSpPr txBox="1"/>
          <p:nvPr/>
        </p:nvSpPr>
        <p:spPr>
          <a:xfrm>
            <a:off x="1005840" y="3096906"/>
            <a:ext cx="4206240" cy="427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N_e=(|Q|)/(e)</a:t>
            </a:r>
          </a:p>
        </p:txBody>
      </p:sp>
      <p:pic>
        <p:nvPicPr>
          <p:cNvPr id="16" name="W04-details-1" descr="N_e=\dfrac{|Q|}{e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6906"/>
            <a:ext cx="769093" cy="4279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6437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W04-details-2"/>
          <p:cNvSpPr txBox="1"/>
          <p:nvPr/>
        </p:nvSpPr>
        <p:spPr>
          <a:xfrm>
            <a:off x="1005840" y="364371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Acdots=C</a:t>
            </a:r>
          </a:p>
        </p:txBody>
      </p:sp>
      <p:pic>
        <p:nvPicPr>
          <p:cNvPr id="19" name="W04-details-2" descr="\mathrm{A}\cdot\mathrm{s}=\mathrm{C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43717"/>
            <a:ext cx="802011" cy="251376"/>
          </a:xfrm>
          <a:prstGeom prst="rect">
            <a:avLst/>
          </a:prstGeom>
        </p:spPr>
      </p:pic>
      <p:sp>
        <p:nvSpPr>
          <p:cNvPr id="20" name="math-source-W04-details-3"/>
          <p:cNvSpPr txBox="1"/>
          <p:nvPr/>
        </p:nvSpPr>
        <p:spPr>
          <a:xfrm>
            <a:off x="1005840" y="393624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Ah=3600 C</a:t>
            </a:r>
          </a:p>
        </p:txBody>
      </p:sp>
      <p:pic>
        <p:nvPicPr>
          <p:cNvPr id="21" name="W04-details-3" descr="1\,\mathrm{Ah}=3600\,\mathrm{C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36242"/>
            <a:ext cx="1322721" cy="2513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480" y="43064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3" name="W04-details-4"/>
          <p:cNvSpPr txBox="1"/>
          <p:nvPr/>
        </p:nvSpPr>
        <p:spPr>
          <a:xfrm>
            <a:off x="1005840" y="43064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Elektroner bevæger sig modsat den konventionelle strøm.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62653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W04-details-5"/>
          <p:cNvSpPr txBox="1"/>
          <p:nvPr/>
        </p:nvSpPr>
        <p:spPr>
          <a:xfrm>
            <a:off x="1005840" y="4626531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Q=50 A·60 s=3000 C</a:t>
            </a:r>
          </a:p>
        </p:txBody>
      </p:sp>
      <p:pic>
        <p:nvPicPr>
          <p:cNvPr id="26" name="W04-details-5" descr="Q=50\,\mathrm{A}\cdot60\,\mathrm{s}=3000\,\mathrm{C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626531"/>
            <a:ext cx="2187577" cy="25436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01 · Søger: Strøm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DC eller konsistente AC-magnituder.</a:t>
            </a:r>
          </a:p>
        </p:txBody>
      </p:sp>
      <p:sp>
        <p:nvSpPr>
          <p:cNvPr id="31" name="math-source-I01-formula"/>
          <p:cNvSpPr txBox="1"/>
          <p:nvPr/>
        </p:nvSpPr>
        <p:spPr>
          <a:xfrm>
            <a:off x="553212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=(U)/(R)</a:t>
            </a:r>
          </a:p>
        </p:txBody>
      </p:sp>
      <p:pic>
        <p:nvPicPr>
          <p:cNvPr id="32" name="I01-formula" descr="I=\frac{U}{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340864"/>
            <a:ext cx="756458" cy="63110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4" name="I01-details-0"/>
          <p:cNvSpPr txBox="1"/>
          <p:nvPr/>
        </p:nvSpPr>
        <p:spPr>
          <a:xfrm>
            <a:off x="612648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Indsæt spændingen over netop 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43831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math-source-I01-details-1"/>
          <p:cNvSpPr txBox="1"/>
          <p:nvPr/>
        </p:nvSpPr>
        <p:spPr>
          <a:xfrm>
            <a:off x="6126480" y="3438310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[A]=(</a:t>
            </a:r>
            <a:r>
              <a:rPr>
                <a:latin typeface="Cambria Math"/>
              </a:rPr>
              <a:t>I</a:t>
            </a:r>
            <a:r>
              <a:t>[mA])/(1000)</a:t>
            </a:r>
          </a:p>
        </p:txBody>
      </p:sp>
      <p:pic>
        <p:nvPicPr>
          <p:cNvPr id="37" name="I01-details-1" descr="I[\mathrm{A}]=\dfrac{I[\mathrm{mA}]}{1000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438310"/>
            <a:ext cx="1238928" cy="47881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32120" y="403599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I01-details-2"/>
          <p:cNvSpPr txBox="1"/>
          <p:nvPr/>
        </p:nvSpPr>
        <p:spPr>
          <a:xfrm>
            <a:off x="6126480" y="4035995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AC: U og </a:t>
            </a:r>
            <a:r>
              <a:rPr>
                <a:latin typeface="Cambria Math"/>
              </a:rPr>
              <a:t>I</a:t>
            </a:r>
            <a:r>
              <a:t> skal være samtidige værdier eller begge RMS. Brug U</a:t>
            </a:r>
            <a:br/>
            <a:r>
              <a:t>over netop 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55720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I01-details-3"/>
          <p:cNvSpPr txBox="1"/>
          <p:nvPr/>
        </p:nvSpPr>
        <p:spPr>
          <a:xfrm>
            <a:off x="6126480" y="4557203"/>
            <a:ext cx="4206240" cy="439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=(24 V)/(12 Ω)=2 A</a:t>
            </a:r>
          </a:p>
        </p:txBody>
      </p:sp>
      <p:pic>
        <p:nvPicPr>
          <p:cNvPr id="42" name="I01-details-3" descr="I=\dfrac{24\,\mathrm{V}}{12\,\Omega}=2\,\mathrm{A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557203"/>
            <a:ext cx="1328706" cy="439909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</a:t>
            </a:r>
            <a:r>
              <a:rPr>
                <a:latin typeface="Cambria Math"/>
              </a:rPr>
              <a:t>I</a:t>
            </a:r>
            <a:r>
              <a:t>02, </a:t>
            </a:r>
            <a:r>
              <a:rPr>
                <a:latin typeface="Cambria Math"/>
              </a:rPr>
              <a:t>I</a:t>
            </a: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18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02 · Søger: Strøm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U [V]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P er elektrisk indgangseffekt.</a:t>
            </a:r>
          </a:p>
        </p:txBody>
      </p:sp>
      <p:sp>
        <p:nvSpPr>
          <p:cNvPr id="11" name="math-source-I02-formula"/>
          <p:cNvSpPr txBox="1"/>
          <p:nvPr/>
        </p:nvSpPr>
        <p:spPr>
          <a:xfrm>
            <a:off x="41148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=(P)/(U)</a:t>
            </a:r>
          </a:p>
        </p:txBody>
      </p:sp>
      <p:pic>
        <p:nvPicPr>
          <p:cNvPr id="12" name="I02-formula" descr="I=\frac{P}{U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756458" cy="631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I02-details-0"/>
          <p:cNvSpPr txBox="1"/>
          <p:nvPr/>
        </p:nvSpPr>
        <p:spPr>
          <a:xfrm>
            <a:off x="100584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mekanisk udgangseffekt findes først:</a:t>
            </a:r>
          </a:p>
        </p:txBody>
      </p:sp>
      <p:sp>
        <p:nvSpPr>
          <p:cNvPr id="15" name="math-source-I02-details-1"/>
          <p:cNvSpPr txBox="1"/>
          <p:nvPr/>
        </p:nvSpPr>
        <p:spPr>
          <a:xfrm>
            <a:off x="1005840" y="3360586"/>
            <a:ext cx="4206240" cy="46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P_ind=dfracP_udη</a:t>
            </a:r>
          </a:p>
        </p:txBody>
      </p:sp>
      <p:pic>
        <p:nvPicPr>
          <p:cNvPr id="16" name="I02-details-1" descr="P_{\mathrm{ind}}=\dfrac{P_{\mathrm{ud}}}{\et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60586"/>
            <a:ext cx="936678" cy="46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94330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I02-details-2"/>
          <p:cNvSpPr txBox="1"/>
          <p:nvPr/>
        </p:nvSpPr>
        <p:spPr>
          <a:xfrm>
            <a:off x="1005840" y="394330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P[W]=1000P[kW]</a:t>
            </a:r>
          </a:p>
        </p:txBody>
      </p:sp>
      <p:pic>
        <p:nvPicPr>
          <p:cNvPr id="19" name="I02-details-2" descr="P[\mathrm{W}]=1000P[\mathrm{kW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43308"/>
            <a:ext cx="1840437" cy="25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31355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I02-details-3"/>
          <p:cNvSpPr txBox="1"/>
          <p:nvPr/>
        </p:nvSpPr>
        <p:spPr>
          <a:xfrm>
            <a:off x="1005840" y="431355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AC mangler kurveform/fase/effektfaktor. Se afgrænsning.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63359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3" name="math-source-I02-details-4"/>
          <p:cNvSpPr txBox="1"/>
          <p:nvPr/>
        </p:nvSpPr>
        <p:spPr>
          <a:xfrm>
            <a:off x="1005840" y="4633597"/>
            <a:ext cx="4206240" cy="4698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=(200 W)/(37,5 V)=5,333 A</a:t>
            </a:r>
          </a:p>
        </p:txBody>
      </p:sp>
      <p:pic>
        <p:nvPicPr>
          <p:cNvPr id="24" name="I02-details-4" descr="I=\dfrac{200\,\mathrm{W}}{37{,}5\,\mathrm{V}}=5{,}333\,\mathrm{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633597"/>
            <a:ext cx="1897296" cy="46983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03 · Søger: Strømmens størrelse |</a:t>
            </a:r>
            <a:r>
              <a:rPr>
                <a:latin typeface="Cambria Math"/>
              </a:rPr>
              <a:t>I</a:t>
            </a:r>
            <a:r>
              <a:t>|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resistans; P er tabet i R.</a:t>
            </a:r>
          </a:p>
        </p:txBody>
      </p:sp>
      <p:sp>
        <p:nvSpPr>
          <p:cNvPr id="29" name="math-source-I03-formula"/>
          <p:cNvSpPr txBox="1"/>
          <p:nvPr/>
        </p:nvSpPr>
        <p:spPr>
          <a:xfrm>
            <a:off x="5532120" y="2340864"/>
            <a:ext cx="4800600" cy="756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</a:t>
            </a:r>
            <a:r>
              <a:rPr>
                <a:latin typeface="Cambria Math"/>
              </a:rPr>
              <a:t>I</a:t>
            </a:r>
            <a:r>
              <a:t>|=√((P)/(R))</a:t>
            </a:r>
          </a:p>
        </p:txBody>
      </p:sp>
      <p:pic>
        <p:nvPicPr>
          <p:cNvPr id="30" name="I03-formula" descr="|I|=\sqrt{\frac{P}{R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257881" cy="75645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324362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2" name="I03-details-0"/>
          <p:cNvSpPr txBox="1"/>
          <p:nvPr/>
        </p:nvSpPr>
        <p:spPr>
          <a:xfrm>
            <a:off x="6126480" y="324362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retningen særskilt.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56366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I03-details-1"/>
          <p:cNvSpPr txBox="1"/>
          <p:nvPr/>
        </p:nvSpPr>
        <p:spPr>
          <a:xfrm>
            <a:off x="6126480" y="356366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 i Ω; P i 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88370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I03-details-2"/>
          <p:cNvSpPr txBox="1"/>
          <p:nvPr/>
        </p:nvSpPr>
        <p:spPr>
          <a:xfrm>
            <a:off x="6126480" y="388370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Kvadratroden giver størrelse, ikke retning.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420374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8" name="math-source-I03-details-3"/>
          <p:cNvSpPr txBox="1"/>
          <p:nvPr/>
        </p:nvSpPr>
        <p:spPr>
          <a:xfrm>
            <a:off x="6126480" y="4203746"/>
            <a:ext cx="4206240" cy="5626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</a:t>
            </a:r>
            <a:r>
              <a:rPr>
                <a:latin typeface="Cambria Math"/>
              </a:rPr>
              <a:t>I</a:t>
            </a:r>
            <a:r>
              <a:t>|=√((150 W)/(0,96 Ω))=12,5 A</a:t>
            </a:r>
          </a:p>
        </p:txBody>
      </p:sp>
      <p:pic>
        <p:nvPicPr>
          <p:cNvPr id="39" name="I03-details-3" descr="|I|=\sqrt{\dfrac{150\,\mathrm{W}}{0{,}96\,\Omega}}=12{,}5\,\mathrm{A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203746"/>
            <a:ext cx="2160644" cy="562605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</a:t>
            </a:r>
            <a:r>
              <a:rPr>
                <a:latin typeface="Cambria Math"/>
              </a:rPr>
              <a:t>I</a:t>
            </a:r>
            <a:r>
              <a:t>04, </a:t>
            </a:r>
            <a:r>
              <a:rPr>
                <a:latin typeface="Cambria Math"/>
              </a:rPr>
              <a:t>I</a:t>
            </a: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19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04 · Søger: Middelstrøm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Netto passeret ladning i valgt interval.</a:t>
            </a:r>
          </a:p>
        </p:txBody>
      </p:sp>
      <p:sp>
        <p:nvSpPr>
          <p:cNvPr id="11" name="math-source-I04-formula"/>
          <p:cNvSpPr txBox="1"/>
          <p:nvPr/>
        </p:nvSpPr>
        <p:spPr>
          <a:xfrm>
            <a:off x="411480" y="2340864"/>
            <a:ext cx="4800600" cy="700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_middel=(Q)/(Δ t)</a:t>
            </a:r>
          </a:p>
        </p:txBody>
      </p:sp>
      <p:pic>
        <p:nvPicPr>
          <p:cNvPr id="12" name="I04-formula" descr="I_{\mathrm{middel}}=\frac{Q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504271" cy="7002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874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I04-details-0"/>
          <p:cNvSpPr txBox="1"/>
          <p:nvPr/>
        </p:nvSpPr>
        <p:spPr>
          <a:xfrm>
            <a:off x="1005840" y="31874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konstant strøm:</a:t>
            </a:r>
          </a:p>
        </p:txBody>
      </p:sp>
      <p:sp>
        <p:nvSpPr>
          <p:cNvPr id="15" name="math-source-I04-details-1"/>
          <p:cNvSpPr txBox="1"/>
          <p:nvPr/>
        </p:nvSpPr>
        <p:spPr>
          <a:xfrm>
            <a:off x="1005840" y="342974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_middel=</a:t>
            </a:r>
            <a:r>
              <a:rPr>
                <a:latin typeface="Cambria Math"/>
              </a:rPr>
              <a:t>I</a:t>
            </a:r>
          </a:p>
        </p:txBody>
      </p:sp>
      <p:pic>
        <p:nvPicPr>
          <p:cNvPr id="16" name="I04-details-1" descr="I_{\mathrm{middel}}=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29748"/>
            <a:ext cx="879819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79999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I04-details-2"/>
          <p:cNvSpPr txBox="1"/>
          <p:nvPr/>
        </p:nvSpPr>
        <p:spPr>
          <a:xfrm>
            <a:off x="1005840" y="379999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t[s]=60t[min]</a:t>
            </a:r>
          </a:p>
        </p:txBody>
      </p:sp>
      <p:pic>
        <p:nvPicPr>
          <p:cNvPr id="19" name="I04-details-2" descr="t[\mathrm{s}]=60t[\mathrm{min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99997"/>
            <a:ext cx="1358632" cy="25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17024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I04-details-3"/>
          <p:cNvSpPr txBox="1"/>
          <p:nvPr/>
        </p:nvSpPr>
        <p:spPr>
          <a:xfrm>
            <a:off x="1005840" y="417024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Strøm og energi er forskellige; ladning bruges ikke 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49028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3" name="math-source-I04-details-4"/>
          <p:cNvSpPr txBox="1"/>
          <p:nvPr/>
        </p:nvSpPr>
        <p:spPr>
          <a:xfrm>
            <a:off x="1005840" y="4490285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_middel=(2 C)/(1 s)=2 A</a:t>
            </a:r>
          </a:p>
        </p:txBody>
      </p:sp>
      <p:pic>
        <p:nvPicPr>
          <p:cNvPr id="24" name="I04-details-4" descr="I_{\mathrm{middel}}=\dfrac{2\,\mathrm{C}}{1\,\mathrm{s}}=2\,\mathrm{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90285"/>
            <a:ext cx="1654897" cy="44589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05 · Søger: Kildestrøm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ri [Ω],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DC-kilde med intern serie-modstand.</a:t>
            </a:r>
          </a:p>
        </p:txBody>
      </p:sp>
      <p:sp>
        <p:nvSpPr>
          <p:cNvPr id="29" name="math-source-I05-formula"/>
          <p:cNvSpPr txBox="1"/>
          <p:nvPr/>
        </p:nvSpPr>
        <p:spPr>
          <a:xfrm>
            <a:off x="5532120" y="2340864"/>
            <a:ext cx="4800600" cy="6700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=(E)/(r_i+R)</a:t>
            </a:r>
          </a:p>
        </p:txBody>
      </p:sp>
      <p:pic>
        <p:nvPicPr>
          <p:cNvPr id="30" name="I05-formula" descr="I=\frac{E}{r_i+R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236268" cy="67000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315717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2" name="I05-details-0"/>
          <p:cNvSpPr txBox="1"/>
          <p:nvPr/>
        </p:nvSpPr>
        <p:spPr>
          <a:xfrm>
            <a:off x="6126480" y="315717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først hele seriens modstand.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4772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I05-details-1"/>
          <p:cNvSpPr txBox="1"/>
          <p:nvPr/>
        </p:nvSpPr>
        <p:spPr>
          <a:xfrm>
            <a:off x="6126480" y="347721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modstande i Ω.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79725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I05-details-2"/>
          <p:cNvSpPr txBox="1"/>
          <p:nvPr/>
        </p:nvSpPr>
        <p:spPr>
          <a:xfrm>
            <a:off x="6126480" y="379725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afladning er klemspændingen mindre end EMK:</a:t>
            </a:r>
          </a:p>
        </p:txBody>
      </p:sp>
      <p:sp>
        <p:nvSpPr>
          <p:cNvPr id="37" name="math-source-I05-details-3"/>
          <p:cNvSpPr txBox="1"/>
          <p:nvPr/>
        </p:nvSpPr>
        <p:spPr>
          <a:xfrm>
            <a:off x="6126480" y="403956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U_kl&lt;E</a:t>
            </a:r>
          </a:p>
        </p:txBody>
      </p:sp>
      <p:pic>
        <p:nvPicPr>
          <p:cNvPr id="38" name="I05-details-3" descr="U_{\mathrm{kl}}&lt;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039569"/>
            <a:ext cx="718219" cy="251376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1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</a:t>
            </a:r>
            <a:r>
              <a:rPr>
                <a:latin typeface="Cambria Math"/>
              </a:rPr>
              <a:t>I</a:t>
            </a:r>
            <a:r>
              <a:t>06, </a:t>
            </a:r>
            <a:r>
              <a:rPr>
                <a:latin typeface="Cambria Math"/>
              </a:rPr>
              <a:t>I</a:t>
            </a: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20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06 · Søger: Grenstrøm </a:t>
            </a:r>
            <a:r>
              <a:rPr>
                <a:latin typeface="Cambria Math"/>
              </a:rPr>
              <a:t>I</a:t>
            </a:r>
            <a:r>
              <a:t>k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Ugren [V], Rk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Parallelgrene har samme knudespænding.</a:t>
            </a:r>
          </a:p>
        </p:txBody>
      </p:sp>
      <p:sp>
        <p:nvSpPr>
          <p:cNvPr id="11" name="math-source-I06-formula"/>
          <p:cNvSpPr txBox="1"/>
          <p:nvPr/>
        </p:nvSpPr>
        <p:spPr>
          <a:xfrm>
            <a:off x="411480" y="2340864"/>
            <a:ext cx="4800600" cy="765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_k=fracU_grenR_k</a:t>
            </a:r>
          </a:p>
        </p:txBody>
      </p:sp>
      <p:pic>
        <p:nvPicPr>
          <p:cNvPr id="12" name="I06-formula" descr="I_k=\frac{U_{\mathrm{gren}}}{R_k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292462" cy="7651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5227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I06-details-0"/>
          <p:cNvSpPr txBox="1"/>
          <p:nvPr/>
        </p:nvSpPr>
        <p:spPr>
          <a:xfrm>
            <a:off x="1005840" y="325227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grenspændingen med knudepunktsmetoden ved flere kilder.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7231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I06-details-1"/>
          <p:cNvSpPr txBox="1"/>
          <p:nvPr/>
        </p:nvSpPr>
        <p:spPr>
          <a:xfrm>
            <a:off x="1005840" y="357231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R[Ω]=1000R[kΩ]</a:t>
            </a:r>
          </a:p>
        </p:txBody>
      </p:sp>
      <p:pic>
        <p:nvPicPr>
          <p:cNvPr id="17" name="I06-details-1" descr="R[\Omega]=1000R[\mathrm{k}\Omega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72311"/>
            <a:ext cx="1750660" cy="25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942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I06-details-2"/>
          <p:cNvSpPr txBox="1"/>
          <p:nvPr/>
        </p:nvSpPr>
        <p:spPr>
          <a:xfrm>
            <a:off x="1005840" y="3942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grene er ikke nødvendigvis over hele kildespændingen.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07 · Søger: Grenstrøm </a:t>
            </a:r>
            <a:r>
              <a:rPr>
                <a:latin typeface="Cambria Math"/>
              </a:rPr>
              <a:t>I</a:t>
            </a:r>
            <a:r>
              <a:t>1 [A]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total [A], R1, R2 [Ω]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parallelle ohmske modstande.</a:t>
            </a:r>
          </a:p>
        </p:txBody>
      </p:sp>
      <p:sp>
        <p:nvSpPr>
          <p:cNvPr id="24" name="math-source-I07-formula"/>
          <p:cNvSpPr txBox="1"/>
          <p:nvPr/>
        </p:nvSpPr>
        <p:spPr>
          <a:xfrm>
            <a:off x="5532120" y="2340864"/>
            <a:ext cx="4800600" cy="708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_1=</a:t>
            </a:r>
            <a:r>
              <a:rPr>
                <a:latin typeface="Cambria Math"/>
              </a:rPr>
              <a:t>I</a:t>
            </a:r>
            <a:r>
              <a:t>_total(R_2)/(R_1+R_2)</a:t>
            </a:r>
          </a:p>
        </p:txBody>
      </p:sp>
      <p:pic>
        <p:nvPicPr>
          <p:cNvPr id="25" name="I07-formula" descr="I_1=I_{\mathrm{total}}\frac{R_2}{R_1+R_2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2165631" cy="7089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32120" y="319607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7" name="I07-details-0"/>
          <p:cNvSpPr txBox="1"/>
          <p:nvPr/>
        </p:nvSpPr>
        <p:spPr>
          <a:xfrm>
            <a:off x="6126480" y="31960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 flere grene:</a:t>
            </a:r>
          </a:p>
        </p:txBody>
      </p:sp>
      <p:sp>
        <p:nvSpPr>
          <p:cNvPr id="28" name="math-source-I07-details-1"/>
          <p:cNvSpPr txBox="1"/>
          <p:nvPr/>
        </p:nvSpPr>
        <p:spPr>
          <a:xfrm>
            <a:off x="6126480" y="3438393"/>
            <a:ext cx="4206240" cy="730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_k=</a:t>
            </a:r>
            <a:r>
              <a:rPr>
                <a:latin typeface="Cambria Math"/>
              </a:rPr>
              <a:t>I</a:t>
            </a:r>
            <a:r>
              <a:t>_total(G_k)/(Σ_j G_j)</a:t>
            </a:r>
          </a:p>
        </p:txBody>
      </p:sp>
      <p:pic>
        <p:nvPicPr>
          <p:cNvPr id="29" name="I07-details-1" descr="I_k=I_{\mathrm{total}}\dfrac{G_k}{\sum_j G_j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438393"/>
            <a:ext cx="1211995" cy="73018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428745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I07-details-2"/>
          <p:cNvSpPr txBox="1"/>
          <p:nvPr/>
        </p:nvSpPr>
        <p:spPr>
          <a:xfrm>
            <a:off x="6126480" y="428745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Samme modstandsenhed i forholdet.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60749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3" name="I07-details-3"/>
          <p:cNvSpPr txBox="1"/>
          <p:nvPr/>
        </p:nvSpPr>
        <p:spPr>
          <a:xfrm>
            <a:off x="6126480" y="460749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Den modsatte modstand står i tælleren.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49275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5" name="math-source-I07-details-4"/>
          <p:cNvSpPr txBox="1"/>
          <p:nvPr/>
        </p:nvSpPr>
        <p:spPr>
          <a:xfrm>
            <a:off x="6126480" y="4927535"/>
            <a:ext cx="4206240" cy="451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_1=6 A(20 Ω)/(10 Ω+20 Ω)=4 A</a:t>
            </a:r>
          </a:p>
        </p:txBody>
      </p:sp>
      <p:pic>
        <p:nvPicPr>
          <p:cNvPr id="36" name="I07-details-4" descr="I_1=6\,\mathrm{A}\dfrac{20\,\Omega}{10\,\Omega+20\,\Omega}=4\,\mathrm{A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927535"/>
            <a:ext cx="2379102" cy="451879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21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0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B10 · Søger: Viklingsstrøm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l [m], N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Magnetisk vej/spole-model som B05.</a:t>
            </a:r>
          </a:p>
        </p:txBody>
      </p:sp>
      <p:sp>
        <p:nvSpPr>
          <p:cNvPr id="11" name="math-source-B10-formula"/>
          <p:cNvSpPr txBox="1"/>
          <p:nvPr/>
        </p:nvSpPr>
        <p:spPr>
          <a:xfrm>
            <a:off x="41148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=(Hl)/(N)</a:t>
            </a:r>
          </a:p>
        </p:txBody>
      </p:sp>
      <p:pic>
        <p:nvPicPr>
          <p:cNvPr id="12" name="B10-formula" descr="I=\frac{Hl}{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34265" cy="6440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10-details-0"/>
          <p:cNvSpPr txBox="1"/>
          <p:nvPr/>
        </p:nvSpPr>
        <p:spPr>
          <a:xfrm>
            <a:off x="100584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Hvis B ønskes i jern: aflæs H fra B(H)-kurven først.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512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B10-details-1"/>
          <p:cNvSpPr txBox="1"/>
          <p:nvPr/>
        </p:nvSpPr>
        <p:spPr>
          <a:xfrm>
            <a:off x="1005840" y="345127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 i m; H i A/m.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713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B10-details-2"/>
          <p:cNvSpPr txBox="1"/>
          <p:nvPr/>
        </p:nvSpPr>
        <p:spPr>
          <a:xfrm>
            <a:off x="1005840" y="37713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Aflæs ved relevant materiale og magnetiseringstilstand.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4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5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U01, U02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22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U01 · Søger: Spænding U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 [A],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belastning; U følger valgt polaritet.</a:t>
            </a:r>
          </a:p>
        </p:txBody>
      </p:sp>
      <p:sp>
        <p:nvSpPr>
          <p:cNvPr id="11" name="math-source-U01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U=R </a:t>
            </a:r>
            <a:r>
              <a:rPr>
                <a:latin typeface="Cambria Math"/>
              </a:rPr>
              <a:t>I</a:t>
            </a:r>
          </a:p>
        </p:txBody>
      </p:sp>
      <p:pic>
        <p:nvPicPr>
          <p:cNvPr id="12" name="U01-formula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38008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U01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Strømpil ind i + på R giver positivt spændingsfald.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U01-details-1"/>
          <p:cNvSpPr txBox="1"/>
          <p:nvPr/>
        </p:nvSpPr>
        <p:spPr>
          <a:xfrm>
            <a:off x="1005840" y="3170307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[A]=(</a:t>
            </a:r>
            <a:r>
              <a:rPr>
                <a:latin typeface="Cambria Math"/>
              </a:rPr>
              <a:t>I</a:t>
            </a:r>
            <a:r>
              <a:t>[mA])/(1000)</a:t>
            </a:r>
          </a:p>
        </p:txBody>
      </p:sp>
      <p:pic>
        <p:nvPicPr>
          <p:cNvPr id="17" name="U01-details-1" descr="I[\mathrm{A}]=\dfrac{I[\mathrm{mA}]}{100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70307"/>
            <a:ext cx="1238928" cy="4788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76799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U01-details-2"/>
          <p:cNvSpPr txBox="1"/>
          <p:nvPr/>
        </p:nvSpPr>
        <p:spPr>
          <a:xfrm>
            <a:off x="1005840" y="376799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Et negativt resultat vender valgt polaritet.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U02 · Søger: Spænding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samme komponent for P og </a:t>
            </a:r>
            <a:r>
              <a:rPr>
                <a:latin typeface="Cambria Math"/>
              </a:rPr>
              <a:t>I</a:t>
            </a:r>
            <a:r>
              <a:t>.</a:t>
            </a:r>
          </a:p>
        </p:txBody>
      </p:sp>
      <p:sp>
        <p:nvSpPr>
          <p:cNvPr id="24" name="math-source-U02-formula"/>
          <p:cNvSpPr txBox="1"/>
          <p:nvPr/>
        </p:nvSpPr>
        <p:spPr>
          <a:xfrm>
            <a:off x="553212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U=(P)/(</a:t>
            </a:r>
            <a:r>
              <a:rPr>
                <a:latin typeface="Cambria Math"/>
              </a:rPr>
              <a:t>I</a:t>
            </a:r>
            <a:r>
              <a:t>)</a:t>
            </a:r>
          </a:p>
        </p:txBody>
      </p:sp>
      <p:pic>
        <p:nvPicPr>
          <p:cNvPr id="25" name="U02-formula" descr="U=\frac{P}{I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834265" cy="6311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3212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7" name="U02-details-0"/>
          <p:cNvSpPr txBox="1"/>
          <p:nvPr/>
        </p:nvSpPr>
        <p:spPr>
          <a:xfrm>
            <a:off x="612648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Kontrollér:</a:t>
            </a:r>
          </a:p>
        </p:txBody>
      </p:sp>
      <p:sp>
        <p:nvSpPr>
          <p:cNvPr id="28" name="math-source-U02-details-1"/>
          <p:cNvSpPr txBox="1"/>
          <p:nvPr/>
        </p:nvSpPr>
        <p:spPr>
          <a:xfrm>
            <a:off x="6126480" y="336058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≠0</a:t>
            </a:r>
          </a:p>
        </p:txBody>
      </p:sp>
      <p:pic>
        <p:nvPicPr>
          <p:cNvPr id="29" name="U02-details-1" descr="I\ne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360586"/>
            <a:ext cx="457865" cy="2513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7308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U02-details-2"/>
          <p:cNvSpPr txBox="1"/>
          <p:nvPr/>
        </p:nvSpPr>
        <p:spPr>
          <a:xfrm>
            <a:off x="6126480" y="373083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W og 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05087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3" name="U02-details-3"/>
          <p:cNvSpPr txBox="1"/>
          <p:nvPr/>
        </p:nvSpPr>
        <p:spPr>
          <a:xfrm>
            <a:off x="6126480" y="405087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Mekanisk udgangseffekt kan ikke indsættes direkte.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6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U03, U04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23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U03 · Søger: Spændingens størrelse |U|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Effekt afsat i ohmsk R.</a:t>
            </a:r>
          </a:p>
        </p:txBody>
      </p:sp>
      <p:sp>
        <p:nvSpPr>
          <p:cNvPr id="11" name="math-source-U03-formula"/>
          <p:cNvSpPr txBox="1"/>
          <p:nvPr/>
        </p:nvSpPr>
        <p:spPr>
          <a:xfrm>
            <a:off x="411480" y="2340864"/>
            <a:ext cx="4800600" cy="505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|U|=√(P R)</a:t>
            </a:r>
          </a:p>
        </p:txBody>
      </p:sp>
      <p:pic>
        <p:nvPicPr>
          <p:cNvPr id="12" name="U03-formula" descr="|U|=\sqrt{P R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556142" cy="5057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99291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U03-details-0"/>
          <p:cNvSpPr txBox="1"/>
          <p:nvPr/>
        </p:nvSpPr>
        <p:spPr>
          <a:xfrm>
            <a:off x="1005840" y="299291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Polariteten vælges separat.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129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U03-details-1"/>
          <p:cNvSpPr txBox="1"/>
          <p:nvPr/>
        </p:nvSpPr>
        <p:spPr>
          <a:xfrm>
            <a:off x="1005840" y="331295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 i W; R i Ω.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63299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U03-details-2"/>
          <p:cNvSpPr txBox="1"/>
          <p:nvPr/>
        </p:nvSpPr>
        <p:spPr>
          <a:xfrm>
            <a:off x="1005840" y="363299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Kvadratroden giver størrelse.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5303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0" name="math-source-U03-details-3"/>
          <p:cNvSpPr txBox="1"/>
          <p:nvPr/>
        </p:nvSpPr>
        <p:spPr>
          <a:xfrm>
            <a:off x="1005840" y="3953034"/>
            <a:ext cx="4206240" cy="350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|U|=√(57,6 W·10 Ω)=24 V</a:t>
            </a:r>
          </a:p>
        </p:txBody>
      </p:sp>
      <p:pic>
        <p:nvPicPr>
          <p:cNvPr id="21" name="U03-details-3" descr="|U|=\sqrt{57{,}6\,\mathrm{W}\cdot10\,\Omega}=24\,\mathrm{V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53034"/>
            <a:ext cx="2636464" cy="35013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U04 · Søger: Potentialforskel U [V]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Q [C]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Elektrisk energi overført pr. ladning.</a:t>
            </a:r>
          </a:p>
        </p:txBody>
      </p:sp>
      <p:sp>
        <p:nvSpPr>
          <p:cNvPr id="26" name="math-source-U04-formula"/>
          <p:cNvSpPr txBox="1"/>
          <p:nvPr/>
        </p:nvSpPr>
        <p:spPr>
          <a:xfrm>
            <a:off x="5532120" y="2340864"/>
            <a:ext cx="4800600" cy="700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U=(W)/(Q)</a:t>
            </a:r>
          </a:p>
        </p:txBody>
      </p:sp>
      <p:pic>
        <p:nvPicPr>
          <p:cNvPr id="27" name="U04-formula" descr="U=\frac{W}{Q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933685" cy="7002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874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U04-details-0"/>
          <p:cNvSpPr txBox="1"/>
          <p:nvPr/>
        </p:nvSpPr>
        <p:spPr>
          <a:xfrm>
            <a:off x="6126480" y="31874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W for elektrisk arbejde mellem de valgte punkter.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50747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math-source-U04-details-1"/>
          <p:cNvSpPr txBox="1"/>
          <p:nvPr/>
        </p:nvSpPr>
        <p:spPr>
          <a:xfrm>
            <a:off x="6126480" y="3507472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(1 J)/(1 C)=1 V</a:t>
            </a:r>
          </a:p>
        </p:txBody>
      </p:sp>
      <p:pic>
        <p:nvPicPr>
          <p:cNvPr id="32" name="U04-details-1" descr="\dfrac{1\,\mathrm{J}}{1\,\mathrm{C}}=1\,\mathrm{V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507472"/>
            <a:ext cx="897774" cy="44589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4072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U04-details-2"/>
          <p:cNvSpPr txBox="1"/>
          <p:nvPr/>
        </p:nvSpPr>
        <p:spPr>
          <a:xfrm>
            <a:off x="6126480" y="4072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W er her energi, ikke enhedssymbolet watt.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7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U05, U06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24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U05 · Søger: Klemspænding Ukl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</a:t>
            </a:r>
            <a:r>
              <a:rPr>
                <a:latin typeface="Cambria Math"/>
              </a:rPr>
              <a:t>I</a:t>
            </a:r>
            <a:r>
              <a:t> [A], ri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Afladning; </a:t>
            </a:r>
            <a:r>
              <a:rPr>
                <a:latin typeface="Cambria Math"/>
              </a:rPr>
              <a:t>I</a:t>
            </a:r>
            <a:r>
              <a:t> ud af kildens pluspol.</a:t>
            </a:r>
          </a:p>
        </p:txBody>
      </p:sp>
      <p:sp>
        <p:nvSpPr>
          <p:cNvPr id="11" name="math-source-U05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U_kl=E-</a:t>
            </a:r>
            <a:r>
              <a:rPr>
                <a:latin typeface="Cambria Math"/>
              </a:rPr>
              <a:t>I</a:t>
            </a:r>
            <a:r>
              <a:t> r_i</a:t>
            </a:r>
          </a:p>
        </p:txBody>
      </p:sp>
      <p:pic>
        <p:nvPicPr>
          <p:cNvPr id="12" name="U05-formula" descr="U_{\mathrm{kl}}=E-I r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651240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U05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Beregn det interne spændingsfald først:</a:t>
            </a:r>
          </a:p>
        </p:txBody>
      </p:sp>
      <p:sp>
        <p:nvSpPr>
          <p:cNvPr id="15" name="math-source-U05-details-1"/>
          <p:cNvSpPr txBox="1"/>
          <p:nvPr/>
        </p:nvSpPr>
        <p:spPr>
          <a:xfrm>
            <a:off x="100584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U_i=</a:t>
            </a:r>
            <a:r>
              <a:rPr>
                <a:latin typeface="Cambria Math"/>
              </a:rPr>
              <a:t>I</a:t>
            </a:r>
            <a:r>
              <a:t> r_i</a:t>
            </a:r>
          </a:p>
        </p:txBody>
      </p:sp>
      <p:pic>
        <p:nvPicPr>
          <p:cNvPr id="16" name="U05-details-1" descr="\Delta U_i=I r_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864856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U05-details-2"/>
          <p:cNvSpPr txBox="1"/>
          <p:nvPr/>
        </p:nvSpPr>
        <p:spPr>
          <a:xfrm>
            <a:off x="1005840" y="34628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og Ω.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78287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U05-details-3"/>
          <p:cNvSpPr txBox="1"/>
          <p:nvPr/>
        </p:nvSpPr>
        <p:spPr>
          <a:xfrm>
            <a:off x="1005840" y="378287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opladning med samme positive strøm:</a:t>
            </a:r>
          </a:p>
        </p:txBody>
      </p:sp>
      <p:sp>
        <p:nvSpPr>
          <p:cNvPr id="21" name="math-source-U05-details-4"/>
          <p:cNvSpPr txBox="1"/>
          <p:nvPr/>
        </p:nvSpPr>
        <p:spPr>
          <a:xfrm>
            <a:off x="1005840" y="402518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U_kl=E+</a:t>
            </a:r>
            <a:r>
              <a:rPr>
                <a:latin typeface="Cambria Math"/>
              </a:rPr>
              <a:t>I</a:t>
            </a:r>
            <a:r>
              <a:t> r_i</a:t>
            </a:r>
          </a:p>
        </p:txBody>
      </p:sp>
      <p:pic>
        <p:nvPicPr>
          <p:cNvPr id="22" name="U05-details-4" descr="U_{\mathrm{kl}}=E+I r_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25188"/>
            <a:ext cx="1143166" cy="2513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U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U06 · Søger: Delspænding U1 [V]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R1, R2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serie-R; midtpunktet er ubelastet.</a:t>
            </a:r>
          </a:p>
        </p:txBody>
      </p:sp>
      <p:sp>
        <p:nvSpPr>
          <p:cNvPr id="27" name="math-source-U06-formula"/>
          <p:cNvSpPr txBox="1"/>
          <p:nvPr/>
        </p:nvSpPr>
        <p:spPr>
          <a:xfrm>
            <a:off x="5532120" y="2340864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U_1=U(R_1)/(R_1+R_2)</a:t>
            </a:r>
          </a:p>
        </p:txBody>
      </p:sp>
      <p:pic>
        <p:nvPicPr>
          <p:cNvPr id="28" name="U06-formula" descr="U_1=U\frac{R_1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988404" cy="71323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2004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U06-details-0"/>
          <p:cNvSpPr txBox="1"/>
          <p:nvPr/>
        </p:nvSpPr>
        <p:spPr>
          <a:xfrm>
            <a:off x="6126480" y="32004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last: erstat belastet R med dens parallelkombination.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5204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U06-details-1"/>
          <p:cNvSpPr txBox="1"/>
          <p:nvPr/>
        </p:nvSpPr>
        <p:spPr>
          <a:xfrm>
            <a:off x="6126480" y="352044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Samme enhed for R1 og R2.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84048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U06-details-2"/>
          <p:cNvSpPr txBox="1"/>
          <p:nvPr/>
        </p:nvSpPr>
        <p:spPr>
          <a:xfrm>
            <a:off x="6126480" y="384048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 tilsluttet last ændrer spændingsdelingen.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16052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6" name="math-source-U06-details-3"/>
          <p:cNvSpPr txBox="1"/>
          <p:nvPr/>
        </p:nvSpPr>
        <p:spPr>
          <a:xfrm>
            <a:off x="6126480" y="4160520"/>
            <a:ext cx="4206240" cy="451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U_1=24 V(100 Ω)/(100 Ω+200 Ω)=8 V</a:t>
            </a:r>
          </a:p>
        </p:txBody>
      </p:sp>
      <p:pic>
        <p:nvPicPr>
          <p:cNvPr id="37" name="U06-details-3" descr="U_1=24\,\mathrm{V}\dfrac{100\,\Omega}{100\,\Omega+200\,\Omega}=8\,\mathrm{V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160520"/>
            <a:ext cx="2804049" cy="451879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R01, R02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25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R01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 ved den aktuelle temperatur.</a:t>
            </a:r>
          </a:p>
        </p:txBody>
      </p:sp>
      <p:sp>
        <p:nvSpPr>
          <p:cNvPr id="11" name="math-source-R01-formula"/>
          <p:cNvSpPr txBox="1"/>
          <p:nvPr/>
        </p:nvSpPr>
        <p:spPr>
          <a:xfrm>
            <a:off x="411480" y="2340864"/>
            <a:ext cx="4800600" cy="635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R=(U)/(</a:t>
            </a:r>
            <a:r>
              <a:rPr>
                <a:latin typeface="Cambria Math"/>
              </a:rPr>
              <a:t>I</a:t>
            </a:r>
            <a:r>
              <a:t>)</a:t>
            </a:r>
          </a:p>
        </p:txBody>
      </p:sp>
      <p:pic>
        <p:nvPicPr>
          <p:cNvPr id="12" name="R01-formula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51555" cy="635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2259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1-details-0"/>
          <p:cNvSpPr txBox="1"/>
          <p:nvPr/>
        </p:nvSpPr>
        <p:spPr>
          <a:xfrm>
            <a:off x="1005840" y="312259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 og </a:t>
            </a:r>
            <a:r>
              <a:rPr>
                <a:latin typeface="Cambria Math"/>
              </a:rPr>
              <a:t>I</a:t>
            </a:r>
            <a:r>
              <a:t> skal høre til samme komponent.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426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R01-details-1"/>
          <p:cNvSpPr txBox="1"/>
          <p:nvPr/>
        </p:nvSpPr>
        <p:spPr>
          <a:xfrm>
            <a:off x="1005840" y="3442632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[A]=(</a:t>
            </a:r>
            <a:r>
              <a:rPr>
                <a:latin typeface="Cambria Math"/>
              </a:rPr>
              <a:t>I</a:t>
            </a:r>
            <a:r>
              <a:t>[mA])/(1000)</a:t>
            </a:r>
          </a:p>
        </p:txBody>
      </p:sp>
      <p:pic>
        <p:nvPicPr>
          <p:cNvPr id="17" name="R01-details-1" descr="I[\mathrm{A}]=\dfrac{I[\mathrm{mA}]}{100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42632"/>
            <a:ext cx="1238928" cy="4788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40403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R01-details-2"/>
          <p:cNvSpPr txBox="1"/>
          <p:nvPr/>
        </p:nvSpPr>
        <p:spPr>
          <a:xfrm>
            <a:off x="1005840" y="404031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 er komponentens modstand; ρ er materialets resistivitet.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R02 · Søger: Resistans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P er dens afsatte effekt.</a:t>
            </a:r>
          </a:p>
        </p:txBody>
      </p:sp>
      <p:sp>
        <p:nvSpPr>
          <p:cNvPr id="24" name="math-source-R02-formula"/>
          <p:cNvSpPr txBox="1"/>
          <p:nvPr/>
        </p:nvSpPr>
        <p:spPr>
          <a:xfrm>
            <a:off x="5532120" y="2340864"/>
            <a:ext cx="4800600" cy="678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R=(P)/(</a:t>
            </a:r>
            <a:r>
              <a:rPr>
                <a:latin typeface="Cambria Math"/>
              </a:rPr>
              <a:t>I</a:t>
            </a:r>
            <a:r>
              <a:t>^2)</a:t>
            </a:r>
          </a:p>
        </p:txBody>
      </p:sp>
      <p:pic>
        <p:nvPicPr>
          <p:cNvPr id="25" name="R02-formula" descr="R=\frac{P}{I^2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847233" cy="67865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32120" y="316581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7" name="R02-details-0"/>
          <p:cNvSpPr txBox="1"/>
          <p:nvPr/>
        </p:nvSpPr>
        <p:spPr>
          <a:xfrm>
            <a:off x="6126480" y="316581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Kvadrér </a:t>
            </a:r>
            <a:r>
              <a:rPr>
                <a:latin typeface="Cambria Math"/>
              </a:rPr>
              <a:t>I</a:t>
            </a:r>
            <a:r>
              <a:t> efter enhedsomregning.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48585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9" name="R02-details-1"/>
          <p:cNvSpPr txBox="1"/>
          <p:nvPr/>
        </p:nvSpPr>
        <p:spPr>
          <a:xfrm>
            <a:off x="6126480" y="348585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A, ikke mA.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80589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1" name="R02-details-2"/>
          <p:cNvSpPr txBox="1"/>
          <p:nvPr/>
        </p:nvSpPr>
        <p:spPr>
          <a:xfrm>
            <a:off x="6126480" y="380589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Et mA-tal uden omregning giver fejl på faktor:</a:t>
            </a:r>
          </a:p>
        </p:txBody>
      </p:sp>
      <p:sp>
        <p:nvSpPr>
          <p:cNvPr id="32" name="math-source-R02-details-3"/>
          <p:cNvSpPr txBox="1"/>
          <p:nvPr/>
        </p:nvSpPr>
        <p:spPr>
          <a:xfrm>
            <a:off x="6126480" y="4048215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10^6</a:t>
            </a:r>
          </a:p>
        </p:txBody>
      </p:sp>
      <p:pic>
        <p:nvPicPr>
          <p:cNvPr id="33" name="R02-details-3" descr="10^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048215"/>
            <a:ext cx="359109" cy="25736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44244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5" name="math-source-R02-details-4"/>
          <p:cNvSpPr txBox="1"/>
          <p:nvPr/>
        </p:nvSpPr>
        <p:spPr>
          <a:xfrm>
            <a:off x="6126480" y="4424449"/>
            <a:ext cx="4206240" cy="5147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R=(24 W)/((2 A)^2)=6 Ω</a:t>
            </a:r>
          </a:p>
        </p:txBody>
      </p:sp>
      <p:pic>
        <p:nvPicPr>
          <p:cNvPr id="36" name="R02-details-4" descr="R=\dfrac{24\,\mathrm{W}}{(2\,\mathrm{A})^2}=6\,\Omeg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424449"/>
            <a:ext cx="1526216" cy="514724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R03, 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26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R03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P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U måles over R.</a:t>
            </a:r>
          </a:p>
        </p:txBody>
      </p:sp>
      <p:sp>
        <p:nvSpPr>
          <p:cNvPr id="11" name="math-source-R03-formula"/>
          <p:cNvSpPr txBox="1"/>
          <p:nvPr/>
        </p:nvSpPr>
        <p:spPr>
          <a:xfrm>
            <a:off x="411480" y="2340864"/>
            <a:ext cx="4800600" cy="687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R=(U^2)/(P)</a:t>
            </a:r>
          </a:p>
        </p:txBody>
      </p:sp>
      <p:pic>
        <p:nvPicPr>
          <p:cNvPr id="12" name="R03-formula" descr="R=\frac{U^2}{P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07170" cy="687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744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3-details-0"/>
          <p:cNvSpPr txBox="1"/>
          <p:nvPr/>
        </p:nvSpPr>
        <p:spPr>
          <a:xfrm>
            <a:off x="1005840" y="317446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 skal være tabet i den samme 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9450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R03-details-1"/>
          <p:cNvSpPr txBox="1"/>
          <p:nvPr/>
        </p:nvSpPr>
        <p:spPr>
          <a:xfrm>
            <a:off x="1005840" y="349450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 og 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1454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R03-details-2"/>
          <p:cNvSpPr txBox="1"/>
          <p:nvPr/>
        </p:nvSpPr>
        <p:spPr>
          <a:xfrm>
            <a:off x="1005840" y="381454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Gælder ikke motorens mekaniske udgangseffekt.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R04 · Søger: Ledermodstand R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S [mm²]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ρ ved relevant temperatur.</a:t>
            </a:r>
          </a:p>
        </p:txBody>
      </p:sp>
      <p:sp>
        <p:nvSpPr>
          <p:cNvPr id="23" name="math-source-R04-formula"/>
          <p:cNvSpPr txBox="1"/>
          <p:nvPr/>
        </p:nvSpPr>
        <p:spPr>
          <a:xfrm>
            <a:off x="5532120" y="2340864"/>
            <a:ext cx="4800600" cy="648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R=ρ(l)/(S)</a:t>
            </a:r>
          </a:p>
        </p:txBody>
      </p:sp>
      <p:pic>
        <p:nvPicPr>
          <p:cNvPr id="24" name="R04-formula" descr="R=\rho\frac{l}{S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40864"/>
            <a:ext cx="933685" cy="6483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3135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6" name="R04-details-0"/>
          <p:cNvSpPr txBox="1"/>
          <p:nvPr/>
        </p:nvSpPr>
        <p:spPr>
          <a:xfrm>
            <a:off x="6126480" y="3135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identiske frem- og returledere bruges sløjfelængden:</a:t>
            </a:r>
          </a:p>
        </p:txBody>
      </p:sp>
      <p:sp>
        <p:nvSpPr>
          <p:cNvPr id="27" name="math-source-R04-details-1"/>
          <p:cNvSpPr txBox="1"/>
          <p:nvPr/>
        </p:nvSpPr>
        <p:spPr>
          <a:xfrm>
            <a:off x="6126480" y="3377876"/>
            <a:ext cx="4206240" cy="2813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l_sløjfe=2l</a:t>
            </a:r>
          </a:p>
        </p:txBody>
      </p:sp>
      <p:pic>
        <p:nvPicPr>
          <p:cNvPr id="28" name="R04-details-1" descr="l_{\mathrm{sløjfe}}=2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377876"/>
            <a:ext cx="879819" cy="2813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77805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0" name="R04-details-2"/>
          <p:cNvSpPr txBox="1"/>
          <p:nvPr/>
        </p:nvSpPr>
        <p:spPr>
          <a:xfrm>
            <a:off x="6126480" y="377805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ρ [Ω·m] skal S være i m².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40980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2" name="R04-details-3"/>
          <p:cNvSpPr txBox="1"/>
          <p:nvPr/>
        </p:nvSpPr>
        <p:spPr>
          <a:xfrm>
            <a:off x="6126480" y="40980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Et kabel med fire ledere på 10 mm² har pr. leder:</a:t>
            </a:r>
          </a:p>
        </p:txBody>
      </p:sp>
      <p:sp>
        <p:nvSpPr>
          <p:cNvPr id="33" name="math-source-R04-details-4"/>
          <p:cNvSpPr txBox="1"/>
          <p:nvPr/>
        </p:nvSpPr>
        <p:spPr>
          <a:xfrm>
            <a:off x="6126480" y="4340407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S=10 mm^2</a:t>
            </a:r>
          </a:p>
        </p:txBody>
      </p:sp>
      <p:pic>
        <p:nvPicPr>
          <p:cNvPr id="34" name="R04-details-4" descr="S=10\,\mathrm{mm}^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340407"/>
            <a:ext cx="1077329" cy="25436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71364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6" name="R04-details-5"/>
          <p:cNvSpPr txBox="1"/>
          <p:nvPr/>
        </p:nvSpPr>
        <p:spPr>
          <a:xfrm>
            <a:off x="6126480" y="471364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Kobber, pr. leder:</a:t>
            </a:r>
          </a:p>
        </p:txBody>
      </p:sp>
      <p:sp>
        <p:nvSpPr>
          <p:cNvPr id="37" name="math-source-R04-details-6"/>
          <p:cNvSpPr txBox="1"/>
          <p:nvPr/>
        </p:nvSpPr>
        <p:spPr>
          <a:xfrm>
            <a:off x="6126480" y="4955964"/>
            <a:ext cx="4206240" cy="547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R=(0,0175 Omegamm^2·300 m)/(m·10 mm^2)</a:t>
            </a:r>
          </a:p>
        </p:txBody>
      </p:sp>
      <p:pic>
        <p:nvPicPr>
          <p:cNvPr id="38" name="R04-details-6" descr="R=\dfrac{0{,}0175\,\Omega\mathrm{mm}^2\cdot300\,\mathrm{m}}{\mathrm{m}\cdot10\,\mathrm{mm}^2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955964"/>
            <a:ext cx="2370124" cy="547642"/>
          </a:xfrm>
          <a:prstGeom prst="rect">
            <a:avLst/>
          </a:prstGeom>
        </p:spPr>
      </p:pic>
      <p:sp>
        <p:nvSpPr>
          <p:cNvPr id="39" name="math-source-R04-details-7"/>
          <p:cNvSpPr txBox="1"/>
          <p:nvPr/>
        </p:nvSpPr>
        <p:spPr>
          <a:xfrm>
            <a:off x="6126480" y="554475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R=0,525 Ω</a:t>
            </a:r>
          </a:p>
        </p:txBody>
      </p:sp>
      <p:pic>
        <p:nvPicPr>
          <p:cNvPr id="40" name="R04-details-7" descr="R=0{,}525\,\Omeg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5544755"/>
            <a:ext cx="1122218" cy="251376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R05, R06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27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R05 · Søger: Varm modstand RT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metalmodel; α hører til referencen t.</a:t>
            </a:r>
          </a:p>
        </p:txBody>
      </p:sp>
      <p:sp>
        <p:nvSpPr>
          <p:cNvPr id="11" name="math-source-R05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R_T=R_t[1+α_t(T-t)]</a:t>
            </a:r>
          </a:p>
        </p:txBody>
      </p:sp>
      <p:pic>
        <p:nvPicPr>
          <p:cNvPr id="12" name="R05-formula" descr="R_T=R_t[1+\alpha_t(T-t)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779443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5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Referencetemperatur:</a:t>
            </a:r>
          </a:p>
        </p:txBody>
      </p:sp>
      <p:sp>
        <p:nvSpPr>
          <p:cNvPr id="15" name="math-source-R05-details-1"/>
          <p:cNvSpPr txBox="1"/>
          <p:nvPr/>
        </p:nvSpPr>
        <p:spPr>
          <a:xfrm>
            <a:off x="100584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t=20 ^circC</a:t>
            </a:r>
          </a:p>
        </p:txBody>
      </p:sp>
      <p:pic>
        <p:nvPicPr>
          <p:cNvPr id="16" name="R05-details-1" descr="t=20\,{}^\circ\mathrm{C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852885" cy="251376"/>
          </a:xfrm>
          <a:prstGeom prst="rect">
            <a:avLst/>
          </a:prstGeom>
        </p:spPr>
      </p:pic>
      <p:sp>
        <p:nvSpPr>
          <p:cNvPr id="17" name="R05-details-2"/>
          <p:cNvSpPr txBox="1"/>
          <p:nvPr/>
        </p:nvSpPr>
        <p:spPr>
          <a:xfrm>
            <a:off x="1005840" y="338510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materialetabellens</a:t>
            </a:r>
          </a:p>
        </p:txBody>
      </p:sp>
      <p:sp>
        <p:nvSpPr>
          <p:cNvPr id="18" name="math-source-R05-details-3"/>
          <p:cNvSpPr txBox="1"/>
          <p:nvPr/>
        </p:nvSpPr>
        <p:spPr>
          <a:xfrm>
            <a:off x="1005840" y="362742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α_20</a:t>
            </a:r>
          </a:p>
        </p:txBody>
      </p:sp>
      <p:pic>
        <p:nvPicPr>
          <p:cNvPr id="19" name="R05-details-3" descr="\alpha_{2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27424"/>
            <a:ext cx="332176" cy="25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399767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1" name="R05-details-4"/>
          <p:cNvSpPr txBox="1"/>
          <p:nvPr/>
        </p:nvSpPr>
        <p:spPr>
          <a:xfrm>
            <a:off x="1005840" y="399767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Temperaturforskellens talværdi:</a:t>
            </a:r>
          </a:p>
        </p:txBody>
      </p:sp>
      <p:sp>
        <p:nvSpPr>
          <p:cNvPr id="22" name="math-source-R05-details-5"/>
          <p:cNvSpPr txBox="1"/>
          <p:nvPr/>
        </p:nvSpPr>
        <p:spPr>
          <a:xfrm>
            <a:off x="1005840" y="423998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T[K]=Δ T[^circC]</a:t>
            </a:r>
          </a:p>
        </p:txBody>
      </p:sp>
      <p:pic>
        <p:nvPicPr>
          <p:cNvPr id="23" name="R05-details-5" descr="\Delta T[\mathrm{K}]=\Delta T[{}^\circ\mathrm{C}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39989"/>
            <a:ext cx="1574098" cy="2513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4610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5" name="R05-details-6"/>
          <p:cNvSpPr txBox="1"/>
          <p:nvPr/>
        </p:nvSpPr>
        <p:spPr>
          <a:xfrm>
            <a:off x="1005840" y="4610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Ikke en generel model for NTC/PTC eller stor temperaturændring.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R06 · Søger: Kold modstand Rt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lineære model og reference som R05.</a:t>
            </a:r>
          </a:p>
        </p:txBody>
      </p:sp>
      <p:sp>
        <p:nvSpPr>
          <p:cNvPr id="30" name="math-source-R06-formula"/>
          <p:cNvSpPr txBox="1"/>
          <p:nvPr/>
        </p:nvSpPr>
        <p:spPr>
          <a:xfrm>
            <a:off x="5532120" y="2340864"/>
            <a:ext cx="4800600" cy="7305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R_t=(R_T)/(1+α_t(T-t))</a:t>
            </a:r>
          </a:p>
        </p:txBody>
      </p:sp>
      <p:pic>
        <p:nvPicPr>
          <p:cNvPr id="31" name="R06-formula" descr="R_t=\frac{R_T}{1+\alpha_t(T-t)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2243438" cy="73052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2176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3" name="R06-details-0"/>
          <p:cNvSpPr txBox="1"/>
          <p:nvPr/>
        </p:nvSpPr>
        <p:spPr>
          <a:xfrm>
            <a:off x="6126480" y="32176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Kontrollér nævneren og referencetemperaturen.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53773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R06-details-1"/>
          <p:cNvSpPr txBox="1"/>
          <p:nvPr/>
        </p:nvSpPr>
        <p:spPr>
          <a:xfrm>
            <a:off x="6126480" y="353773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Forskel i K eller °C.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38577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R06-details-2"/>
          <p:cNvSpPr txBox="1"/>
          <p:nvPr/>
        </p:nvSpPr>
        <p:spPr>
          <a:xfrm>
            <a:off x="6126480" y="38577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ikke</a:t>
            </a:r>
          </a:p>
        </p:txBody>
      </p:sp>
      <p:sp>
        <p:nvSpPr>
          <p:cNvPr id="38" name="math-source-R06-details-3"/>
          <p:cNvSpPr txBox="1"/>
          <p:nvPr/>
        </p:nvSpPr>
        <p:spPr>
          <a:xfrm>
            <a:off x="6126480" y="410008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α_20</a:t>
            </a:r>
          </a:p>
        </p:txBody>
      </p:sp>
      <p:pic>
        <p:nvPicPr>
          <p:cNvPr id="39" name="R06-details-3" descr="\alpha_{2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100086"/>
            <a:ext cx="332176" cy="251376"/>
          </a:xfrm>
          <a:prstGeom prst="rect">
            <a:avLst/>
          </a:prstGeom>
        </p:spPr>
      </p:pic>
      <p:sp>
        <p:nvSpPr>
          <p:cNvPr id="40" name="R06-details-4"/>
          <p:cNvSpPr txBox="1"/>
          <p:nvPr/>
        </p:nvSpPr>
        <p:spPr>
          <a:xfrm>
            <a:off x="6126480" y="439261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ukritisk ved reference 0 °C.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R07, 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28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R07 · Søger: Seriemodstand Rs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strømvej; samme strøm i alle R.</a:t>
            </a:r>
          </a:p>
        </p:txBody>
      </p:sp>
      <p:sp>
        <p:nvSpPr>
          <p:cNvPr id="11" name="math-source-R07-formula"/>
          <p:cNvSpPr txBox="1"/>
          <p:nvPr/>
        </p:nvSpPr>
        <p:spPr>
          <a:xfrm>
            <a:off x="411480" y="2340864"/>
            <a:ext cx="4800600" cy="812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R_s=Σ_k=1^nR_k</a:t>
            </a:r>
          </a:p>
        </p:txBody>
      </p:sp>
      <p:pic>
        <p:nvPicPr>
          <p:cNvPr id="12" name="R07-formula" descr="R_s=\sum_{k=1}^{n}R_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456722" cy="8126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9982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7-details-0"/>
          <p:cNvSpPr txBox="1"/>
          <p:nvPr/>
        </p:nvSpPr>
        <p:spPr>
          <a:xfrm>
            <a:off x="1005840" y="329982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Spændinger og effekter summeres også.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198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R07-details-1"/>
          <p:cNvSpPr txBox="1"/>
          <p:nvPr/>
        </p:nvSpPr>
        <p:spPr>
          <a:xfrm>
            <a:off x="1005840" y="36198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R i samme enhed.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399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R07-details-2"/>
          <p:cNvSpPr txBox="1"/>
          <p:nvPr/>
        </p:nvSpPr>
        <p:spPr>
          <a:xfrm>
            <a:off x="1005840" y="39399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 i separate strømveje er ikke i serie.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99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0" name="math-source-R07-details-3"/>
          <p:cNvSpPr txBox="1"/>
          <p:nvPr/>
        </p:nvSpPr>
        <p:spPr>
          <a:xfrm>
            <a:off x="1005840" y="425994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R_s=200 Ω+160 Ω+140 Ω</a:t>
            </a:r>
          </a:p>
        </p:txBody>
      </p:sp>
      <p:pic>
        <p:nvPicPr>
          <p:cNvPr id="21" name="R07-details-3" descr="R_s=200\,\Omega+160\,\Omega+140\,\Omeg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59940"/>
            <a:ext cx="2546687" cy="251376"/>
          </a:xfrm>
          <a:prstGeom prst="rect">
            <a:avLst/>
          </a:prstGeom>
        </p:spPr>
      </p:pic>
      <p:sp>
        <p:nvSpPr>
          <p:cNvPr id="22" name="math-source-R07-details-4"/>
          <p:cNvSpPr txBox="1"/>
          <p:nvPr/>
        </p:nvSpPr>
        <p:spPr>
          <a:xfrm>
            <a:off x="1005840" y="455246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R_s=500 Ω</a:t>
            </a:r>
          </a:p>
        </p:txBody>
      </p:sp>
      <p:pic>
        <p:nvPicPr>
          <p:cNvPr id="23" name="R07-details-4" descr="R_s=500\,\Omeg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52465"/>
            <a:ext cx="1023462" cy="25137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08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R08 · Søger: Parallelmodstand Rp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Alle R mellem de samme to knuder.</a:t>
            </a:r>
          </a:p>
        </p:txBody>
      </p:sp>
      <p:sp>
        <p:nvSpPr>
          <p:cNvPr id="28" name="math-source-R08-formula"/>
          <p:cNvSpPr txBox="1"/>
          <p:nvPr/>
        </p:nvSpPr>
        <p:spPr>
          <a:xfrm>
            <a:off x="5532120" y="2340864"/>
            <a:ext cx="4800600" cy="816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R_p=(Σ_k=1^n(1)/(R_k))^-1</a:t>
            </a:r>
          </a:p>
        </p:txBody>
      </p:sp>
      <p:pic>
        <p:nvPicPr>
          <p:cNvPr id="29" name="R08-formula" descr="R_p=\left(\sum_{k=1}^{n}\frac{1}{R_k}\right)^{-1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2234793" cy="81697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30414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R08-details-0"/>
          <p:cNvSpPr txBox="1"/>
          <p:nvPr/>
        </p:nvSpPr>
        <p:spPr>
          <a:xfrm>
            <a:off x="6126480" y="330414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To parallelle modstande:</a:t>
            </a:r>
          </a:p>
        </p:txBody>
      </p:sp>
      <p:sp>
        <p:nvSpPr>
          <p:cNvPr id="32" name="math-source-R08-details-1"/>
          <p:cNvSpPr txBox="1"/>
          <p:nvPr/>
        </p:nvSpPr>
        <p:spPr>
          <a:xfrm>
            <a:off x="6126480" y="3546458"/>
            <a:ext cx="420624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R_p=(R_1R_2)/(R_1+R_2)</a:t>
            </a:r>
          </a:p>
        </p:txBody>
      </p:sp>
      <p:pic>
        <p:nvPicPr>
          <p:cNvPr id="33" name="R08-details-1" descr="R_p=\dfrac{R_1R_2}{R_1+R_2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546458"/>
            <a:ext cx="1188054" cy="4937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415910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R08-details-2"/>
          <p:cNvSpPr txBox="1"/>
          <p:nvPr/>
        </p:nvSpPr>
        <p:spPr>
          <a:xfrm>
            <a:off x="6126480" y="415910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R i samme enhed.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47914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R08-details-3"/>
          <p:cNvSpPr txBox="1"/>
          <p:nvPr/>
        </p:nvSpPr>
        <p:spPr>
          <a:xfrm>
            <a:off x="6126480" y="4479146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Parallelmodstanden skal være mindre end den mindste</a:t>
            </a:r>
            <a:br/>
            <a:r>
              <a:t>grenmodstand.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0003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9" name="math-source-R08-details-4"/>
          <p:cNvSpPr txBox="1"/>
          <p:nvPr/>
        </p:nvSpPr>
        <p:spPr>
          <a:xfrm>
            <a:off x="6126480" y="5000354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R_p=((1)/(125 Ω)+(1)/(100 Ω)+(1)/(40 Ω))^-1</a:t>
            </a:r>
          </a:p>
        </p:txBody>
      </p:sp>
      <p:pic>
        <p:nvPicPr>
          <p:cNvPr id="40" name="R08-details-4" descr="R_p=\left(\dfrac{1}{125\,\Omega}+\dfrac{1}{100\,\Omega}+\dfrac{1}{40\,\Omega}\right)^{-1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5000354"/>
            <a:ext cx="2971633" cy="445894"/>
          </a:xfrm>
          <a:prstGeom prst="rect">
            <a:avLst/>
          </a:prstGeom>
        </p:spPr>
      </p:pic>
      <p:sp>
        <p:nvSpPr>
          <p:cNvPr id="41" name="math-source-R08-details-5"/>
          <p:cNvSpPr txBox="1"/>
          <p:nvPr/>
        </p:nvSpPr>
        <p:spPr>
          <a:xfrm>
            <a:off x="6126480" y="5487397"/>
            <a:ext cx="4206240" cy="2753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R_p=23,256 Ω</a:t>
            </a:r>
          </a:p>
        </p:txBody>
      </p:sp>
      <p:pic>
        <p:nvPicPr>
          <p:cNvPr id="42" name="R08-details-5" descr="R_p=23{,}256\,\Omeg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5487397"/>
            <a:ext cx="1325713" cy="275317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R09, R10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29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9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R09 · Søger: Indre modstand ri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Ukl [V],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Belastet DC-kilde; afladning.</a:t>
            </a:r>
          </a:p>
        </p:txBody>
      </p:sp>
      <p:sp>
        <p:nvSpPr>
          <p:cNvPr id="11" name="math-source-R09-formula"/>
          <p:cNvSpPr txBox="1"/>
          <p:nvPr/>
        </p:nvSpPr>
        <p:spPr>
          <a:xfrm>
            <a:off x="411480" y="2340864"/>
            <a:ext cx="4800600" cy="678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r_i=fracE-U_klI</a:t>
            </a:r>
          </a:p>
        </p:txBody>
      </p:sp>
      <p:pic>
        <p:nvPicPr>
          <p:cNvPr id="12" name="R09-formula" descr="r_i=\frac{E-U_{\mathrm{kl}}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556142" cy="6786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6581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9-details-0"/>
          <p:cNvSpPr txBox="1"/>
          <p:nvPr/>
        </p:nvSpPr>
        <p:spPr>
          <a:xfrm>
            <a:off x="1005840" y="316581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kildens EMK ved tomgang:</a:t>
            </a:r>
          </a:p>
        </p:txBody>
      </p:sp>
      <p:sp>
        <p:nvSpPr>
          <p:cNvPr id="15" name="math-source-R09-details-1"/>
          <p:cNvSpPr txBox="1"/>
          <p:nvPr/>
        </p:nvSpPr>
        <p:spPr>
          <a:xfrm>
            <a:off x="1005840" y="340813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=0</a:t>
            </a:r>
          </a:p>
        </p:txBody>
      </p:sp>
      <p:pic>
        <p:nvPicPr>
          <p:cNvPr id="16" name="R09-details-1" descr="I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08135"/>
            <a:ext cx="457865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7783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R09-details-2"/>
          <p:cNvSpPr txBox="1"/>
          <p:nvPr/>
        </p:nvSpPr>
        <p:spPr>
          <a:xfrm>
            <a:off x="1005840" y="377838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 og 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9842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R09-details-3"/>
          <p:cNvSpPr txBox="1"/>
          <p:nvPr/>
        </p:nvSpPr>
        <p:spPr>
          <a:xfrm>
            <a:off x="1005840" y="409842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Målingerne skal være ved samme kildetilstand.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41846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2" name="math-source-R09-details-4"/>
          <p:cNvSpPr txBox="1"/>
          <p:nvPr/>
        </p:nvSpPr>
        <p:spPr>
          <a:xfrm>
            <a:off x="1005840" y="4418463"/>
            <a:ext cx="4206240" cy="484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r_i=((12,4-11,2) V)/(6 A)=0,2 Ω</a:t>
            </a:r>
          </a:p>
        </p:txBody>
      </p:sp>
      <p:pic>
        <p:nvPicPr>
          <p:cNvPr id="23" name="R09-details-4" descr="r_i=\dfrac{(12{,}4-11{,}2)\,\mathrm{V}}{6\,\mathrm{A}}=0{,}2\,\Omeg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18463"/>
            <a:ext cx="2510776" cy="48479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10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R10 · Søger: Resistans R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 [S]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komponent.</a:t>
            </a:r>
          </a:p>
        </p:txBody>
      </p:sp>
      <p:sp>
        <p:nvSpPr>
          <p:cNvPr id="28" name="math-source-R10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R=(1)/(G)</a:t>
            </a:r>
          </a:p>
        </p:txBody>
      </p:sp>
      <p:pic>
        <p:nvPicPr>
          <p:cNvPr id="29" name="R10-formula" descr="R=\frac{1}{G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838587" cy="6440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R10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 en leder findes først:</a:t>
            </a:r>
          </a:p>
        </p:txBody>
      </p:sp>
      <p:sp>
        <p:nvSpPr>
          <p:cNvPr id="32" name="math-source-R10-details-1"/>
          <p:cNvSpPr txBox="1"/>
          <p:nvPr/>
        </p:nvSpPr>
        <p:spPr>
          <a:xfrm>
            <a:off x="6126480" y="3373554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G=γ(S)/(l)</a:t>
            </a:r>
          </a:p>
        </p:txBody>
      </p:sp>
      <p:pic>
        <p:nvPicPr>
          <p:cNvPr id="33" name="R10-details-1" descr="G=\gamma\dfrac{S}{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73554"/>
            <a:ext cx="649390" cy="44888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39413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math-source-R10-details-2"/>
          <p:cNvSpPr txBox="1"/>
          <p:nvPr/>
        </p:nvSpPr>
        <p:spPr>
          <a:xfrm>
            <a:off x="6126480" y="3941313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G[S]=(G[mS])/(1000)</a:t>
            </a:r>
          </a:p>
        </p:txBody>
      </p:sp>
      <p:pic>
        <p:nvPicPr>
          <p:cNvPr id="36" name="R10-details-2" descr="G[\mathrm{S}]=\dfrac{G[\mathrm{mS}]}{100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41313"/>
            <a:ext cx="1340676" cy="47881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453899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R10-details-3"/>
          <p:cNvSpPr txBox="1"/>
          <p:nvPr/>
        </p:nvSpPr>
        <p:spPr>
          <a:xfrm>
            <a:off x="6126480" y="453899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Specifik γ og komponentens G er forskellige.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1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G03, G04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30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G03 · Søger: Resistivitet 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l [m], S [mm²]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 ved kendt temperatur.</a:t>
            </a:r>
          </a:p>
        </p:txBody>
      </p:sp>
      <p:sp>
        <p:nvSpPr>
          <p:cNvPr id="11" name="math-source-G03-formula"/>
          <p:cNvSpPr txBox="1"/>
          <p:nvPr/>
        </p:nvSpPr>
        <p:spPr>
          <a:xfrm>
            <a:off x="411480" y="2340864"/>
            <a:ext cx="4800600" cy="648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ρ=(R S)/(l)</a:t>
            </a:r>
          </a:p>
        </p:txBody>
      </p:sp>
      <p:pic>
        <p:nvPicPr>
          <p:cNvPr id="12" name="G03-formula" descr="\rho=\frac{R S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42330" cy="6483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5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G03-details-0"/>
          <p:cNvSpPr txBox="1"/>
          <p:nvPr/>
        </p:nvSpPr>
        <p:spPr>
          <a:xfrm>
            <a:off x="1005840" y="3135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enten mm²-systemet eller SI konsekvent.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556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G03-details-1"/>
          <p:cNvSpPr txBox="1"/>
          <p:nvPr/>
        </p:nvSpPr>
        <p:spPr>
          <a:xfrm>
            <a:off x="1005840" y="34556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 i mm² giver ρ i Ω·mm²/m.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756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G03-details-2"/>
          <p:cNvSpPr txBox="1"/>
          <p:nvPr/>
        </p:nvSpPr>
        <p:spPr>
          <a:xfrm>
            <a:off x="1005840" y="377564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Materialeværdi, ikke hele lederens modstand.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G04 · Søger: Tværsnit S [mm²]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kendt materialeværdi.</a:t>
            </a:r>
          </a:p>
        </p:txBody>
      </p:sp>
      <p:sp>
        <p:nvSpPr>
          <p:cNvPr id="23" name="math-source-G04-formula"/>
          <p:cNvSpPr txBox="1"/>
          <p:nvPr/>
        </p:nvSpPr>
        <p:spPr>
          <a:xfrm>
            <a:off x="5532120" y="2340864"/>
            <a:ext cx="4800600" cy="639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S=ρ(l)/(R)</a:t>
            </a:r>
          </a:p>
        </p:txBody>
      </p:sp>
      <p:pic>
        <p:nvPicPr>
          <p:cNvPr id="24" name="G04-formula" descr="S=\rho\frac{l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40864"/>
            <a:ext cx="929362" cy="63974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312691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6" name="G04-details-0"/>
          <p:cNvSpPr txBox="1"/>
          <p:nvPr/>
        </p:nvSpPr>
        <p:spPr>
          <a:xfrm>
            <a:off x="6126480" y="312691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Rund leder med diameter d:</a:t>
            </a:r>
          </a:p>
        </p:txBody>
      </p:sp>
      <p:sp>
        <p:nvSpPr>
          <p:cNvPr id="27" name="math-source-G04-details-1"/>
          <p:cNvSpPr txBox="1"/>
          <p:nvPr/>
        </p:nvSpPr>
        <p:spPr>
          <a:xfrm>
            <a:off x="6126480" y="3369231"/>
            <a:ext cx="4206240" cy="4818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S=(π d^2)/(4)</a:t>
            </a:r>
          </a:p>
        </p:txBody>
      </p:sp>
      <p:pic>
        <p:nvPicPr>
          <p:cNvPr id="28" name="G04-details-1" descr="S=\dfrac{\pi d^2}{4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369231"/>
            <a:ext cx="733182" cy="48180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9699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0" name="G04-details-2"/>
          <p:cNvSpPr txBox="1"/>
          <p:nvPr/>
        </p:nvSpPr>
        <p:spPr>
          <a:xfrm>
            <a:off x="6126480" y="396990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SI-ρ fås S i m².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42899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2" name="G04-details-3"/>
          <p:cNvSpPr txBox="1"/>
          <p:nvPr/>
        </p:nvSpPr>
        <p:spPr>
          <a:xfrm>
            <a:off x="6126480" y="428994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Radius og diameter giver forskellige arealformler.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460998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4" name="G04-details-4"/>
          <p:cNvSpPr txBox="1"/>
          <p:nvPr/>
        </p:nvSpPr>
        <p:spPr>
          <a:xfrm>
            <a:off x="6126480" y="460998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Aluminium:</a:t>
            </a:r>
          </a:p>
        </p:txBody>
      </p:sp>
      <p:sp>
        <p:nvSpPr>
          <p:cNvPr id="35" name="math-source-G04-details-5"/>
          <p:cNvSpPr txBox="1"/>
          <p:nvPr/>
        </p:nvSpPr>
        <p:spPr>
          <a:xfrm>
            <a:off x="6126480" y="4852305"/>
            <a:ext cx="4206240" cy="538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S=(0,029 Omegamm^2·500 m)/(m·0,740 Ω)</a:t>
            </a:r>
          </a:p>
        </p:txBody>
      </p:sp>
      <p:pic>
        <p:nvPicPr>
          <p:cNvPr id="36" name="G04-details-5" descr="S=\dfrac{0{,}029\,\Omega\mathrm{mm}^2\cdot500\,\mathrm{m}}{\mathrm{m}\cdot0{,}740\,\Omeg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852305"/>
            <a:ext cx="2229473" cy="538664"/>
          </a:xfrm>
          <a:prstGeom prst="rect">
            <a:avLst/>
          </a:prstGeom>
        </p:spPr>
      </p:pic>
      <p:sp>
        <p:nvSpPr>
          <p:cNvPr id="37" name="math-source-G04-details-6"/>
          <p:cNvSpPr txBox="1"/>
          <p:nvPr/>
        </p:nvSpPr>
        <p:spPr>
          <a:xfrm>
            <a:off x="6126480" y="5432117"/>
            <a:ext cx="4206240" cy="27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S=19,595 mm^2</a:t>
            </a:r>
          </a:p>
        </p:txBody>
      </p:sp>
      <p:pic>
        <p:nvPicPr>
          <p:cNvPr id="38" name="G04-details-6" descr="S=19{,}595\,\mathrm{mm}^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5432117"/>
            <a:ext cx="1478335" cy="27831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1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G05, G06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31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G05 · Søger: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S [mm²], ρ [Ω·mm²/m]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leder.</a:t>
            </a:r>
          </a:p>
        </p:txBody>
      </p:sp>
      <p:sp>
        <p:nvSpPr>
          <p:cNvPr id="11" name="math-source-G05-formula"/>
          <p:cNvSpPr txBox="1"/>
          <p:nvPr/>
        </p:nvSpPr>
        <p:spPr>
          <a:xfrm>
            <a:off x="41148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l=(R S)/(ρ)</a:t>
            </a:r>
          </a:p>
        </p:txBody>
      </p:sp>
      <p:pic>
        <p:nvPicPr>
          <p:cNvPr id="12" name="G05-formula" descr="l=\frac{R S}{\rho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55878" cy="631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G05-details-0"/>
          <p:cNvSpPr txBox="1"/>
          <p:nvPr/>
        </p:nvSpPr>
        <p:spPr>
          <a:xfrm>
            <a:off x="100584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Afklar om R er én leder eller en hel sløjfe.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3831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G05-details-1"/>
          <p:cNvSpPr txBox="1"/>
          <p:nvPr/>
        </p:nvSpPr>
        <p:spPr>
          <a:xfrm>
            <a:off x="1005840" y="3438310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R[Ω]=(R[mΩ])/(1000)</a:t>
            </a:r>
          </a:p>
        </p:txBody>
      </p:sp>
      <p:pic>
        <p:nvPicPr>
          <p:cNvPr id="17" name="G05-details-1" descr="R[\Omega]=\dfrac{R[\mathrm{m}\Omega]}{100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38310"/>
            <a:ext cx="1376587" cy="4788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403599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G05-details-2"/>
          <p:cNvSpPr txBox="1"/>
          <p:nvPr/>
        </p:nvSpPr>
        <p:spPr>
          <a:xfrm>
            <a:off x="1005840" y="403599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Sløjfens samlede længde er frem + retur.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560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1" name="G05-details-3"/>
          <p:cNvSpPr txBox="1"/>
          <p:nvPr/>
        </p:nvSpPr>
        <p:spPr>
          <a:xfrm>
            <a:off x="1005840" y="435603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Kobber:</a:t>
            </a:r>
          </a:p>
        </p:txBody>
      </p:sp>
      <p:sp>
        <p:nvSpPr>
          <p:cNvPr id="22" name="math-source-G05-details-4"/>
          <p:cNvSpPr txBox="1"/>
          <p:nvPr/>
        </p:nvSpPr>
        <p:spPr>
          <a:xfrm>
            <a:off x="1005840" y="4598351"/>
            <a:ext cx="4206240" cy="574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l=(0,080 Ω·10 mm^2)/(0,0175 Omegamm^2/m)</a:t>
            </a:r>
          </a:p>
        </p:txBody>
      </p:sp>
      <p:pic>
        <p:nvPicPr>
          <p:cNvPr id="23" name="G05-details-4" descr="l=\dfrac{0{,}080\,\Omega\cdot10\,\mathrm{mm}^2}{0{,}0175\,\Omega\mathrm{mm}^2/\mathrm{m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98351"/>
            <a:ext cx="1885326" cy="574575"/>
          </a:xfrm>
          <a:prstGeom prst="rect">
            <a:avLst/>
          </a:prstGeom>
        </p:spPr>
      </p:pic>
      <p:sp>
        <p:nvSpPr>
          <p:cNvPr id="24" name="math-source-G05-details-5"/>
          <p:cNvSpPr txBox="1"/>
          <p:nvPr/>
        </p:nvSpPr>
        <p:spPr>
          <a:xfrm>
            <a:off x="1005840" y="521407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l=45,714 m</a:t>
            </a:r>
          </a:p>
        </p:txBody>
      </p:sp>
      <p:pic>
        <p:nvPicPr>
          <p:cNvPr id="25" name="G05-details-5" descr="l=45{,}714\,\mathrm{m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214075"/>
            <a:ext cx="1170099" cy="251376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G06 · Søger: Temperaturstigning ΔT [K]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RT, Rt [Ω], αt [K⁻¹]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 med kendt t.</a:t>
            </a:r>
          </a:p>
        </p:txBody>
      </p:sp>
      <p:sp>
        <p:nvSpPr>
          <p:cNvPr id="30" name="math-source-G06-formula"/>
          <p:cNvSpPr txBox="1"/>
          <p:nvPr/>
        </p:nvSpPr>
        <p:spPr>
          <a:xfrm>
            <a:off x="5532120" y="2340864"/>
            <a:ext cx="4800600" cy="7175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T=(R_T-R_t)/(R_tα_t)</a:t>
            </a:r>
          </a:p>
        </p:txBody>
      </p:sp>
      <p:pic>
        <p:nvPicPr>
          <p:cNvPr id="31" name="G06-formula" descr="\Delta T=\frac{R_T-R_t}{R_t\alpha_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763628" cy="71755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20472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3" name="G06-details-0"/>
          <p:cNvSpPr txBox="1"/>
          <p:nvPr/>
        </p:nvSpPr>
        <p:spPr>
          <a:xfrm>
            <a:off x="6126480" y="320472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Den endelige temperatur:</a:t>
            </a:r>
          </a:p>
        </p:txBody>
      </p:sp>
      <p:sp>
        <p:nvSpPr>
          <p:cNvPr id="34" name="math-source-G06-details-1"/>
          <p:cNvSpPr txBox="1"/>
          <p:nvPr/>
        </p:nvSpPr>
        <p:spPr>
          <a:xfrm>
            <a:off x="6126480" y="344703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T=t+Δ T</a:t>
            </a:r>
          </a:p>
        </p:txBody>
      </p:sp>
      <p:pic>
        <p:nvPicPr>
          <p:cNvPr id="35" name="G06-details-1" descr="T=t+\Delta 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447038"/>
            <a:ext cx="996529" cy="2513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381728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7" name="G06-details-2"/>
          <p:cNvSpPr txBox="1"/>
          <p:nvPr/>
        </p:nvSpPr>
        <p:spPr>
          <a:xfrm>
            <a:off x="6126480" y="381728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ΔT i K har samme talværdi som °C.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13732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G06-details-3"/>
          <p:cNvSpPr txBox="1"/>
          <p:nvPr/>
        </p:nvSpPr>
        <p:spPr>
          <a:xfrm>
            <a:off x="6126480" y="413732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 stigning på 32,7 K fra 20 °C giver 52,7 °C.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4573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G06-details-4"/>
          <p:cNvSpPr txBox="1"/>
          <p:nvPr/>
        </p:nvSpPr>
        <p:spPr>
          <a:xfrm>
            <a:off x="6126480" y="4457367"/>
            <a:ext cx="4206240" cy="544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T=dfrac(475-420) Ω420 Ω·0,004 K^-1</a:t>
            </a:r>
          </a:p>
        </p:txBody>
      </p:sp>
      <p:pic>
        <p:nvPicPr>
          <p:cNvPr id="42" name="G06-details-4" descr="\Delta T=\dfrac{(475-420)\,\Omega}{420\,\Omega\cdot0{,}004\,\mathrm{K}^{-1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457367"/>
            <a:ext cx="2145681" cy="544649"/>
          </a:xfrm>
          <a:prstGeom prst="rect">
            <a:avLst/>
          </a:prstGeom>
        </p:spPr>
      </p:pic>
      <p:sp>
        <p:nvSpPr>
          <p:cNvPr id="43" name="math-source-G06-details-5"/>
          <p:cNvSpPr txBox="1"/>
          <p:nvPr/>
        </p:nvSpPr>
        <p:spPr>
          <a:xfrm>
            <a:off x="6126480" y="504316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T=32,738 K</a:t>
            </a:r>
          </a:p>
        </p:txBody>
      </p:sp>
      <p:pic>
        <p:nvPicPr>
          <p:cNvPr id="44" name="G06-details-5" descr="\Delta T=32{,}738\,\mathrm{K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5043165"/>
            <a:ext cx="1385565" cy="251376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7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G01, G02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32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G01 · Søger: Konduktans G [S]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 eller </a:t>
            </a:r>
            <a:r>
              <a:rPr>
                <a:latin typeface="Cambria Math"/>
              </a:rPr>
              <a:t>I</a:t>
            </a:r>
            <a:r>
              <a:t> [A], U [V]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ohmske komponent.</a:t>
            </a:r>
          </a:p>
        </p:txBody>
      </p:sp>
      <p:sp>
        <p:nvSpPr>
          <p:cNvPr id="11" name="math-source-G01-formula"/>
          <p:cNvSpPr txBox="1"/>
          <p:nvPr/>
        </p:nvSpPr>
        <p:spPr>
          <a:xfrm>
            <a:off x="411480" y="2340864"/>
            <a:ext cx="4800600" cy="639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G=(1)/(R)=(</a:t>
            </a:r>
            <a:r>
              <a:rPr>
                <a:latin typeface="Cambria Math"/>
              </a:rPr>
              <a:t>I</a:t>
            </a:r>
            <a:r>
              <a:t>)/(U)</a:t>
            </a:r>
          </a:p>
        </p:txBody>
      </p:sp>
      <p:pic>
        <p:nvPicPr>
          <p:cNvPr id="12" name="G01-formula" descr="G=\frac{1}{R}=\frac{I}{U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448077" cy="6397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2691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G01-details-0"/>
          <p:cNvSpPr txBox="1"/>
          <p:nvPr/>
        </p:nvSpPr>
        <p:spPr>
          <a:xfrm>
            <a:off x="1005840" y="312691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Ensartet leder:</a:t>
            </a:r>
          </a:p>
        </p:txBody>
      </p:sp>
      <p:sp>
        <p:nvSpPr>
          <p:cNvPr id="15" name="math-source-G01-details-1"/>
          <p:cNvSpPr txBox="1"/>
          <p:nvPr/>
        </p:nvSpPr>
        <p:spPr>
          <a:xfrm>
            <a:off x="1005840" y="3369231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G=γ(S)/(l)</a:t>
            </a:r>
          </a:p>
        </p:txBody>
      </p:sp>
      <p:pic>
        <p:nvPicPr>
          <p:cNvPr id="16" name="G01-details-1" descr="G=\gamma\dfrac{S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69231"/>
            <a:ext cx="649390" cy="44888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9369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G01-details-2"/>
          <p:cNvSpPr txBox="1"/>
          <p:nvPr/>
        </p:nvSpPr>
        <p:spPr>
          <a:xfrm>
            <a:off x="1005840" y="3936990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S=(1)/(Ω)</a:t>
            </a:r>
          </a:p>
        </p:txBody>
      </p:sp>
      <p:pic>
        <p:nvPicPr>
          <p:cNvPr id="19" name="G01-details-2" descr="1\,\mathrm{S}=\dfrac{1}{\Omeg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36990"/>
            <a:ext cx="712234" cy="4429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987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G01-details-3"/>
          <p:cNvSpPr txBox="1"/>
          <p:nvPr/>
        </p:nvSpPr>
        <p:spPr>
          <a:xfrm>
            <a:off x="1005840" y="449876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 [S] og tværsnit S [mm²] er forskellige størrelser.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G02 · Søger: Specifik ledningsevne 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i kendt enhed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Materialeværdi ved samme temperatur.</a:t>
            </a:r>
          </a:p>
        </p:txBody>
      </p:sp>
      <p:sp>
        <p:nvSpPr>
          <p:cNvPr id="26" name="math-source-G02-formula"/>
          <p:cNvSpPr txBox="1"/>
          <p:nvPr/>
        </p:nvSpPr>
        <p:spPr>
          <a:xfrm>
            <a:off x="553212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γ=(1)/(ρ)</a:t>
            </a:r>
          </a:p>
        </p:txBody>
      </p:sp>
      <p:pic>
        <p:nvPicPr>
          <p:cNvPr id="27" name="G02-formula" descr="\gamma=\frac{1}{\rho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695941" cy="6311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G02-details-0"/>
          <p:cNvSpPr txBox="1"/>
          <p:nvPr/>
        </p:nvSpPr>
        <p:spPr>
          <a:xfrm>
            <a:off x="612648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SI-enhed for ledningsevne:</a:t>
            </a:r>
          </a:p>
        </p:txBody>
      </p:sp>
      <p:sp>
        <p:nvSpPr>
          <p:cNvPr id="30" name="math-source-G02-details-1"/>
          <p:cNvSpPr txBox="1"/>
          <p:nvPr/>
        </p:nvSpPr>
        <p:spPr>
          <a:xfrm>
            <a:off x="6126480" y="3360586"/>
            <a:ext cx="4206240" cy="386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(S)/(m)</a:t>
            </a:r>
          </a:p>
        </p:txBody>
      </p:sp>
      <p:pic>
        <p:nvPicPr>
          <p:cNvPr id="31" name="G02-details-1" descr="\dfrac{\mathrm{S}}{\mathrm{m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60586"/>
            <a:ext cx="227436" cy="386043"/>
          </a:xfrm>
          <a:prstGeom prst="rect">
            <a:avLst/>
          </a:prstGeom>
        </p:spPr>
      </p:pic>
      <p:sp>
        <p:nvSpPr>
          <p:cNvPr id="32" name="G02-details-2"/>
          <p:cNvSpPr txBox="1"/>
          <p:nvPr/>
        </p:nvSpPr>
        <p:spPr>
          <a:xfrm>
            <a:off x="6126480" y="37877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resistivitet i Ω·mm²/m:</a:t>
            </a:r>
          </a:p>
        </p:txBody>
      </p:sp>
      <p:sp>
        <p:nvSpPr>
          <p:cNvPr id="33" name="math-source-G02-details-3"/>
          <p:cNvSpPr txBox="1"/>
          <p:nvPr/>
        </p:nvSpPr>
        <p:spPr>
          <a:xfrm>
            <a:off x="6126480" y="4030093"/>
            <a:ext cx="4206240" cy="424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(m)/(Ωcdotmm^2)</a:t>
            </a:r>
          </a:p>
        </p:txBody>
      </p:sp>
      <p:pic>
        <p:nvPicPr>
          <p:cNvPr id="34" name="G02-details-3" descr="\dfrac{\mathrm{m}}{\Omega\cdot\mathrm{mm}^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030093"/>
            <a:ext cx="802011" cy="42494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57391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G02-details-4"/>
          <p:cNvSpPr txBox="1"/>
          <p:nvPr/>
        </p:nvSpPr>
        <p:spPr>
          <a:xfrm>
            <a:off x="6126480" y="457391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Omregn ρ først ved skift til SI.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489395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G02-details-5"/>
          <p:cNvSpPr txBox="1"/>
          <p:nvPr/>
        </p:nvSpPr>
        <p:spPr>
          <a:xfrm>
            <a:off x="6126480" y="489395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Konduktans G afhænger også af geometri.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52139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0" name="G02-details-6"/>
          <p:cNvSpPr txBox="1"/>
          <p:nvPr/>
        </p:nvSpPr>
        <p:spPr>
          <a:xfrm>
            <a:off x="6126480" y="52139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Aluminium:</a:t>
            </a:r>
          </a:p>
        </p:txBody>
      </p:sp>
      <p:sp>
        <p:nvSpPr>
          <p:cNvPr id="41" name="math-source-G02-details-7"/>
          <p:cNvSpPr txBox="1"/>
          <p:nvPr/>
        </p:nvSpPr>
        <p:spPr>
          <a:xfrm>
            <a:off x="6126480" y="5456307"/>
            <a:ext cx="4206240" cy="505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γ=(1)/(0,029 Omegamm^2/m)</a:t>
            </a:r>
          </a:p>
        </p:txBody>
      </p:sp>
      <p:pic>
        <p:nvPicPr>
          <p:cNvPr id="42" name="G02-details-7" descr="\gamma=\dfrac{1}{0{,}029\,\Omega\mathrm{mm}^2/\mathrm{m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5456307"/>
            <a:ext cx="1768615" cy="505746"/>
          </a:xfrm>
          <a:prstGeom prst="rect">
            <a:avLst/>
          </a:prstGeom>
        </p:spPr>
      </p:pic>
      <p:sp>
        <p:nvSpPr>
          <p:cNvPr id="43" name="math-source-G02-details-8"/>
          <p:cNvSpPr txBox="1"/>
          <p:nvPr/>
        </p:nvSpPr>
        <p:spPr>
          <a:xfrm>
            <a:off x="6126480" y="6003202"/>
            <a:ext cx="4206240" cy="424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γ=34,483 (m)/(Omegamm^2)</a:t>
            </a:r>
          </a:p>
        </p:txBody>
      </p:sp>
      <p:pic>
        <p:nvPicPr>
          <p:cNvPr id="44" name="G02-details-8" descr="\gamma=34{,}483\,\dfrac{\mathrm{m}}{\Omega\mathrm{mm}^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6003202"/>
            <a:ext cx="1642927" cy="424946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7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P01, P02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33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P01 · Søger: Elektrisk 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</a:t>
            </a:r>
            <a:r>
              <a:rPr>
                <a:latin typeface="Cambria Math"/>
              </a:rPr>
              <a:t>I</a:t>
            </a:r>
            <a:r>
              <a:t>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forbrugerens pluspol mod strømpilen.</a:t>
            </a:r>
          </a:p>
        </p:txBody>
      </p:sp>
      <p:sp>
        <p:nvSpPr>
          <p:cNvPr id="11" name="math-source-P01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P=U </a:t>
            </a:r>
            <a:r>
              <a:rPr>
                <a:latin typeface="Cambria Math"/>
              </a:rPr>
              <a:t>I</a:t>
            </a:r>
          </a:p>
        </p:txBody>
      </p:sp>
      <p:pic>
        <p:nvPicPr>
          <p:cNvPr id="12" name="P01-formula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38008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P01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Optaget effekt ved passiv fortegnskonvention:</a:t>
            </a:r>
          </a:p>
        </p:txBody>
      </p:sp>
      <p:sp>
        <p:nvSpPr>
          <p:cNvPr id="15" name="math-source-P01-details-1"/>
          <p:cNvSpPr txBox="1"/>
          <p:nvPr/>
        </p:nvSpPr>
        <p:spPr>
          <a:xfrm>
            <a:off x="100584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P&gt;0</a:t>
            </a:r>
          </a:p>
        </p:txBody>
      </p:sp>
      <p:pic>
        <p:nvPicPr>
          <p:cNvPr id="16" name="P01-details-1" descr="P&gt;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520709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P01-details-2"/>
          <p:cNvSpPr txBox="1"/>
          <p:nvPr/>
        </p:nvSpPr>
        <p:spPr>
          <a:xfrm>
            <a:off x="1005840" y="34628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DC:</a:t>
            </a:r>
          </a:p>
        </p:txBody>
      </p:sp>
      <p:sp>
        <p:nvSpPr>
          <p:cNvPr id="19" name="math-source-P01-details-3"/>
          <p:cNvSpPr txBox="1"/>
          <p:nvPr/>
        </p:nvSpPr>
        <p:spPr>
          <a:xfrm>
            <a:off x="1005840" y="370514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kVcdotA=kW</a:t>
            </a:r>
          </a:p>
        </p:txBody>
      </p:sp>
      <p:pic>
        <p:nvPicPr>
          <p:cNvPr id="20" name="P01-details-3" descr="\mathrm{kV}\cdot\mathrm{A}=\mathrm{kW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05148"/>
            <a:ext cx="1176084" cy="251376"/>
          </a:xfrm>
          <a:prstGeom prst="rect">
            <a:avLst/>
          </a:prstGeom>
        </p:spPr>
      </p:pic>
      <p:sp>
        <p:nvSpPr>
          <p:cNvPr id="21" name="math-source-P01-details-4"/>
          <p:cNvSpPr txBox="1"/>
          <p:nvPr/>
        </p:nvSpPr>
        <p:spPr>
          <a:xfrm>
            <a:off x="1005840" y="399767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VcdotA=W</a:t>
            </a:r>
          </a:p>
        </p:txBody>
      </p:sp>
      <p:pic>
        <p:nvPicPr>
          <p:cNvPr id="22" name="P01-details-4" descr="\mathrm{V}\cdot\mathrm{A}=\mathrm{W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97673"/>
            <a:ext cx="948648" cy="2513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1480" y="436792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4" name="P01-details-5"/>
          <p:cNvSpPr txBox="1"/>
          <p:nvPr/>
        </p:nvSpPr>
        <p:spPr>
          <a:xfrm>
            <a:off x="1005840" y="436792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AC kræver en særskilt model.</a:t>
            </a:r>
          </a:p>
        </p:txBody>
      </p:sp>
      <p:sp>
        <p:nvSpPr>
          <p:cNvPr id="25" name="math-source-P01-details-6"/>
          <p:cNvSpPr txBox="1"/>
          <p:nvPr/>
        </p:nvSpPr>
        <p:spPr>
          <a:xfrm>
            <a:off x="1005840" y="461023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P=UI</a:t>
            </a:r>
          </a:p>
        </p:txBody>
      </p:sp>
      <p:pic>
        <p:nvPicPr>
          <p:cNvPr id="26" name="P01-details-6" descr="P=U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610238"/>
            <a:ext cx="649390" cy="251376"/>
          </a:xfrm>
          <a:prstGeom prst="rect">
            <a:avLst/>
          </a:prstGeom>
        </p:spPr>
      </p:pic>
      <p:sp>
        <p:nvSpPr>
          <p:cNvPr id="27" name="P01-details-7"/>
          <p:cNvSpPr txBox="1"/>
          <p:nvPr/>
        </p:nvSpPr>
        <p:spPr>
          <a:xfrm>
            <a:off x="1005840" y="490276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er ikke generelt aktiv AC-effekt.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P02 · Søger: Varmeeffekt P [W]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 [A], R [Ω]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 ved aktuel temperatur.</a:t>
            </a:r>
          </a:p>
        </p:txBody>
      </p:sp>
      <p:sp>
        <p:nvSpPr>
          <p:cNvPr id="32" name="math-source-P02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</a:t>
            </a:r>
            <a:r>
              <a:rPr>
                <a:latin typeface="Cambria Math"/>
              </a:rPr>
              <a:t>I</a:t>
            </a:r>
            <a:r>
              <a:t>^2R</a:t>
            </a:r>
          </a:p>
        </p:txBody>
      </p:sp>
      <p:pic>
        <p:nvPicPr>
          <p:cNvPr id="33" name="P02-formula" descr="P=I^2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037428" cy="3630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5" name="P02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samme R som strømmen løber 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7" name="P02-details-1"/>
          <p:cNvSpPr txBox="1"/>
          <p:nvPr/>
        </p:nvSpPr>
        <p:spPr>
          <a:xfrm>
            <a:off x="6126480" y="317030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og Ω.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349034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P02-details-2"/>
          <p:cNvSpPr txBox="1"/>
          <p:nvPr/>
        </p:nvSpPr>
        <p:spPr>
          <a:xfrm>
            <a:off x="6126480" y="349034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 er energioverførsel pr. tid; strøm bruges ikke op.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381038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P02-details-3"/>
          <p:cNvSpPr txBox="1"/>
          <p:nvPr/>
        </p:nvSpPr>
        <p:spPr>
          <a:xfrm>
            <a:off x="6126480" y="3810387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P=(2 A)^2·7 Ω=28 W</a:t>
            </a:r>
          </a:p>
        </p:txBody>
      </p:sp>
      <p:pic>
        <p:nvPicPr>
          <p:cNvPr id="42" name="P02-details-3" descr="P=(2\,\mathrm{A})^2\cdot7\,\Omega=28\,\mathrm{W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810387"/>
            <a:ext cx="2100792" cy="29028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P03, P04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34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P03 · Søger: Varmeeffekt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U er spændingen over ohmsk R.</a:t>
            </a:r>
          </a:p>
        </p:txBody>
      </p:sp>
      <p:sp>
        <p:nvSpPr>
          <p:cNvPr id="11" name="math-source-P03-formula"/>
          <p:cNvSpPr txBox="1"/>
          <p:nvPr/>
        </p:nvSpPr>
        <p:spPr>
          <a:xfrm>
            <a:off x="411480" y="2340864"/>
            <a:ext cx="4800600" cy="691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P=(U^2)/(R)</a:t>
            </a:r>
          </a:p>
        </p:txBody>
      </p:sp>
      <p:pic>
        <p:nvPicPr>
          <p:cNvPr id="12" name="P03-formula" descr="P=\frac{U^2}{R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02847" cy="6916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7878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P03-details-0"/>
          <p:cNvSpPr txBox="1"/>
          <p:nvPr/>
        </p:nvSpPr>
        <p:spPr>
          <a:xfrm>
            <a:off x="1005840" y="317878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Omregn R før indsættelse.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9882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P03-details-1"/>
          <p:cNvSpPr txBox="1"/>
          <p:nvPr/>
        </p:nvSpPr>
        <p:spPr>
          <a:xfrm>
            <a:off x="1005840" y="349882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R[Ω]=1000R[kΩ]</a:t>
            </a:r>
          </a:p>
        </p:txBody>
      </p:sp>
      <p:pic>
        <p:nvPicPr>
          <p:cNvPr id="17" name="P03-details-1" descr="R[\Omega]=1000R[\mathrm{k}\Omega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98826"/>
            <a:ext cx="1750660" cy="25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86907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P03-details-2"/>
          <p:cNvSpPr txBox="1"/>
          <p:nvPr/>
        </p:nvSpPr>
        <p:spPr>
          <a:xfrm>
            <a:off x="1005840" y="386907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 over en hel serie er ikke U over hver modstand.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P04 · Søger: Middel-effekt P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Δt [s]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Energi/arbejde omsat i et interval.</a:t>
            </a:r>
          </a:p>
        </p:txBody>
      </p:sp>
      <p:sp>
        <p:nvSpPr>
          <p:cNvPr id="24" name="math-source-P04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P_middel=(W)/(Δ t)</a:t>
            </a:r>
          </a:p>
        </p:txBody>
      </p:sp>
      <p:pic>
        <p:nvPicPr>
          <p:cNvPr id="25" name="P04-formula" descr="P_{\mathrm{middel}}=\frac{W}{\Delta 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1590723" cy="64407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7" name="P04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 er konstant kun hvis forløbet er stationært.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4512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9" name="math-source-P04-details-1"/>
          <p:cNvSpPr txBox="1"/>
          <p:nvPr/>
        </p:nvSpPr>
        <p:spPr>
          <a:xfrm>
            <a:off x="6126480" y="345127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W[J]=1000W[kJ]</a:t>
            </a:r>
          </a:p>
        </p:txBody>
      </p:sp>
      <p:pic>
        <p:nvPicPr>
          <p:cNvPr id="30" name="P04-details-1" descr="W[\mathrm{J}]=1000W[\mathrm{kJ}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451278"/>
            <a:ext cx="1678838" cy="251376"/>
          </a:xfrm>
          <a:prstGeom prst="rect">
            <a:avLst/>
          </a:prstGeom>
        </p:spPr>
      </p:pic>
      <p:sp>
        <p:nvSpPr>
          <p:cNvPr id="31" name="math-source-P04-details-2"/>
          <p:cNvSpPr txBox="1"/>
          <p:nvPr/>
        </p:nvSpPr>
        <p:spPr>
          <a:xfrm>
            <a:off x="6126480" y="374380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t[s]=60t[min]</a:t>
            </a:r>
          </a:p>
        </p:txBody>
      </p:sp>
      <p:pic>
        <p:nvPicPr>
          <p:cNvPr id="32" name="P04-details-2" descr="t[\mathrm{s}]=60t[\mathrm{min}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743802"/>
            <a:ext cx="1358632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411405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math-source-P04-details-3"/>
          <p:cNvSpPr txBox="1"/>
          <p:nvPr/>
        </p:nvSpPr>
        <p:spPr>
          <a:xfrm>
            <a:off x="6126480" y="4114051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(kWh)/(h)=kW</a:t>
            </a:r>
          </a:p>
        </p:txBody>
      </p:sp>
      <p:pic>
        <p:nvPicPr>
          <p:cNvPr id="35" name="P04-details-3" descr="\dfrac{\mathrm{kWh}}{\mathrm{h}}=\mathrm{kW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114051"/>
            <a:ext cx="1074336" cy="442902"/>
          </a:xfrm>
          <a:prstGeom prst="rect">
            <a:avLst/>
          </a:prstGeom>
        </p:spPr>
      </p:pic>
      <p:sp>
        <p:nvSpPr>
          <p:cNvPr id="36" name="P04-details-4"/>
          <p:cNvSpPr txBox="1"/>
          <p:nvPr/>
        </p:nvSpPr>
        <p:spPr>
          <a:xfrm>
            <a:off x="6126480" y="459810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Resultatet er ikke i 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4918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8" name="math-source-P04-details-5"/>
          <p:cNvSpPr txBox="1"/>
          <p:nvPr/>
        </p:nvSpPr>
        <p:spPr>
          <a:xfrm>
            <a:off x="6126480" y="4918141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P=(117 kJ)/(120 s)=975 W</a:t>
            </a:r>
          </a:p>
        </p:txBody>
      </p:sp>
      <p:pic>
        <p:nvPicPr>
          <p:cNvPr id="39" name="P04-details-5" descr="P=\dfrac{117\,\mathrm{kJ}}{120\,\mathrm{s}}=975\,\mathrm{W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918141"/>
            <a:ext cx="1816497" cy="445894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P05, P06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35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P05 · Søger: Afgiven effekt Pud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η [1], Pind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maskine og driftspunkt.</a:t>
            </a:r>
          </a:p>
        </p:txBody>
      </p:sp>
      <p:sp>
        <p:nvSpPr>
          <p:cNvPr id="11" name="math-source-P05-formula"/>
          <p:cNvSpPr txBox="1"/>
          <p:nvPr/>
        </p:nvSpPr>
        <p:spPr>
          <a:xfrm>
            <a:off x="411480" y="2340864"/>
            <a:ext cx="4800600" cy="371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P_ud=η P_ind</a:t>
            </a:r>
          </a:p>
        </p:txBody>
      </p:sp>
      <p:pic>
        <p:nvPicPr>
          <p:cNvPr id="12" name="P05-formula" descr="P_{\mathrm{ud}}=\eta P_{\mathrm{in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495625" cy="3717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89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P05-details-0"/>
          <p:cNvSpPr txBox="1"/>
          <p:nvPr/>
        </p:nvSpPr>
        <p:spPr>
          <a:xfrm>
            <a:off x="1005840" y="285891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Omvendt beregning:</a:t>
            </a:r>
          </a:p>
        </p:txBody>
      </p:sp>
      <p:sp>
        <p:nvSpPr>
          <p:cNvPr id="15" name="math-source-P05-details-1"/>
          <p:cNvSpPr txBox="1"/>
          <p:nvPr/>
        </p:nvSpPr>
        <p:spPr>
          <a:xfrm>
            <a:off x="1005840" y="3101229"/>
            <a:ext cx="4206240" cy="46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P_ind=dfracP_udη</a:t>
            </a:r>
          </a:p>
        </p:txBody>
      </p:sp>
      <p:pic>
        <p:nvPicPr>
          <p:cNvPr id="16" name="P05-details-1" descr="P_{\mathrm{ind}}=\dfrac{P_{\mathrm{ud}}}{\et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01229"/>
            <a:ext cx="936678" cy="46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68395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P05-details-2"/>
          <p:cNvSpPr txBox="1"/>
          <p:nvPr/>
        </p:nvSpPr>
        <p:spPr>
          <a:xfrm>
            <a:off x="1005840" y="3683951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η=85 \%=(85)/(100)=0,85</a:t>
            </a:r>
          </a:p>
        </p:txBody>
      </p:sp>
      <p:pic>
        <p:nvPicPr>
          <p:cNvPr id="19" name="P05-details-2" descr="\eta=85\,\%=\dfrac{85}{100}=0{,}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83951"/>
            <a:ext cx="2011014" cy="4458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2487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P05-details-3"/>
          <p:cNvSpPr txBox="1"/>
          <p:nvPr/>
        </p:nvSpPr>
        <p:spPr>
          <a:xfrm>
            <a:off x="1005840" y="42487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Kaskade:</a:t>
            </a:r>
          </a:p>
        </p:txBody>
      </p:sp>
      <p:sp>
        <p:nvSpPr>
          <p:cNvPr id="22" name="math-source-P05-details-4"/>
          <p:cNvSpPr txBox="1"/>
          <p:nvPr/>
        </p:nvSpPr>
        <p:spPr>
          <a:xfrm>
            <a:off x="1005840" y="4491034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η_total=prod_kη_k</a:t>
            </a:r>
          </a:p>
        </p:txBody>
      </p:sp>
      <p:pic>
        <p:nvPicPr>
          <p:cNvPr id="23" name="P05-details-4" descr="\eta_{\mathrm{total}}=\prod_k\eta_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91034"/>
            <a:ext cx="1062366" cy="4458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50558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P05-details-5"/>
          <p:cNvSpPr txBox="1"/>
          <p:nvPr/>
        </p:nvSpPr>
        <p:spPr>
          <a:xfrm>
            <a:off x="1005840" y="505580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P_ud=0,85·1000 W=850 W</a:t>
            </a:r>
          </a:p>
        </p:txBody>
      </p:sp>
      <p:pic>
        <p:nvPicPr>
          <p:cNvPr id="26" name="P05-details-5" descr="P_{\mathrm{ud}}=0{,}85\cdot1000\,\mathrm{W}=850\,\mathrm{W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055800"/>
            <a:ext cx="2621501" cy="25137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P06 · Søger: Effekttab Ptab [W]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Pind, Pud [W]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energibalance.</a:t>
            </a:r>
          </a:p>
        </p:txBody>
      </p:sp>
      <p:sp>
        <p:nvSpPr>
          <p:cNvPr id="31" name="math-source-P06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P_tab=P_ind-P_ud</a:t>
            </a:r>
          </a:p>
        </p:txBody>
      </p:sp>
      <p:pic>
        <p:nvPicPr>
          <p:cNvPr id="32" name="P06-formula" descr="P_{\mathrm{tab}}=P_{\mathrm{ind}}-P_{\mathrm{ud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340864"/>
            <a:ext cx="2156986" cy="3630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4" name="P06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Ohmsk ledningstab:</a:t>
            </a:r>
          </a:p>
        </p:txBody>
      </p:sp>
      <p:sp>
        <p:nvSpPr>
          <p:cNvPr id="35" name="math-source-P06-details-1"/>
          <p:cNvSpPr txBox="1"/>
          <p:nvPr/>
        </p:nvSpPr>
        <p:spPr>
          <a:xfrm>
            <a:off x="6126480" y="3092583"/>
            <a:ext cx="4206240" cy="317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P_ledning=</a:t>
            </a:r>
            <a:r>
              <a:rPr>
                <a:latin typeface="Cambria Math"/>
              </a:rPr>
              <a:t>I</a:t>
            </a:r>
            <a:r>
              <a:t>^2R_ledning</a:t>
            </a:r>
          </a:p>
        </p:txBody>
      </p:sp>
      <p:pic>
        <p:nvPicPr>
          <p:cNvPr id="36" name="P06-details-1" descr="P_{\mathrm{ledning}}=I^2R_{\mathrm{ledning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092583"/>
            <a:ext cx="1687816" cy="31721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352866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8" name="P06-details-2"/>
          <p:cNvSpPr txBox="1"/>
          <p:nvPr/>
        </p:nvSpPr>
        <p:spPr>
          <a:xfrm>
            <a:off x="6126480" y="352866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Begge effekter i samme enhed.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8487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0" name="P06-details-3"/>
          <p:cNvSpPr txBox="1"/>
          <p:nvPr/>
        </p:nvSpPr>
        <p:spPr>
          <a:xfrm>
            <a:off x="6126480" y="384870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Effekter skal høre til samme afgrænsning; energi forsvinder ikke.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P07, P08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36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P07 · Søger: Virkningsgrad η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Pud, Pind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drift; eller samme energiperiode.</a:t>
            </a:r>
          </a:p>
        </p:txBody>
      </p:sp>
      <p:sp>
        <p:nvSpPr>
          <p:cNvPr id="11" name="math-source-P07-formula"/>
          <p:cNvSpPr txBox="1"/>
          <p:nvPr/>
        </p:nvSpPr>
        <p:spPr>
          <a:xfrm>
            <a:off x="411480" y="2340864"/>
            <a:ext cx="4800600" cy="7175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η=fracP_udP_ind</a:t>
            </a:r>
          </a:p>
        </p:txBody>
      </p:sp>
      <p:pic>
        <p:nvPicPr>
          <p:cNvPr id="12" name="P07-formula" descr="\eta=\frac{P_{\mathrm{ud}}}{P_{\mathrm{ind}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63364" cy="7175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0472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P07-details-0"/>
          <p:cNvSpPr txBox="1"/>
          <p:nvPr/>
        </p:nvSpPr>
        <p:spPr>
          <a:xfrm>
            <a:off x="1005840" y="320472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energier:</a:t>
            </a:r>
          </a:p>
        </p:txBody>
      </p:sp>
      <p:sp>
        <p:nvSpPr>
          <p:cNvPr id="15" name="math-source-P07-details-1"/>
          <p:cNvSpPr txBox="1"/>
          <p:nvPr/>
        </p:nvSpPr>
        <p:spPr>
          <a:xfrm>
            <a:off x="1005840" y="3447038"/>
            <a:ext cx="4206240" cy="496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η=dfracW_udW_ind</a:t>
            </a:r>
          </a:p>
        </p:txBody>
      </p:sp>
      <p:pic>
        <p:nvPicPr>
          <p:cNvPr id="16" name="P07-details-1" descr="\eta=\dfrac{W_{\mathrm{ud}}}{W_{\mathrm{ind}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47038"/>
            <a:ext cx="787049" cy="4967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406267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P07-details-2"/>
          <p:cNvSpPr txBox="1"/>
          <p:nvPr/>
        </p:nvSpPr>
        <p:spPr>
          <a:xfrm>
            <a:off x="1005840" y="4062679"/>
            <a:ext cx="4206240" cy="266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η[\%]=100η</a:t>
            </a:r>
          </a:p>
        </p:txBody>
      </p:sp>
      <p:pic>
        <p:nvPicPr>
          <p:cNvPr id="19" name="P07-details-2" descr="\eta[\%]=100\e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62679"/>
            <a:ext cx="1149151" cy="2663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478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P07-details-3"/>
          <p:cNvSpPr txBox="1"/>
          <p:nvPr/>
        </p:nvSpPr>
        <p:spPr>
          <a:xfrm>
            <a:off x="1005840" y="44478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Måleperioder og systemgrænser skal være ens.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08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P08 · Søger: Mekanisk effekt P [W]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ω [rad/s] eller n [rpm]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Rotation; n er omdrejninger pr. minut i sidste udtryk.</a:t>
            </a:r>
          </a:p>
        </p:txBody>
      </p:sp>
      <p:sp>
        <p:nvSpPr>
          <p:cNvPr id="26" name="math-source-P08-formula"/>
          <p:cNvSpPr txBox="1"/>
          <p:nvPr/>
        </p:nvSpPr>
        <p:spPr>
          <a:xfrm>
            <a:off x="5532120" y="2340864"/>
            <a:ext cx="4800600" cy="648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P=Mω=M(2π n)/(60)</a:t>
            </a:r>
          </a:p>
        </p:txBody>
      </p:sp>
      <p:pic>
        <p:nvPicPr>
          <p:cNvPr id="27" name="P08-formula" descr="P=M\omega=M\frac{2\pi n}{6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2191567" cy="6483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35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P08-details-0"/>
          <p:cNvSpPr txBox="1"/>
          <p:nvPr/>
        </p:nvSpPr>
        <p:spPr>
          <a:xfrm>
            <a:off x="6126480" y="3135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n i omdrejninger pr. sekund:</a:t>
            </a:r>
          </a:p>
        </p:txBody>
      </p:sp>
      <p:sp>
        <p:nvSpPr>
          <p:cNvPr id="30" name="math-source-P08-details-1"/>
          <p:cNvSpPr txBox="1"/>
          <p:nvPr/>
        </p:nvSpPr>
        <p:spPr>
          <a:xfrm>
            <a:off x="6126480" y="337787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ω=2π n</a:t>
            </a:r>
          </a:p>
        </p:txBody>
      </p:sp>
      <p:pic>
        <p:nvPicPr>
          <p:cNvPr id="31" name="P08-details-1" descr="\omega=2\pi 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77876"/>
            <a:ext cx="769093" cy="251376"/>
          </a:xfrm>
          <a:prstGeom prst="rect">
            <a:avLst/>
          </a:prstGeom>
        </p:spPr>
      </p:pic>
      <p:sp>
        <p:nvSpPr>
          <p:cNvPr id="32" name="P08-details-2"/>
          <p:cNvSpPr txBox="1"/>
          <p:nvPr/>
        </p:nvSpPr>
        <p:spPr>
          <a:xfrm>
            <a:off x="6126480" y="367040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effekt i kW og n i rpm:</a:t>
            </a:r>
          </a:p>
        </p:txBody>
      </p:sp>
      <p:sp>
        <p:nvSpPr>
          <p:cNvPr id="33" name="math-source-P08-details-3"/>
          <p:cNvSpPr txBox="1"/>
          <p:nvPr/>
        </p:nvSpPr>
        <p:spPr>
          <a:xfrm>
            <a:off x="6126480" y="3912717"/>
            <a:ext cx="4206240" cy="52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M[Ncdotm]≈9550(P[kW])/(n[rpm])</a:t>
            </a:r>
          </a:p>
        </p:txBody>
      </p:sp>
      <p:pic>
        <p:nvPicPr>
          <p:cNvPr id="34" name="P08-details-3" descr="M[\mathrm{N}\cdot\mathrm{m}]\approx9550\dfrac{P[\mathrm{kW}]}{n[\mathrm{rpm}]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12717"/>
            <a:ext cx="2184584" cy="52370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5552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math-source-P08-details-4"/>
          <p:cNvSpPr txBox="1"/>
          <p:nvPr/>
        </p:nvSpPr>
        <p:spPr>
          <a:xfrm>
            <a:off x="6126480" y="4555291"/>
            <a:ext cx="4206240" cy="490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n[s^-1]=(n[rpm])/(60)</a:t>
            </a:r>
          </a:p>
        </p:txBody>
      </p:sp>
      <p:pic>
        <p:nvPicPr>
          <p:cNvPr id="37" name="P08-details-4" descr="n[\mathrm{s}^{-1}]=\dfrac{n[\mathrm{rpm}]}{60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555291"/>
            <a:ext cx="1466365" cy="49078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32120" y="516494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P08-details-5"/>
          <p:cNvSpPr txBox="1"/>
          <p:nvPr/>
        </p:nvSpPr>
        <p:spPr>
          <a:xfrm>
            <a:off x="6126480" y="5164946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Elektrisk indgangseffekt er ikke mekanisk udgangseffekt uden</a:t>
            </a:r>
            <a:br/>
            <a:r>
              <a:t>virkningsgrad.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W01, W02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37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W01 · Søger: Energi W [J] eller [kWh]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 eller [kW], t [s] eller [h]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 i hele perioden.</a:t>
            </a:r>
          </a:p>
        </p:txBody>
      </p:sp>
      <p:sp>
        <p:nvSpPr>
          <p:cNvPr id="11" name="math-source-W01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W=P t</a:t>
            </a:r>
          </a:p>
        </p:txBody>
      </p:sp>
      <p:pic>
        <p:nvPicPr>
          <p:cNvPr id="12" name="W01-formula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68266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W01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Varierende effekt: summér delperioder eller integrér.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W01-details-1"/>
          <p:cNvSpPr txBox="1"/>
          <p:nvPr/>
        </p:nvSpPr>
        <p:spPr>
          <a:xfrm>
            <a:off x="1005840" y="317030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Wcdots=J</a:t>
            </a:r>
          </a:p>
        </p:txBody>
      </p:sp>
      <p:pic>
        <p:nvPicPr>
          <p:cNvPr id="17" name="W01-details-1" descr="\mathrm{W}\cdot\mathrm{s}=\mathrm{J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70307"/>
            <a:ext cx="790041" cy="251376"/>
          </a:xfrm>
          <a:prstGeom prst="rect">
            <a:avLst/>
          </a:prstGeom>
        </p:spPr>
      </p:pic>
      <p:sp>
        <p:nvSpPr>
          <p:cNvPr id="18" name="math-source-W01-details-2"/>
          <p:cNvSpPr txBox="1"/>
          <p:nvPr/>
        </p:nvSpPr>
        <p:spPr>
          <a:xfrm>
            <a:off x="1005840" y="346283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kWcdoth=kWh</a:t>
            </a:r>
          </a:p>
        </p:txBody>
      </p:sp>
      <p:pic>
        <p:nvPicPr>
          <p:cNvPr id="19" name="W01-details-2" descr="\mathrm{kW}\cdot\mathrm{h}=\mathrm{kW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62832"/>
            <a:ext cx="1289802" cy="25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38330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ath-source-W01-details-3"/>
          <p:cNvSpPr txBox="1"/>
          <p:nvPr/>
        </p:nvSpPr>
        <p:spPr>
          <a:xfrm>
            <a:off x="1005840" y="383308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kWcdots=kJ</a:t>
            </a:r>
          </a:p>
        </p:txBody>
      </p:sp>
      <p:pic>
        <p:nvPicPr>
          <p:cNvPr id="22" name="W01-details-3" descr="\mathrm{kW}\cdot\mathrm{s}=\mathrm{kJ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833081"/>
            <a:ext cx="1017477" cy="251376"/>
          </a:xfrm>
          <a:prstGeom prst="rect">
            <a:avLst/>
          </a:prstGeom>
        </p:spPr>
      </p:pic>
      <p:sp>
        <p:nvSpPr>
          <p:cNvPr id="23" name="W01-details-4"/>
          <p:cNvSpPr txBox="1"/>
          <p:nvPr/>
        </p:nvSpPr>
        <p:spPr>
          <a:xfrm>
            <a:off x="1005840" y="412560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Resultatet er ikke kWh.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4564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W01-details-5"/>
          <p:cNvSpPr txBox="1"/>
          <p:nvPr/>
        </p:nvSpPr>
        <p:spPr>
          <a:xfrm>
            <a:off x="1005840" y="444564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W=875 W·180 s</a:t>
            </a:r>
          </a:p>
        </p:txBody>
      </p:sp>
      <p:pic>
        <p:nvPicPr>
          <p:cNvPr id="26" name="W01-details-5" descr="W=875\,\mathrm{W}\cdot180\,\mathrm{s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445646"/>
            <a:ext cx="1630957" cy="251376"/>
          </a:xfrm>
          <a:prstGeom prst="rect">
            <a:avLst/>
          </a:prstGeom>
        </p:spPr>
      </p:pic>
      <p:sp>
        <p:nvSpPr>
          <p:cNvPr id="27" name="math-source-W01-details-6"/>
          <p:cNvSpPr txBox="1"/>
          <p:nvPr/>
        </p:nvSpPr>
        <p:spPr>
          <a:xfrm>
            <a:off x="1005840" y="473817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W=157500 J=0,04375 kWh</a:t>
            </a:r>
          </a:p>
        </p:txBody>
      </p:sp>
      <p:pic>
        <p:nvPicPr>
          <p:cNvPr id="28" name="W01-details-6" descr="W=157500\,\mathrm{J}=0{,}04375\,\mathrm{kW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738171"/>
            <a:ext cx="2696316" cy="2513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W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W02 · Søger: Elektrisk energi W [J]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Q [C] eller </a:t>
            </a:r>
            <a:r>
              <a:rPr>
                <a:latin typeface="Cambria Math"/>
              </a:rPr>
              <a:t>I</a:t>
            </a:r>
            <a:r>
              <a:t> [A], t [s]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spænding; ved UIt også konstant </a:t>
            </a:r>
            <a:r>
              <a:rPr>
                <a:latin typeface="Cambria Math"/>
              </a:rPr>
              <a:t>I</a:t>
            </a:r>
            <a:r>
              <a:t>.</a:t>
            </a:r>
          </a:p>
        </p:txBody>
      </p:sp>
      <p:sp>
        <p:nvSpPr>
          <p:cNvPr id="33" name="math-source-W02-formula"/>
          <p:cNvSpPr txBox="1"/>
          <p:nvPr/>
        </p:nvSpPr>
        <p:spPr>
          <a:xfrm>
            <a:off x="5532120" y="2340864"/>
            <a:ext cx="4800600" cy="36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W=UQ=UIt</a:t>
            </a:r>
          </a:p>
        </p:txBody>
      </p:sp>
      <p:pic>
        <p:nvPicPr>
          <p:cNvPr id="34" name="W02-formula" descr="W=UQ=UI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2340864"/>
            <a:ext cx="1914919" cy="36742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28545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6" name="W02-details-0"/>
          <p:cNvSpPr txBox="1"/>
          <p:nvPr/>
        </p:nvSpPr>
        <p:spPr>
          <a:xfrm>
            <a:off x="6126480" y="28545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Før energien beregnes som spænding gange ladning:</a:t>
            </a:r>
          </a:p>
        </p:txBody>
      </p:sp>
      <p:sp>
        <p:nvSpPr>
          <p:cNvPr id="37" name="math-source-W02-details-1"/>
          <p:cNvSpPr txBox="1"/>
          <p:nvPr/>
        </p:nvSpPr>
        <p:spPr>
          <a:xfrm>
            <a:off x="6126480" y="3096906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Q=It</a:t>
            </a:r>
          </a:p>
        </p:txBody>
      </p:sp>
      <p:pic>
        <p:nvPicPr>
          <p:cNvPr id="38" name="W02-details-1" descr="Q=I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096906"/>
            <a:ext cx="580560" cy="25436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32120" y="347014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0" name="math-source-W02-details-2"/>
          <p:cNvSpPr txBox="1"/>
          <p:nvPr/>
        </p:nvSpPr>
        <p:spPr>
          <a:xfrm>
            <a:off x="6126480" y="347014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VcdotC=1 J</a:t>
            </a:r>
          </a:p>
        </p:txBody>
      </p:sp>
      <p:pic>
        <p:nvPicPr>
          <p:cNvPr id="41" name="W02-details-2" descr="1\,\mathrm{V}\cdot\mathrm{C}=1\,\mathrm{J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3470148"/>
            <a:ext cx="1086307" cy="2513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532120" y="384039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3" name="W02-details-3"/>
          <p:cNvSpPr txBox="1"/>
          <p:nvPr/>
        </p:nvSpPr>
        <p:spPr>
          <a:xfrm>
            <a:off x="6126480" y="384039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Energi og ladning er forskellige størrelser.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av-back-index" descr="Til indeks">
            <a:hlinkClick action="ppaction://hlinksldjump" r:id="rId12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W03, W05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38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W03 · Søger: Tid t [s]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P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effekt.</a:t>
            </a:r>
          </a:p>
        </p:txBody>
      </p:sp>
      <p:sp>
        <p:nvSpPr>
          <p:cNvPr id="11" name="math-source-W03-formula"/>
          <p:cNvSpPr txBox="1"/>
          <p:nvPr/>
        </p:nvSpPr>
        <p:spPr>
          <a:xfrm>
            <a:off x="41148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t=(W)/(P)</a:t>
            </a:r>
          </a:p>
        </p:txBody>
      </p:sp>
      <p:pic>
        <p:nvPicPr>
          <p:cNvPr id="12" name="W03-formula" descr="t=\frac{W}{P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786716" cy="631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W03-details-0"/>
          <p:cNvSpPr txBox="1"/>
          <p:nvPr/>
        </p:nvSpPr>
        <p:spPr>
          <a:xfrm>
            <a:off x="100584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ændret effekt bruges den relevante nye 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3831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W03-details-1"/>
          <p:cNvSpPr txBox="1"/>
          <p:nvPr/>
        </p:nvSpPr>
        <p:spPr>
          <a:xfrm>
            <a:off x="1005840" y="3438310"/>
            <a:ext cx="4206240" cy="439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(J)/(W)=s</a:t>
            </a:r>
          </a:p>
        </p:txBody>
      </p:sp>
      <p:pic>
        <p:nvPicPr>
          <p:cNvPr id="17" name="W03-details-1" descr="\dfrac{\mathrm{J}}{\mathrm{W}}=\mathrm{s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38310"/>
            <a:ext cx="598516" cy="439909"/>
          </a:xfrm>
          <a:prstGeom prst="rect">
            <a:avLst/>
          </a:prstGeom>
        </p:spPr>
      </p:pic>
      <p:sp>
        <p:nvSpPr>
          <p:cNvPr id="18" name="math-source-W03-details-2"/>
          <p:cNvSpPr txBox="1"/>
          <p:nvPr/>
        </p:nvSpPr>
        <p:spPr>
          <a:xfrm>
            <a:off x="1005840" y="3919367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(kWh)/(kW)=h</a:t>
            </a:r>
          </a:p>
        </p:txBody>
      </p:sp>
      <p:pic>
        <p:nvPicPr>
          <p:cNvPr id="19" name="W03-details-2" descr="\dfrac{\mathrm{kWh}}{\mathrm{kW}}=\mathrm{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19367"/>
            <a:ext cx="855878" cy="4429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81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W03-details-3"/>
          <p:cNvSpPr txBox="1"/>
          <p:nvPr/>
        </p:nvSpPr>
        <p:spPr>
          <a:xfrm>
            <a:off x="1005840" y="4481141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ikke mængden fra én delperiode med effekten fra en</a:t>
            </a:r>
            <a:br/>
            <a:r>
              <a:t>anden.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023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3" name="math-source-W03-details-4"/>
          <p:cNvSpPr txBox="1"/>
          <p:nvPr/>
        </p:nvSpPr>
        <p:spPr>
          <a:xfrm>
            <a:off x="1005840" y="5002349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t=(1200 kJ)/(300 W)=4000 s</a:t>
            </a:r>
          </a:p>
        </p:txBody>
      </p:sp>
      <p:pic>
        <p:nvPicPr>
          <p:cNvPr id="24" name="W03-details-4" descr="t=\dfrac{1200\,\mathrm{kJ}}{300\,\mathrm{W}}=4000\,\mathrm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002349"/>
            <a:ext cx="1837445" cy="44589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W05 · Søger: Brændselsenergi W [MJ]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Mængde og brændværdi Hu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Kildens omregningstabel; samme brændsel og reference.</a:t>
            </a:r>
          </a:p>
        </p:txBody>
      </p:sp>
      <p:sp>
        <p:nvSpPr>
          <p:cNvPr id="29" name="math-source-W05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W=H_u mquadeller W=H_u V</a:t>
            </a:r>
          </a:p>
        </p:txBody>
      </p:sp>
      <p:pic>
        <p:nvPicPr>
          <p:cNvPr id="30" name="W05-formula" descr="W=H_u m\quad\mathrm{eller}\quad W=H_u V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3531579" cy="3630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2" name="W05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brændværdi i MJ/kg, MJ/L eller MJ/m³ efter mængden.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math-source-W05-details-1"/>
          <p:cNvSpPr txBox="1"/>
          <p:nvPr/>
        </p:nvSpPr>
        <p:spPr>
          <a:xfrm>
            <a:off x="6126480" y="3170307"/>
            <a:ext cx="4206240" cy="502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W[kWh]=(W[MJ])/(3,6)</a:t>
            </a:r>
          </a:p>
        </p:txBody>
      </p:sp>
      <p:pic>
        <p:nvPicPr>
          <p:cNvPr id="35" name="W05-details-1" descr="W[\mathrm{kWh}]=\dfrac{W[\mathrm{MJ}]}{3{,}6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170307"/>
            <a:ext cx="1690808" cy="50275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379193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W05-details-2"/>
          <p:cNvSpPr txBox="1"/>
          <p:nvPr/>
        </p:nvSpPr>
        <p:spPr>
          <a:xfrm>
            <a:off x="6126480" y="3791933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Brændværdi og gasvolumen afhænger af</a:t>
            </a:r>
            <a:br/>
            <a:r>
              <a:t>sammensætning/reference; ikke universelle konstanter.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M01, 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39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M01 · Søger: Løftearbejde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[kg], g [m/s²], h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Roligt løft; ændringen i potentiel energi.</a:t>
            </a:r>
          </a:p>
        </p:txBody>
      </p:sp>
      <p:sp>
        <p:nvSpPr>
          <p:cNvPr id="11" name="math-source-M01-formula"/>
          <p:cNvSpPr txBox="1"/>
          <p:nvPr/>
        </p:nvSpPr>
        <p:spPr>
          <a:xfrm>
            <a:off x="411480" y="2340864"/>
            <a:ext cx="4800600" cy="380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W=mgh</a:t>
            </a:r>
          </a:p>
        </p:txBody>
      </p:sp>
      <p:pic>
        <p:nvPicPr>
          <p:cNvPr id="12" name="M01-formula" descr="W=mg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231946" cy="3803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6755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M01-details-0"/>
          <p:cNvSpPr txBox="1"/>
          <p:nvPr/>
        </p:nvSpPr>
        <p:spPr>
          <a:xfrm>
            <a:off x="1005840" y="2867558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F=mg</a:t>
            </a:r>
          </a:p>
        </p:txBody>
      </p:sp>
      <p:pic>
        <p:nvPicPr>
          <p:cNvPr id="15" name="M01-details-0" descr="F=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67558"/>
            <a:ext cx="685301" cy="257362"/>
          </a:xfrm>
          <a:prstGeom prst="rect">
            <a:avLst/>
          </a:prstGeom>
        </p:spPr>
      </p:pic>
      <p:sp>
        <p:nvSpPr>
          <p:cNvPr id="16" name="math-source-M01-details-1"/>
          <p:cNvSpPr txBox="1"/>
          <p:nvPr/>
        </p:nvSpPr>
        <p:spPr>
          <a:xfrm>
            <a:off x="1005840" y="316606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W=Fh</a:t>
            </a:r>
          </a:p>
        </p:txBody>
      </p:sp>
      <p:pic>
        <p:nvPicPr>
          <p:cNvPr id="17" name="M01-details-1" descr="W=F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66068"/>
            <a:ext cx="712234" cy="25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5363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01-details-2"/>
          <p:cNvSpPr txBox="1"/>
          <p:nvPr/>
        </p:nvSpPr>
        <p:spPr>
          <a:xfrm>
            <a:off x="1005840" y="353631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Løftehøjden i 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85635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01-details-3"/>
          <p:cNvSpPr txBox="1"/>
          <p:nvPr/>
        </p:nvSpPr>
        <p:spPr>
          <a:xfrm>
            <a:off x="1005840" y="385635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Optaget motorenergi med opgivet virkningsgrad:</a:t>
            </a:r>
          </a:p>
        </p:txBody>
      </p:sp>
      <p:sp>
        <p:nvSpPr>
          <p:cNvPr id="22" name="math-source-M01-details-4"/>
          <p:cNvSpPr txBox="1"/>
          <p:nvPr/>
        </p:nvSpPr>
        <p:spPr>
          <a:xfrm>
            <a:off x="1005840" y="4098673"/>
            <a:ext cx="4206240" cy="43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W_ind=(W)/(η)</a:t>
            </a:r>
          </a:p>
        </p:txBody>
      </p:sp>
      <p:pic>
        <p:nvPicPr>
          <p:cNvPr id="23" name="M01-details-4" descr="W_{\mathrm{ind}}=\dfrac{W}{\et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98673"/>
            <a:ext cx="885804" cy="4369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465446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M01-details-5"/>
          <p:cNvSpPr txBox="1"/>
          <p:nvPr/>
        </p:nvSpPr>
        <p:spPr>
          <a:xfrm>
            <a:off x="1005840" y="4654462"/>
            <a:ext cx="4206240" cy="427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W=90 kg·9,82 (m)/(s^2)·20 m</a:t>
            </a:r>
          </a:p>
        </p:txBody>
      </p:sp>
      <p:pic>
        <p:nvPicPr>
          <p:cNvPr id="26" name="M01-details-5" descr="W=90\,\mathrm{kg}\cdot9{,}82\,\dfrac{\mathrm{m}}{\mathrm{s}^2}\cdot20\,\mathrm{m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654462"/>
            <a:ext cx="2283339" cy="427939"/>
          </a:xfrm>
          <a:prstGeom prst="rect">
            <a:avLst/>
          </a:prstGeom>
        </p:spPr>
      </p:pic>
      <p:sp>
        <p:nvSpPr>
          <p:cNvPr id="27" name="math-source-M01-details-6"/>
          <p:cNvSpPr txBox="1"/>
          <p:nvPr/>
        </p:nvSpPr>
        <p:spPr>
          <a:xfrm>
            <a:off x="1005840" y="512354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W=17676 J=4,91 Wh</a:t>
            </a:r>
          </a:p>
        </p:txBody>
      </p:sp>
      <p:pic>
        <p:nvPicPr>
          <p:cNvPr id="28" name="M01-details-6" descr="W=17676\,\mathrm{J}=4{,}91\,\mathrm{W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123549"/>
            <a:ext cx="2124733" cy="2513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M02 · Søger: Arbejde W [J]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s [m]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kraft parallelt med bevægelsen.</a:t>
            </a:r>
          </a:p>
        </p:txBody>
      </p:sp>
      <p:sp>
        <p:nvSpPr>
          <p:cNvPr id="33" name="math-source-M02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W=Fs</a:t>
            </a:r>
          </a:p>
        </p:txBody>
      </p:sp>
      <p:pic>
        <p:nvPicPr>
          <p:cNvPr id="34" name="M02-formula" descr="W=F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2340864"/>
            <a:ext cx="994202" cy="36309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6" name="M02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vinkel mellem kraft og bevægelse:</a:t>
            </a:r>
          </a:p>
        </p:txBody>
      </p:sp>
      <p:sp>
        <p:nvSpPr>
          <p:cNvPr id="37" name="math-source-M02-details-1"/>
          <p:cNvSpPr txBox="1"/>
          <p:nvPr/>
        </p:nvSpPr>
        <p:spPr>
          <a:xfrm>
            <a:off x="612648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W=Fscosθ</a:t>
            </a:r>
          </a:p>
        </p:txBody>
      </p:sp>
      <p:pic>
        <p:nvPicPr>
          <p:cNvPr id="38" name="M02-details-1" descr="W=Fs\cos\thet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092583"/>
            <a:ext cx="1137181" cy="25137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3212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0" name="math-source-M02-details-2"/>
          <p:cNvSpPr txBox="1"/>
          <p:nvPr/>
        </p:nvSpPr>
        <p:spPr>
          <a:xfrm>
            <a:off x="6126480" y="346283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Ncdotm=J</a:t>
            </a:r>
          </a:p>
        </p:txBody>
      </p:sp>
      <p:pic>
        <p:nvPicPr>
          <p:cNvPr id="41" name="M02-details-2" descr="\mathrm{N}\cdot\mathrm{m}=\mathrm{J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3462832"/>
            <a:ext cx="828945" cy="2513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532120" y="38330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3" name="M02-details-3"/>
          <p:cNvSpPr txBox="1"/>
          <p:nvPr/>
        </p:nvSpPr>
        <p:spPr>
          <a:xfrm>
            <a:off x="6126480" y="383308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 vinkelret kraft udfører ikke arbejde langs bevægelsen.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av-back-index" descr="Til indeks">
            <a:hlinkClick action="ppaction://hlinksldjump" r:id="rId12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M05, M03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40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M05 · Søger: Rotationsarbejde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θ [rad]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moment.</a:t>
            </a:r>
          </a:p>
        </p:txBody>
      </p:sp>
      <p:sp>
        <p:nvSpPr>
          <p:cNvPr id="11" name="math-source-M05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W=Mθ</a:t>
            </a:r>
          </a:p>
        </p:txBody>
      </p:sp>
      <p:pic>
        <p:nvPicPr>
          <p:cNvPr id="12" name="M05-formula" descr="W=M\th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106590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05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z fulde omdrejninger:</a:t>
            </a:r>
          </a:p>
        </p:txBody>
      </p:sp>
      <p:sp>
        <p:nvSpPr>
          <p:cNvPr id="15" name="math-source-M05-details-1"/>
          <p:cNvSpPr txBox="1"/>
          <p:nvPr/>
        </p:nvSpPr>
        <p:spPr>
          <a:xfrm>
            <a:off x="100584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θ=2π z</a:t>
            </a:r>
          </a:p>
        </p:txBody>
      </p:sp>
      <p:pic>
        <p:nvPicPr>
          <p:cNvPr id="16" name="M05-details-1" descr="\theta=2\pi 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700264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M05-details-2"/>
          <p:cNvSpPr txBox="1"/>
          <p:nvPr/>
        </p:nvSpPr>
        <p:spPr>
          <a:xfrm>
            <a:off x="1005840" y="3462832"/>
            <a:ext cx="4206240" cy="392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θ[rad]=θ[^°](π)/(180)</a:t>
            </a:r>
          </a:p>
        </p:txBody>
      </p:sp>
      <p:pic>
        <p:nvPicPr>
          <p:cNvPr id="19" name="M05-details-2" descr="\theta[\mathrm{rad}]=\theta[{}^\circ]\dfrac{\pi}{18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62832"/>
            <a:ext cx="1547164" cy="3920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397373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05-details-3"/>
          <p:cNvSpPr txBox="1"/>
          <p:nvPr/>
        </p:nvSpPr>
        <p:spPr>
          <a:xfrm>
            <a:off x="1005840" y="397373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Antal omdrejninger er ikke det samme som n [rpm].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9377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3" name="math-source-M05-details-4"/>
          <p:cNvSpPr txBox="1"/>
          <p:nvPr/>
        </p:nvSpPr>
        <p:spPr>
          <a:xfrm>
            <a:off x="1005840" y="4293773"/>
            <a:ext cx="4206240" cy="386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W=0,20 Ncdotm·(π)/(4)</a:t>
            </a:r>
          </a:p>
        </p:txBody>
      </p:sp>
      <p:pic>
        <p:nvPicPr>
          <p:cNvPr id="24" name="M05-details-4" descr="W=0{,}20\,\mathrm{N}\cdot\mathrm{m}\cdot\dfrac{\pi}{4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93773"/>
            <a:ext cx="1618986" cy="386043"/>
          </a:xfrm>
          <a:prstGeom prst="rect">
            <a:avLst/>
          </a:prstGeom>
        </p:spPr>
      </p:pic>
      <p:sp>
        <p:nvSpPr>
          <p:cNvPr id="25" name="math-source-M05-details-5"/>
          <p:cNvSpPr txBox="1"/>
          <p:nvPr/>
        </p:nvSpPr>
        <p:spPr>
          <a:xfrm>
            <a:off x="1005840" y="472096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W=0,157080 J</a:t>
            </a:r>
          </a:p>
        </p:txBody>
      </p:sp>
      <p:pic>
        <p:nvPicPr>
          <p:cNvPr id="26" name="M05-details-5" descr="W=0{,}157080\,\mathrm{J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720964"/>
            <a:ext cx="1427461" cy="25137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M03 · Søger: Moment M [N·m]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arm r [m]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Kraften står vinkelret på armen.</a:t>
            </a:r>
          </a:p>
        </p:txBody>
      </p:sp>
      <p:sp>
        <p:nvSpPr>
          <p:cNvPr id="31" name="math-source-M03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M=Fr</a:t>
            </a:r>
          </a:p>
        </p:txBody>
      </p:sp>
      <p:pic>
        <p:nvPicPr>
          <p:cNvPr id="32" name="M03-formula" descr="M=F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340864"/>
            <a:ext cx="1011492" cy="3630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4" name="M03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Generelt: brug den vinkelrette momentarm.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math-source-M03-details-1"/>
          <p:cNvSpPr txBox="1"/>
          <p:nvPr/>
        </p:nvSpPr>
        <p:spPr>
          <a:xfrm>
            <a:off x="6126480" y="3170307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r[m]=(r[cm])/(100)</a:t>
            </a:r>
          </a:p>
        </p:txBody>
      </p:sp>
      <p:pic>
        <p:nvPicPr>
          <p:cNvPr id="37" name="M03-details-1" descr="r[\mathrm{m}]=\dfrac{r[\mathrm{cm}]}{100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170307"/>
            <a:ext cx="1211995" cy="4758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32120" y="37650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M03-details-2"/>
          <p:cNvSpPr txBox="1"/>
          <p:nvPr/>
        </p:nvSpPr>
        <p:spPr>
          <a:xfrm>
            <a:off x="6126480" y="37650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Geometrisk radius er ikke altid momentarm.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0850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M03-details-3"/>
          <p:cNvSpPr txBox="1"/>
          <p:nvPr/>
        </p:nvSpPr>
        <p:spPr>
          <a:xfrm>
            <a:off x="6126480" y="408504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M=2 N·0,10 m=0,20 Ncdotm</a:t>
            </a:r>
          </a:p>
        </p:txBody>
      </p:sp>
      <p:pic>
        <p:nvPicPr>
          <p:cNvPr id="42" name="M03-details-3" descr="M=2\,\mathrm{N}\cdot0{,}10\,\mathrm{m}=0{,}20\,\mathrm{N}\cdot\mathrm{m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085040"/>
            <a:ext cx="2633472" cy="251376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M04, M06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41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M04 · Søger: Vinkelhastighed ω [rad/s]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Δθ [rad], Δt [s] eller n [s⁻¹]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rotation; ellers middelværdi.</a:t>
            </a:r>
          </a:p>
        </p:txBody>
      </p:sp>
      <p:sp>
        <p:nvSpPr>
          <p:cNvPr id="11" name="math-source-M04-formula"/>
          <p:cNvSpPr txBox="1"/>
          <p:nvPr/>
        </p:nvSpPr>
        <p:spPr>
          <a:xfrm>
            <a:off x="41148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ω=(Δθ)/(Δ t)=2π n</a:t>
            </a:r>
          </a:p>
        </p:txBody>
      </p:sp>
      <p:pic>
        <p:nvPicPr>
          <p:cNvPr id="12" name="M04-formula" descr="\omega=\frac{\Delta\theta}{\Delta t}=2\pi 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867371" cy="6440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M04-details-0"/>
          <p:cNvSpPr txBox="1"/>
          <p:nvPr/>
        </p:nvSpPr>
        <p:spPr>
          <a:xfrm>
            <a:off x="1005840" y="3131238"/>
            <a:ext cx="4206240" cy="490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n[s^-1]=(n[rpm])/(60)</a:t>
            </a:r>
          </a:p>
        </p:txBody>
      </p:sp>
      <p:pic>
        <p:nvPicPr>
          <p:cNvPr id="15" name="M04-details-0" descr="n[\mathrm{s}^{-1}]=\dfrac{n[\mathrm{rpm}]}{6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31238"/>
            <a:ext cx="1466365" cy="490783"/>
          </a:xfrm>
          <a:prstGeom prst="rect">
            <a:avLst/>
          </a:prstGeom>
        </p:spPr>
      </p:pic>
      <p:sp>
        <p:nvSpPr>
          <p:cNvPr id="16" name="math-source-M04-details-1"/>
          <p:cNvSpPr txBox="1"/>
          <p:nvPr/>
        </p:nvSpPr>
        <p:spPr>
          <a:xfrm>
            <a:off x="1005840" y="3663169"/>
            <a:ext cx="4206240" cy="392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θ[rad]=θ[^°](π)/(180)</a:t>
            </a:r>
          </a:p>
        </p:txBody>
      </p:sp>
      <p:pic>
        <p:nvPicPr>
          <p:cNvPr id="17" name="M04-details-1" descr="\theta[\mathrm{rad}]=\theta[{}^\circ]\dfrac{\pi}{18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63169"/>
            <a:ext cx="1547164" cy="3920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417406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04-details-2"/>
          <p:cNvSpPr txBox="1"/>
          <p:nvPr/>
        </p:nvSpPr>
        <p:spPr>
          <a:xfrm>
            <a:off x="1005840" y="417406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rad/s, ikke omdrejninger/s.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4941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ath-source-M04-details-3"/>
          <p:cNvSpPr txBox="1"/>
          <p:nvPr/>
        </p:nvSpPr>
        <p:spPr>
          <a:xfrm>
            <a:off x="1005840" y="4494109"/>
            <a:ext cx="4206240" cy="386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45^°=(π)/(4) rad</a:t>
            </a:r>
          </a:p>
        </p:txBody>
      </p:sp>
      <p:pic>
        <p:nvPicPr>
          <p:cNvPr id="22" name="M04-details-3" descr="45^\circ=\dfrac{\pi}{4}\,\mathrm{rad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94109"/>
            <a:ext cx="1077329" cy="386043"/>
          </a:xfrm>
          <a:prstGeom prst="rect">
            <a:avLst/>
          </a:prstGeom>
        </p:spPr>
      </p:pic>
      <p:sp>
        <p:nvSpPr>
          <p:cNvPr id="23" name="M04-details-4"/>
          <p:cNvSpPr txBox="1"/>
          <p:nvPr/>
        </p:nvSpPr>
        <p:spPr>
          <a:xfrm>
            <a:off x="1005840" y="49213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Kildens etiket rad/s for omdrejningsfrekvensen er forkert.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2413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M04-details-5"/>
          <p:cNvSpPr txBox="1"/>
          <p:nvPr/>
        </p:nvSpPr>
        <p:spPr>
          <a:xfrm>
            <a:off x="1005840" y="5241340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ω=(45π)/(180·3 s) rad</a:t>
            </a:r>
          </a:p>
        </p:txBody>
      </p:sp>
      <p:pic>
        <p:nvPicPr>
          <p:cNvPr id="26" name="M04-details-5" descr="\omega=\dfrac{45\pi}{180\cdot3\,\mathrm{s}}\,\mathrm{rad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241340"/>
            <a:ext cx="1481327" cy="448887"/>
          </a:xfrm>
          <a:prstGeom prst="rect">
            <a:avLst/>
          </a:prstGeom>
        </p:spPr>
      </p:pic>
      <p:sp>
        <p:nvSpPr>
          <p:cNvPr id="27" name="math-source-M04-details-6"/>
          <p:cNvSpPr txBox="1"/>
          <p:nvPr/>
        </p:nvSpPr>
        <p:spPr>
          <a:xfrm>
            <a:off x="1005840" y="573137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ω=0,261799 rad/s</a:t>
            </a:r>
          </a:p>
        </p:txBody>
      </p:sp>
      <p:pic>
        <p:nvPicPr>
          <p:cNvPr id="28" name="M04-details-6" descr="\omega=0{,}261799\,\mathrm{rad/s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731376"/>
            <a:ext cx="1750660" cy="2513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M06 · Søger: Moment M [N·m]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Pmek [W], ω [rad/s] eller n [rpm]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Mekanisk aksel-effekt og omdrejningshastighed.</a:t>
            </a:r>
          </a:p>
        </p:txBody>
      </p:sp>
      <p:sp>
        <p:nvSpPr>
          <p:cNvPr id="33" name="math-source-M06-formula"/>
          <p:cNvSpPr txBox="1"/>
          <p:nvPr/>
        </p:nvSpPr>
        <p:spPr>
          <a:xfrm>
            <a:off x="5532120" y="2340864"/>
            <a:ext cx="4800600" cy="687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M=fracP_mekω=frac60P_mek2π n</a:t>
            </a:r>
          </a:p>
        </p:txBody>
      </p:sp>
      <p:pic>
        <p:nvPicPr>
          <p:cNvPr id="34" name="M06-formula" descr="M=\frac{P_{\mathrm{mek}}}{\omega}=\frac{60P_{\mathrm{mek}}}{2\pi 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2340864"/>
            <a:ext cx="2597893" cy="6872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31744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6" name="M06-details-0"/>
          <p:cNvSpPr txBox="1"/>
          <p:nvPr/>
        </p:nvSpPr>
        <p:spPr>
          <a:xfrm>
            <a:off x="6126480" y="317446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Kun elektrisk indgangseffekt opgivet:</a:t>
            </a:r>
          </a:p>
        </p:txBody>
      </p:sp>
      <p:sp>
        <p:nvSpPr>
          <p:cNvPr id="37" name="math-source-M06-details-1"/>
          <p:cNvSpPr txBox="1"/>
          <p:nvPr/>
        </p:nvSpPr>
        <p:spPr>
          <a:xfrm>
            <a:off x="6126480" y="3416780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P_mek=η P_ind</a:t>
            </a:r>
          </a:p>
        </p:txBody>
      </p:sp>
      <p:pic>
        <p:nvPicPr>
          <p:cNvPr id="38" name="M06-details-1" descr="P_{\mathrm{mek}}=\eta P_{\mathrm{ind}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416780"/>
            <a:ext cx="1149151" cy="25736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32120" y="379301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0" name="M06-details-2"/>
          <p:cNvSpPr txBox="1"/>
          <p:nvPr/>
        </p:nvSpPr>
        <p:spPr>
          <a:xfrm>
            <a:off x="6126480" y="379301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Effekt i W; omdrejningstal i rpm i sidste udtryk.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41130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2" name="math-source-M06-details-3"/>
          <p:cNvSpPr txBox="1"/>
          <p:nvPr/>
        </p:nvSpPr>
        <p:spPr>
          <a:xfrm>
            <a:off x="6126480" y="411305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P_ind=200 W</a:t>
            </a:r>
          </a:p>
        </p:txBody>
      </p:sp>
      <p:pic>
        <p:nvPicPr>
          <p:cNvPr id="43" name="M06-details-3" descr="P_{\mathrm{ind}}=200\,\mathrm{W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4113054"/>
            <a:ext cx="1211995" cy="251376"/>
          </a:xfrm>
          <a:prstGeom prst="rect">
            <a:avLst/>
          </a:prstGeom>
        </p:spPr>
      </p:pic>
      <p:sp>
        <p:nvSpPr>
          <p:cNvPr id="44" name="math-source-M06-details-4"/>
          <p:cNvSpPr txBox="1"/>
          <p:nvPr/>
        </p:nvSpPr>
        <p:spPr>
          <a:xfrm>
            <a:off x="6126480" y="4405579"/>
            <a:ext cx="4206240" cy="263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n=3000 rpm</a:t>
            </a:r>
          </a:p>
        </p:txBody>
      </p:sp>
      <p:pic>
        <p:nvPicPr>
          <p:cNvPr id="45" name="M06-details-4" descr="n=3000\,\mathrm{rpm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4405579"/>
            <a:ext cx="1238928" cy="263347"/>
          </a:xfrm>
          <a:prstGeom prst="rect">
            <a:avLst/>
          </a:prstGeom>
        </p:spPr>
      </p:pic>
      <p:sp>
        <p:nvSpPr>
          <p:cNvPr id="46" name="M06-details-5"/>
          <p:cNvSpPr txBox="1"/>
          <p:nvPr/>
        </p:nvSpPr>
        <p:spPr>
          <a:xfrm>
            <a:off x="6126480" y="471007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Virkningsgraden mangler.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503011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8" name="math-source-M06-details-6"/>
          <p:cNvSpPr txBox="1"/>
          <p:nvPr/>
        </p:nvSpPr>
        <p:spPr>
          <a:xfrm>
            <a:off x="6126480" y="5030114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M=0,6366η Ncdotm</a:t>
            </a:r>
          </a:p>
        </p:txBody>
      </p:sp>
      <p:pic>
        <p:nvPicPr>
          <p:cNvPr id="49" name="M06-details-6" descr="M=0{,}6366\eta\,\mathrm{N}\cdot\mathrm{m}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0" y="5030114"/>
            <a:ext cx="1705771" cy="260354"/>
          </a:xfrm>
          <a:prstGeom prst="rect">
            <a:avLst/>
          </a:prstGeom>
        </p:spPr>
      </p:pic>
      <p:sp>
        <p:nvSpPr>
          <p:cNvPr id="50" name="M06-details-7"/>
          <p:cNvSpPr txBox="1"/>
          <p:nvPr/>
        </p:nvSpPr>
        <p:spPr>
          <a:xfrm>
            <a:off x="6126480" y="533161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Resultatet afhænger af virkningsgraden.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av-back-index" descr="Til indeks">
            <a:hlinkClick action="ppaction://hlinksldjump" r:id="rId14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53" name="nav-back-start" descr="Til start">
            <a:hlinkClick action="ppaction://hlinksldjump" r:id="rId15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F01, F02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42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F01 · Søger: Elektrisk kraft |F|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Q1, Q2 [C], a [m], ε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 i ensartet isotropt medium.</a:t>
            </a:r>
          </a:p>
        </p:txBody>
      </p:sp>
      <p:sp>
        <p:nvSpPr>
          <p:cNvPr id="11" name="math-source-F01-formula"/>
          <p:cNvSpPr txBox="1"/>
          <p:nvPr/>
        </p:nvSpPr>
        <p:spPr>
          <a:xfrm>
            <a:off x="411480" y="2340864"/>
            <a:ext cx="4800600" cy="7478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|F|=(|Q_1Q_2|)/(4πε a^2)</a:t>
            </a:r>
          </a:p>
        </p:txBody>
      </p:sp>
      <p:pic>
        <p:nvPicPr>
          <p:cNvPr id="12" name="F01-formula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599368" cy="7478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3498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F01-details-0"/>
          <p:cNvSpPr txBox="1"/>
          <p:nvPr/>
        </p:nvSpPr>
        <p:spPr>
          <a:xfrm>
            <a:off x="1005840" y="323498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ε=ε_0ε_r</a:t>
            </a:r>
          </a:p>
        </p:txBody>
      </p:sp>
      <p:pic>
        <p:nvPicPr>
          <p:cNvPr id="15" name="F01-details-0" descr="\varepsilon=\varepsilon_0\varepsilon_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34980"/>
            <a:ext cx="733182" cy="251376"/>
          </a:xfrm>
          <a:prstGeom prst="rect">
            <a:avLst/>
          </a:prstGeom>
        </p:spPr>
      </p:pic>
      <p:sp>
        <p:nvSpPr>
          <p:cNvPr id="16" name="F01-details-1"/>
          <p:cNvSpPr txBox="1"/>
          <p:nvPr/>
        </p:nvSpPr>
        <p:spPr>
          <a:xfrm>
            <a:off x="1005840" y="352750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Samme fortegn frastøder; modsat tiltrækker.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4754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F01-details-2"/>
          <p:cNvSpPr txBox="1"/>
          <p:nvPr/>
        </p:nvSpPr>
        <p:spPr>
          <a:xfrm>
            <a:off x="1005840" y="3847545"/>
            <a:ext cx="4206240" cy="30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Q[C]=10^-6Q[muC]</a:t>
            </a:r>
          </a:p>
        </p:txBody>
      </p:sp>
      <p:pic>
        <p:nvPicPr>
          <p:cNvPr id="19" name="F01-details-2" descr="Q[\mathrm{C}]=10^{-6}Q[\mu\mathrm{C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47545"/>
            <a:ext cx="1744675" cy="302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26866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F01-details-3"/>
          <p:cNvSpPr txBox="1"/>
          <p:nvPr/>
        </p:nvSpPr>
        <p:spPr>
          <a:xfrm>
            <a:off x="1005840" y="426866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Beregner størrelse. Retning fastlægges separat.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F02 · Søger: Elektrisk feltstyrke Ef [V/m]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Q [C] eller kildeladning Qk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F/Q er feltet på prøveladningen; a ved punktkilden.</a:t>
            </a:r>
          </a:p>
        </p:txBody>
      </p:sp>
      <p:sp>
        <p:nvSpPr>
          <p:cNvPr id="26" name="math-source-F02-formula"/>
          <p:cNvSpPr txBox="1"/>
          <p:nvPr/>
        </p:nvSpPr>
        <p:spPr>
          <a:xfrm>
            <a:off x="5532120" y="2340864"/>
            <a:ext cx="4800600" cy="756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E_f=(F)/(Q), |E_f|=(|Q_k|)/(4πε a^2)</a:t>
            </a:r>
          </a:p>
        </p:txBody>
      </p:sp>
      <p:pic>
        <p:nvPicPr>
          <p:cNvPr id="27" name="F02-formula" descr="E_f=\frac{F}{Q},\qquad |E_f|=\frac{|Q_k|}{4\pi\varepsilon a^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3090672" cy="75645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24362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F02-details-0"/>
          <p:cNvSpPr txBox="1"/>
          <p:nvPr/>
        </p:nvSpPr>
        <p:spPr>
          <a:xfrm>
            <a:off x="6126480" y="324362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Feltretningen defineres med en positiv prøveladning.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56366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math-source-F02-details-1"/>
          <p:cNvSpPr txBox="1"/>
          <p:nvPr/>
        </p:nvSpPr>
        <p:spPr>
          <a:xfrm>
            <a:off x="6126480" y="3563666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(1 N)/(1 C)=(1 V)/(1 m)</a:t>
            </a:r>
          </a:p>
        </p:txBody>
      </p:sp>
      <p:pic>
        <p:nvPicPr>
          <p:cNvPr id="32" name="F02-details-1" descr="\dfrac{1\,\mathrm{N}}{1\,\mathrm{C}}=\dfrac{1\,\mathrm{V}}{1\,\mathrm{m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563666"/>
            <a:ext cx="927700" cy="44888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41314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F02-details-2"/>
          <p:cNvSpPr txBox="1"/>
          <p:nvPr/>
        </p:nvSpPr>
        <p:spPr>
          <a:xfrm>
            <a:off x="6126480" y="41314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Elektrisk feltstyrke i V/m er ikke det samme som kildens EMK i V.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45146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6" name="math-source-F02-details-3"/>
          <p:cNvSpPr txBox="1"/>
          <p:nvPr/>
        </p:nvSpPr>
        <p:spPr>
          <a:xfrm>
            <a:off x="6126480" y="4451465"/>
            <a:ext cx="4206240" cy="389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F=(300 V)/(m)·0,1 muC</a:t>
            </a:r>
          </a:p>
        </p:txBody>
      </p:sp>
      <p:pic>
        <p:nvPicPr>
          <p:cNvPr id="37" name="F02-details-3" descr="F=\dfrac{300\,\mathrm{V}}{\mathrm{m}}\cdot0{,}1\,\mu\mathrm{C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451465"/>
            <a:ext cx="1684823" cy="389035"/>
          </a:xfrm>
          <a:prstGeom prst="rect">
            <a:avLst/>
          </a:prstGeom>
        </p:spPr>
      </p:pic>
      <p:sp>
        <p:nvSpPr>
          <p:cNvPr id="38" name="math-source-F02-details-4"/>
          <p:cNvSpPr txBox="1"/>
          <p:nvPr/>
        </p:nvSpPr>
        <p:spPr>
          <a:xfrm>
            <a:off x="6126480" y="4881649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F=30 muN</a:t>
            </a:r>
          </a:p>
        </p:txBody>
      </p:sp>
      <p:pic>
        <p:nvPicPr>
          <p:cNvPr id="39" name="F02-details-4" descr="F=30\,\mu\mathrm{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881649"/>
            <a:ext cx="951641" cy="260354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F03, F04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43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F03 · Søger: Kraft F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Ef [V/m]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Prøveladning i givet elektrisk felt.</a:t>
            </a:r>
          </a:p>
        </p:txBody>
      </p:sp>
      <p:sp>
        <p:nvSpPr>
          <p:cNvPr id="11" name="math-source-F03-formula"/>
          <p:cNvSpPr txBox="1"/>
          <p:nvPr/>
        </p:nvSpPr>
        <p:spPr>
          <a:xfrm>
            <a:off x="411480" y="2340864"/>
            <a:ext cx="4800600" cy="505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vec F=Qvec E_f</a:t>
            </a:r>
          </a:p>
        </p:txBody>
      </p:sp>
      <p:pic>
        <p:nvPicPr>
          <p:cNvPr id="12" name="F03-formula" descr="\vec F=Q\vec E_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158461" cy="5057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99291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F03-details-0"/>
          <p:cNvSpPr txBox="1"/>
          <p:nvPr/>
        </p:nvSpPr>
        <p:spPr>
          <a:xfrm>
            <a:off x="1005840" y="299291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Negativ Q giver kraft modsat feltretningen.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129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F03-details-1"/>
          <p:cNvSpPr txBox="1"/>
          <p:nvPr/>
        </p:nvSpPr>
        <p:spPr>
          <a:xfrm>
            <a:off x="1005840" y="331295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Q i 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63299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F03-details-2"/>
          <p:cNvSpPr txBox="1"/>
          <p:nvPr/>
        </p:nvSpPr>
        <p:spPr>
          <a:xfrm>
            <a:off x="1005840" y="363299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Feltet fra prøveladningen selv indgår ikke.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F04 · Søger: Afstand a [m]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Q1, Q2 [C], ε [F/m]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punktladningsmodel som F01.</a:t>
            </a:r>
          </a:p>
        </p:txBody>
      </p:sp>
      <p:sp>
        <p:nvSpPr>
          <p:cNvPr id="23" name="math-source-F04-formula"/>
          <p:cNvSpPr txBox="1"/>
          <p:nvPr/>
        </p:nvSpPr>
        <p:spPr>
          <a:xfrm>
            <a:off x="5532120" y="2340864"/>
            <a:ext cx="4800600" cy="825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a=√((|Q_1Q_2|)/(4πε |F|))</a:t>
            </a:r>
          </a:p>
        </p:txBody>
      </p:sp>
      <p:pic>
        <p:nvPicPr>
          <p:cNvPr id="24" name="F04-formula" descr="a=\sqrt{\frac{|Q_1Q_2|}{4\pi\varepsilon |F|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40864"/>
            <a:ext cx="1884661" cy="8256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331278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6" name="F04-details-0"/>
          <p:cNvSpPr txBox="1"/>
          <p:nvPr/>
        </p:nvSpPr>
        <p:spPr>
          <a:xfrm>
            <a:off x="6126480" y="331278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Lige ladninger:</a:t>
            </a:r>
          </a:p>
        </p:txBody>
      </p:sp>
      <p:sp>
        <p:nvSpPr>
          <p:cNvPr id="27" name="math-source-F04-details-1"/>
          <p:cNvSpPr txBox="1"/>
          <p:nvPr/>
        </p:nvSpPr>
        <p:spPr>
          <a:xfrm>
            <a:off x="6126480" y="3555104"/>
            <a:ext cx="4206240" cy="538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|Q|=a√((|F|)/(k))</a:t>
            </a:r>
          </a:p>
        </p:txBody>
      </p:sp>
      <p:pic>
        <p:nvPicPr>
          <p:cNvPr id="28" name="F04-details-1" descr="|Q|=a\sqrt{\dfrac{|F|}{k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555104"/>
            <a:ext cx="1173092" cy="538664"/>
          </a:xfrm>
          <a:prstGeom prst="rect">
            <a:avLst/>
          </a:prstGeom>
        </p:spPr>
      </p:pic>
      <p:sp>
        <p:nvSpPr>
          <p:cNvPr id="29" name="math-source-F04-details-2"/>
          <p:cNvSpPr txBox="1"/>
          <p:nvPr/>
        </p:nvSpPr>
        <p:spPr>
          <a:xfrm>
            <a:off x="6126480" y="4134916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k=(1)/(4πε)</a:t>
            </a:r>
          </a:p>
        </p:txBody>
      </p:sp>
      <p:pic>
        <p:nvPicPr>
          <p:cNvPr id="30" name="F04-details-2" descr="k=\dfrac{1}{4\pi\varepsilon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134916"/>
            <a:ext cx="706249" cy="4458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46996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math-source-F04-details-3"/>
          <p:cNvSpPr txBox="1"/>
          <p:nvPr/>
        </p:nvSpPr>
        <p:spPr>
          <a:xfrm>
            <a:off x="6126480" y="4699683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a[m]=(a[mm])/(1000)</a:t>
            </a:r>
          </a:p>
        </p:txBody>
      </p:sp>
      <p:pic>
        <p:nvPicPr>
          <p:cNvPr id="33" name="F04-details-3" descr="a[\mathrm{m}]=\dfrac{a[\mathrm{mm}]}{1000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699683"/>
            <a:ext cx="1340676" cy="4758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529437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5" name="F04-details-4"/>
          <p:cNvSpPr txBox="1"/>
          <p:nvPr/>
        </p:nvSpPr>
        <p:spPr>
          <a:xfrm>
            <a:off x="6126480" y="529437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Kraften varierer med:</a:t>
            </a:r>
          </a:p>
        </p:txBody>
      </p:sp>
      <p:sp>
        <p:nvSpPr>
          <p:cNvPr id="36" name="math-source-F04-details-5"/>
          <p:cNvSpPr txBox="1"/>
          <p:nvPr/>
        </p:nvSpPr>
        <p:spPr>
          <a:xfrm>
            <a:off x="6126480" y="5536692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(1)/(a^2)</a:t>
            </a:r>
          </a:p>
        </p:txBody>
      </p:sp>
      <p:pic>
        <p:nvPicPr>
          <p:cNvPr id="37" name="F04-details-5" descr="\dfrac{1}{a^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5536692"/>
            <a:ext cx="269332" cy="478813"/>
          </a:xfrm>
          <a:prstGeom prst="rect">
            <a:avLst/>
          </a:prstGeom>
        </p:spPr>
      </p:pic>
      <p:sp>
        <p:nvSpPr>
          <p:cNvPr id="38" name="F04-details-6"/>
          <p:cNvSpPr txBox="1"/>
          <p:nvPr/>
        </p:nvSpPr>
        <p:spPr>
          <a:xfrm>
            <a:off x="6126480" y="605665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Afstandsafhængigheden er ikke</a:t>
            </a:r>
          </a:p>
        </p:txBody>
      </p:sp>
      <p:sp>
        <p:nvSpPr>
          <p:cNvPr id="39" name="math-source-F04-details-7"/>
          <p:cNvSpPr txBox="1"/>
          <p:nvPr/>
        </p:nvSpPr>
        <p:spPr>
          <a:xfrm>
            <a:off x="6126480" y="6298969"/>
            <a:ext cx="4206240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(1)/(a)</a:t>
            </a:r>
          </a:p>
        </p:txBody>
      </p:sp>
      <p:pic>
        <p:nvPicPr>
          <p:cNvPr id="40" name="F04-details-7" descr="\dfrac{1}{a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6298969"/>
            <a:ext cx="164592" cy="39502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F05, F06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44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F05 · Søger: Ukendt ladning |Q2|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a [m], Q1 [C], 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Punktladninger; fortegnet afgøres af tiltrækning/frastødning.</a:t>
            </a:r>
          </a:p>
        </p:txBody>
      </p:sp>
      <p:sp>
        <p:nvSpPr>
          <p:cNvPr id="11" name="math-source-F05-formula"/>
          <p:cNvSpPr txBox="1"/>
          <p:nvPr/>
        </p:nvSpPr>
        <p:spPr>
          <a:xfrm>
            <a:off x="411480" y="2340864"/>
            <a:ext cx="4800600" cy="760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|Q_2|=(4πε a^2|F|)/(|Q_1|)</a:t>
            </a:r>
          </a:p>
        </p:txBody>
      </p:sp>
      <p:pic>
        <p:nvPicPr>
          <p:cNvPr id="12" name="F05-formula" descr="|Q_2|=\frac{4\pi\varepsilon a^2|F|}{|Q_1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022985" cy="7607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4794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F05-details-0"/>
          <p:cNvSpPr txBox="1"/>
          <p:nvPr/>
        </p:nvSpPr>
        <p:spPr>
          <a:xfrm>
            <a:off x="1005840" y="324794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Tiltrækning → modsat fortegn af Q1.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6798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F05-details-1"/>
          <p:cNvSpPr txBox="1"/>
          <p:nvPr/>
        </p:nvSpPr>
        <p:spPr>
          <a:xfrm>
            <a:off x="1005840" y="3567988"/>
            <a:ext cx="4206240" cy="2932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Q[C]=10^-9Q[nC]</a:t>
            </a:r>
          </a:p>
        </p:txBody>
      </p:sp>
      <p:pic>
        <p:nvPicPr>
          <p:cNvPr id="17" name="F05-details-1" descr="Q[\mathrm{C}]=10^{-9}Q[\mathrm{nC}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7988"/>
            <a:ext cx="1738690" cy="293273"/>
          </a:xfrm>
          <a:prstGeom prst="rect">
            <a:avLst/>
          </a:prstGeom>
        </p:spPr>
      </p:pic>
      <p:sp>
        <p:nvSpPr>
          <p:cNvPr id="18" name="math-source-F05-details-2"/>
          <p:cNvSpPr txBox="1"/>
          <p:nvPr/>
        </p:nvSpPr>
        <p:spPr>
          <a:xfrm>
            <a:off x="1005840" y="3902409"/>
            <a:ext cx="4206240" cy="287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F[N]=10^-3F[mN]</a:t>
            </a:r>
          </a:p>
        </p:txBody>
      </p:sp>
      <p:pic>
        <p:nvPicPr>
          <p:cNvPr id="19" name="F05-details-2" descr="F[\mathrm{N}]=10^{-3}F[\mathrm{mN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02409"/>
            <a:ext cx="1777593" cy="28728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30856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ath-source-F05-details-3"/>
          <p:cNvSpPr txBox="1"/>
          <p:nvPr/>
        </p:nvSpPr>
        <p:spPr>
          <a:xfrm>
            <a:off x="1005840" y="4308569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Q_1=0</a:t>
            </a:r>
          </a:p>
        </p:txBody>
      </p:sp>
      <p:pic>
        <p:nvPicPr>
          <p:cNvPr id="22" name="F05-details-3" descr="Q_1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08569"/>
            <a:ext cx="637419" cy="254369"/>
          </a:xfrm>
          <a:prstGeom prst="rect">
            <a:avLst/>
          </a:prstGeom>
        </p:spPr>
      </p:pic>
      <p:sp>
        <p:nvSpPr>
          <p:cNvPr id="23" name="F05-details-4"/>
          <p:cNvSpPr txBox="1"/>
          <p:nvPr/>
        </p:nvSpPr>
        <p:spPr>
          <a:xfrm>
            <a:off x="1005840" y="460408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giver ingen bestemt løsning med denne formel.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F06 · Søger: Elektrisk flux Ψ [V·m]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Ef [V/m], A [m²] eller Q [C], 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normalt felt; eller lukket kugle i ensartet medium.</a:t>
            </a:r>
          </a:p>
        </p:txBody>
      </p:sp>
      <p:sp>
        <p:nvSpPr>
          <p:cNvPr id="28" name="math-source-F06-formula"/>
          <p:cNvSpPr txBox="1"/>
          <p:nvPr/>
        </p:nvSpPr>
        <p:spPr>
          <a:xfrm>
            <a:off x="5532120" y="2340864"/>
            <a:ext cx="4800600" cy="622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Ψ=E_f A=(Q)/(ε)</a:t>
            </a:r>
          </a:p>
        </p:txBody>
      </p:sp>
      <p:pic>
        <p:nvPicPr>
          <p:cNvPr id="29" name="F06-formula" descr="\Psi=E_f A=\frac{Q}{\varepsilon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681498" cy="62245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1096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F06-details-0"/>
          <p:cNvSpPr txBox="1"/>
          <p:nvPr/>
        </p:nvSpPr>
        <p:spPr>
          <a:xfrm>
            <a:off x="6126480" y="31096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Kuglens areal:</a:t>
            </a:r>
          </a:p>
        </p:txBody>
      </p:sp>
      <p:sp>
        <p:nvSpPr>
          <p:cNvPr id="32" name="math-source-F06-details-1"/>
          <p:cNvSpPr txBox="1"/>
          <p:nvPr/>
        </p:nvSpPr>
        <p:spPr>
          <a:xfrm>
            <a:off x="6126480" y="3351941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A=4π a^2</a:t>
            </a:r>
          </a:p>
        </p:txBody>
      </p:sp>
      <p:pic>
        <p:nvPicPr>
          <p:cNvPr id="33" name="F06-details-1" descr="A=4\pi a^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351941"/>
            <a:ext cx="858870" cy="254369"/>
          </a:xfrm>
          <a:prstGeom prst="rect">
            <a:avLst/>
          </a:prstGeom>
        </p:spPr>
      </p:pic>
      <p:sp>
        <p:nvSpPr>
          <p:cNvPr id="34" name="F06-details-2"/>
          <p:cNvSpPr txBox="1"/>
          <p:nvPr/>
        </p:nvSpPr>
        <p:spPr>
          <a:xfrm>
            <a:off x="6126480" y="364745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Lukket flade:</a:t>
            </a:r>
          </a:p>
        </p:txBody>
      </p:sp>
      <p:sp>
        <p:nvSpPr>
          <p:cNvPr id="35" name="math-source-F06-details-3"/>
          <p:cNvSpPr txBox="1"/>
          <p:nvPr/>
        </p:nvSpPr>
        <p:spPr>
          <a:xfrm>
            <a:off x="6126480" y="3889774"/>
            <a:ext cx="4206240" cy="430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Ψ=(Q)/(ε)</a:t>
            </a:r>
          </a:p>
        </p:txBody>
      </p:sp>
      <p:pic>
        <p:nvPicPr>
          <p:cNvPr id="36" name="F06-details-3" descr="\Psi=\dfrac{Q}{\varepsilo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889774"/>
            <a:ext cx="607494" cy="43093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44395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8" name="math-source-F06-details-4"/>
          <p:cNvSpPr txBox="1"/>
          <p:nvPr/>
        </p:nvSpPr>
        <p:spPr>
          <a:xfrm>
            <a:off x="6126480" y="4439578"/>
            <a:ext cx="4206240" cy="386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(V)/(m)cdotm^2=Vcdotm</a:t>
            </a:r>
          </a:p>
        </p:txBody>
      </p:sp>
      <p:pic>
        <p:nvPicPr>
          <p:cNvPr id="39" name="F06-details-4" descr="\dfrac{\mathrm{V}}{\mathrm{m}}\cdot\mathrm{m}^2=\mathrm{V}\cdot\mathrm{m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439578"/>
            <a:ext cx="1355639" cy="38604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532120" y="494449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1" name="F06-details-5"/>
          <p:cNvSpPr txBox="1"/>
          <p:nvPr/>
        </p:nvSpPr>
        <p:spPr>
          <a:xfrm>
            <a:off x="6126480" y="4944493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Flux er ikke et bogstaveligt antal feltlinjer; ikke magnetisk Φ</a:t>
            </a:r>
            <a:br/>
            <a:r>
              <a:t>[Wb].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4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F07, 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45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F07 · Søger: Permittivitet ε [F/m]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εr [1], ε0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isotropt medium.</a:t>
            </a:r>
          </a:p>
        </p:txBody>
      </p:sp>
      <p:sp>
        <p:nvSpPr>
          <p:cNvPr id="11" name="math-source-F07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ε=ε_0ε_r</a:t>
            </a:r>
          </a:p>
        </p:txBody>
      </p:sp>
      <p:pic>
        <p:nvPicPr>
          <p:cNvPr id="12" name="F07-formula" descr="\varepsilon=\varepsilon_0\varepsilon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59041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F07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Coulombkonstant i mediet:</a:t>
            </a:r>
          </a:p>
        </p:txBody>
      </p:sp>
      <p:sp>
        <p:nvSpPr>
          <p:cNvPr id="15" name="math-source-F07-details-1"/>
          <p:cNvSpPr txBox="1"/>
          <p:nvPr/>
        </p:nvSpPr>
        <p:spPr>
          <a:xfrm>
            <a:off x="1005840" y="3092583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k=(1)/(4πε)</a:t>
            </a:r>
          </a:p>
        </p:txBody>
      </p:sp>
      <p:pic>
        <p:nvPicPr>
          <p:cNvPr id="16" name="F07-details-1" descr="k=\dfrac{1}{4\pi\varepsilon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706249" cy="4458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65735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F07-details-2"/>
          <p:cNvSpPr txBox="1"/>
          <p:nvPr/>
        </p:nvSpPr>
        <p:spPr>
          <a:xfrm>
            <a:off x="1005840" y="365735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εr er dimensionsløs.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773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F07-details-3"/>
          <p:cNvSpPr txBox="1"/>
          <p:nvPr/>
        </p:nvSpPr>
        <p:spPr>
          <a:xfrm>
            <a:off x="1005840" y="39773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materialeværdi. Vakuum/luft-tilnærmelse:</a:t>
            </a:r>
          </a:p>
        </p:txBody>
      </p:sp>
      <p:sp>
        <p:nvSpPr>
          <p:cNvPr id="21" name="math-source-F07-details-4"/>
          <p:cNvSpPr txBox="1"/>
          <p:nvPr/>
        </p:nvSpPr>
        <p:spPr>
          <a:xfrm>
            <a:off x="1005840" y="421970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ε_r=1</a:t>
            </a:r>
          </a:p>
        </p:txBody>
      </p:sp>
      <p:pic>
        <p:nvPicPr>
          <p:cNvPr id="22" name="F07-details-4" descr="\varepsilon_r=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19706"/>
            <a:ext cx="538664" cy="2513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B01 · Søger: Magnetisk flux Φ [Wb]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A [m²]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vinkelret på fladen.</a:t>
            </a:r>
          </a:p>
        </p:txBody>
      </p:sp>
      <p:sp>
        <p:nvSpPr>
          <p:cNvPr id="27" name="math-source-B01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Φ=BA</a:t>
            </a:r>
          </a:p>
        </p:txBody>
      </p:sp>
      <p:pic>
        <p:nvPicPr>
          <p:cNvPr id="28" name="B01-formula" descr="\Phi=B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033105" cy="3630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B01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Vinkel til fladenormalen:</a:t>
            </a:r>
          </a:p>
        </p:txBody>
      </p:sp>
      <p:sp>
        <p:nvSpPr>
          <p:cNvPr id="31" name="math-source-B01-details-1"/>
          <p:cNvSpPr txBox="1"/>
          <p:nvPr/>
        </p:nvSpPr>
        <p:spPr>
          <a:xfrm>
            <a:off x="612648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Φ=BAcosθ</a:t>
            </a:r>
          </a:p>
        </p:txBody>
      </p:sp>
      <p:pic>
        <p:nvPicPr>
          <p:cNvPr id="32" name="B01-details-1" descr="\Phi=BA\cos\thet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092583"/>
            <a:ext cx="1173092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math-source-B01-details-2"/>
          <p:cNvSpPr txBox="1"/>
          <p:nvPr/>
        </p:nvSpPr>
        <p:spPr>
          <a:xfrm>
            <a:off x="6126480" y="3462832"/>
            <a:ext cx="4206240" cy="287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A[m^2]=10^-4A[cm^2]</a:t>
            </a:r>
          </a:p>
        </p:txBody>
      </p:sp>
      <p:pic>
        <p:nvPicPr>
          <p:cNvPr id="35" name="B01-details-2" descr="A[\mathrm{m}^2]=10^{-4}A[\mathrm{cm}^2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462832"/>
            <a:ext cx="1924230" cy="28728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386899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B01-details-3"/>
          <p:cNvSpPr txBox="1"/>
          <p:nvPr/>
        </p:nvSpPr>
        <p:spPr>
          <a:xfrm>
            <a:off x="6126480" y="386899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 er fluxtæthed; Φ er flux, ikke samme størrelse.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B02, B03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46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B02 · Søger: Fluxtæthed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A [m²]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felt; A er areal normalt på feltet.</a:t>
            </a:r>
          </a:p>
        </p:txBody>
      </p:sp>
      <p:sp>
        <p:nvSpPr>
          <p:cNvPr id="11" name="math-source-B02-formula"/>
          <p:cNvSpPr txBox="1"/>
          <p:nvPr/>
        </p:nvSpPr>
        <p:spPr>
          <a:xfrm>
            <a:off x="411480" y="2340864"/>
            <a:ext cx="4800600" cy="622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B=(Φ)/(A)</a:t>
            </a:r>
          </a:p>
        </p:txBody>
      </p:sp>
      <p:pic>
        <p:nvPicPr>
          <p:cNvPr id="12" name="B02-formula" descr="B=\frac{\Phi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51555" cy="6224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096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B02-details-0"/>
          <p:cNvSpPr txBox="1"/>
          <p:nvPr/>
        </p:nvSpPr>
        <p:spPr>
          <a:xfrm>
            <a:off x="1005840" y="3109625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T=(1 Wb)/(1 m^2)</a:t>
            </a:r>
          </a:p>
        </p:txBody>
      </p:sp>
      <p:pic>
        <p:nvPicPr>
          <p:cNvPr id="15" name="B02-details-0" descr="1\,\mathrm{T}=\dfrac{1\,\mathrm{Wb}}{1\,\mathrm{m}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09625"/>
            <a:ext cx="1026455" cy="4758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7043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B02-details-1"/>
          <p:cNvSpPr txBox="1"/>
          <p:nvPr/>
        </p:nvSpPr>
        <p:spPr>
          <a:xfrm>
            <a:off x="1005840" y="3704317"/>
            <a:ext cx="4206240" cy="287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Φ[Wb]=10^-3Φ[mWb]</a:t>
            </a:r>
          </a:p>
        </p:txBody>
      </p:sp>
      <p:pic>
        <p:nvPicPr>
          <p:cNvPr id="18" name="B02-details-1" descr="\Phi[\mathrm{Wb}]=10^{-3}\Phi[\mathrm{mWb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04317"/>
            <a:ext cx="2175606" cy="2872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11047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B02-details-2"/>
          <p:cNvSpPr txBox="1"/>
          <p:nvPr/>
        </p:nvSpPr>
        <p:spPr>
          <a:xfrm>
            <a:off x="1005840" y="41104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Fra m² til mm² kræves faktoren:</a:t>
            </a:r>
          </a:p>
        </p:txBody>
      </p:sp>
      <p:sp>
        <p:nvSpPr>
          <p:cNvPr id="21" name="math-source-B02-details-3"/>
          <p:cNvSpPr txBox="1"/>
          <p:nvPr/>
        </p:nvSpPr>
        <p:spPr>
          <a:xfrm>
            <a:off x="1005840" y="4352793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10^6</a:t>
            </a:r>
          </a:p>
        </p:txBody>
      </p:sp>
      <p:pic>
        <p:nvPicPr>
          <p:cNvPr id="22" name="B02-details-3" descr="10^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52793"/>
            <a:ext cx="359109" cy="25736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B03 · Søger: Fluxtæthed B [T]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μ [H/m]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med kendt μ.</a:t>
            </a:r>
          </a:p>
        </p:txBody>
      </p:sp>
      <p:sp>
        <p:nvSpPr>
          <p:cNvPr id="27" name="math-source-B03-formula"/>
          <p:cNvSpPr txBox="1"/>
          <p:nvPr/>
        </p:nvSpPr>
        <p:spPr>
          <a:xfrm>
            <a:off x="5532120" y="2340864"/>
            <a:ext cx="4800600" cy="371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B=μ H</a:t>
            </a:r>
          </a:p>
        </p:txBody>
      </p:sp>
      <p:pic>
        <p:nvPicPr>
          <p:cNvPr id="28" name="B03-formula" descr="B=\mu 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024460" cy="37174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28589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B03-details-0"/>
          <p:cNvSpPr txBox="1"/>
          <p:nvPr/>
        </p:nvSpPr>
        <p:spPr>
          <a:xfrm>
            <a:off x="6126480" y="2858913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Ferromagnetisk materiale: aflæs B på B(H)-kurven ved relevant</a:t>
            </a:r>
            <a:br/>
            <a:r>
              <a:t>driftspunkt.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38012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math-source-B03-details-1"/>
          <p:cNvSpPr txBox="1"/>
          <p:nvPr/>
        </p:nvSpPr>
        <p:spPr>
          <a:xfrm>
            <a:off x="6126480" y="338012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μ=μ_0μ_r</a:t>
            </a:r>
          </a:p>
        </p:txBody>
      </p:sp>
      <p:pic>
        <p:nvPicPr>
          <p:cNvPr id="33" name="B03-details-1" descr="\mu=\mu_0\mu_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380121"/>
            <a:ext cx="796026" cy="2513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37503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5" name="B03-details-2"/>
          <p:cNvSpPr txBox="1"/>
          <p:nvPr/>
        </p:nvSpPr>
        <p:spPr>
          <a:xfrm>
            <a:off x="6126480" y="3750370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Jern har ikke én universel konstant μ; mætning/hysterese kræver</a:t>
            </a:r>
            <a:br/>
            <a:r>
              <a:t>kurve.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8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B04, B05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47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B04 · Søger: Felt om lang leder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 [A], a [m], μ [H/m]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Lang, lige leder; punkt uden for lederen.</a:t>
            </a:r>
          </a:p>
        </p:txBody>
      </p:sp>
      <p:sp>
        <p:nvSpPr>
          <p:cNvPr id="11" name="math-source-B04-formula"/>
          <p:cNvSpPr txBox="1"/>
          <p:nvPr/>
        </p:nvSpPr>
        <p:spPr>
          <a:xfrm>
            <a:off x="411480" y="2340864"/>
            <a:ext cx="4800600" cy="708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B=(μ </a:t>
            </a:r>
            <a:r>
              <a:rPr>
                <a:latin typeface="Cambria Math"/>
              </a:rPr>
              <a:t>I</a:t>
            </a:r>
            <a:r>
              <a:t>)/(2π a)</a:t>
            </a:r>
          </a:p>
        </p:txBody>
      </p:sp>
      <p:pic>
        <p:nvPicPr>
          <p:cNvPr id="12" name="B04-formula" descr="B=\frac{\mu I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93622" cy="7089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9607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04-details-0"/>
          <p:cNvSpPr txBox="1"/>
          <p:nvPr/>
        </p:nvSpPr>
        <p:spPr>
          <a:xfrm>
            <a:off x="1005840" y="31960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Luft:</a:t>
            </a:r>
          </a:p>
        </p:txBody>
      </p:sp>
      <p:sp>
        <p:nvSpPr>
          <p:cNvPr id="15" name="math-source-B04-details-1"/>
          <p:cNvSpPr txBox="1"/>
          <p:nvPr/>
        </p:nvSpPr>
        <p:spPr>
          <a:xfrm>
            <a:off x="1005840" y="343839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μ≈μ_0</a:t>
            </a:r>
          </a:p>
        </p:txBody>
      </p:sp>
      <p:pic>
        <p:nvPicPr>
          <p:cNvPr id="16" name="B04-details-1" descr="\mu\approx\mu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38393"/>
            <a:ext cx="598516" cy="251376"/>
          </a:xfrm>
          <a:prstGeom prst="rect">
            <a:avLst/>
          </a:prstGeom>
        </p:spPr>
      </p:pic>
      <p:sp>
        <p:nvSpPr>
          <p:cNvPr id="17" name="B04-details-2"/>
          <p:cNvSpPr txBox="1"/>
          <p:nvPr/>
        </p:nvSpPr>
        <p:spPr>
          <a:xfrm>
            <a:off x="1005840" y="37309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Undervisningens SI-tilnærmelse:</a:t>
            </a:r>
          </a:p>
        </p:txBody>
      </p:sp>
      <p:sp>
        <p:nvSpPr>
          <p:cNvPr id="18" name="math-source-B04-details-3"/>
          <p:cNvSpPr txBox="1"/>
          <p:nvPr/>
        </p:nvSpPr>
        <p:spPr>
          <a:xfrm>
            <a:off x="1005840" y="3973234"/>
            <a:ext cx="4206240" cy="392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B≈2·10^-7 (H)/(m)(</a:t>
            </a:r>
            <a:r>
              <a:rPr>
                <a:latin typeface="Cambria Math"/>
              </a:rPr>
              <a:t>I</a:t>
            </a:r>
            <a:r>
              <a:t>)/(a)</a:t>
            </a:r>
          </a:p>
        </p:txBody>
      </p:sp>
      <p:pic>
        <p:nvPicPr>
          <p:cNvPr id="19" name="B04-details-3" descr="B\approx2\cdot10^{-7}\,\dfrac{\mathrm{H}}{\mathrm{m}}\dfrac{I}{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73234"/>
            <a:ext cx="1439431" cy="3920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8413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1" name="B04-details-4"/>
          <p:cNvSpPr txBox="1"/>
          <p:nvPr/>
        </p:nvSpPr>
        <p:spPr>
          <a:xfrm>
            <a:off x="1005840" y="448413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er afstand fra centrum i 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0417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3" name="B04-details-5"/>
          <p:cNvSpPr txBox="1"/>
          <p:nvPr/>
        </p:nvSpPr>
        <p:spPr>
          <a:xfrm>
            <a:off x="1005840" y="480417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Ikke generelt feltet inden i lederen eller nær ender.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B05 · Søger: Magnetisk feltstyrke H [A/m]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 [A], N [1], l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vej; ringkerne/længere spole-model.</a:t>
            </a:r>
          </a:p>
        </p:txBody>
      </p:sp>
      <p:sp>
        <p:nvSpPr>
          <p:cNvPr id="28" name="math-source-B05-formula"/>
          <p:cNvSpPr txBox="1"/>
          <p:nvPr/>
        </p:nvSpPr>
        <p:spPr>
          <a:xfrm>
            <a:off x="5532120" y="2340864"/>
            <a:ext cx="4800600" cy="687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H=(NI)/(l)=(F_m)/(l)</a:t>
            </a:r>
          </a:p>
        </p:txBody>
      </p:sp>
      <p:pic>
        <p:nvPicPr>
          <p:cNvPr id="29" name="B05-formula" descr="H=\frac{NI}{l}=\frac{F_m}{l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711756" cy="6872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1744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B05-details-0"/>
          <p:cNvSpPr txBox="1"/>
          <p:nvPr/>
        </p:nvSpPr>
        <p:spPr>
          <a:xfrm>
            <a:off x="6126480" y="317446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 er middel-længden af den magnetiske vej.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49450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3" name="B05-details-1"/>
          <p:cNvSpPr txBox="1"/>
          <p:nvPr/>
        </p:nvSpPr>
        <p:spPr>
          <a:xfrm>
            <a:off x="6126480" y="349450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N er antal vindinger, ikke enheden newton.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81454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5" name="B05-details-2"/>
          <p:cNvSpPr txBox="1"/>
          <p:nvPr/>
        </p:nvSpPr>
        <p:spPr>
          <a:xfrm>
            <a:off x="6126480" y="381454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Ledertrådens længde er ikke magnetkredsens 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8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B06, B07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48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B06 · Søger: Magnetomotorisk kraft Fm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</a:t>
            </a:r>
            <a:r>
              <a:rPr>
                <a:latin typeface="Cambria Math"/>
              </a:rPr>
              <a:t>I</a:t>
            </a:r>
            <a:r>
              <a:t> [A] eller Rm [A/Wb], 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Amperevindingstal i magnetkredsmodellen.</a:t>
            </a:r>
          </a:p>
        </p:txBody>
      </p:sp>
      <p:sp>
        <p:nvSpPr>
          <p:cNvPr id="11" name="math-source-B06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F_m=NI=R_mΦ</a:t>
            </a:r>
          </a:p>
        </p:txBody>
      </p:sp>
      <p:pic>
        <p:nvPicPr>
          <p:cNvPr id="12" name="B06-formula" descr="F_m=NI=R_m\Ph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053243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06-details-0"/>
          <p:cNvSpPr txBox="1"/>
          <p:nvPr/>
        </p:nvSpPr>
        <p:spPr>
          <a:xfrm>
            <a:off x="1005840" y="2850267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Flere viklinger: summér amperevindinger med fortegn efter</a:t>
            </a:r>
            <a:br/>
            <a:r>
              <a:t>feltretningen.</a:t>
            </a:r>
          </a:p>
        </p:txBody>
      </p:sp>
      <p:sp>
        <p:nvSpPr>
          <p:cNvPr id="15" name="math-source-B06-details-1"/>
          <p:cNvSpPr txBox="1"/>
          <p:nvPr/>
        </p:nvSpPr>
        <p:spPr>
          <a:xfrm>
            <a:off x="1005840" y="3293751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F_m=Σ_k N_k </a:t>
            </a:r>
            <a:r>
              <a:rPr>
                <a:latin typeface="Cambria Math"/>
              </a:rPr>
              <a:t>I</a:t>
            </a:r>
            <a:r>
              <a:t>_k</a:t>
            </a:r>
          </a:p>
        </p:txBody>
      </p:sp>
      <p:pic>
        <p:nvPicPr>
          <p:cNvPr id="16" name="B06-details-1" descr="F_m=\sum_k N_k I_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3751"/>
            <a:ext cx="1107255" cy="4458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8585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B06-details-2"/>
          <p:cNvSpPr txBox="1"/>
          <p:nvPr/>
        </p:nvSpPr>
        <p:spPr>
          <a:xfrm>
            <a:off x="1005840" y="38585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Amperevinding er dimensionelt 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17855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B06-details-3"/>
          <p:cNvSpPr txBox="1"/>
          <p:nvPr/>
        </p:nvSpPr>
        <p:spPr>
          <a:xfrm>
            <a:off x="1005840" y="417855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Magnetomotorisk kraft er ikke mekanisk kraft målt i newton.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B07 · Søger: Reluktans Rm [A/Wb]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[m], μ [H/m], A [m²]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segment; lineær μ.</a:t>
            </a:r>
          </a:p>
        </p:txBody>
      </p:sp>
      <p:sp>
        <p:nvSpPr>
          <p:cNvPr id="25" name="math-source-B07-formula"/>
          <p:cNvSpPr txBox="1"/>
          <p:nvPr/>
        </p:nvSpPr>
        <p:spPr>
          <a:xfrm>
            <a:off x="5532120" y="2340864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R_m=(l)/(μ A)</a:t>
            </a:r>
          </a:p>
        </p:txBody>
      </p:sp>
      <p:pic>
        <p:nvPicPr>
          <p:cNvPr id="26" name="B07-formula" descr="R_m=\frac{l}{\mu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1158461" cy="7132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32004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B07-details-0"/>
          <p:cNvSpPr txBox="1"/>
          <p:nvPr/>
        </p:nvSpPr>
        <p:spPr>
          <a:xfrm>
            <a:off x="6126480" y="32004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Serielle magnetiske segmenter:</a:t>
            </a:r>
          </a:p>
        </p:txBody>
      </p:sp>
      <p:sp>
        <p:nvSpPr>
          <p:cNvPr id="29" name="math-source-B07-details-1"/>
          <p:cNvSpPr txBox="1"/>
          <p:nvPr/>
        </p:nvSpPr>
        <p:spPr>
          <a:xfrm>
            <a:off x="6126480" y="3442716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R_m,total=Σ_k R_m,k</a:t>
            </a:r>
          </a:p>
        </p:txBody>
      </p:sp>
      <p:pic>
        <p:nvPicPr>
          <p:cNvPr id="30" name="B07-details-1" descr="R_{m,\mathrm{total}}=\sum_k R_{m,k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442716"/>
            <a:ext cx="1463372" cy="4458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400748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math-source-B07-details-2"/>
          <p:cNvSpPr txBox="1"/>
          <p:nvPr/>
        </p:nvSpPr>
        <p:spPr>
          <a:xfrm>
            <a:off x="6126480" y="4007482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(A)/(Wb)=(1)/(H)</a:t>
            </a:r>
          </a:p>
        </p:txBody>
      </p:sp>
      <p:pic>
        <p:nvPicPr>
          <p:cNvPr id="33" name="B07-details-2" descr="1\,\dfrac{\mathrm{A}}{\mathrm{Wb}}=\dfrac{1}{\mathrm{H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007482"/>
            <a:ext cx="939670" cy="44589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45722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5" name="B07-details-3"/>
          <p:cNvSpPr txBox="1"/>
          <p:nvPr/>
        </p:nvSpPr>
        <p:spPr>
          <a:xfrm>
            <a:off x="6126480" y="457224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Reluktans måles ikke i Ω eller H. Enheden er:</a:t>
            </a:r>
          </a:p>
        </p:txBody>
      </p:sp>
      <p:sp>
        <p:nvSpPr>
          <p:cNvPr id="36" name="math-source-B07-details-4"/>
          <p:cNvSpPr txBox="1"/>
          <p:nvPr/>
        </p:nvSpPr>
        <p:spPr>
          <a:xfrm>
            <a:off x="6126480" y="481456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H^-1</a:t>
            </a:r>
          </a:p>
        </p:txBody>
      </p:sp>
      <p:pic>
        <p:nvPicPr>
          <p:cNvPr id="37" name="B07-details-4" descr="\mathrm{H}^{-1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814565"/>
            <a:ext cx="392028" cy="251376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B08, B09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49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8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B08 · Søger: Flux Φ [Wb]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N, </a:t>
            </a:r>
            <a:r>
              <a:rPr>
                <a:latin typeface="Cambria Math"/>
              </a:rPr>
              <a:t>I</a:t>
            </a:r>
            <a:r>
              <a:t> [A], Rm [A/Wb]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Lukket lineær magnetkreds; lækage negligeres.</a:t>
            </a:r>
          </a:p>
        </p:txBody>
      </p:sp>
      <p:sp>
        <p:nvSpPr>
          <p:cNvPr id="11" name="math-source-B08-formula"/>
          <p:cNvSpPr txBox="1"/>
          <p:nvPr/>
        </p:nvSpPr>
        <p:spPr>
          <a:xfrm>
            <a:off x="411480" y="2340864"/>
            <a:ext cx="4800600" cy="68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Φ=(NI)/(R_m)</a:t>
            </a:r>
          </a:p>
        </p:txBody>
      </p:sp>
      <p:pic>
        <p:nvPicPr>
          <p:cNvPr id="12" name="B08-formula" descr="\Phi=\frac{NI}{R_m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28783" cy="6829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70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08-details-0"/>
          <p:cNvSpPr txBox="1"/>
          <p:nvPr/>
        </p:nvSpPr>
        <p:spPr>
          <a:xfrm>
            <a:off x="1005840" y="317014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permeabilitet, reluktans og derpå flux. Eventuelt:</a:t>
            </a:r>
          </a:p>
        </p:txBody>
      </p:sp>
      <p:sp>
        <p:nvSpPr>
          <p:cNvPr id="15" name="math-source-B08-details-1"/>
          <p:cNvSpPr txBox="1"/>
          <p:nvPr/>
        </p:nvSpPr>
        <p:spPr>
          <a:xfrm>
            <a:off x="1005840" y="3412457"/>
            <a:ext cx="4206240" cy="430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B=(Φ)/(A)</a:t>
            </a:r>
          </a:p>
        </p:txBody>
      </p:sp>
      <p:pic>
        <p:nvPicPr>
          <p:cNvPr id="16" name="B08-details-1" descr="B=\dfrac{\Phi}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12457"/>
            <a:ext cx="589538" cy="4309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9622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B08-details-2"/>
          <p:cNvSpPr txBox="1"/>
          <p:nvPr/>
        </p:nvSpPr>
        <p:spPr>
          <a:xfrm>
            <a:off x="1005840" y="396226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Kerneareal i m² ved beregning af reluktansen.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8230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B08-details-3"/>
          <p:cNvSpPr txBox="1"/>
          <p:nvPr/>
        </p:nvSpPr>
        <p:spPr>
          <a:xfrm>
            <a:off x="1005840" y="4282301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Luftgab kan dominere den magnetiske reluktans. Elektrisk</a:t>
            </a:r>
            <a:br/>
            <a:r>
              <a:t>modstand er en anden størrelse.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09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B09 · Søger: Permeabilitet μ [H/m]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μr [1], μ0 [H/m] eller B [T], H [A/m]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medium eller sekantværdi ved givet driftspunkt.</a:t>
            </a:r>
          </a:p>
        </p:txBody>
      </p:sp>
      <p:sp>
        <p:nvSpPr>
          <p:cNvPr id="25" name="math-source-B09-formula"/>
          <p:cNvSpPr txBox="1"/>
          <p:nvPr/>
        </p:nvSpPr>
        <p:spPr>
          <a:xfrm>
            <a:off x="5532120" y="2340864"/>
            <a:ext cx="4800600" cy="622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μ=μ_0μ_r=(B)/(H)</a:t>
            </a:r>
          </a:p>
        </p:txBody>
      </p:sp>
      <p:pic>
        <p:nvPicPr>
          <p:cNvPr id="26" name="B09-formula" descr="\mu=\mu_0\mu_r=\frac{B}{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1737692" cy="6224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31096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math-source-B09-details-0"/>
          <p:cNvSpPr txBox="1"/>
          <p:nvPr/>
        </p:nvSpPr>
        <p:spPr>
          <a:xfrm>
            <a:off x="6126480" y="3109625"/>
            <a:ext cx="4206240" cy="4219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μ_r=(μ)/(μ_0)</a:t>
            </a:r>
          </a:p>
        </p:txBody>
      </p:sp>
      <p:pic>
        <p:nvPicPr>
          <p:cNvPr id="29" name="B09-details-0" descr="\mu_r=\dfrac{\mu}{\mu_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109625"/>
            <a:ext cx="682308" cy="421954"/>
          </a:xfrm>
          <a:prstGeom prst="rect">
            <a:avLst/>
          </a:prstGeom>
        </p:spPr>
      </p:pic>
      <p:sp>
        <p:nvSpPr>
          <p:cNvPr id="30" name="B09-details-1"/>
          <p:cNvSpPr txBox="1"/>
          <p:nvPr/>
        </p:nvSpPr>
        <p:spPr>
          <a:xfrm>
            <a:off x="6126480" y="357272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beregning fra B og H:</a:t>
            </a:r>
          </a:p>
        </p:txBody>
      </p:sp>
      <p:sp>
        <p:nvSpPr>
          <p:cNvPr id="31" name="math-source-B09-details-2"/>
          <p:cNvSpPr txBox="1"/>
          <p:nvPr/>
        </p:nvSpPr>
        <p:spPr>
          <a:xfrm>
            <a:off x="6126480" y="381504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H≠0</a:t>
            </a:r>
          </a:p>
        </p:txBody>
      </p:sp>
      <p:pic>
        <p:nvPicPr>
          <p:cNvPr id="32" name="B09-details-2" descr="H\ne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815043"/>
            <a:ext cx="547642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41852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B09-details-3"/>
          <p:cNvSpPr txBox="1"/>
          <p:nvPr/>
        </p:nvSpPr>
        <p:spPr>
          <a:xfrm>
            <a:off x="6126480" y="41852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Relativ permeabilitet er dimensionsløs.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50533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B09-details-4"/>
          <p:cNvSpPr txBox="1"/>
          <p:nvPr/>
        </p:nvSpPr>
        <p:spPr>
          <a:xfrm>
            <a:off x="6126480" y="4505331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Elektrisk ledningsevne afgør ikke, om materialet er</a:t>
            </a:r>
            <a:br/>
            <a:r>
              <a:t>ferromagnetisk.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B11, B12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50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B11 · Søger: Magnetkredsens areal A [m²]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B [T]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normalt på kernens tværsnit.</a:t>
            </a:r>
          </a:p>
        </p:txBody>
      </p:sp>
      <p:sp>
        <p:nvSpPr>
          <p:cNvPr id="11" name="math-source-B11-formula"/>
          <p:cNvSpPr txBox="1"/>
          <p:nvPr/>
        </p:nvSpPr>
        <p:spPr>
          <a:xfrm>
            <a:off x="411480" y="2340864"/>
            <a:ext cx="4800600" cy="622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A=(Φ)/(B)</a:t>
            </a:r>
          </a:p>
        </p:txBody>
      </p:sp>
      <p:pic>
        <p:nvPicPr>
          <p:cNvPr id="12" name="B11-formula" descr="A=\frac{\Phi}{B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64523" cy="6224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096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11-details-0"/>
          <p:cNvSpPr txBox="1"/>
          <p:nvPr/>
        </p:nvSpPr>
        <p:spPr>
          <a:xfrm>
            <a:off x="1005840" y="31096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Konvertér til cm² eller mm² efter beregningen.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2966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B11-details-1"/>
          <p:cNvSpPr txBox="1"/>
          <p:nvPr/>
        </p:nvSpPr>
        <p:spPr>
          <a:xfrm>
            <a:off x="1005840" y="3429665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m^2=10^4 cm^2</a:t>
            </a:r>
          </a:p>
        </p:txBody>
      </p:sp>
      <p:pic>
        <p:nvPicPr>
          <p:cNvPr id="17" name="B11-details-1" descr="1\,\mathrm{m}^2=10^4\,\mathrm{cm}^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29665"/>
            <a:ext cx="1394543" cy="254369"/>
          </a:xfrm>
          <a:prstGeom prst="rect">
            <a:avLst/>
          </a:prstGeom>
        </p:spPr>
      </p:pic>
      <p:sp>
        <p:nvSpPr>
          <p:cNvPr id="18" name="math-source-B11-details-2"/>
          <p:cNvSpPr txBox="1"/>
          <p:nvPr/>
        </p:nvSpPr>
        <p:spPr>
          <a:xfrm>
            <a:off x="1005840" y="3725182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m^2=10^6 mm^2</a:t>
            </a:r>
          </a:p>
        </p:txBody>
      </p:sp>
      <p:pic>
        <p:nvPicPr>
          <p:cNvPr id="19" name="B11-details-2" descr="1\,\mathrm{m}^2=10^6\,\mathrm{mm}^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25182"/>
            <a:ext cx="1472350" cy="25736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10141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B11-details-3"/>
          <p:cNvSpPr txBox="1"/>
          <p:nvPr/>
        </p:nvSpPr>
        <p:spPr>
          <a:xfrm>
            <a:off x="1005840" y="410141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Effektivt kerneareal kan afvige fra ydre geometri.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1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B12 · Søger: Feltstyrke H [A/m]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μ [H/m]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ved kendt μ.</a:t>
            </a:r>
          </a:p>
        </p:txBody>
      </p:sp>
      <p:sp>
        <p:nvSpPr>
          <p:cNvPr id="26" name="math-source-B12-formula"/>
          <p:cNvSpPr txBox="1"/>
          <p:nvPr/>
        </p:nvSpPr>
        <p:spPr>
          <a:xfrm>
            <a:off x="5532120" y="2340864"/>
            <a:ext cx="480060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H=(B)/(μ)</a:t>
            </a:r>
          </a:p>
        </p:txBody>
      </p:sp>
      <p:pic>
        <p:nvPicPr>
          <p:cNvPr id="27" name="B12-formula" descr="H=\frac{B}{\mu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838587" cy="6181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0530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B12-details-0"/>
          <p:cNvSpPr txBox="1"/>
          <p:nvPr/>
        </p:nvSpPr>
        <p:spPr>
          <a:xfrm>
            <a:off x="6126480" y="310530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Jern: find H fra B(H)-kurven ved det ønskede 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42534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math-source-B12-details-1"/>
          <p:cNvSpPr txBox="1"/>
          <p:nvPr/>
        </p:nvSpPr>
        <p:spPr>
          <a:xfrm>
            <a:off x="6126480" y="342534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μ=μ_0μ_r</a:t>
            </a:r>
          </a:p>
        </p:txBody>
      </p:sp>
      <p:pic>
        <p:nvPicPr>
          <p:cNvPr id="32" name="B12-details-1" descr="\mu=\mu_0\mu_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425342"/>
            <a:ext cx="796026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7955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B12-details-2"/>
          <p:cNvSpPr txBox="1"/>
          <p:nvPr/>
        </p:nvSpPr>
        <p:spPr>
          <a:xfrm>
            <a:off x="6126480" y="37955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hysterese afhænger B også af forhistorien.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7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B13, K01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51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B13 · Søger: Relativ permeabilitet μr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 [H/m], μ0 [H/m]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enhed for absolutte permeabiliteter.</a:t>
            </a:r>
          </a:p>
        </p:txBody>
      </p:sp>
      <p:sp>
        <p:nvSpPr>
          <p:cNvPr id="11" name="math-source-B13-formula"/>
          <p:cNvSpPr txBox="1"/>
          <p:nvPr/>
        </p:nvSpPr>
        <p:spPr>
          <a:xfrm>
            <a:off x="411480" y="2340864"/>
            <a:ext cx="4800600" cy="609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μ_r=(μ)/(μ_0)</a:t>
            </a:r>
          </a:p>
        </p:txBody>
      </p:sp>
      <p:pic>
        <p:nvPicPr>
          <p:cNvPr id="12" name="B13-formula" descr="\mu_r=\frac{\mu}{\mu_0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85556" cy="6094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09665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13-details-0"/>
          <p:cNvSpPr txBox="1"/>
          <p:nvPr/>
        </p:nvSpPr>
        <p:spPr>
          <a:xfrm>
            <a:off x="1005840" y="309665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Luft i undervisningsmodellen:</a:t>
            </a:r>
          </a:p>
        </p:txBody>
      </p:sp>
      <p:sp>
        <p:nvSpPr>
          <p:cNvPr id="15" name="math-source-B13-details-1"/>
          <p:cNvSpPr txBox="1"/>
          <p:nvPr/>
        </p:nvSpPr>
        <p:spPr>
          <a:xfrm>
            <a:off x="1005840" y="3338973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μ_r≈1</a:t>
            </a:r>
          </a:p>
        </p:txBody>
      </p:sp>
      <p:pic>
        <p:nvPicPr>
          <p:cNvPr id="16" name="B13-details-1" descr="\mu_r\approx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38973"/>
            <a:ext cx="562605" cy="2603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71819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B13-details-2"/>
          <p:cNvSpPr txBox="1"/>
          <p:nvPr/>
        </p:nvSpPr>
        <p:spPr>
          <a:xfrm>
            <a:off x="1005840" y="371819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Relativ permeabilitet har ingen enhed.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3823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B13-details-3"/>
          <p:cNvSpPr txBox="1"/>
          <p:nvPr/>
        </p:nvSpPr>
        <p:spPr>
          <a:xfrm>
            <a:off x="1005840" y="403823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Kildens eksempel:</a:t>
            </a:r>
          </a:p>
        </p:txBody>
      </p:sp>
      <p:sp>
        <p:nvSpPr>
          <p:cNvPr id="21" name="math-source-B13-details-4"/>
          <p:cNvSpPr txBox="1"/>
          <p:nvPr/>
        </p:nvSpPr>
        <p:spPr>
          <a:xfrm>
            <a:off x="1005840" y="4280555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μ_r=600</a:t>
            </a:r>
          </a:p>
        </p:txBody>
      </p:sp>
      <p:pic>
        <p:nvPicPr>
          <p:cNvPr id="22" name="B13-details-4" descr="\mu_r=6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80555"/>
            <a:ext cx="810989" cy="260354"/>
          </a:xfrm>
          <a:prstGeom prst="rect">
            <a:avLst/>
          </a:prstGeom>
        </p:spPr>
      </p:pic>
      <p:sp>
        <p:nvSpPr>
          <p:cNvPr id="23" name="B13-details-5"/>
          <p:cNvSpPr txBox="1"/>
          <p:nvPr/>
        </p:nvSpPr>
        <p:spPr>
          <a:xfrm>
            <a:off x="1005840" y="458205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Dette er ikke en universel jerneegenskab.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K01 · Søger: Kraft på leder |F| [N]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</a:t>
            </a:r>
            <a:r>
              <a:rPr>
                <a:latin typeface="Cambria Math"/>
              </a:rPr>
              <a:t>I</a:t>
            </a:r>
            <a:r>
              <a:t> [A], l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ensartet magnetfelt.</a:t>
            </a:r>
          </a:p>
        </p:txBody>
      </p:sp>
      <p:sp>
        <p:nvSpPr>
          <p:cNvPr id="28" name="math-source-K01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|F|=B|</a:t>
            </a:r>
            <a:r>
              <a:rPr>
                <a:latin typeface="Cambria Math"/>
              </a:rPr>
              <a:t>I</a:t>
            </a:r>
            <a:r>
              <a:t>|l</a:t>
            </a:r>
          </a:p>
        </p:txBody>
      </p:sp>
      <p:pic>
        <p:nvPicPr>
          <p:cNvPr id="29" name="K01-formula" descr="|F|=B|I|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262204" cy="36309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K01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Vinkel mellem leder og felt:</a:t>
            </a:r>
          </a:p>
        </p:txBody>
      </p:sp>
      <p:sp>
        <p:nvSpPr>
          <p:cNvPr id="32" name="math-source-K01-details-1"/>
          <p:cNvSpPr txBox="1"/>
          <p:nvPr/>
        </p:nvSpPr>
        <p:spPr>
          <a:xfrm>
            <a:off x="612648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|F|=B|</a:t>
            </a:r>
            <a:r>
              <a:rPr>
                <a:latin typeface="Cambria Math"/>
              </a:rPr>
              <a:t>I</a:t>
            </a:r>
            <a:r>
              <a:t>|lsinθ</a:t>
            </a:r>
          </a:p>
        </p:txBody>
      </p:sp>
      <p:pic>
        <p:nvPicPr>
          <p:cNvPr id="33" name="K01-details-1" descr="|F|=B|I|l\sin\thet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092583"/>
            <a:ext cx="1280825" cy="2513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math-source-K01-details-2"/>
          <p:cNvSpPr txBox="1"/>
          <p:nvPr/>
        </p:nvSpPr>
        <p:spPr>
          <a:xfrm>
            <a:off x="6126480" y="3462832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B[T]=(B[mT])/(1000)</a:t>
            </a:r>
          </a:p>
        </p:txBody>
      </p:sp>
      <p:pic>
        <p:nvPicPr>
          <p:cNvPr id="36" name="K01-details-2" descr="B[\mathrm{T}]=\dfrac{B[\mathrm{mT}]}{100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462832"/>
            <a:ext cx="1316736" cy="4758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40575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K01-details-3"/>
          <p:cNvSpPr txBox="1"/>
          <p:nvPr/>
        </p:nvSpPr>
        <p:spPr>
          <a:xfrm>
            <a:off x="6126480" y="40575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Kun lederlængden i feltet tæller med. Retning fra:</a:t>
            </a:r>
          </a:p>
        </p:txBody>
      </p:sp>
      <p:sp>
        <p:nvSpPr>
          <p:cNvPr id="39" name="math-source-K01-details-4"/>
          <p:cNvSpPr txBox="1"/>
          <p:nvPr/>
        </p:nvSpPr>
        <p:spPr>
          <a:xfrm>
            <a:off x="6126480" y="4299841"/>
            <a:ext cx="4206240" cy="2932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vec </a:t>
            </a:r>
            <a:r>
              <a:rPr>
                <a:latin typeface="Cambria Math"/>
              </a:rPr>
              <a:t>I</a:t>
            </a:r>
            <a:r>
              <a:t>×vec B</a:t>
            </a:r>
          </a:p>
        </p:txBody>
      </p:sp>
      <p:pic>
        <p:nvPicPr>
          <p:cNvPr id="40" name="K01-details-4" descr="\vec I\times\vec 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299841"/>
            <a:ext cx="475820" cy="29327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532120" y="471198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2" name="math-source-K01-details-5"/>
          <p:cNvSpPr txBox="1"/>
          <p:nvPr/>
        </p:nvSpPr>
        <p:spPr>
          <a:xfrm>
            <a:off x="6126480" y="471198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|F|=20 mT·3 A·6 m</a:t>
            </a:r>
          </a:p>
        </p:txBody>
      </p:sp>
      <p:pic>
        <p:nvPicPr>
          <p:cNvPr id="43" name="K01-details-5" descr="|F|=20\,\mathrm{mT}\cdot3\,\mathrm{A}\cdot6\,\mathrm{m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711986"/>
            <a:ext cx="1966126" cy="251376"/>
          </a:xfrm>
          <a:prstGeom prst="rect">
            <a:avLst/>
          </a:prstGeom>
        </p:spPr>
      </p:pic>
      <p:sp>
        <p:nvSpPr>
          <p:cNvPr id="44" name="math-source-K01-details-6"/>
          <p:cNvSpPr txBox="1"/>
          <p:nvPr/>
        </p:nvSpPr>
        <p:spPr>
          <a:xfrm>
            <a:off x="6126480" y="500451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|F|=0,36 N</a:t>
            </a:r>
          </a:p>
        </p:txBody>
      </p:sp>
      <p:pic>
        <p:nvPicPr>
          <p:cNvPr id="45" name="K01-details-6" descr="|F|=0{,}36\,\mathrm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5004511"/>
            <a:ext cx="1092292" cy="251376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av-back-index" descr="Til indeks">
            <a:hlinkClick action="ppaction://hlinksldjump" r:id="rId12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8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K02, K03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52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K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K02 · Søger: Aktiv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B [T], |</a:t>
            </a:r>
            <a:r>
              <a:rPr>
                <a:latin typeface="Cambria Math"/>
              </a:rPr>
              <a:t>I</a:t>
            </a:r>
            <a:r>
              <a:t>|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B.</a:t>
            </a:r>
          </a:p>
        </p:txBody>
      </p:sp>
      <p:sp>
        <p:nvSpPr>
          <p:cNvPr id="11" name="math-source-K02-formula"/>
          <p:cNvSpPr txBox="1"/>
          <p:nvPr/>
        </p:nvSpPr>
        <p:spPr>
          <a:xfrm>
            <a:off x="41148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l=(|F|)/(B|</a:t>
            </a:r>
            <a:r>
              <a:rPr>
                <a:latin typeface="Cambria Math"/>
              </a:rPr>
              <a:t>I</a:t>
            </a:r>
            <a:r>
              <a:t>|)</a:t>
            </a:r>
          </a:p>
        </p:txBody>
      </p:sp>
      <p:pic>
        <p:nvPicPr>
          <p:cNvPr id="12" name="K02-formula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29362" cy="6440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K02-details-0"/>
          <p:cNvSpPr txBox="1"/>
          <p:nvPr/>
        </p:nvSpPr>
        <p:spPr>
          <a:xfrm>
            <a:off x="100584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 skrå leder indgår</a:t>
            </a:r>
          </a:p>
        </p:txBody>
      </p:sp>
      <p:sp>
        <p:nvSpPr>
          <p:cNvPr id="15" name="math-source-K02-details-1"/>
          <p:cNvSpPr txBox="1"/>
          <p:nvPr/>
        </p:nvSpPr>
        <p:spPr>
          <a:xfrm>
            <a:off x="1005840" y="337355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sinθ</a:t>
            </a:r>
          </a:p>
        </p:txBody>
      </p:sp>
      <p:pic>
        <p:nvPicPr>
          <p:cNvPr id="16" name="K02-details-1" descr="\sin\th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73554"/>
            <a:ext cx="457865" cy="251376"/>
          </a:xfrm>
          <a:prstGeom prst="rect">
            <a:avLst/>
          </a:prstGeom>
        </p:spPr>
      </p:pic>
      <p:sp>
        <p:nvSpPr>
          <p:cNvPr id="17" name="K02-details-2"/>
          <p:cNvSpPr txBox="1"/>
          <p:nvPr/>
        </p:nvSpPr>
        <p:spPr>
          <a:xfrm>
            <a:off x="1005840" y="366607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 nævneren.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861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ath-source-K02-details-3"/>
          <p:cNvSpPr txBox="1"/>
          <p:nvPr/>
        </p:nvSpPr>
        <p:spPr>
          <a:xfrm>
            <a:off x="1005840" y="398611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50 mT=0,050 T</a:t>
            </a:r>
          </a:p>
        </p:txBody>
      </p:sp>
      <p:pic>
        <p:nvPicPr>
          <p:cNvPr id="20" name="K02-details-3" descr="50\,\mathrm{mT}=0{,}050\,\mathrm{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86118"/>
            <a:ext cx="1523224" cy="2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43563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K02-details-4"/>
          <p:cNvSpPr txBox="1"/>
          <p:nvPr/>
        </p:nvSpPr>
        <p:spPr>
          <a:xfrm>
            <a:off x="1005840" y="43563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ikke hele kablets længde, hvis feltet kun dækker en 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6764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4" name="math-source-K02-details-5"/>
          <p:cNvSpPr txBox="1"/>
          <p:nvPr/>
        </p:nvSpPr>
        <p:spPr>
          <a:xfrm>
            <a:off x="1005840" y="4676407"/>
            <a:ext cx="4206240" cy="472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l=(1 N)/(0,050 T·10 A)=2 m</a:t>
            </a:r>
          </a:p>
        </p:txBody>
      </p:sp>
      <p:pic>
        <p:nvPicPr>
          <p:cNvPr id="25" name="K02-details-5" descr="l=\dfrac{1\,\mathrm{N}}{0{,}050\,\mathrm{T}\cdot10\,\mathrm{A}}=2\,\mathrm{m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676407"/>
            <a:ext cx="2139696" cy="472827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K03 · Søger: Fluxtæthed B [T]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|</a:t>
            </a:r>
            <a:r>
              <a:rPr>
                <a:latin typeface="Cambria Math"/>
              </a:rPr>
              <a:t>I</a:t>
            </a:r>
            <a:r>
              <a:t>| [A], l [m]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feltet.</a:t>
            </a:r>
          </a:p>
        </p:txBody>
      </p:sp>
      <p:sp>
        <p:nvSpPr>
          <p:cNvPr id="30" name="math-source-K03-formula"/>
          <p:cNvSpPr txBox="1"/>
          <p:nvPr/>
        </p:nvSpPr>
        <p:spPr>
          <a:xfrm>
            <a:off x="5532120" y="2340864"/>
            <a:ext cx="4800600" cy="648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B=(|F|)/(|</a:t>
            </a:r>
            <a:r>
              <a:rPr>
                <a:latin typeface="Cambria Math"/>
              </a:rPr>
              <a:t>I</a:t>
            </a:r>
            <a:r>
              <a:t>|l)</a:t>
            </a:r>
          </a:p>
        </p:txBody>
      </p:sp>
      <p:pic>
        <p:nvPicPr>
          <p:cNvPr id="31" name="K03-formula" descr="B=\frac{|F|}{|I|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933685" cy="6483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135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3" name="K03-details-0"/>
          <p:cNvSpPr txBox="1"/>
          <p:nvPr/>
        </p:nvSpPr>
        <p:spPr>
          <a:xfrm>
            <a:off x="6126480" y="3135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Kontrollér at kraften er den magnetiske kraft.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4556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math-source-K03-details-1"/>
          <p:cNvSpPr txBox="1"/>
          <p:nvPr/>
        </p:nvSpPr>
        <p:spPr>
          <a:xfrm>
            <a:off x="6126480" y="345560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B[mT]=1000B[T]</a:t>
            </a:r>
          </a:p>
        </p:txBody>
      </p:sp>
      <p:pic>
        <p:nvPicPr>
          <p:cNvPr id="36" name="K03-details-1" descr="B[\mathrm{mT}]=1000B[\mathrm{T}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455600"/>
            <a:ext cx="1753652" cy="25137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38258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K03-details-2"/>
          <p:cNvSpPr txBox="1"/>
          <p:nvPr/>
        </p:nvSpPr>
        <p:spPr>
          <a:xfrm>
            <a:off x="6126480" y="382584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Andre mekaniske kræfter må ikke medregnes i F.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414588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0" name="math-source-K03-details-3"/>
          <p:cNvSpPr txBox="1"/>
          <p:nvPr/>
        </p:nvSpPr>
        <p:spPr>
          <a:xfrm>
            <a:off x="6126480" y="4145889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B=(75 N)/(15 A·200 m)</a:t>
            </a:r>
          </a:p>
        </p:txBody>
      </p:sp>
      <p:pic>
        <p:nvPicPr>
          <p:cNvPr id="41" name="K03-details-3" descr="B=\dfrac{75\,\mathrm{N}}{15\,\mathrm{A}\cdot200\,\mathrm{m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145889"/>
            <a:ext cx="1514246" cy="448887"/>
          </a:xfrm>
          <a:prstGeom prst="rect">
            <a:avLst/>
          </a:prstGeom>
        </p:spPr>
      </p:pic>
      <p:sp>
        <p:nvSpPr>
          <p:cNvPr id="42" name="math-source-K03-details-4"/>
          <p:cNvSpPr txBox="1"/>
          <p:nvPr/>
        </p:nvSpPr>
        <p:spPr>
          <a:xfrm>
            <a:off x="6126480" y="463592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B=0,025 T=25 mT</a:t>
            </a:r>
          </a:p>
        </p:txBody>
      </p:sp>
      <p:pic>
        <p:nvPicPr>
          <p:cNvPr id="43" name="K03-details-4" descr="B=0{,}025\,\mathrm{T}=25\,\mathrm{mT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635924"/>
            <a:ext cx="1888319" cy="25137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K04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53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K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K04 · Søger: Kraft mellem ledere |F|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</a:t>
            </a:r>
            <a:r>
              <a:rPr>
                <a:latin typeface="Cambria Math"/>
              </a:rPr>
              <a:t>I</a:t>
            </a:r>
            <a:r>
              <a:t>1, </a:t>
            </a:r>
            <a:r>
              <a:rPr>
                <a:latin typeface="Cambria Math"/>
              </a:rPr>
              <a:t>I</a:t>
            </a:r>
            <a:r>
              <a:t>2 [A], l, a [m], μ [H/m]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Lange parallelle ledere; a er centerafstand.</a:t>
            </a:r>
          </a:p>
        </p:txBody>
      </p:sp>
      <p:sp>
        <p:nvSpPr>
          <p:cNvPr id="11" name="math-source-K04-formula"/>
          <p:cNvSpPr txBox="1"/>
          <p:nvPr/>
        </p:nvSpPr>
        <p:spPr>
          <a:xfrm>
            <a:off x="411480" y="2340864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|F|=(μ|</a:t>
            </a:r>
            <a:r>
              <a:rPr>
                <a:latin typeface="Cambria Math"/>
              </a:rPr>
              <a:t>I</a:t>
            </a:r>
            <a:r>
              <a:t>_1</a:t>
            </a:r>
            <a:r>
              <a:rPr>
                <a:latin typeface="Cambria Math"/>
              </a:rPr>
              <a:t>I</a:t>
            </a:r>
            <a:r>
              <a:t>_2|l)/(2π a)</a:t>
            </a:r>
          </a:p>
        </p:txBody>
      </p:sp>
      <p:pic>
        <p:nvPicPr>
          <p:cNvPr id="12" name="K04-formula" descr="|F|=\frac{\mu|I_1I_2|l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616659" cy="713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004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K04-details-0"/>
          <p:cNvSpPr txBox="1"/>
          <p:nvPr/>
        </p:nvSpPr>
        <p:spPr>
          <a:xfrm>
            <a:off x="1005840" y="32004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Luftens SI-tilnærmelse:</a:t>
            </a:r>
          </a:p>
        </p:txBody>
      </p:sp>
      <p:sp>
        <p:nvSpPr>
          <p:cNvPr id="15" name="math-source-K04-details-1"/>
          <p:cNvSpPr txBox="1"/>
          <p:nvPr/>
        </p:nvSpPr>
        <p:spPr>
          <a:xfrm>
            <a:off x="1005840" y="3442716"/>
            <a:ext cx="4206240" cy="427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|F|≈2·10^-7 (H)/(m)(|</a:t>
            </a:r>
            <a:r>
              <a:rPr>
                <a:latin typeface="Cambria Math"/>
              </a:rPr>
              <a:t>I</a:t>
            </a:r>
            <a:r>
              <a:t>_1</a:t>
            </a:r>
            <a:r>
              <a:rPr>
                <a:latin typeface="Cambria Math"/>
              </a:rPr>
              <a:t>I</a:t>
            </a:r>
            <a:r>
              <a:t>_2|l)/(a)</a:t>
            </a:r>
          </a:p>
        </p:txBody>
      </p:sp>
      <p:pic>
        <p:nvPicPr>
          <p:cNvPr id="16" name="K04-details-1" descr="|F|\approx2\cdot10^{-7}\,\dfrac{\mathrm{H}}{\mathrm{m}}\dfrac{|I_1I_2|l}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42716"/>
            <a:ext cx="1909267" cy="4279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98952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K04-details-2"/>
          <p:cNvSpPr txBox="1"/>
          <p:nvPr/>
        </p:nvSpPr>
        <p:spPr>
          <a:xfrm>
            <a:off x="1005840" y="398952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Kraft pr. meter:</a:t>
            </a:r>
          </a:p>
        </p:txBody>
      </p:sp>
      <p:sp>
        <p:nvSpPr>
          <p:cNvPr id="19" name="math-source-K04-details-3"/>
          <p:cNvSpPr txBox="1"/>
          <p:nvPr/>
        </p:nvSpPr>
        <p:spPr>
          <a:xfrm>
            <a:off x="1005840" y="4231843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(|F|)/(l)[N/m]</a:t>
            </a:r>
          </a:p>
        </p:txBody>
      </p:sp>
      <p:pic>
        <p:nvPicPr>
          <p:cNvPr id="20" name="K04-details-3" descr="\dfrac{|F|}{l}\quad[\mathrm{N/m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31843"/>
            <a:ext cx="1014485" cy="44888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479960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K04-details-4"/>
          <p:cNvSpPr txBox="1"/>
          <p:nvPr/>
        </p:nvSpPr>
        <p:spPr>
          <a:xfrm>
            <a:off x="1005840" y="479960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Samme strømretning tiltrækker; modsat frastøder.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back-index" descr="Til indeks">
            <a:hlinkClick action="ppaction://hlinksldjump" r:id="rId6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5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E01, E02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54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E01 · Søger: Induceret spænding e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ΔΦ [Wb],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Middel-EMK over interval; samme flux gennem hver vinding.</a:t>
            </a:r>
          </a:p>
        </p:txBody>
      </p:sp>
      <p:sp>
        <p:nvSpPr>
          <p:cNvPr id="11" name="math-source-E01-formula"/>
          <p:cNvSpPr txBox="1"/>
          <p:nvPr/>
        </p:nvSpPr>
        <p:spPr>
          <a:xfrm>
            <a:off x="411480" y="2340864"/>
            <a:ext cx="4800600" cy="639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e_middel=-N(ΔΦ)/(Δ t)</a:t>
            </a:r>
          </a:p>
        </p:txBody>
      </p:sp>
      <p:pic>
        <p:nvPicPr>
          <p:cNvPr id="12" name="E01-formula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135373" cy="6397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2691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E01-details-0"/>
          <p:cNvSpPr txBox="1"/>
          <p:nvPr/>
        </p:nvSpPr>
        <p:spPr>
          <a:xfrm>
            <a:off x="1005840" y="312691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ΔΦ=Φ_slut-Φ_start</a:t>
            </a:r>
          </a:p>
        </p:txBody>
      </p:sp>
      <p:pic>
        <p:nvPicPr>
          <p:cNvPr id="15" name="E01-details-0" descr="\Delta\Phi=\Phi_{\mathrm{slut}}-\Phi_{\mathrm{start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26915"/>
            <a:ext cx="1708764" cy="251376"/>
          </a:xfrm>
          <a:prstGeom prst="rect">
            <a:avLst/>
          </a:prstGeom>
        </p:spPr>
      </p:pic>
      <p:sp>
        <p:nvSpPr>
          <p:cNvPr id="16" name="E01-details-1"/>
          <p:cNvSpPr txBox="1"/>
          <p:nvPr/>
        </p:nvSpPr>
        <p:spPr>
          <a:xfrm>
            <a:off x="1005840" y="341944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Størrelse:</a:t>
            </a:r>
          </a:p>
        </p:txBody>
      </p:sp>
      <p:sp>
        <p:nvSpPr>
          <p:cNvPr id="17" name="math-source-E01-details-2"/>
          <p:cNvSpPr txBox="1"/>
          <p:nvPr/>
        </p:nvSpPr>
        <p:spPr>
          <a:xfrm>
            <a:off x="1005840" y="3661756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|e_middel|=N(|ΔΦ|)/(Δ t)</a:t>
            </a:r>
          </a:p>
        </p:txBody>
      </p:sp>
      <p:pic>
        <p:nvPicPr>
          <p:cNvPr id="18" name="E01-details-2" descr="|e_{\mathrm{middel}}|=N\dfrac{|\Delta\Phi|}{\Delta 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61756"/>
            <a:ext cx="1505268" cy="4458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22652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0" name="math-source-E01-details-3"/>
          <p:cNvSpPr txBox="1"/>
          <p:nvPr/>
        </p:nvSpPr>
        <p:spPr>
          <a:xfrm>
            <a:off x="1005840" y="4226523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Φ[Wb]=(Φ[mWb])/(1000)</a:t>
            </a:r>
          </a:p>
        </p:txBody>
      </p:sp>
      <p:pic>
        <p:nvPicPr>
          <p:cNvPr id="21" name="E01-details-3" descr="\Phi[\mathrm{Wb}]=\dfrac{\Phi[\mathrm{mWb}]}{100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26523"/>
            <a:ext cx="1765623" cy="478813"/>
          </a:xfrm>
          <a:prstGeom prst="rect">
            <a:avLst/>
          </a:prstGeom>
        </p:spPr>
      </p:pic>
      <p:sp>
        <p:nvSpPr>
          <p:cNvPr id="22" name="math-source-E01-details-4"/>
          <p:cNvSpPr txBox="1"/>
          <p:nvPr/>
        </p:nvSpPr>
        <p:spPr>
          <a:xfrm>
            <a:off x="1005840" y="4746484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t[s]=(t[ms])/(1000)</a:t>
            </a:r>
          </a:p>
        </p:txBody>
      </p:sp>
      <p:pic>
        <p:nvPicPr>
          <p:cNvPr id="23" name="E01-details-4" descr="t[\mathrm{s}]=\dfrac{t[\mathrm{ms}]}{1000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746484"/>
            <a:ext cx="1059373" cy="4758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534117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5" name="E01-details-5"/>
          <p:cNvSpPr txBox="1"/>
          <p:nvPr/>
        </p:nvSpPr>
        <p:spPr>
          <a:xfrm>
            <a:off x="1005840" y="534117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Minus er Lenz-retningen ift. valgt fluxnormal og omløbsretning.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66121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7" name="math-source-E01-details-6"/>
          <p:cNvSpPr txBox="1"/>
          <p:nvPr/>
        </p:nvSpPr>
        <p:spPr>
          <a:xfrm>
            <a:off x="1005840" y="566121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N=100,ΔΦ=2 mWb</a:t>
            </a:r>
          </a:p>
        </p:txBody>
      </p:sp>
      <p:pic>
        <p:nvPicPr>
          <p:cNvPr id="28" name="E01-details-6" descr="N=100,\quad\Delta\Phi=2\,\mathrm{mWb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661216"/>
            <a:ext cx="2232466" cy="251376"/>
          </a:xfrm>
          <a:prstGeom prst="rect">
            <a:avLst/>
          </a:prstGeom>
        </p:spPr>
      </p:pic>
      <p:sp>
        <p:nvSpPr>
          <p:cNvPr id="29" name="math-source-E01-details-7"/>
          <p:cNvSpPr txBox="1"/>
          <p:nvPr/>
        </p:nvSpPr>
        <p:spPr>
          <a:xfrm>
            <a:off x="1005840" y="595374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t=0,1 s</a:t>
            </a:r>
          </a:p>
        </p:txBody>
      </p:sp>
      <p:pic>
        <p:nvPicPr>
          <p:cNvPr id="30" name="E01-details-7" descr="\Delta t=0{,}1\,\mathrm{s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953741"/>
            <a:ext cx="894781" cy="251376"/>
          </a:xfrm>
          <a:prstGeom prst="rect">
            <a:avLst/>
          </a:prstGeom>
        </p:spPr>
      </p:pic>
      <p:sp>
        <p:nvSpPr>
          <p:cNvPr id="31" name="math-source-E01-details-8"/>
          <p:cNvSpPr txBox="1"/>
          <p:nvPr/>
        </p:nvSpPr>
        <p:spPr>
          <a:xfrm>
            <a:off x="1005840" y="624626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e_middel=-2 V</a:t>
            </a:r>
          </a:p>
        </p:txBody>
      </p:sp>
      <p:pic>
        <p:nvPicPr>
          <p:cNvPr id="32" name="E01-details-8" descr="e_{\mathrm{middel}}=-2\,\mathrm{V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6246266"/>
            <a:ext cx="1286810" cy="251376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E02 · Søger: Øjebliks-EMK e(t) [V]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Φ(t) [Wb]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Valgt positiv fluxnormal og konsistent omløbsretning.</a:t>
            </a:r>
          </a:p>
        </p:txBody>
      </p:sp>
      <p:sp>
        <p:nvSpPr>
          <p:cNvPr id="37" name="math-source-E02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e(t)=-N(dΦ)/(dt)</a:t>
            </a:r>
          </a:p>
        </p:txBody>
      </p:sp>
      <p:pic>
        <p:nvPicPr>
          <p:cNvPr id="38" name="E02-formula" descr="e(t)=-N\frac{\mathrm{d}\Phi}{\mathrm{d}t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2120" y="2340864"/>
            <a:ext cx="1716079" cy="64407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40" name="E02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Differentier fluxfunktionen; eller aflæs dens lokale hældning.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34512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2" name="math-source-E02-details-1"/>
          <p:cNvSpPr txBox="1"/>
          <p:nvPr/>
        </p:nvSpPr>
        <p:spPr>
          <a:xfrm>
            <a:off x="6126480" y="3451278"/>
            <a:ext cx="4206240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(Wb)/(s)=V</a:t>
            </a:r>
          </a:p>
        </p:txBody>
      </p:sp>
      <p:pic>
        <p:nvPicPr>
          <p:cNvPr id="43" name="E02-details-1" descr="\dfrac{\mathrm{Wb}}{\mathrm{s}}=\mathrm{V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3451278"/>
            <a:ext cx="790041" cy="3950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532120" y="39651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5" name="E02-details-2"/>
          <p:cNvSpPr txBox="1"/>
          <p:nvPr/>
        </p:nvSpPr>
        <p:spPr>
          <a:xfrm>
            <a:off x="6126480" y="39651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Middelhældning:</a:t>
            </a:r>
          </a:p>
        </p:txBody>
      </p:sp>
      <p:sp>
        <p:nvSpPr>
          <p:cNvPr id="46" name="math-source-E02-details-3"/>
          <p:cNvSpPr txBox="1"/>
          <p:nvPr/>
        </p:nvSpPr>
        <p:spPr>
          <a:xfrm>
            <a:off x="6126480" y="4207486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(ΔΦ)/(Δ t)</a:t>
            </a:r>
          </a:p>
        </p:txBody>
      </p:sp>
      <p:pic>
        <p:nvPicPr>
          <p:cNvPr id="47" name="E02-details-3" descr="\dfrac{\Delta\Phi}{\Delta t}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0" y="4207486"/>
            <a:ext cx="389035" cy="442902"/>
          </a:xfrm>
          <a:prstGeom prst="rect">
            <a:avLst/>
          </a:prstGeom>
        </p:spPr>
      </p:pic>
      <p:sp>
        <p:nvSpPr>
          <p:cNvPr id="48" name="E02-details-4"/>
          <p:cNvSpPr txBox="1"/>
          <p:nvPr/>
        </p:nvSpPr>
        <p:spPr>
          <a:xfrm>
            <a:off x="6126480" y="469153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Øjeblikshældning:</a:t>
            </a:r>
          </a:p>
        </p:txBody>
      </p:sp>
      <p:sp>
        <p:nvSpPr>
          <p:cNvPr id="49" name="math-source-E02-details-5"/>
          <p:cNvSpPr txBox="1"/>
          <p:nvPr/>
        </p:nvSpPr>
        <p:spPr>
          <a:xfrm>
            <a:off x="6126480" y="4933853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(dΦ)/(dt)</a:t>
            </a:r>
          </a:p>
        </p:txBody>
      </p:sp>
      <p:pic>
        <p:nvPicPr>
          <p:cNvPr id="50" name="E02-details-5" descr="\dfrac{\mathrm{d}\Phi}{\mathrm{d}t}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6480" y="4933853"/>
            <a:ext cx="338161" cy="445894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av-back-index" descr="Til indeks">
            <a:hlinkClick action="ppaction://hlinksldjump" r:id="rId1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53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E03, E05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55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E03 · Søger: Bevægelses-EMK |E|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l [m], v [m/s]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Lige leder; l, v og B står indbyrdes vinkelret.</a:t>
            </a:r>
          </a:p>
        </p:txBody>
      </p:sp>
      <p:sp>
        <p:nvSpPr>
          <p:cNvPr id="11" name="math-source-E03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|E|=Blv</a:t>
            </a:r>
          </a:p>
        </p:txBody>
      </p:sp>
      <p:pic>
        <p:nvPicPr>
          <p:cNvPr id="12" name="E03-formula" descr="|E|=Bl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162784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E03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længden i feltet. Polaritet findes med generatorreglen og:</a:t>
            </a:r>
          </a:p>
        </p:txBody>
      </p:sp>
      <p:sp>
        <p:nvSpPr>
          <p:cNvPr id="15" name="math-source-E03-details-1"/>
          <p:cNvSpPr txBox="1"/>
          <p:nvPr/>
        </p:nvSpPr>
        <p:spPr>
          <a:xfrm>
            <a:off x="1005840" y="3092583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vec v×vec B</a:t>
            </a:r>
          </a:p>
        </p:txBody>
      </p:sp>
      <p:pic>
        <p:nvPicPr>
          <p:cNvPr id="16" name="E03-details-1" descr="\vec v\times\vec 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499761" cy="29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50173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E03-details-2"/>
          <p:cNvSpPr txBox="1"/>
          <p:nvPr/>
        </p:nvSpPr>
        <p:spPr>
          <a:xfrm>
            <a:off x="1005840" y="3501736"/>
            <a:ext cx="4206240" cy="502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v[m/s]=(v[km/h])/(3,6)</a:t>
            </a:r>
          </a:p>
        </p:txBody>
      </p:sp>
      <p:pic>
        <p:nvPicPr>
          <p:cNvPr id="19" name="E03-details-2" descr="v[\mathrm{m/s}]=\dfrac{v[\mathrm{km/h}]}{3{,}6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01736"/>
            <a:ext cx="1580083" cy="5027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12336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E03-details-3"/>
          <p:cNvSpPr txBox="1"/>
          <p:nvPr/>
        </p:nvSpPr>
        <p:spPr>
          <a:xfrm>
            <a:off x="1005840" y="412336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Kun størrelse; vilkårlig bevægelsesretning kræver projektion.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E05 · Søger: Selvinduktions-EMK es [V]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[H], di/dt [A/s]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induktans; induceret modspænding.</a:t>
            </a:r>
          </a:p>
        </p:txBody>
      </p:sp>
      <p:sp>
        <p:nvSpPr>
          <p:cNvPr id="26" name="math-source-E05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e_s=-L(di)/(dt)</a:t>
            </a:r>
          </a:p>
        </p:txBody>
      </p:sp>
      <p:pic>
        <p:nvPicPr>
          <p:cNvPr id="27" name="E05-formula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318398" cy="64407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E05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 lineær rampe:</a:t>
            </a:r>
          </a:p>
        </p:txBody>
      </p:sp>
      <p:sp>
        <p:nvSpPr>
          <p:cNvPr id="30" name="math-source-E05-details-1"/>
          <p:cNvSpPr txBox="1"/>
          <p:nvPr/>
        </p:nvSpPr>
        <p:spPr>
          <a:xfrm>
            <a:off x="6126480" y="3373554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e_s,middel=-L(Δ </a:t>
            </a:r>
            <a:r>
              <a:rPr>
                <a:latin typeface="Cambria Math"/>
              </a:rPr>
              <a:t>I</a:t>
            </a:r>
            <a:r>
              <a:t>)/(Δ t)</a:t>
            </a:r>
          </a:p>
        </p:txBody>
      </p:sp>
      <p:pic>
        <p:nvPicPr>
          <p:cNvPr id="31" name="E05-details-1" descr="e_{s,\mathrm{middel}}=-L\dfrac{\Delta I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73554"/>
            <a:ext cx="1478335" cy="4429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93532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3" name="math-source-E05-details-2"/>
          <p:cNvSpPr txBox="1"/>
          <p:nvPr/>
        </p:nvSpPr>
        <p:spPr>
          <a:xfrm>
            <a:off x="6126480" y="3935328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L[H]=(L[mH])/(1000)</a:t>
            </a:r>
          </a:p>
        </p:txBody>
      </p:sp>
      <p:pic>
        <p:nvPicPr>
          <p:cNvPr id="34" name="E05-details-2" descr="L[\mathrm{H}]=\dfrac{L[\mathrm{mH}]}{100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35328"/>
            <a:ext cx="1340676" cy="4758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53002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E05-details-3"/>
          <p:cNvSpPr txBox="1"/>
          <p:nvPr/>
        </p:nvSpPr>
        <p:spPr>
          <a:xfrm>
            <a:off x="6126480" y="453002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Passiv klemspænding:</a:t>
            </a:r>
          </a:p>
        </p:txBody>
      </p:sp>
      <p:sp>
        <p:nvSpPr>
          <p:cNvPr id="37" name="math-source-E05-details-4"/>
          <p:cNvSpPr txBox="1"/>
          <p:nvPr/>
        </p:nvSpPr>
        <p:spPr>
          <a:xfrm>
            <a:off x="6126480" y="4772336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u_L=+L(di)/(dt)</a:t>
            </a:r>
          </a:p>
        </p:txBody>
      </p:sp>
      <p:pic>
        <p:nvPicPr>
          <p:cNvPr id="38" name="E05-details-4" descr="u_L=+L\dfrac{\mathrm{d}i}{\mathrm{d}t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772336"/>
            <a:ext cx="951641" cy="445894"/>
          </a:xfrm>
          <a:prstGeom prst="rect">
            <a:avLst/>
          </a:prstGeom>
        </p:spPr>
      </p:pic>
      <p:sp>
        <p:nvSpPr>
          <p:cNvPr id="39" name="E05-details-5"/>
          <p:cNvSpPr txBox="1"/>
          <p:nvPr/>
        </p:nvSpPr>
        <p:spPr>
          <a:xfrm>
            <a:off x="6126480" y="525937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EMK er modsatrettet.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557941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E05-details-6"/>
          <p:cNvSpPr txBox="1"/>
          <p:nvPr/>
        </p:nvSpPr>
        <p:spPr>
          <a:xfrm>
            <a:off x="6126480" y="557941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L=20 mH</a:t>
            </a:r>
          </a:p>
        </p:txBody>
      </p:sp>
      <p:pic>
        <p:nvPicPr>
          <p:cNvPr id="42" name="E05-details-6" descr="L=20\,\mathrm{mH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5579419"/>
            <a:ext cx="996529" cy="251376"/>
          </a:xfrm>
          <a:prstGeom prst="rect">
            <a:avLst/>
          </a:prstGeom>
        </p:spPr>
      </p:pic>
      <p:sp>
        <p:nvSpPr>
          <p:cNvPr id="43" name="math-source-E05-details-7"/>
          <p:cNvSpPr txBox="1"/>
          <p:nvPr/>
        </p:nvSpPr>
        <p:spPr>
          <a:xfrm>
            <a:off x="6126480" y="5871944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(Δ </a:t>
            </a:r>
            <a:r>
              <a:rPr>
                <a:latin typeface="Cambria Math"/>
              </a:rPr>
              <a:t>I</a:t>
            </a:r>
            <a:r>
              <a:t>)/(Δ t)=(2 A)/(10 ms)</a:t>
            </a:r>
          </a:p>
        </p:txBody>
      </p:sp>
      <p:pic>
        <p:nvPicPr>
          <p:cNvPr id="44" name="E05-details-7" descr="\dfrac{\Delta I}{\Delta t}=\dfrac{2\,\mathrm{A}}{10\,\mathrm{ms}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5871944"/>
            <a:ext cx="1065359" cy="445894"/>
          </a:xfrm>
          <a:prstGeom prst="rect">
            <a:avLst/>
          </a:prstGeom>
        </p:spPr>
      </p:pic>
      <p:sp>
        <p:nvSpPr>
          <p:cNvPr id="45" name="math-source-E05-details-8"/>
          <p:cNvSpPr txBox="1"/>
          <p:nvPr/>
        </p:nvSpPr>
        <p:spPr>
          <a:xfrm>
            <a:off x="6126480" y="6358986"/>
            <a:ext cx="4206240" cy="266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e_s,middel=-4 V</a:t>
            </a:r>
          </a:p>
        </p:txBody>
      </p:sp>
      <p:pic>
        <p:nvPicPr>
          <p:cNvPr id="46" name="E05-details-8" descr="e_{s,\mathrm{middel}}=-4\,\mathrm{V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6358986"/>
            <a:ext cx="1412498" cy="266339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av-back-index" descr="Til indeks">
            <a:hlinkClick action="ppaction://hlinksldjump" r:id="rId13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9" name="nav-back-start" descr="Til start">
            <a:hlinkClick action="ppaction://hlinksldjump" r:id="rId14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E04, E06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56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E04 · Søger: Induktans L [H]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μ [H/m], A [m²],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ensartet spole/magnetkreds; lækage negligeres.</a:t>
            </a:r>
          </a:p>
        </p:txBody>
      </p:sp>
      <p:sp>
        <p:nvSpPr>
          <p:cNvPr id="11" name="math-source-E04-formula"/>
          <p:cNvSpPr txBox="1"/>
          <p:nvPr/>
        </p:nvSpPr>
        <p:spPr>
          <a:xfrm>
            <a:off x="411480" y="2340864"/>
            <a:ext cx="4800600" cy="76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L=(N^2μ A)/(l)</a:t>
            </a:r>
          </a:p>
        </p:txBody>
      </p:sp>
      <p:pic>
        <p:nvPicPr>
          <p:cNvPr id="12" name="E04-formula" descr="L=\frac{N^2\mu A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344334" cy="7694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5659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E04-details-0"/>
          <p:cNvSpPr txBox="1"/>
          <p:nvPr/>
        </p:nvSpPr>
        <p:spPr>
          <a:xfrm>
            <a:off x="1005840" y="325659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μ=μ_0μ_r</a:t>
            </a:r>
          </a:p>
        </p:txBody>
      </p:sp>
      <p:pic>
        <p:nvPicPr>
          <p:cNvPr id="15" name="E04-details-0" descr="\mu=\mu_0\mu_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56594"/>
            <a:ext cx="796026" cy="251376"/>
          </a:xfrm>
          <a:prstGeom prst="rect">
            <a:avLst/>
          </a:prstGeom>
        </p:spPr>
      </p:pic>
      <p:sp>
        <p:nvSpPr>
          <p:cNvPr id="16" name="E04-details-1"/>
          <p:cNvSpPr txBox="1"/>
          <p:nvPr/>
        </p:nvSpPr>
        <p:spPr>
          <a:xfrm>
            <a:off x="1005840" y="35491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Alternativt:</a:t>
            </a:r>
          </a:p>
        </p:txBody>
      </p:sp>
      <p:sp>
        <p:nvSpPr>
          <p:cNvPr id="17" name="math-source-E04-details-2"/>
          <p:cNvSpPr txBox="1"/>
          <p:nvPr/>
        </p:nvSpPr>
        <p:spPr>
          <a:xfrm>
            <a:off x="1005840" y="3791434"/>
            <a:ext cx="4206240" cy="5117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L=(N^2)/(R_m)</a:t>
            </a:r>
          </a:p>
        </p:txBody>
      </p:sp>
      <p:pic>
        <p:nvPicPr>
          <p:cNvPr id="18" name="E04-details-2" descr="L=\dfrac{N^2}{R_m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91434"/>
            <a:ext cx="670338" cy="5117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4220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0" name="E04-details-3"/>
          <p:cNvSpPr txBox="1"/>
          <p:nvPr/>
        </p:nvSpPr>
        <p:spPr>
          <a:xfrm>
            <a:off x="1005840" y="44220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skal være m².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7420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E04-details-4"/>
          <p:cNvSpPr txBox="1"/>
          <p:nvPr/>
        </p:nvSpPr>
        <p:spPr>
          <a:xfrm>
            <a:off x="1005840" y="4742078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Mætning, luftgab og geometri kan gøre denne model</a:t>
            </a:r>
            <a:br/>
            <a:r>
              <a:t>utilstrækkelig.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E06 · Søger: Induktans L [H]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es [V], Δ</a:t>
            </a:r>
            <a:r>
              <a:rPr>
                <a:latin typeface="Cambria Math"/>
              </a:rPr>
              <a:t>I</a:t>
            </a:r>
            <a:r>
              <a:t> [A], Δt [s]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strømrampe; tab adskilt fra selvinduktion.</a:t>
            </a:r>
          </a:p>
        </p:txBody>
      </p:sp>
      <p:sp>
        <p:nvSpPr>
          <p:cNvPr id="27" name="math-source-E06-formula"/>
          <p:cNvSpPr txBox="1"/>
          <p:nvPr/>
        </p:nvSpPr>
        <p:spPr>
          <a:xfrm>
            <a:off x="5532120" y="2340864"/>
            <a:ext cx="4800600" cy="68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L=-(e_sΔ t)/(Δ </a:t>
            </a:r>
            <a:r>
              <a:rPr>
                <a:latin typeface="Cambria Math"/>
              </a:rPr>
              <a:t>I</a:t>
            </a:r>
            <a:r>
              <a:t>)</a:t>
            </a:r>
          </a:p>
        </p:txBody>
      </p:sp>
      <p:pic>
        <p:nvPicPr>
          <p:cNvPr id="28" name="E06-formula" descr="L=-\frac{e_s\Delta t}{\Delta 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396205" cy="6829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170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E06-details-0"/>
          <p:cNvSpPr txBox="1"/>
          <p:nvPr/>
        </p:nvSpPr>
        <p:spPr>
          <a:xfrm>
            <a:off x="6126480" y="317014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 er positiv med konsistente fortegn.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4901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E06-details-1"/>
          <p:cNvSpPr txBox="1"/>
          <p:nvPr/>
        </p:nvSpPr>
        <p:spPr>
          <a:xfrm>
            <a:off x="6126480" y="349018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og 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81022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E06-details-2"/>
          <p:cNvSpPr txBox="1"/>
          <p:nvPr/>
        </p:nvSpPr>
        <p:spPr>
          <a:xfrm>
            <a:off x="6126480" y="381022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Målt spolespænding omfatter ofte også resistivt spændingsfald:</a:t>
            </a:r>
          </a:p>
        </p:txBody>
      </p:sp>
      <p:sp>
        <p:nvSpPr>
          <p:cNvPr id="35" name="math-source-E06-details-3"/>
          <p:cNvSpPr txBox="1"/>
          <p:nvPr/>
        </p:nvSpPr>
        <p:spPr>
          <a:xfrm>
            <a:off x="6126480" y="405253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U_R=IR</a:t>
            </a:r>
          </a:p>
        </p:txBody>
      </p:sp>
      <p:pic>
        <p:nvPicPr>
          <p:cNvPr id="36" name="E06-details-3" descr="\Delta U_R=I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052537"/>
            <a:ext cx="921715" cy="251376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Kredsløbsmetoder · N02, U07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57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N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N02 · Søger: Ukendt grenstrøm </a:t>
            </a:r>
            <a:r>
              <a:rPr>
                <a:latin typeface="Cambria Math"/>
              </a:rPr>
              <a:t>I</a:t>
            </a:r>
            <a:r>
              <a:t>x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Alle øvrige ind- og udstrømme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KCL i én knude; stationær kreds.</a:t>
            </a:r>
          </a:p>
        </p:txBody>
      </p:sp>
      <p:sp>
        <p:nvSpPr>
          <p:cNvPr id="11" name="math-source-N02-formula"/>
          <p:cNvSpPr txBox="1"/>
          <p:nvPr/>
        </p:nvSpPr>
        <p:spPr>
          <a:xfrm>
            <a:off x="411480" y="2340864"/>
            <a:ext cx="4800600" cy="4192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_x=Σ </a:t>
            </a:r>
            <a:r>
              <a:rPr>
                <a:latin typeface="Cambria Math"/>
              </a:rPr>
              <a:t>I</a:t>
            </a:r>
            <a:r>
              <a:t>_ind-Σ </a:t>
            </a:r>
            <a:r>
              <a:rPr>
                <a:latin typeface="Cambria Math"/>
              </a:rPr>
              <a:t>I</a:t>
            </a:r>
            <a:r>
              <a:t>_andre,ud</a:t>
            </a:r>
          </a:p>
        </p:txBody>
      </p:sp>
      <p:pic>
        <p:nvPicPr>
          <p:cNvPr id="12" name="N02-formula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926412" cy="4192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9064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N02-details-0"/>
          <p:cNvSpPr txBox="1"/>
          <p:nvPr/>
        </p:nvSpPr>
        <p:spPr>
          <a:xfrm>
            <a:off x="1005840" y="290646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grenstrømmens pil ud af knuden.</a:t>
            </a:r>
          </a:p>
        </p:txBody>
      </p:sp>
      <p:sp>
        <p:nvSpPr>
          <p:cNvPr id="15" name="math-source-N02-details-1"/>
          <p:cNvSpPr txBox="1"/>
          <p:nvPr/>
        </p:nvSpPr>
        <p:spPr>
          <a:xfrm>
            <a:off x="1005840" y="3148777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Σ </a:t>
            </a:r>
            <a:r>
              <a:rPr>
                <a:latin typeface="Cambria Math"/>
              </a:rPr>
              <a:t>I</a:t>
            </a:r>
            <a:r>
              <a:t>_ind=Σ </a:t>
            </a:r>
            <a:r>
              <a:rPr>
                <a:latin typeface="Cambria Math"/>
              </a:rPr>
              <a:t>I</a:t>
            </a:r>
            <a:r>
              <a:t>_ud</a:t>
            </a:r>
          </a:p>
        </p:txBody>
      </p:sp>
      <p:pic>
        <p:nvPicPr>
          <p:cNvPr id="16" name="N02-details-1" descr="\sum I_{\mathrm{ind}}=\sum I_{\mathrm{ud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48777"/>
            <a:ext cx="1223965" cy="29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55793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N02-details-2"/>
          <p:cNvSpPr txBox="1"/>
          <p:nvPr/>
        </p:nvSpPr>
        <p:spPr>
          <a:xfrm>
            <a:off x="1005840" y="355793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Omregn alle strømme til A eller alle til 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779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math-source-N02-details-3"/>
          <p:cNvSpPr txBox="1"/>
          <p:nvPr/>
        </p:nvSpPr>
        <p:spPr>
          <a:xfrm>
            <a:off x="1005840" y="387797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_x&lt;0</a:t>
            </a:r>
          </a:p>
        </p:txBody>
      </p:sp>
      <p:pic>
        <p:nvPicPr>
          <p:cNvPr id="21" name="N02-details-3" descr="I_x&lt;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77970"/>
            <a:ext cx="541657" cy="251376"/>
          </a:xfrm>
          <a:prstGeom prst="rect">
            <a:avLst/>
          </a:prstGeom>
        </p:spPr>
      </p:pic>
      <p:sp>
        <p:nvSpPr>
          <p:cNvPr id="22" name="N02-details-4"/>
          <p:cNvSpPr txBox="1"/>
          <p:nvPr/>
        </p:nvSpPr>
        <p:spPr>
          <a:xfrm>
            <a:off x="1005840" y="417049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betyder modsat den valgte pil; ikke en fejl i sig selv.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U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U07 · Søger: Knudespænding Va [V]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Grenkilder Ek [V], Rk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Fælles knude a og reference 0; kilder + mod a.</a:t>
            </a:r>
          </a:p>
        </p:txBody>
      </p:sp>
      <p:sp>
        <p:nvSpPr>
          <p:cNvPr id="27" name="math-source-U07-formula"/>
          <p:cNvSpPr txBox="1"/>
          <p:nvPr/>
        </p:nvSpPr>
        <p:spPr>
          <a:xfrm>
            <a:off x="5532120" y="2340864"/>
            <a:ext cx="4800600" cy="15518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V_a=(Σ_k(E_k)/(R_k))/(Σ_k(1)/(R_k))</a:t>
            </a:r>
          </a:p>
        </p:txBody>
      </p:sp>
      <p:pic>
        <p:nvPicPr>
          <p:cNvPr id="28" name="U07-formula" descr="V_a=\dfrac{\sum_k\dfrac{E_k}{R_k}}{\sum_k\dfrac{1}{R_k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352979" cy="155181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403898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U07-details-0"/>
          <p:cNvSpPr txBox="1"/>
          <p:nvPr/>
        </p:nvSpPr>
        <p:spPr>
          <a:xfrm>
            <a:off x="6126480" y="403898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Ren modstandsgren:</a:t>
            </a:r>
          </a:p>
        </p:txBody>
      </p:sp>
      <p:sp>
        <p:nvSpPr>
          <p:cNvPr id="31" name="math-source-U07-details-1"/>
          <p:cNvSpPr txBox="1"/>
          <p:nvPr/>
        </p:nvSpPr>
        <p:spPr>
          <a:xfrm>
            <a:off x="6126480" y="428130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E_k=0</a:t>
            </a:r>
          </a:p>
        </p:txBody>
      </p:sp>
      <p:pic>
        <p:nvPicPr>
          <p:cNvPr id="32" name="U07-details-1" descr="E_k=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281303"/>
            <a:ext cx="604501" cy="251376"/>
          </a:xfrm>
          <a:prstGeom prst="rect">
            <a:avLst/>
          </a:prstGeom>
        </p:spPr>
      </p:pic>
      <p:sp>
        <p:nvSpPr>
          <p:cNvPr id="33" name="U07-details-2"/>
          <p:cNvSpPr txBox="1"/>
          <p:nvPr/>
        </p:nvSpPr>
        <p:spPr>
          <a:xfrm>
            <a:off x="6126480" y="457382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derpå grenstrømmene:</a:t>
            </a:r>
          </a:p>
        </p:txBody>
      </p:sp>
      <p:sp>
        <p:nvSpPr>
          <p:cNvPr id="34" name="math-source-U07-details-3"/>
          <p:cNvSpPr txBox="1"/>
          <p:nvPr/>
        </p:nvSpPr>
        <p:spPr>
          <a:xfrm>
            <a:off x="6126480" y="4816144"/>
            <a:ext cx="4206240" cy="496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_k=(V_a-E_k)/(R_k)</a:t>
            </a:r>
          </a:p>
        </p:txBody>
      </p:sp>
      <p:pic>
        <p:nvPicPr>
          <p:cNvPr id="35" name="U07-details-3" descr="I_k=\dfrac{V_a-E_k}{R_k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816144"/>
            <a:ext cx="1107255" cy="4967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543178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7" name="U07-details-4"/>
          <p:cNvSpPr txBox="1"/>
          <p:nvPr/>
        </p:nvSpPr>
        <p:spPr>
          <a:xfrm>
            <a:off x="6126480" y="543178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 og Ω.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7518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U07-details-5"/>
          <p:cNvSpPr txBox="1"/>
          <p:nvPr/>
        </p:nvSpPr>
        <p:spPr>
          <a:xfrm>
            <a:off x="6126480" y="57518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Gælder denne to-knude-topologi; ellers løs KCL-ligninger.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Kredsløbsmetoder · N01, N03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58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N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N01 · Søger: Knudespændinger Va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Topologi, R [Ω], kilder og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DC-net; strømmene ud af hver ukendt knude.</a:t>
            </a:r>
          </a:p>
        </p:txBody>
      </p:sp>
      <p:sp>
        <p:nvSpPr>
          <p:cNvPr id="11" name="math-source-N01-formula"/>
          <p:cNvSpPr txBox="1"/>
          <p:nvPr/>
        </p:nvSpPr>
        <p:spPr>
          <a:xfrm>
            <a:off x="411480" y="2340864"/>
            <a:ext cx="4800600" cy="782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Σ_bfracV_a-V_bR_ab=</a:t>
            </a:r>
            <a:r>
              <a:rPr>
                <a:latin typeface="Cambria Math"/>
              </a:rPr>
              <a:t>I</a:t>
            </a:r>
            <a:r>
              <a:t>_ind,a</a:t>
            </a:r>
          </a:p>
        </p:txBody>
      </p:sp>
      <p:pic>
        <p:nvPicPr>
          <p:cNvPr id="12" name="N01-formula" descr="\sum_b\frac{V_a-V_b}{R_{ab}}=I_{\mathrm{ind},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295310" cy="7823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695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N01-details-0"/>
          <p:cNvSpPr txBox="1"/>
          <p:nvPr/>
        </p:nvSpPr>
        <p:spPr>
          <a:xfrm>
            <a:off x="1005840" y="326956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reference 0. Skriv KCL; løs samtidige ligninger.</a:t>
            </a:r>
          </a:p>
        </p:txBody>
      </p:sp>
      <p:sp>
        <p:nvSpPr>
          <p:cNvPr id="15" name="math-source-N01-details-1"/>
          <p:cNvSpPr txBox="1"/>
          <p:nvPr/>
        </p:nvSpPr>
        <p:spPr>
          <a:xfrm>
            <a:off x="1005840" y="3511877"/>
            <a:ext cx="4206240" cy="496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_k=(V_a-V_b)/(R_k)</a:t>
            </a:r>
          </a:p>
        </p:txBody>
      </p:sp>
      <p:pic>
        <p:nvPicPr>
          <p:cNvPr id="16" name="N01-details-1" descr="I_k=\dfrac{V_a-V_b}{R_k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11877"/>
            <a:ext cx="1116233" cy="4967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41275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N01-details-2"/>
          <p:cNvSpPr txBox="1"/>
          <p:nvPr/>
        </p:nvSpPr>
        <p:spPr>
          <a:xfrm>
            <a:off x="1005840" y="41275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 og Ω.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44755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N01-details-3"/>
          <p:cNvSpPr txBox="1"/>
          <p:nvPr/>
        </p:nvSpPr>
        <p:spPr>
          <a:xfrm>
            <a:off x="1005840" y="444755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Ideel kilde mellem ukendte knuder kræver superknude og:</a:t>
            </a:r>
          </a:p>
        </p:txBody>
      </p:sp>
      <p:sp>
        <p:nvSpPr>
          <p:cNvPr id="21" name="math-source-N01-details-4"/>
          <p:cNvSpPr txBox="1"/>
          <p:nvPr/>
        </p:nvSpPr>
        <p:spPr>
          <a:xfrm>
            <a:off x="1005840" y="468987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V_a-V_b=E</a:t>
            </a:r>
          </a:p>
        </p:txBody>
      </p:sp>
      <p:pic>
        <p:nvPicPr>
          <p:cNvPr id="22" name="N01-details-4" descr="V_a-V_b=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689874"/>
            <a:ext cx="1101270" cy="2513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N03 · Søger: Kontrol af spændinger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Kilders polaritet, </a:t>
            </a:r>
            <a:r>
              <a:rPr>
                <a:latin typeface="Cambria Math"/>
              </a:rPr>
              <a:t>I</a:t>
            </a:r>
            <a:r>
              <a:t> [A], R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KVL i lukket DC-sløjfe; kontrol efter KCL-løsning.</a:t>
            </a:r>
          </a:p>
        </p:txBody>
      </p:sp>
      <p:sp>
        <p:nvSpPr>
          <p:cNvPr id="27" name="math-source-N03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Σ_kΔ V_k=0</a:t>
            </a:r>
          </a:p>
        </p:txBody>
      </p:sp>
      <p:pic>
        <p:nvPicPr>
          <p:cNvPr id="28" name="N03-formula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374592" cy="6440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N03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Fra minus til plus over kilde:</a:t>
            </a:r>
          </a:p>
        </p:txBody>
      </p:sp>
      <p:sp>
        <p:nvSpPr>
          <p:cNvPr id="31" name="math-source-N03-details-1"/>
          <p:cNvSpPr txBox="1"/>
          <p:nvPr/>
        </p:nvSpPr>
        <p:spPr>
          <a:xfrm>
            <a:off x="6126480" y="337355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V=+E</a:t>
            </a:r>
          </a:p>
        </p:txBody>
      </p:sp>
      <p:pic>
        <p:nvPicPr>
          <p:cNvPr id="32" name="N03-details-1" descr="\Delta V=+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73554"/>
            <a:ext cx="879819" cy="251376"/>
          </a:xfrm>
          <a:prstGeom prst="rect">
            <a:avLst/>
          </a:prstGeom>
        </p:spPr>
      </p:pic>
      <p:sp>
        <p:nvSpPr>
          <p:cNvPr id="33" name="N03-details-2"/>
          <p:cNvSpPr txBox="1"/>
          <p:nvPr/>
        </p:nvSpPr>
        <p:spPr>
          <a:xfrm>
            <a:off x="6126480" y="366607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strøm gennem modstand:</a:t>
            </a:r>
          </a:p>
        </p:txBody>
      </p:sp>
      <p:sp>
        <p:nvSpPr>
          <p:cNvPr id="34" name="math-source-N03-details-3"/>
          <p:cNvSpPr txBox="1"/>
          <p:nvPr/>
        </p:nvSpPr>
        <p:spPr>
          <a:xfrm>
            <a:off x="6126480" y="390839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V=-IR</a:t>
            </a:r>
          </a:p>
        </p:txBody>
      </p:sp>
      <p:pic>
        <p:nvPicPr>
          <p:cNvPr id="35" name="N03-details-3" descr="\Delta V=-I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08394"/>
            <a:ext cx="945655" cy="2513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427864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7" name="N03-details-4"/>
          <p:cNvSpPr txBox="1"/>
          <p:nvPr/>
        </p:nvSpPr>
        <p:spPr>
          <a:xfrm>
            <a:off x="6126480" y="427864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led i V.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5986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N03-details-5"/>
          <p:cNvSpPr txBox="1"/>
          <p:nvPr/>
        </p:nvSpPr>
        <p:spPr>
          <a:xfrm>
            <a:off x="6126480" y="459868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Kun</a:t>
            </a:r>
          </a:p>
        </p:txBody>
      </p:sp>
      <p:sp>
        <p:nvSpPr>
          <p:cNvPr id="40" name="math-source-N03-details-6"/>
          <p:cNvSpPr txBox="1"/>
          <p:nvPr/>
        </p:nvSpPr>
        <p:spPr>
          <a:xfrm>
            <a:off x="6126480" y="484099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n-1</a:t>
            </a:r>
          </a:p>
        </p:txBody>
      </p:sp>
      <p:pic>
        <p:nvPicPr>
          <p:cNvPr id="41" name="N03-details-6" descr="n-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840999"/>
            <a:ext cx="478813" cy="251376"/>
          </a:xfrm>
          <a:prstGeom prst="rect">
            <a:avLst/>
          </a:prstGeom>
        </p:spPr>
      </p:pic>
      <p:sp>
        <p:nvSpPr>
          <p:cNvPr id="42" name="N03-details-7"/>
          <p:cNvSpPr txBox="1"/>
          <p:nvPr/>
        </p:nvSpPr>
        <p:spPr>
          <a:xfrm>
            <a:off x="6126480" y="513352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knudeligninger er uafhængige i et net med n knuder.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C01, C02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59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C01 · Søger: Elektrisk fluxtæthed D [C/m²]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A [m²]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pladekondensator; fælles pladeareal A, afstand a, homogent dielektrikum.</a:t>
            </a:r>
          </a:p>
        </p:txBody>
      </p:sp>
      <p:sp>
        <p:nvSpPr>
          <p:cNvPr id="11" name="math-source-C01-formula"/>
          <p:cNvSpPr txBox="1"/>
          <p:nvPr/>
        </p:nvSpPr>
        <p:spPr>
          <a:xfrm>
            <a:off x="411480" y="2340864"/>
            <a:ext cx="4800600" cy="691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D=(Q)/(A)</a:t>
            </a:r>
          </a:p>
        </p:txBody>
      </p:sp>
      <p:pic>
        <p:nvPicPr>
          <p:cNvPr id="12" name="C01-formula" descr="D=\dfrac{Q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73168" cy="6916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7878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01-details-0"/>
          <p:cNvSpPr txBox="1"/>
          <p:nvPr/>
        </p:nvSpPr>
        <p:spPr>
          <a:xfrm>
            <a:off x="1005840" y="3178786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Q=DA</a:t>
            </a:r>
          </a:p>
        </p:txBody>
      </p:sp>
      <p:pic>
        <p:nvPicPr>
          <p:cNvPr id="15" name="C01-details-0" descr="Q=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78786"/>
            <a:ext cx="733182" cy="254369"/>
          </a:xfrm>
          <a:prstGeom prst="rect">
            <a:avLst/>
          </a:prstGeom>
        </p:spPr>
      </p:pic>
      <p:sp>
        <p:nvSpPr>
          <p:cNvPr id="16" name="C01-details-1"/>
          <p:cNvSpPr txBox="1"/>
          <p:nvPr/>
        </p:nvSpPr>
        <p:spPr>
          <a:xfrm>
            <a:off x="1005840" y="347430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fast spænding og geometri:</a:t>
            </a:r>
          </a:p>
        </p:txBody>
      </p:sp>
      <p:sp>
        <p:nvSpPr>
          <p:cNvPr id="17" name="math-source-C01-details-2"/>
          <p:cNvSpPr txBox="1"/>
          <p:nvPr/>
        </p:nvSpPr>
        <p:spPr>
          <a:xfrm>
            <a:off x="1005840" y="371662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D=ε U/a</a:t>
            </a:r>
          </a:p>
        </p:txBody>
      </p:sp>
      <p:pic>
        <p:nvPicPr>
          <p:cNvPr id="18" name="C01-details-2" descr="D=\varepsilon U/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16620"/>
            <a:ext cx="879819" cy="25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08686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0" name="math-source-C01-details-3"/>
          <p:cNvSpPr txBox="1"/>
          <p:nvPr/>
        </p:nvSpPr>
        <p:spPr>
          <a:xfrm>
            <a:off x="1005840" y="4086869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C/m^2</a:t>
            </a:r>
          </a:p>
        </p:txBody>
      </p:sp>
      <p:pic>
        <p:nvPicPr>
          <p:cNvPr id="21" name="C01-details-3" descr="1\,\mathrm{C}/\mathrm{m}^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86869"/>
            <a:ext cx="664353" cy="25436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480" y="446011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3" name="C01-details-4"/>
          <p:cNvSpPr txBox="1"/>
          <p:nvPr/>
        </p:nvSpPr>
        <p:spPr>
          <a:xfrm>
            <a:off x="1005840" y="446011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 er ladning pr. areal; ikke elektrisk flux Ψ [V·m].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C02 · Søger: Ladning Q [C]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D [C/m²], A [m²]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pladekondensator; fælles pladeareal A, afstand a, homogent dielektrikum.</a:t>
            </a:r>
          </a:p>
        </p:txBody>
      </p:sp>
      <p:sp>
        <p:nvSpPr>
          <p:cNvPr id="28" name="math-source-C02-formula"/>
          <p:cNvSpPr txBox="1"/>
          <p:nvPr/>
        </p:nvSpPr>
        <p:spPr>
          <a:xfrm>
            <a:off x="5532120" y="2340864"/>
            <a:ext cx="4800600" cy="36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Q=DA</a:t>
            </a:r>
          </a:p>
        </p:txBody>
      </p:sp>
      <p:pic>
        <p:nvPicPr>
          <p:cNvPr id="29" name="C02-formula" descr="Q=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40864"/>
            <a:ext cx="1059041" cy="36742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28545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math-source-C02-details-0"/>
          <p:cNvSpPr txBox="1"/>
          <p:nvPr/>
        </p:nvSpPr>
        <p:spPr>
          <a:xfrm>
            <a:off x="6126480" y="2854590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D=(Q)/(A)</a:t>
            </a:r>
          </a:p>
        </p:txBody>
      </p:sp>
      <p:pic>
        <p:nvPicPr>
          <p:cNvPr id="32" name="C02-details-0" descr="D=\dfrac{Q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854590"/>
            <a:ext cx="604501" cy="47881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45227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math-source-C02-details-1"/>
          <p:cNvSpPr txBox="1"/>
          <p:nvPr/>
        </p:nvSpPr>
        <p:spPr>
          <a:xfrm>
            <a:off x="6126480" y="3452275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C/m^2cdotm^2=C</a:t>
            </a:r>
          </a:p>
        </p:txBody>
      </p:sp>
      <p:pic>
        <p:nvPicPr>
          <p:cNvPr id="35" name="C02-details-1" descr="\mathrm{C}/\mathrm{m}^2\cdot\mathrm{m}^2=\mathrm{C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452275"/>
            <a:ext cx="1307758" cy="25436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38255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C02-details-2"/>
          <p:cNvSpPr txBox="1"/>
          <p:nvPr/>
        </p:nvSpPr>
        <p:spPr>
          <a:xfrm>
            <a:off x="6126480" y="3825517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Q er pladeladningens størrelse. Positiv og negativ plade har</a:t>
            </a:r>
            <a:br/>
            <a:r>
              <a:t>modsat fortegn.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C03, C04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60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C03 · Søger: Feltstyrke E [V/m]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D [C/m²], ε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pladekondensator; fælles pladeareal A, afstand a, homogent dielektrikum.</a:t>
            </a:r>
          </a:p>
        </p:txBody>
      </p:sp>
      <p:sp>
        <p:nvSpPr>
          <p:cNvPr id="11" name="math-source-C03-formula"/>
          <p:cNvSpPr txBox="1"/>
          <p:nvPr/>
        </p:nvSpPr>
        <p:spPr>
          <a:xfrm>
            <a:off x="411480" y="2340864"/>
            <a:ext cx="4800600" cy="739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E=(D)/(ε)=(Q)/(ε_0ε_r A)</a:t>
            </a:r>
          </a:p>
        </p:txBody>
      </p:sp>
      <p:pic>
        <p:nvPicPr>
          <p:cNvPr id="12" name="C03-formula" descr="E=\dfrac{D}{\varepsilon}=\dfrac{Q}{\varepsilon_0\varepsilon_r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927887" cy="7391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263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03-details-0"/>
          <p:cNvSpPr txBox="1"/>
          <p:nvPr/>
        </p:nvSpPr>
        <p:spPr>
          <a:xfrm>
            <a:off x="1005840" y="322633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ε=ε_0ε_r</a:t>
            </a:r>
          </a:p>
        </p:txBody>
      </p:sp>
      <p:pic>
        <p:nvPicPr>
          <p:cNvPr id="15" name="C03-details-0" descr="\varepsilon=\varepsilon_0\varepsilon_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26335"/>
            <a:ext cx="733182" cy="251376"/>
          </a:xfrm>
          <a:prstGeom prst="rect">
            <a:avLst/>
          </a:prstGeom>
        </p:spPr>
      </p:pic>
      <p:sp>
        <p:nvSpPr>
          <p:cNvPr id="16" name="math-source-C03-details-1"/>
          <p:cNvSpPr txBox="1"/>
          <p:nvPr/>
        </p:nvSpPr>
        <p:spPr>
          <a:xfrm>
            <a:off x="1005840" y="3518860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D=Q/A</a:t>
            </a:r>
          </a:p>
        </p:txBody>
      </p:sp>
      <p:pic>
        <p:nvPicPr>
          <p:cNvPr id="17" name="C03-details-1" descr="D=Q/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18860"/>
            <a:ext cx="796026" cy="2543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89210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ath-source-C03-details-2"/>
          <p:cNvSpPr txBox="1"/>
          <p:nvPr/>
        </p:nvSpPr>
        <p:spPr>
          <a:xfrm>
            <a:off x="1005840" y="3892102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C/m^2div(F/m)=V/m</a:t>
            </a:r>
          </a:p>
        </p:txBody>
      </p:sp>
      <p:pic>
        <p:nvPicPr>
          <p:cNvPr id="20" name="C03-details-2" descr="\mathrm{C}/\mathrm{m}^2\div(\mathrm{F}/\mathrm{m})=\mathrm{V}/\mathrm{m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892102"/>
            <a:ext cx="1882333" cy="290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43012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C03-details-3"/>
          <p:cNvSpPr txBox="1"/>
          <p:nvPr/>
        </p:nvSpPr>
        <p:spPr>
          <a:xfrm>
            <a:off x="1005840" y="430125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 er feltstyrke; εr er dimensionsløs. Randfelter forsømmes.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C04 · Søger: Feltstyrke E [V/m]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a [m]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pladekondensator; fælles pladeareal A, afstand a, homogent dielektrikum.</a:t>
            </a:r>
          </a:p>
        </p:txBody>
      </p:sp>
      <p:sp>
        <p:nvSpPr>
          <p:cNvPr id="27" name="math-source-C04-formula"/>
          <p:cNvSpPr txBox="1"/>
          <p:nvPr/>
        </p:nvSpPr>
        <p:spPr>
          <a:xfrm>
            <a:off x="5532120" y="2340864"/>
            <a:ext cx="4800600" cy="5662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E=(U)/(a)</a:t>
            </a:r>
          </a:p>
        </p:txBody>
      </p:sp>
      <p:pic>
        <p:nvPicPr>
          <p:cNvPr id="28" name="C04-formula" descr="E=\dfrac{U}{a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847233" cy="5662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05343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math-source-C04-details-0"/>
          <p:cNvSpPr txBox="1"/>
          <p:nvPr/>
        </p:nvSpPr>
        <p:spPr>
          <a:xfrm>
            <a:off x="6126480" y="305343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U=Ea</a:t>
            </a:r>
          </a:p>
        </p:txBody>
      </p:sp>
      <p:pic>
        <p:nvPicPr>
          <p:cNvPr id="31" name="C04-details-0" descr="U=E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053430"/>
            <a:ext cx="685301" cy="251376"/>
          </a:xfrm>
          <a:prstGeom prst="rect">
            <a:avLst/>
          </a:prstGeom>
        </p:spPr>
      </p:pic>
      <p:sp>
        <p:nvSpPr>
          <p:cNvPr id="32" name="math-source-C04-details-1"/>
          <p:cNvSpPr txBox="1"/>
          <p:nvPr/>
        </p:nvSpPr>
        <p:spPr>
          <a:xfrm>
            <a:off x="6126480" y="3345955"/>
            <a:ext cx="4206240" cy="43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a=(U)/(E)</a:t>
            </a:r>
          </a:p>
        </p:txBody>
      </p:sp>
      <p:pic>
        <p:nvPicPr>
          <p:cNvPr id="33" name="C04-details-1" descr="a=\dfrac{U}{E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345955"/>
            <a:ext cx="562605" cy="43691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390174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math-source-C04-details-2"/>
          <p:cNvSpPr txBox="1"/>
          <p:nvPr/>
        </p:nvSpPr>
        <p:spPr>
          <a:xfrm>
            <a:off x="6126480" y="390174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V/m</a:t>
            </a:r>
          </a:p>
        </p:txBody>
      </p:sp>
      <p:pic>
        <p:nvPicPr>
          <p:cNvPr id="36" name="C04-details-2" descr="\mathrm{V}/\mathrm{m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901744"/>
            <a:ext cx="457865" cy="25137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427199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C04-details-3"/>
          <p:cNvSpPr txBox="1"/>
          <p:nvPr/>
        </p:nvSpPr>
        <p:spPr>
          <a:xfrm>
            <a:off x="6126480" y="427199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er afstanden mellem pladerne; A er deres fælles areal.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1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C05, C06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61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C05 · Søger: Kapacitans C [F]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U [V] eller ε, A,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pladekondensator; fælles pladeareal A, afstand a, homogent dielektrikum.</a:t>
            </a:r>
          </a:p>
        </p:txBody>
      </p:sp>
      <p:sp>
        <p:nvSpPr>
          <p:cNvPr id="11" name="math-source-C05-formula"/>
          <p:cNvSpPr txBox="1"/>
          <p:nvPr/>
        </p:nvSpPr>
        <p:spPr>
          <a:xfrm>
            <a:off x="411480" y="2340864"/>
            <a:ext cx="4800600" cy="6959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C=(Q)/(U)=(ε_0ε_r A)/(a)</a:t>
            </a:r>
          </a:p>
        </p:txBody>
      </p:sp>
      <p:pic>
        <p:nvPicPr>
          <p:cNvPr id="12" name="C05-formula" descr="C=\dfrac{Q}{U}=\dfrac{\varepsilon_0\varepsilon_r A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945178" cy="6959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831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05-details-0"/>
          <p:cNvSpPr txBox="1"/>
          <p:nvPr/>
        </p:nvSpPr>
        <p:spPr>
          <a:xfrm>
            <a:off x="1005840" y="318310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ε=ε_0ε_r</a:t>
            </a:r>
          </a:p>
        </p:txBody>
      </p:sp>
      <p:pic>
        <p:nvPicPr>
          <p:cNvPr id="15" name="C05-details-0" descr="\varepsilon=\varepsilon_0\varepsilon_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83109"/>
            <a:ext cx="733182" cy="251376"/>
          </a:xfrm>
          <a:prstGeom prst="rect">
            <a:avLst/>
          </a:prstGeom>
        </p:spPr>
      </p:pic>
      <p:sp>
        <p:nvSpPr>
          <p:cNvPr id="16" name="C05-details-1"/>
          <p:cNvSpPr txBox="1"/>
          <p:nvPr/>
        </p:nvSpPr>
        <p:spPr>
          <a:xfrm>
            <a:off x="1005840" y="347563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Konstant C kræver lineært dielektrikum.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9567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C05-details-2"/>
          <p:cNvSpPr txBox="1"/>
          <p:nvPr/>
        </p:nvSpPr>
        <p:spPr>
          <a:xfrm>
            <a:off x="1005840" y="379567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F=1 C/V</a:t>
            </a:r>
          </a:p>
        </p:txBody>
      </p:sp>
      <p:pic>
        <p:nvPicPr>
          <p:cNvPr id="19" name="C05-details-2" descr="1\,\mathrm{F}=1\,\mathrm{C}/\mathrm{V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95674"/>
            <a:ext cx="1059373" cy="251376"/>
          </a:xfrm>
          <a:prstGeom prst="rect">
            <a:avLst/>
          </a:prstGeom>
        </p:spPr>
      </p:pic>
      <p:sp>
        <p:nvSpPr>
          <p:cNvPr id="20" name="math-source-C05-details-3"/>
          <p:cNvSpPr txBox="1"/>
          <p:nvPr/>
        </p:nvSpPr>
        <p:spPr>
          <a:xfrm>
            <a:off x="1005840" y="408819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ε=ε_0ε_r [F/m]</a:t>
            </a:r>
          </a:p>
        </p:txBody>
      </p:sp>
      <p:pic>
        <p:nvPicPr>
          <p:cNvPr id="21" name="C05-details-3" descr="\varepsilon=\varepsilon_0\varepsilon_r\,[\mathrm{F}/\mathrm{m}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88199"/>
            <a:ext cx="1268854" cy="2513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480" y="445844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3" name="C05-details-4"/>
          <p:cNvSpPr txBox="1"/>
          <p:nvPr/>
        </p:nvSpPr>
        <p:spPr>
          <a:xfrm>
            <a:off x="1005840" y="445844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A for areal og lille a for pladeafstand; kun positiv U i brøken.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C06 · Søger: Fælles pladeareal A [m²]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C [F], a [m], ε [F/m]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pladekondensator; fælles pladeareal A, afstand a, homogent dielektrikum.</a:t>
            </a:r>
          </a:p>
        </p:txBody>
      </p:sp>
      <p:sp>
        <p:nvSpPr>
          <p:cNvPr id="28" name="math-source-C06-formula"/>
          <p:cNvSpPr txBox="1"/>
          <p:nvPr/>
        </p:nvSpPr>
        <p:spPr>
          <a:xfrm>
            <a:off x="5532120" y="2340864"/>
            <a:ext cx="4800600" cy="60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A=(Ca)/(ε_0ε_r)</a:t>
            </a:r>
          </a:p>
        </p:txBody>
      </p:sp>
      <p:pic>
        <p:nvPicPr>
          <p:cNvPr id="29" name="C06-formula" descr="A=\dfrac{Ca}{\varepsilon_0\varepsilon_r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141171" cy="60516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09233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math-source-C06-details-0"/>
          <p:cNvSpPr txBox="1"/>
          <p:nvPr/>
        </p:nvSpPr>
        <p:spPr>
          <a:xfrm>
            <a:off x="6126480" y="3092334"/>
            <a:ext cx="4206240" cy="424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C=(ε_0ε_r A)/(a)</a:t>
            </a:r>
          </a:p>
        </p:txBody>
      </p:sp>
      <p:pic>
        <p:nvPicPr>
          <p:cNvPr id="32" name="C06-details-0" descr="C=\dfrac{\varepsilon_0\varepsilon_r A}{a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092334"/>
            <a:ext cx="930692" cy="42494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63615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math-source-C06-details-1"/>
          <p:cNvSpPr txBox="1"/>
          <p:nvPr/>
        </p:nvSpPr>
        <p:spPr>
          <a:xfrm>
            <a:off x="6126480" y="3636153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cm^2=10^-4 m^2</a:t>
            </a:r>
          </a:p>
        </p:txBody>
      </p:sp>
      <p:pic>
        <p:nvPicPr>
          <p:cNvPr id="35" name="C06-details-1" descr="1\,\mathrm{cm}^2=10^{-4}\,\mathrm{m}^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636153"/>
            <a:ext cx="1505268" cy="25436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400939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C06-details-2"/>
          <p:cNvSpPr txBox="1"/>
          <p:nvPr/>
        </p:nvSpPr>
        <p:spPr>
          <a:xfrm>
            <a:off x="6126480" y="400939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er overlap mellem pladerne, ikke ledningens tværsnit 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C07, C08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62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0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C07 · Søger: Pladeafstand a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C [F], A [m²], ε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pladekondensator; fælles pladeareal A, afstand a, homogent dielektrikum.</a:t>
            </a:r>
          </a:p>
        </p:txBody>
      </p:sp>
      <p:sp>
        <p:nvSpPr>
          <p:cNvPr id="11" name="math-source-C07-formula"/>
          <p:cNvSpPr txBox="1"/>
          <p:nvPr/>
        </p:nvSpPr>
        <p:spPr>
          <a:xfrm>
            <a:off x="411480" y="2340864"/>
            <a:ext cx="4800600" cy="687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a=(ε_0ε_r A)/(C)</a:t>
            </a:r>
          </a:p>
        </p:txBody>
      </p:sp>
      <p:pic>
        <p:nvPicPr>
          <p:cNvPr id="12" name="C07-formula" descr="a=\dfrac{\varepsilon_0\varepsilon_r A}{C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288140" cy="687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744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07-details-0"/>
          <p:cNvSpPr txBox="1"/>
          <p:nvPr/>
        </p:nvSpPr>
        <p:spPr>
          <a:xfrm>
            <a:off x="1005840" y="3174464"/>
            <a:ext cx="4206240" cy="424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C=(ε_0ε_r A)/(a)</a:t>
            </a:r>
          </a:p>
        </p:txBody>
      </p:sp>
      <p:pic>
        <p:nvPicPr>
          <p:cNvPr id="15" name="C07-details-0" descr="C=\dfrac{\varepsilon_0\varepsilon_r A}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74464"/>
            <a:ext cx="930692" cy="42494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71828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C07-details-1"/>
          <p:cNvSpPr txBox="1"/>
          <p:nvPr/>
        </p:nvSpPr>
        <p:spPr>
          <a:xfrm>
            <a:off x="1005840" y="3718282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mm=10^-3 m</a:t>
            </a:r>
          </a:p>
        </p:txBody>
      </p:sp>
      <p:pic>
        <p:nvPicPr>
          <p:cNvPr id="18" name="C07-details-1" descr="1\,\mathrm{mm}=10^{-3}\,\mathrm{m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18282"/>
            <a:ext cx="1406513" cy="25436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09152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C07-details-2"/>
          <p:cNvSpPr txBox="1"/>
          <p:nvPr/>
        </p:nvSpPr>
        <p:spPr>
          <a:xfrm>
            <a:off x="1005840" y="409152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er ikke areal; isolering og gennemslag begrænser valget.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08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C08 · Søger: Spænding U [V]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C [F]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kapacitans og ladningens størrelse.</a:t>
            </a:r>
          </a:p>
        </p:txBody>
      </p:sp>
      <p:sp>
        <p:nvSpPr>
          <p:cNvPr id="25" name="math-source-C08-formula"/>
          <p:cNvSpPr txBox="1"/>
          <p:nvPr/>
        </p:nvSpPr>
        <p:spPr>
          <a:xfrm>
            <a:off x="5532120" y="2340864"/>
            <a:ext cx="4800600" cy="700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U=(Q)/(C)</a:t>
            </a:r>
          </a:p>
        </p:txBody>
      </p:sp>
      <p:pic>
        <p:nvPicPr>
          <p:cNvPr id="26" name="C08-formula" descr="U=\dfrac{Q}{C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873168" cy="7002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31874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math-source-C08-details-0"/>
          <p:cNvSpPr txBox="1"/>
          <p:nvPr/>
        </p:nvSpPr>
        <p:spPr>
          <a:xfrm>
            <a:off x="6126480" y="3187432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Q=CU</a:t>
            </a:r>
          </a:p>
        </p:txBody>
      </p:sp>
      <p:pic>
        <p:nvPicPr>
          <p:cNvPr id="29" name="C08-details-0" descr="Q=CU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187432"/>
            <a:ext cx="766100" cy="25436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56067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math-source-C08-details-1"/>
          <p:cNvSpPr txBox="1"/>
          <p:nvPr/>
        </p:nvSpPr>
        <p:spPr>
          <a:xfrm>
            <a:off x="6126480" y="356067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C/F=V</a:t>
            </a:r>
          </a:p>
        </p:txBody>
      </p:sp>
      <p:pic>
        <p:nvPicPr>
          <p:cNvPr id="32" name="C08-details-1" descr="\mathrm{C}/\mathrm{F}=\mathrm{V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560673"/>
            <a:ext cx="775078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93092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C08-details-2"/>
          <p:cNvSpPr txBox="1"/>
          <p:nvPr/>
        </p:nvSpPr>
        <p:spPr>
          <a:xfrm>
            <a:off x="6126480" y="393092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Polaritet følger valg af positiv plade.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7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C09, C10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63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09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C09 · Søger: Ladning Q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C [F], U [V]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kapacitans; pladeladningens størrelse.</a:t>
            </a:r>
          </a:p>
        </p:txBody>
      </p:sp>
      <p:sp>
        <p:nvSpPr>
          <p:cNvPr id="11" name="math-source-C09-formula"/>
          <p:cNvSpPr txBox="1"/>
          <p:nvPr/>
        </p:nvSpPr>
        <p:spPr>
          <a:xfrm>
            <a:off x="411480" y="2340864"/>
            <a:ext cx="4800600" cy="36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Q=CU</a:t>
            </a:r>
          </a:p>
        </p:txBody>
      </p:sp>
      <p:pic>
        <p:nvPicPr>
          <p:cNvPr id="12" name="C09-formula" descr="Q=C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106590" cy="3674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45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09-details-0"/>
          <p:cNvSpPr txBox="1"/>
          <p:nvPr/>
        </p:nvSpPr>
        <p:spPr>
          <a:xfrm>
            <a:off x="1005840" y="2854590"/>
            <a:ext cx="4206240" cy="4818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C=(Q)/(U)</a:t>
            </a:r>
          </a:p>
        </p:txBody>
      </p:sp>
      <p:pic>
        <p:nvPicPr>
          <p:cNvPr id="15" name="C09-details-0" descr="C=\dfrac{Q}{U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54590"/>
            <a:ext cx="601508" cy="48180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45526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C09-details-1"/>
          <p:cNvSpPr txBox="1"/>
          <p:nvPr/>
        </p:nvSpPr>
        <p:spPr>
          <a:xfrm>
            <a:off x="1005840" y="345526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FcdotV=C</a:t>
            </a:r>
          </a:p>
        </p:txBody>
      </p:sp>
      <p:pic>
        <p:nvPicPr>
          <p:cNvPr id="18" name="C09-details-1" descr="\mathrm{F}\cdot\mathrm{V}=\mathrm{C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55268"/>
            <a:ext cx="840915" cy="25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38255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math-source-C09-details-2"/>
          <p:cNvSpPr txBox="1"/>
          <p:nvPr/>
        </p:nvSpPr>
        <p:spPr>
          <a:xfrm>
            <a:off x="1005840" y="3825517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q(t)</a:t>
            </a:r>
          </a:p>
        </p:txBody>
      </p:sp>
      <p:pic>
        <p:nvPicPr>
          <p:cNvPr id="21" name="C09-details-2" descr="q(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825517"/>
            <a:ext cx="371080" cy="260354"/>
          </a:xfrm>
          <a:prstGeom prst="rect">
            <a:avLst/>
          </a:prstGeom>
        </p:spPr>
      </p:pic>
      <p:sp>
        <p:nvSpPr>
          <p:cNvPr id="22" name="C09-details-3"/>
          <p:cNvSpPr txBox="1"/>
          <p:nvPr/>
        </p:nvSpPr>
        <p:spPr>
          <a:xfrm>
            <a:off x="1005840" y="412701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betegner tidsvarierende ladning;</a:t>
            </a:r>
          </a:p>
        </p:txBody>
      </p:sp>
      <p:sp>
        <p:nvSpPr>
          <p:cNvPr id="23" name="math-source-C09-details-4"/>
          <p:cNvSpPr txBox="1"/>
          <p:nvPr/>
        </p:nvSpPr>
        <p:spPr>
          <a:xfrm>
            <a:off x="1005840" y="4369335"/>
            <a:ext cx="4206240" cy="266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i=dq/dt</a:t>
            </a:r>
          </a:p>
        </p:txBody>
      </p:sp>
      <p:pic>
        <p:nvPicPr>
          <p:cNvPr id="24" name="C09-details-4" descr="i=dq/d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69335"/>
            <a:ext cx="810989" cy="266339"/>
          </a:xfrm>
          <a:prstGeom prst="rect">
            <a:avLst/>
          </a:prstGeom>
        </p:spPr>
      </p:pic>
      <p:sp>
        <p:nvSpPr>
          <p:cNvPr id="25" name="C09-details-5"/>
          <p:cNvSpPr txBox="1"/>
          <p:nvPr/>
        </p:nvSpPr>
        <p:spPr>
          <a:xfrm>
            <a:off x="1005840" y="467682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er strøm.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10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C10 · Søger: Relativ permittivitet εr [1]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C, a, A, ε₀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pladekondensator; fælles pladeareal A, afstand a, homogent dielektrikum.</a:t>
            </a:r>
          </a:p>
        </p:txBody>
      </p:sp>
      <p:sp>
        <p:nvSpPr>
          <p:cNvPr id="30" name="math-source-C10-formula"/>
          <p:cNvSpPr txBox="1"/>
          <p:nvPr/>
        </p:nvSpPr>
        <p:spPr>
          <a:xfrm>
            <a:off x="5532120" y="2340864"/>
            <a:ext cx="4800600" cy="68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ε_r=(Ca)/(ε_0 A)</a:t>
            </a:r>
          </a:p>
        </p:txBody>
      </p:sp>
      <p:pic>
        <p:nvPicPr>
          <p:cNvPr id="31" name="C10-formula" descr="\varepsilon_r=\dfrac{Ca}{\varepsilon_0 A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340864"/>
            <a:ext cx="1123880" cy="6829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170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3" name="math-source-C10-details-0"/>
          <p:cNvSpPr txBox="1"/>
          <p:nvPr/>
        </p:nvSpPr>
        <p:spPr>
          <a:xfrm>
            <a:off x="6126480" y="317014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ε=ε_0ε_r</a:t>
            </a:r>
          </a:p>
        </p:txBody>
      </p:sp>
      <p:pic>
        <p:nvPicPr>
          <p:cNvPr id="34" name="C10-details-0" descr="\varepsilon=\varepsilon_0\varepsilon_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170141"/>
            <a:ext cx="733182" cy="25137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35403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math-source-C10-details-1"/>
          <p:cNvSpPr txBox="1"/>
          <p:nvPr/>
        </p:nvSpPr>
        <p:spPr>
          <a:xfrm>
            <a:off x="6126480" y="354039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ε_r [1]</a:t>
            </a:r>
          </a:p>
        </p:txBody>
      </p:sp>
      <p:pic>
        <p:nvPicPr>
          <p:cNvPr id="37" name="C10-details-1" descr="\varepsilon_r\,[1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540390"/>
            <a:ext cx="496768" cy="2513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32120" y="391063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C10-details-2"/>
          <p:cNvSpPr txBox="1"/>
          <p:nvPr/>
        </p:nvSpPr>
        <p:spPr>
          <a:xfrm>
            <a:off x="6126480" y="3910639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Materialeværdien gælder for den angivne temperatur og</a:t>
            </a:r>
            <a:br/>
            <a:r>
              <a:t>frekvens.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C11, C12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64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1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C11 · Søger: Variabel kapacitans C [F]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n, ε₀, εr, A,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 ens, skiftevis sammenkoblede plader; n−1 ens mellemrum, samme overlap A og dielektrikum; randfelter forsømmes.</a:t>
            </a:r>
          </a:p>
        </p:txBody>
      </p:sp>
      <p:sp>
        <p:nvSpPr>
          <p:cNvPr id="11" name="math-source-C11-formula"/>
          <p:cNvSpPr txBox="1"/>
          <p:nvPr/>
        </p:nvSpPr>
        <p:spPr>
          <a:xfrm>
            <a:off x="411480" y="2340864"/>
            <a:ext cx="4800600" cy="613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C=(n-1)(ε_0ε_r A)/(a)</a:t>
            </a:r>
          </a:p>
        </p:txBody>
      </p:sp>
      <p:pic>
        <p:nvPicPr>
          <p:cNvPr id="12" name="C11-formula" descr="C=(n-1)\dfrac{\varepsilon_0\varepsilon_r A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217503" cy="6138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0097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11-details-0"/>
          <p:cNvSpPr txBox="1"/>
          <p:nvPr/>
        </p:nvSpPr>
        <p:spPr>
          <a:xfrm>
            <a:off x="1005840" y="3100979"/>
            <a:ext cx="4206240" cy="424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C_1=(ε_0ε_r A)/(a)</a:t>
            </a:r>
          </a:p>
        </p:txBody>
      </p:sp>
      <p:pic>
        <p:nvPicPr>
          <p:cNvPr id="15" name="C11-details-0" descr="C_1=\dfrac{\varepsilon_0\varepsilon_r A}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00979"/>
            <a:ext cx="1020470" cy="424946"/>
          </a:xfrm>
          <a:prstGeom prst="rect">
            <a:avLst/>
          </a:prstGeom>
        </p:spPr>
      </p:pic>
      <p:sp>
        <p:nvSpPr>
          <p:cNvPr id="16" name="math-source-C11-details-1"/>
          <p:cNvSpPr txBox="1"/>
          <p:nvPr/>
        </p:nvSpPr>
        <p:spPr>
          <a:xfrm>
            <a:off x="1005840" y="356707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C=(n-1)C_1</a:t>
            </a:r>
          </a:p>
        </p:txBody>
      </p:sp>
      <p:pic>
        <p:nvPicPr>
          <p:cNvPr id="17" name="C11-details-1" descr="C=(n-1)C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67074"/>
            <a:ext cx="1244914" cy="25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93732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ath-source-C11-details-2"/>
          <p:cNvSpPr txBox="1"/>
          <p:nvPr/>
        </p:nvSpPr>
        <p:spPr>
          <a:xfrm>
            <a:off x="1005840" y="393732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 [1]</a:t>
            </a:r>
          </a:p>
        </p:txBody>
      </p:sp>
      <p:pic>
        <p:nvPicPr>
          <p:cNvPr id="20" name="C11-details-2" descr="n\,[1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37323"/>
            <a:ext cx="439909" cy="251376"/>
          </a:xfrm>
          <a:prstGeom prst="rect">
            <a:avLst/>
          </a:prstGeom>
        </p:spPr>
      </p:pic>
      <p:sp>
        <p:nvSpPr>
          <p:cNvPr id="21" name="math-source-C11-details-3"/>
          <p:cNvSpPr txBox="1"/>
          <p:nvPr/>
        </p:nvSpPr>
        <p:spPr>
          <a:xfrm>
            <a:off x="1005840" y="4229848"/>
            <a:ext cx="4206240" cy="287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 [m^2]</a:t>
            </a:r>
          </a:p>
        </p:txBody>
      </p:sp>
      <p:pic>
        <p:nvPicPr>
          <p:cNvPr id="22" name="C11-details-3" descr="A\,[\mathrm{m}^2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229848"/>
            <a:ext cx="631434" cy="287287"/>
          </a:xfrm>
          <a:prstGeom prst="rect">
            <a:avLst/>
          </a:prstGeom>
        </p:spPr>
      </p:pic>
      <p:sp>
        <p:nvSpPr>
          <p:cNvPr id="23" name="math-source-C11-details-4"/>
          <p:cNvSpPr txBox="1"/>
          <p:nvPr/>
        </p:nvSpPr>
        <p:spPr>
          <a:xfrm>
            <a:off x="1005840" y="455828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 [m]</a:t>
            </a:r>
          </a:p>
        </p:txBody>
      </p:sp>
      <p:pic>
        <p:nvPicPr>
          <p:cNvPr id="24" name="C11-details-4" descr="a\,[\mathrm{m}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558284"/>
            <a:ext cx="502753" cy="2513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1480" y="49285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6" name="C11-details-5"/>
          <p:cNvSpPr txBox="1"/>
          <p:nvPr/>
        </p:nvSpPr>
        <p:spPr>
          <a:xfrm>
            <a:off x="1005840" y="4928532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er fælles overlapareal pr. pladepar; ikke summen af alle</a:t>
            </a:r>
            <a:br/>
            <a:r>
              <a:t>pladearealer.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1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C12 · Søger: Antal plader n [1]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C, ε₀, εr, A,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 ens, skiftevis sammenkoblede plader; n−1 ens mellemrum, samme overlap A og dielektrikum; randfelter forsømmes.</a:t>
            </a:r>
          </a:p>
        </p:txBody>
      </p:sp>
      <p:sp>
        <p:nvSpPr>
          <p:cNvPr id="31" name="math-source-C12-formula"/>
          <p:cNvSpPr txBox="1"/>
          <p:nvPr/>
        </p:nvSpPr>
        <p:spPr>
          <a:xfrm>
            <a:off x="5532120" y="2340864"/>
            <a:ext cx="4800600" cy="68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n=1+(Ca)/(ε_0ε_r A)</a:t>
            </a:r>
          </a:p>
        </p:txBody>
      </p:sp>
      <p:pic>
        <p:nvPicPr>
          <p:cNvPr id="32" name="C12-formula" descr="n=1+\dfrac{Ca}{\varepsilon_0\varepsilon_r A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2340864"/>
            <a:ext cx="1776596" cy="68297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170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4" name="math-source-C12-details-0"/>
          <p:cNvSpPr txBox="1"/>
          <p:nvPr/>
        </p:nvSpPr>
        <p:spPr>
          <a:xfrm>
            <a:off x="6126480" y="317014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n-1</a:t>
            </a:r>
          </a:p>
        </p:txBody>
      </p:sp>
      <p:pic>
        <p:nvPicPr>
          <p:cNvPr id="35" name="C12-details-0" descr="n-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170141"/>
            <a:ext cx="478813" cy="251376"/>
          </a:xfrm>
          <a:prstGeom prst="rect">
            <a:avLst/>
          </a:prstGeom>
        </p:spPr>
      </p:pic>
      <p:sp>
        <p:nvSpPr>
          <p:cNvPr id="36" name="C12-details-1"/>
          <p:cNvSpPr txBox="1"/>
          <p:nvPr/>
        </p:nvSpPr>
        <p:spPr>
          <a:xfrm>
            <a:off x="6126480" y="346266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er antal virksomme mellemrum.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378270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8" name="math-source-C12-details-2"/>
          <p:cNvSpPr txBox="1"/>
          <p:nvPr/>
        </p:nvSpPr>
        <p:spPr>
          <a:xfrm>
            <a:off x="6126480" y="378270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 [1]</a:t>
            </a:r>
          </a:p>
        </p:txBody>
      </p:sp>
      <p:pic>
        <p:nvPicPr>
          <p:cNvPr id="39" name="C12-details-2" descr="n\,[1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82706"/>
            <a:ext cx="439909" cy="25137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532120" y="415295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1" name="C12-details-3"/>
          <p:cNvSpPr txBox="1"/>
          <p:nvPr/>
        </p:nvSpPr>
        <p:spPr>
          <a:xfrm>
            <a:off x="6126480" y="4152955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n skal være et heltal mindst 2; en beregnet brøkdel af en plade er</a:t>
            </a:r>
            <a:br/>
            <a:r>
              <a:t>ikke fysisk.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4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C13, C14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65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1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C13 · Søger: Ladning q(t)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q₀, </a:t>
            </a:r>
            <a:r>
              <a:rPr>
                <a:latin typeface="Cambria Math"/>
              </a:rPr>
              <a:t>I</a:t>
            </a:r>
            <a:r>
              <a:t> [A], 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kondensator med konstant C og positiv, konstant strøm ind i den positive plade.</a:t>
            </a:r>
          </a:p>
        </p:txBody>
      </p:sp>
      <p:sp>
        <p:nvSpPr>
          <p:cNvPr id="11" name="math-source-C13-formula"/>
          <p:cNvSpPr txBox="1"/>
          <p:nvPr/>
        </p:nvSpPr>
        <p:spPr>
          <a:xfrm>
            <a:off x="411480" y="2340864"/>
            <a:ext cx="4800600" cy="376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q(t)=q_0+It</a:t>
            </a:r>
          </a:p>
        </p:txBody>
      </p:sp>
      <p:pic>
        <p:nvPicPr>
          <p:cNvPr id="12" name="C13-formula" descr="q(t)=q_0+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694466" cy="3760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632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13-details-0"/>
          <p:cNvSpPr txBox="1"/>
          <p:nvPr/>
        </p:nvSpPr>
        <p:spPr>
          <a:xfrm>
            <a:off x="1005840" y="2863235"/>
            <a:ext cx="4206240" cy="502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i=(dq)/(dt)=</a:t>
            </a:r>
            <a:r>
              <a:rPr>
                <a:latin typeface="Cambria Math"/>
              </a:rPr>
              <a:t>I</a:t>
            </a:r>
          </a:p>
        </p:txBody>
      </p:sp>
      <p:pic>
        <p:nvPicPr>
          <p:cNvPr id="15" name="C13-details-0" descr="i=\dfrac{dq}{dt}=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63235"/>
            <a:ext cx="888796" cy="5027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4848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C13-details-1"/>
          <p:cNvSpPr txBox="1"/>
          <p:nvPr/>
        </p:nvSpPr>
        <p:spPr>
          <a:xfrm>
            <a:off x="1005840" y="348486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Acdots=C</a:t>
            </a:r>
          </a:p>
        </p:txBody>
      </p:sp>
      <p:pic>
        <p:nvPicPr>
          <p:cNvPr id="18" name="C13-details-1" descr="\mathrm{A}\cdot\mathrm{s}=\mathrm{C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84861"/>
            <a:ext cx="802011" cy="25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385511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C13-details-2"/>
          <p:cNvSpPr txBox="1"/>
          <p:nvPr/>
        </p:nvSpPr>
        <p:spPr>
          <a:xfrm>
            <a:off x="1005840" y="385511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q er ladning; </a:t>
            </a:r>
            <a:r>
              <a:rPr>
                <a:latin typeface="Cambria Math"/>
              </a:rPr>
              <a:t>I</a:t>
            </a:r>
            <a:r>
              <a:t> er konstant strøm. </a:t>
            </a:r>
            <a:r>
              <a:rPr>
                <a:latin typeface="Cambria Math"/>
              </a:rPr>
              <a:t>I</a:t>
            </a:r>
            <a:r>
              <a:t> vises opretstående.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1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C14 · Søger: Spænding uC(t) [V]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u₀, </a:t>
            </a:r>
            <a:r>
              <a:rPr>
                <a:latin typeface="Cambria Math"/>
              </a:rPr>
              <a:t>I</a:t>
            </a:r>
            <a:r>
              <a:t>, t,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kondensator med konstant C og positiv, konstant strøm ind i den positive plade.</a:t>
            </a:r>
          </a:p>
        </p:txBody>
      </p:sp>
      <p:sp>
        <p:nvSpPr>
          <p:cNvPr id="25" name="math-source-C14-formula"/>
          <p:cNvSpPr txBox="1"/>
          <p:nvPr/>
        </p:nvSpPr>
        <p:spPr>
          <a:xfrm>
            <a:off x="5532120" y="2340864"/>
            <a:ext cx="4800600" cy="639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u_C(t)=u_0+(</a:t>
            </a:r>
            <a:r>
              <a:rPr>
                <a:latin typeface="Cambria Math"/>
              </a:rPr>
              <a:t>I</a:t>
            </a:r>
            <a:r>
              <a:t>)/(C)t</a:t>
            </a:r>
          </a:p>
        </p:txBody>
      </p:sp>
      <p:pic>
        <p:nvPicPr>
          <p:cNvPr id="26" name="C14-formula" descr="u_C(t)=u_0+\dfrac{I}{C}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2014340" cy="6397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312691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math-source-C14-details-0"/>
          <p:cNvSpPr txBox="1"/>
          <p:nvPr/>
        </p:nvSpPr>
        <p:spPr>
          <a:xfrm>
            <a:off x="6126480" y="3126915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q_0=Cu_0</a:t>
            </a:r>
          </a:p>
        </p:txBody>
      </p:sp>
      <p:pic>
        <p:nvPicPr>
          <p:cNvPr id="29" name="C14-details-0" descr="q_0=Cu_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126915"/>
            <a:ext cx="819967" cy="260354"/>
          </a:xfrm>
          <a:prstGeom prst="rect">
            <a:avLst/>
          </a:prstGeom>
        </p:spPr>
      </p:pic>
      <p:sp>
        <p:nvSpPr>
          <p:cNvPr id="30" name="math-source-C14-details-1"/>
          <p:cNvSpPr txBox="1"/>
          <p:nvPr/>
        </p:nvSpPr>
        <p:spPr>
          <a:xfrm>
            <a:off x="6126480" y="3428418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q(t)=q_0+It</a:t>
            </a:r>
          </a:p>
        </p:txBody>
      </p:sp>
      <p:pic>
        <p:nvPicPr>
          <p:cNvPr id="31" name="C14-details-1" descr="q(t)=q_0+I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428418"/>
            <a:ext cx="1173092" cy="26035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80764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3" name="math-source-C14-details-2"/>
          <p:cNvSpPr txBox="1"/>
          <p:nvPr/>
        </p:nvSpPr>
        <p:spPr>
          <a:xfrm>
            <a:off x="6126480" y="380764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Acdots/F=V</a:t>
            </a:r>
          </a:p>
        </p:txBody>
      </p:sp>
      <p:pic>
        <p:nvPicPr>
          <p:cNvPr id="34" name="C14-details-2" descr="\mathrm{A}\cdot\mathrm{s}/\mathrm{F}=\mathrm{V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807644"/>
            <a:ext cx="1008500" cy="25137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17789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C14-details-3"/>
          <p:cNvSpPr txBox="1"/>
          <p:nvPr/>
        </p:nvSpPr>
        <p:spPr>
          <a:xfrm>
            <a:off x="6126480" y="417789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Udsagnet</a:t>
            </a:r>
          </a:p>
        </p:txBody>
      </p:sp>
      <p:sp>
        <p:nvSpPr>
          <p:cNvPr id="37" name="math-source-C14-details-4"/>
          <p:cNvSpPr txBox="1"/>
          <p:nvPr/>
        </p:nvSpPr>
        <p:spPr>
          <a:xfrm>
            <a:off x="6126480" y="442020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u_C=It/C</a:t>
            </a:r>
          </a:p>
        </p:txBody>
      </p:sp>
      <p:pic>
        <p:nvPicPr>
          <p:cNvPr id="38" name="C14-details-4" descr="u_C=It/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420209"/>
            <a:ext cx="864856" cy="251376"/>
          </a:xfrm>
          <a:prstGeom prst="rect">
            <a:avLst/>
          </a:prstGeom>
        </p:spPr>
      </p:pic>
      <p:sp>
        <p:nvSpPr>
          <p:cNvPr id="39" name="C14-details-5"/>
          <p:cNvSpPr txBox="1"/>
          <p:nvPr/>
        </p:nvSpPr>
        <p:spPr>
          <a:xfrm>
            <a:off x="6126480" y="471273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gælder kun ved</a:t>
            </a:r>
          </a:p>
        </p:txBody>
      </p:sp>
      <p:sp>
        <p:nvSpPr>
          <p:cNvPr id="40" name="math-source-C14-details-6"/>
          <p:cNvSpPr txBox="1"/>
          <p:nvPr/>
        </p:nvSpPr>
        <p:spPr>
          <a:xfrm>
            <a:off x="6126480" y="495505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u_0=0</a:t>
            </a:r>
          </a:p>
        </p:txBody>
      </p:sp>
      <p:pic>
        <p:nvPicPr>
          <p:cNvPr id="41" name="C14-details-6" descr="u_0=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955050"/>
            <a:ext cx="586546" cy="251376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4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C15, C16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66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1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C15 · Søger: Tid til målspænding t [s]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u₀, uₘ, </a:t>
            </a:r>
            <a:r>
              <a:rPr>
                <a:latin typeface="Cambria Math"/>
              </a:rPr>
              <a:t>I</a:t>
            </a:r>
            <a:r>
              <a:t>,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kondensator med konstant C og positiv, konstant strøm ind i den positive plade. Målspænding over startspænding.</a:t>
            </a:r>
          </a:p>
        </p:txBody>
      </p:sp>
      <p:sp>
        <p:nvSpPr>
          <p:cNvPr id="11" name="math-source-C15-formula"/>
          <p:cNvSpPr txBox="1"/>
          <p:nvPr/>
        </p:nvSpPr>
        <p:spPr>
          <a:xfrm>
            <a:off x="411480" y="2340864"/>
            <a:ext cx="4800600" cy="6959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t=(C(u_m-u_0))/(</a:t>
            </a:r>
            <a:r>
              <a:rPr>
                <a:latin typeface="Cambria Math"/>
              </a:rPr>
              <a:t>I</a:t>
            </a:r>
            <a:r>
              <a:t>)</a:t>
            </a:r>
          </a:p>
        </p:txBody>
      </p:sp>
      <p:pic>
        <p:nvPicPr>
          <p:cNvPr id="12" name="C15-formula" descr="t=\dfrac{C(u_m-u_0)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888984" cy="6959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831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15-details-0"/>
          <p:cNvSpPr txBox="1"/>
          <p:nvPr/>
        </p:nvSpPr>
        <p:spPr>
          <a:xfrm>
            <a:off x="1005840" y="3183109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u_m=u_0+(</a:t>
            </a:r>
            <a:r>
              <a:rPr>
                <a:latin typeface="Cambria Math"/>
              </a:rPr>
              <a:t>I</a:t>
            </a:r>
            <a:r>
              <a:t>)/(C)t</a:t>
            </a:r>
          </a:p>
        </p:txBody>
      </p:sp>
      <p:pic>
        <p:nvPicPr>
          <p:cNvPr id="15" name="C15-details-0" descr="u_m=u_0+\dfrac{I}{C}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83109"/>
            <a:ext cx="1188054" cy="4429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7448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C15-details-1"/>
          <p:cNvSpPr txBox="1"/>
          <p:nvPr/>
        </p:nvSpPr>
        <p:spPr>
          <a:xfrm>
            <a:off x="1005840" y="37448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FcdotV/A=s</a:t>
            </a:r>
          </a:p>
        </p:txBody>
      </p:sp>
      <p:pic>
        <p:nvPicPr>
          <p:cNvPr id="18" name="C15-details-1" descr="\mathrm{F}\cdot\mathrm{V}/\mathrm{A}=\mathrm{s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44883"/>
            <a:ext cx="1005507" cy="25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1151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C15-details-2"/>
          <p:cNvSpPr txBox="1"/>
          <p:nvPr/>
        </p:nvSpPr>
        <p:spPr>
          <a:xfrm>
            <a:off x="1005840" y="41151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 skal være positiv; stands før kilde eller isolering sætter grænse.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1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C16 · Søger: Ladning q(t) [C]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q₀, </a:t>
            </a:r>
            <a:r>
              <a:rPr>
                <a:latin typeface="Cambria Math"/>
              </a:rPr>
              <a:t>I</a:t>
            </a:r>
            <a:r>
              <a:t>ₐ, 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kondensator, konstant positiv afladningsstrøm </a:t>
            </a:r>
            <a:r>
              <a:rPr>
                <a:latin typeface="Cambria Math"/>
              </a:rPr>
              <a:t>I</a:t>
            </a:r>
            <a:r>
              <a:t>ₐ; kun indtil spændingen når nul.</a:t>
            </a:r>
          </a:p>
        </p:txBody>
      </p:sp>
      <p:sp>
        <p:nvSpPr>
          <p:cNvPr id="25" name="math-source-C16-formula"/>
          <p:cNvSpPr txBox="1"/>
          <p:nvPr/>
        </p:nvSpPr>
        <p:spPr>
          <a:xfrm>
            <a:off x="5532120" y="2340864"/>
            <a:ext cx="4800600" cy="3760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q(t)=q_0-</a:t>
            </a:r>
            <a:r>
              <a:rPr>
                <a:latin typeface="Cambria Math"/>
              </a:rPr>
              <a:t>I</a:t>
            </a:r>
            <a:r>
              <a:t>_a t</a:t>
            </a:r>
          </a:p>
        </p:txBody>
      </p:sp>
      <p:pic>
        <p:nvPicPr>
          <p:cNvPr id="26" name="C16-formula" descr="q(t)=q_0-I_a 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832790" cy="37606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28632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math-source-C16-details-0"/>
          <p:cNvSpPr txBox="1"/>
          <p:nvPr/>
        </p:nvSpPr>
        <p:spPr>
          <a:xfrm>
            <a:off x="6126480" y="286323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i_ud=</a:t>
            </a:r>
            <a:r>
              <a:rPr>
                <a:latin typeface="Cambria Math"/>
              </a:rPr>
              <a:t>I</a:t>
            </a:r>
            <a:r>
              <a:t>_a</a:t>
            </a:r>
          </a:p>
        </p:txBody>
      </p:sp>
      <p:pic>
        <p:nvPicPr>
          <p:cNvPr id="29" name="C16-details-0" descr="i_{\mathrm{ud}}=I_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863235"/>
            <a:ext cx="661360" cy="251376"/>
          </a:xfrm>
          <a:prstGeom prst="rect">
            <a:avLst/>
          </a:prstGeom>
        </p:spPr>
      </p:pic>
      <p:sp>
        <p:nvSpPr>
          <p:cNvPr id="30" name="math-source-C16-details-1"/>
          <p:cNvSpPr txBox="1"/>
          <p:nvPr/>
        </p:nvSpPr>
        <p:spPr>
          <a:xfrm>
            <a:off x="6126480" y="3155760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q_0=Cu_0</a:t>
            </a:r>
          </a:p>
        </p:txBody>
      </p:sp>
      <p:pic>
        <p:nvPicPr>
          <p:cNvPr id="31" name="C16-details-1" descr="q_0=Cu_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155760"/>
            <a:ext cx="819967" cy="26035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53498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3" name="math-source-C16-details-2"/>
          <p:cNvSpPr txBox="1"/>
          <p:nvPr/>
        </p:nvSpPr>
        <p:spPr>
          <a:xfrm>
            <a:off x="6126480" y="353498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Acdots=C</a:t>
            </a:r>
          </a:p>
        </p:txBody>
      </p:sp>
      <p:pic>
        <p:nvPicPr>
          <p:cNvPr id="34" name="C16-details-2" descr="\mathrm{A}\cdot\mathrm{s}=\mathrm{C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534987"/>
            <a:ext cx="802011" cy="25137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390523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C16-details-3"/>
          <p:cNvSpPr txBox="1"/>
          <p:nvPr/>
        </p:nvSpPr>
        <p:spPr>
          <a:xfrm>
            <a:off x="6126480" y="3905236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 konstant afladningsstrøm kræver aktiv regulering; en simpel R</a:t>
            </a:r>
            <a:br/>
            <a:r>
              <a:t>giver ikke konstant strøm.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C17, C18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67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1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C17 · Søger: Spænding uC(t)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u₀, </a:t>
            </a:r>
            <a:r>
              <a:rPr>
                <a:latin typeface="Cambria Math"/>
              </a:rPr>
              <a:t>I</a:t>
            </a:r>
            <a:r>
              <a:t>ₐ, t,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kondensator, konstant positiv afladningsstrøm </a:t>
            </a:r>
            <a:r>
              <a:rPr>
                <a:latin typeface="Cambria Math"/>
              </a:rPr>
              <a:t>I</a:t>
            </a:r>
            <a:r>
              <a:t>ₐ; kun indtil spændingen når nul.</a:t>
            </a:r>
          </a:p>
        </p:txBody>
      </p:sp>
      <p:sp>
        <p:nvSpPr>
          <p:cNvPr id="11" name="math-source-C17-formula"/>
          <p:cNvSpPr txBox="1"/>
          <p:nvPr/>
        </p:nvSpPr>
        <p:spPr>
          <a:xfrm>
            <a:off x="411480" y="2340864"/>
            <a:ext cx="4800600" cy="687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u_C(t)=u_0-(</a:t>
            </a:r>
            <a:r>
              <a:rPr>
                <a:latin typeface="Cambria Math"/>
              </a:rPr>
              <a:t>I</a:t>
            </a:r>
            <a:r>
              <a:t>_a)/(C)t</a:t>
            </a:r>
          </a:p>
        </p:txBody>
      </p:sp>
      <p:pic>
        <p:nvPicPr>
          <p:cNvPr id="12" name="C17-formula" descr="u_C(t)=u_0-\dfrac{I_a}{C}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040275" cy="687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744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17-details-0"/>
          <p:cNvSpPr txBox="1"/>
          <p:nvPr/>
        </p:nvSpPr>
        <p:spPr>
          <a:xfrm>
            <a:off x="1005840" y="3174464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q(t)=q_0-</a:t>
            </a:r>
            <a:r>
              <a:rPr>
                <a:latin typeface="Cambria Math"/>
              </a:rPr>
              <a:t>I</a:t>
            </a:r>
            <a:r>
              <a:t>_a t</a:t>
            </a:r>
          </a:p>
        </p:txBody>
      </p:sp>
      <p:pic>
        <p:nvPicPr>
          <p:cNvPr id="15" name="C17-details-0" descr="q(t)=q_0-I_a 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74464"/>
            <a:ext cx="1268854" cy="260354"/>
          </a:xfrm>
          <a:prstGeom prst="rect">
            <a:avLst/>
          </a:prstGeom>
        </p:spPr>
      </p:pic>
      <p:sp>
        <p:nvSpPr>
          <p:cNvPr id="16" name="math-source-C17-details-1"/>
          <p:cNvSpPr txBox="1"/>
          <p:nvPr/>
        </p:nvSpPr>
        <p:spPr>
          <a:xfrm>
            <a:off x="1005840" y="3475966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u_0=q_0/C</a:t>
            </a:r>
          </a:p>
        </p:txBody>
      </p:sp>
      <p:pic>
        <p:nvPicPr>
          <p:cNvPr id="17" name="C17-details-1" descr="u_0=q_0/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75966"/>
            <a:ext cx="903759" cy="26035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85519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ath-source-C17-details-2"/>
          <p:cNvSpPr txBox="1"/>
          <p:nvPr/>
        </p:nvSpPr>
        <p:spPr>
          <a:xfrm>
            <a:off x="1005840" y="385519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Acdots/F=V</a:t>
            </a:r>
          </a:p>
        </p:txBody>
      </p:sp>
      <p:pic>
        <p:nvPicPr>
          <p:cNvPr id="20" name="C17-details-2" descr="\mathrm{A}\cdot\mathrm{s}/\mathrm{F}=\mathrm{V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855193"/>
            <a:ext cx="1008500" cy="2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422544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C17-details-3"/>
          <p:cNvSpPr txBox="1"/>
          <p:nvPr/>
        </p:nvSpPr>
        <p:spPr>
          <a:xfrm>
            <a:off x="1005840" y="422544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Efter</a:t>
            </a:r>
          </a:p>
        </p:txBody>
      </p:sp>
      <p:sp>
        <p:nvSpPr>
          <p:cNvPr id="23" name="math-source-C17-details-4"/>
          <p:cNvSpPr txBox="1"/>
          <p:nvPr/>
        </p:nvSpPr>
        <p:spPr>
          <a:xfrm>
            <a:off x="1005840" y="446775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u_C=0</a:t>
            </a:r>
          </a:p>
        </p:txBody>
      </p:sp>
      <p:pic>
        <p:nvPicPr>
          <p:cNvPr id="24" name="C17-details-4" descr="u_C=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467758"/>
            <a:ext cx="613479" cy="251376"/>
          </a:xfrm>
          <a:prstGeom prst="rect">
            <a:avLst/>
          </a:prstGeom>
        </p:spPr>
      </p:pic>
      <p:sp>
        <p:nvSpPr>
          <p:cNvPr id="25" name="C17-details-5"/>
          <p:cNvSpPr txBox="1"/>
          <p:nvPr/>
        </p:nvSpPr>
        <p:spPr>
          <a:xfrm>
            <a:off x="1005840" y="476028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kræves en anden fysisk model.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18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C18 · Søger: Afladetid t [s]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u₀, uₘ, </a:t>
            </a:r>
            <a:r>
              <a:rPr>
                <a:latin typeface="Cambria Math"/>
              </a:rPr>
              <a:t>I</a:t>
            </a:r>
            <a:r>
              <a:t>ₐ,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kondensator, konstant positiv afladningsstrøm </a:t>
            </a:r>
            <a:r>
              <a:rPr>
                <a:latin typeface="Cambria Math"/>
              </a:rPr>
              <a:t>I</a:t>
            </a:r>
            <a:r>
              <a:t>ₐ; kun indtil spændingen når nul. 0≤uₘ≤u₀.</a:t>
            </a:r>
          </a:p>
        </p:txBody>
      </p:sp>
      <p:sp>
        <p:nvSpPr>
          <p:cNvPr id="30" name="math-source-C18-formula"/>
          <p:cNvSpPr txBox="1"/>
          <p:nvPr/>
        </p:nvSpPr>
        <p:spPr>
          <a:xfrm>
            <a:off x="5532120" y="2340864"/>
            <a:ext cx="4800600" cy="739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t=(C(u_0-u_m))/(</a:t>
            </a:r>
            <a:r>
              <a:rPr>
                <a:latin typeface="Cambria Math"/>
              </a:rPr>
              <a:t>I</a:t>
            </a:r>
            <a:r>
              <a:t>_a)</a:t>
            </a:r>
          </a:p>
        </p:txBody>
      </p:sp>
      <p:pic>
        <p:nvPicPr>
          <p:cNvPr id="31" name="C18-formula" descr="t=\dfrac{C(u_0-u_m)}{I_a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340864"/>
            <a:ext cx="1888984" cy="73916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2263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3" name="math-source-C18-details-0"/>
          <p:cNvSpPr txBox="1"/>
          <p:nvPr/>
        </p:nvSpPr>
        <p:spPr>
          <a:xfrm>
            <a:off x="6126480" y="3226335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u_m=u_0-(</a:t>
            </a:r>
            <a:r>
              <a:rPr>
                <a:latin typeface="Cambria Math"/>
              </a:rPr>
              <a:t>I</a:t>
            </a:r>
            <a:r>
              <a:t>_a)/(C)t</a:t>
            </a:r>
          </a:p>
        </p:txBody>
      </p:sp>
      <p:pic>
        <p:nvPicPr>
          <p:cNvPr id="34" name="C18-details-0" descr="u_m=u_0-\dfrac{I_a}{C}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226335"/>
            <a:ext cx="1206010" cy="4758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382102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math-source-C18-details-1"/>
          <p:cNvSpPr txBox="1"/>
          <p:nvPr/>
        </p:nvSpPr>
        <p:spPr>
          <a:xfrm>
            <a:off x="6126480" y="382102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FcdotV/A=s</a:t>
            </a:r>
          </a:p>
        </p:txBody>
      </p:sp>
      <p:pic>
        <p:nvPicPr>
          <p:cNvPr id="37" name="C18-details-1" descr="\mathrm{F}\cdot\mathrm{V}/\mathrm{A}=\mathrm{s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821028"/>
            <a:ext cx="1005507" cy="2513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32120" y="419127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C18-details-2"/>
          <p:cNvSpPr txBox="1"/>
          <p:nvPr/>
        </p:nvSpPr>
        <p:spPr>
          <a:xfrm>
            <a:off x="6126480" y="41912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Til nul:</a:t>
            </a:r>
          </a:p>
        </p:txBody>
      </p:sp>
      <p:sp>
        <p:nvSpPr>
          <p:cNvPr id="40" name="math-source-C18-details-3"/>
          <p:cNvSpPr txBox="1"/>
          <p:nvPr/>
        </p:nvSpPr>
        <p:spPr>
          <a:xfrm>
            <a:off x="6126480" y="443359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t=Cu_0/</a:t>
            </a:r>
            <a:r>
              <a:rPr>
                <a:latin typeface="Cambria Math"/>
              </a:rPr>
              <a:t>I</a:t>
            </a:r>
            <a:r>
              <a:t>_a</a:t>
            </a:r>
          </a:p>
        </p:txBody>
      </p:sp>
      <p:pic>
        <p:nvPicPr>
          <p:cNvPr id="41" name="C18-details-3" descr="t=Cu_0/I_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4433593"/>
            <a:ext cx="912737" cy="251376"/>
          </a:xfrm>
          <a:prstGeom prst="rect">
            <a:avLst/>
          </a:prstGeom>
        </p:spPr>
      </p:pic>
      <p:sp>
        <p:nvSpPr>
          <p:cNvPr id="42" name="C18-details-4"/>
          <p:cNvSpPr txBox="1"/>
          <p:nvPr/>
        </p:nvSpPr>
        <p:spPr>
          <a:xfrm>
            <a:off x="6126480" y="472611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 denne idealmodel.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2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C19, C20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68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19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C19 · Søger: Tidskonstant τ [s]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C [F]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RC-kreds med konstant R og C; gælder både opladning og lukket afladning.</a:t>
            </a:r>
          </a:p>
        </p:txBody>
      </p:sp>
      <p:sp>
        <p:nvSpPr>
          <p:cNvPr id="11" name="math-source-C19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tau=RC</a:t>
            </a:r>
          </a:p>
        </p:txBody>
      </p:sp>
      <p:pic>
        <p:nvPicPr>
          <p:cNvPr id="12" name="C19-formula" descr="\tau=R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59621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19-details-0"/>
          <p:cNvSpPr txBox="1"/>
          <p:nvPr/>
        </p:nvSpPr>
        <p:spPr>
          <a:xfrm>
            <a:off x="1005840" y="285026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t=tau</a:t>
            </a:r>
          </a:p>
        </p:txBody>
      </p:sp>
      <p:pic>
        <p:nvPicPr>
          <p:cNvPr id="15" name="C19-details-0" descr="t=\ta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50267"/>
            <a:ext cx="433924" cy="251376"/>
          </a:xfrm>
          <a:prstGeom prst="rect">
            <a:avLst/>
          </a:prstGeom>
        </p:spPr>
      </p:pic>
      <p:sp>
        <p:nvSpPr>
          <p:cNvPr id="16" name="C19-details-1"/>
          <p:cNvSpPr txBox="1"/>
          <p:nvPr/>
        </p:nvSpPr>
        <p:spPr>
          <a:xfrm>
            <a:off x="1005840" y="314279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giver restafvigelse</a:t>
            </a:r>
          </a:p>
        </p:txBody>
      </p:sp>
      <p:sp>
        <p:nvSpPr>
          <p:cNvPr id="17" name="math-source-C19-details-2"/>
          <p:cNvSpPr txBox="1"/>
          <p:nvPr/>
        </p:nvSpPr>
        <p:spPr>
          <a:xfrm>
            <a:off x="1005840" y="3385108"/>
            <a:ext cx="4206240" cy="2753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e^-1≈0,3679</a:t>
            </a:r>
          </a:p>
        </p:txBody>
      </p:sp>
      <p:pic>
        <p:nvPicPr>
          <p:cNvPr id="18" name="C19-details-2" descr="e^{-1}\approx0{,}36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385108"/>
            <a:ext cx="1209003" cy="27531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377929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0" name="math-source-C19-details-3"/>
          <p:cNvSpPr txBox="1"/>
          <p:nvPr/>
        </p:nvSpPr>
        <p:spPr>
          <a:xfrm>
            <a:off x="1005840" y="377929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ΩcdotF=s</a:t>
            </a:r>
          </a:p>
        </p:txBody>
      </p:sp>
      <p:pic>
        <p:nvPicPr>
          <p:cNvPr id="21" name="C19-details-3" descr="\Omega\cdot\mathrm{F}=\mathrm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779298"/>
            <a:ext cx="781063" cy="2513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480" y="414954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3" name="C19-details-4"/>
          <p:cNvSpPr txBox="1"/>
          <p:nvPr/>
        </p:nvSpPr>
        <p:spPr>
          <a:xfrm>
            <a:off x="1005840" y="414954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</a:t>
            </a:r>
          </a:p>
        </p:txBody>
      </p:sp>
      <p:sp>
        <p:nvSpPr>
          <p:cNvPr id="24" name="math-source-C19-details-5"/>
          <p:cNvSpPr txBox="1"/>
          <p:nvPr/>
        </p:nvSpPr>
        <p:spPr>
          <a:xfrm>
            <a:off x="1005840" y="439186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5tau</a:t>
            </a:r>
          </a:p>
        </p:txBody>
      </p:sp>
      <p:pic>
        <p:nvPicPr>
          <p:cNvPr id="25" name="C19-details-5" descr="5\tau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91863"/>
            <a:ext cx="263347" cy="251376"/>
          </a:xfrm>
          <a:prstGeom prst="rect">
            <a:avLst/>
          </a:prstGeom>
        </p:spPr>
      </p:pic>
      <p:sp>
        <p:nvSpPr>
          <p:cNvPr id="26" name="C19-details-6"/>
          <p:cNvSpPr txBox="1"/>
          <p:nvPr/>
        </p:nvSpPr>
        <p:spPr>
          <a:xfrm>
            <a:off x="1005840" y="468438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er resten</a:t>
            </a:r>
          </a:p>
        </p:txBody>
      </p:sp>
      <p:sp>
        <p:nvSpPr>
          <p:cNvPr id="27" name="math-source-C19-details-7"/>
          <p:cNvSpPr txBox="1"/>
          <p:nvPr/>
        </p:nvSpPr>
        <p:spPr>
          <a:xfrm>
            <a:off x="1005840" y="4926704"/>
            <a:ext cx="4206240" cy="2813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e^-5≈0,0067</a:t>
            </a:r>
          </a:p>
        </p:txBody>
      </p:sp>
      <p:pic>
        <p:nvPicPr>
          <p:cNvPr id="28" name="C19-details-7" descr="e^{-5}\approx0{,}006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926704"/>
            <a:ext cx="1206010" cy="281302"/>
          </a:xfrm>
          <a:prstGeom prst="rect">
            <a:avLst/>
          </a:prstGeom>
        </p:spPr>
      </p:pic>
      <p:sp>
        <p:nvSpPr>
          <p:cNvPr id="29" name="C19-details-8"/>
          <p:cNvSpPr txBox="1"/>
          <p:nvPr/>
        </p:nvSpPr>
        <p:spPr>
          <a:xfrm>
            <a:off x="1005840" y="524915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; ikke præcis nul.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20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C20 · Søger: Opladningsspænding uC(t) [V]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Uₛ, u₀, R, C, 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DC-seriekreds; konstant R,C og forsyningsspænding Uₛ. Før start er uC(0)=u₀.</a:t>
            </a:r>
          </a:p>
        </p:txBody>
      </p:sp>
      <p:sp>
        <p:nvSpPr>
          <p:cNvPr id="34" name="math-source-C20-formula"/>
          <p:cNvSpPr txBox="1"/>
          <p:nvPr/>
        </p:nvSpPr>
        <p:spPr>
          <a:xfrm>
            <a:off x="5532120" y="2340864"/>
            <a:ext cx="4800600" cy="4192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u_C(t)=U_s+(u_0-U_s)e^-t/(RC)</a:t>
            </a:r>
          </a:p>
        </p:txBody>
      </p:sp>
      <p:pic>
        <p:nvPicPr>
          <p:cNvPr id="35" name="C20-formula" descr="u_C(t)=U_s+(u_0-U_s)e^{-t/(RC)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2340864"/>
            <a:ext cx="3777968" cy="41929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29064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7" name="math-source-C20-details-0"/>
          <p:cNvSpPr txBox="1"/>
          <p:nvPr/>
        </p:nvSpPr>
        <p:spPr>
          <a:xfrm>
            <a:off x="6126480" y="290646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u_0=0</a:t>
            </a:r>
          </a:p>
        </p:txBody>
      </p:sp>
      <p:pic>
        <p:nvPicPr>
          <p:cNvPr id="38" name="C20-details-0" descr="u_0=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2906461"/>
            <a:ext cx="586546" cy="251376"/>
          </a:xfrm>
          <a:prstGeom prst="rect">
            <a:avLst/>
          </a:prstGeom>
        </p:spPr>
      </p:pic>
      <p:sp>
        <p:nvSpPr>
          <p:cNvPr id="39" name="C20-details-1"/>
          <p:cNvSpPr txBox="1"/>
          <p:nvPr/>
        </p:nvSpPr>
        <p:spPr>
          <a:xfrm>
            <a:off x="6126480" y="319898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giver</a:t>
            </a:r>
          </a:p>
        </p:txBody>
      </p:sp>
      <p:sp>
        <p:nvSpPr>
          <p:cNvPr id="40" name="math-source-C20-details-2"/>
          <p:cNvSpPr txBox="1"/>
          <p:nvPr/>
        </p:nvSpPr>
        <p:spPr>
          <a:xfrm>
            <a:off x="6126480" y="3441302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u_C=U_s(1-e^-t/(RC))</a:t>
            </a:r>
          </a:p>
        </p:txBody>
      </p:sp>
      <p:pic>
        <p:nvPicPr>
          <p:cNvPr id="41" name="C20-details-2" descr="u_C=U_s(1-e^{-t/(RC)}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3441302"/>
            <a:ext cx="1855400" cy="2902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532120" y="385045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3" name="math-source-C20-details-3"/>
          <p:cNvSpPr txBox="1"/>
          <p:nvPr/>
        </p:nvSpPr>
        <p:spPr>
          <a:xfrm>
            <a:off x="6126480" y="385045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RC [s]</a:t>
            </a:r>
          </a:p>
        </p:txBody>
      </p:sp>
      <p:pic>
        <p:nvPicPr>
          <p:cNvPr id="44" name="C20-details-3" descr="RC\,[\mathrm{s}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3850455"/>
            <a:ext cx="592531" cy="251376"/>
          </a:xfrm>
          <a:prstGeom prst="rect">
            <a:avLst/>
          </a:prstGeom>
        </p:spPr>
      </p:pic>
      <p:sp>
        <p:nvSpPr>
          <p:cNvPr id="45" name="math-source-C20-details-4"/>
          <p:cNvSpPr txBox="1"/>
          <p:nvPr/>
        </p:nvSpPr>
        <p:spPr>
          <a:xfrm>
            <a:off x="6126480" y="414298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t/(RC) [1]</a:t>
            </a:r>
          </a:p>
        </p:txBody>
      </p:sp>
      <p:pic>
        <p:nvPicPr>
          <p:cNvPr id="46" name="C20-details-4" descr="t/(RC)\,[1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0" y="4142980"/>
            <a:ext cx="894781" cy="25137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532120" y="451322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8" name="C20-details-5"/>
          <p:cNvSpPr txBox="1"/>
          <p:nvPr/>
        </p:nvSpPr>
        <p:spPr>
          <a:xfrm>
            <a:off x="6126480" y="4513229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Uₛ er forsyningsspænding, u₀ er startspænding; de må ikke</a:t>
            </a:r>
            <a:br/>
            <a:r>
              <a:t>forveksles.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nav-back-index" descr="Til indeks">
            <a:hlinkClick action="ppaction://hlinksldjump" r:id="rId14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51" name="nav-back-start" descr="Til start">
            <a:hlinkClick action="ppaction://hlinksldjump" r:id="rId15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C21, C22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69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2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C21 · Søger: Opladningsstrøm i(t)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Uₛ, u₀, R, C,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DC-seriekreds; konstant R,C og forsyningsspænding Uₛ. Strøm ind i positiv plade.</a:t>
            </a:r>
          </a:p>
        </p:txBody>
      </p:sp>
      <p:sp>
        <p:nvSpPr>
          <p:cNvPr id="11" name="math-source-C21-formula"/>
          <p:cNvSpPr txBox="1"/>
          <p:nvPr/>
        </p:nvSpPr>
        <p:spPr>
          <a:xfrm>
            <a:off x="411480" y="2340864"/>
            <a:ext cx="4800600" cy="674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i(t)=(U_s-u_0)/(R)e^-t/(RC)</a:t>
            </a:r>
          </a:p>
        </p:txBody>
      </p:sp>
      <p:pic>
        <p:nvPicPr>
          <p:cNvPr id="12" name="C21-formula" descr="i(t)=\dfrac{U_s-u_0}{R}e^{-t/(RC)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692991" cy="674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6149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21-details-0"/>
          <p:cNvSpPr txBox="1"/>
          <p:nvPr/>
        </p:nvSpPr>
        <p:spPr>
          <a:xfrm>
            <a:off x="1005840" y="3161496"/>
            <a:ext cx="4206240" cy="4668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i(0)=(U_s-u_0)/(R)</a:t>
            </a:r>
          </a:p>
        </p:txBody>
      </p:sp>
      <p:pic>
        <p:nvPicPr>
          <p:cNvPr id="15" name="C21-details-0" descr="i(0)=\dfrac{U_s-u_0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61496"/>
            <a:ext cx="1268854" cy="466842"/>
          </a:xfrm>
          <a:prstGeom prst="rect">
            <a:avLst/>
          </a:prstGeom>
        </p:spPr>
      </p:pic>
      <p:sp>
        <p:nvSpPr>
          <p:cNvPr id="16" name="math-source-C21-details-1"/>
          <p:cNvSpPr txBox="1"/>
          <p:nvPr/>
        </p:nvSpPr>
        <p:spPr>
          <a:xfrm>
            <a:off x="1005840" y="3669487"/>
            <a:ext cx="4206240" cy="502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i=(dq)/(dt)</a:t>
            </a:r>
          </a:p>
        </p:txBody>
      </p:sp>
      <p:pic>
        <p:nvPicPr>
          <p:cNvPr id="17" name="C21-details-1" descr="i=\dfrac{dq}{d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69487"/>
            <a:ext cx="565597" cy="50275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429111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ath-source-C21-details-2"/>
          <p:cNvSpPr txBox="1"/>
          <p:nvPr/>
        </p:nvSpPr>
        <p:spPr>
          <a:xfrm>
            <a:off x="1005840" y="429111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V/Ω=A</a:t>
            </a:r>
          </a:p>
        </p:txBody>
      </p:sp>
      <p:pic>
        <p:nvPicPr>
          <p:cNvPr id="20" name="C21-details-2" descr="\mathrm{V}/\Omega=\mathrm{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91112"/>
            <a:ext cx="831937" cy="2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46613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math-source-C21-details-3"/>
          <p:cNvSpPr txBox="1"/>
          <p:nvPr/>
        </p:nvSpPr>
        <p:spPr>
          <a:xfrm>
            <a:off x="1005840" y="466136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U_s&gt;u_0</a:t>
            </a:r>
          </a:p>
        </p:txBody>
      </p:sp>
      <p:pic>
        <p:nvPicPr>
          <p:cNvPr id="23" name="C21-details-3" descr="U_s&gt;u_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661361"/>
            <a:ext cx="700264" cy="251376"/>
          </a:xfrm>
          <a:prstGeom prst="rect">
            <a:avLst/>
          </a:prstGeom>
        </p:spPr>
      </p:pic>
      <p:sp>
        <p:nvSpPr>
          <p:cNvPr id="24" name="C21-details-4"/>
          <p:cNvSpPr txBox="1"/>
          <p:nvPr/>
        </p:nvSpPr>
        <p:spPr>
          <a:xfrm>
            <a:off x="1005840" y="495388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giver positiv opladningsstrøm; fortegn vender ved omvendt start.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2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C22 · Søger: Opladningstid t [s]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Uₛ, u₀, uₘ, R,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DC-seriekreds; konstant R,C og forsyningsspænding Uₛ. u₀&lt;uₘ&lt;Uₛ.</a:t>
            </a:r>
          </a:p>
        </p:txBody>
      </p:sp>
      <p:sp>
        <p:nvSpPr>
          <p:cNvPr id="29" name="math-source-C22-formula"/>
          <p:cNvSpPr txBox="1"/>
          <p:nvPr/>
        </p:nvSpPr>
        <p:spPr>
          <a:xfrm>
            <a:off x="5532120" y="2340864"/>
            <a:ext cx="4800600" cy="7175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t=-RCln\!((U_s-u_m)/(U_s-u_0))</a:t>
            </a:r>
          </a:p>
        </p:txBody>
      </p:sp>
      <p:pic>
        <p:nvPicPr>
          <p:cNvPr id="30" name="C22-formula" descr="t=-RC\ln\!\left(\dfrac{U_s-u_m}{U_s-u_0}\right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340864"/>
            <a:ext cx="2809701" cy="71755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320472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2" name="math-source-C22-details-0"/>
          <p:cNvSpPr txBox="1"/>
          <p:nvPr/>
        </p:nvSpPr>
        <p:spPr>
          <a:xfrm>
            <a:off x="6126480" y="3204722"/>
            <a:ext cx="4206240" cy="496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(U_s-u_m)/(U_s-u_0)=e^-t/(RC)</a:t>
            </a:r>
          </a:p>
        </p:txBody>
      </p:sp>
      <p:pic>
        <p:nvPicPr>
          <p:cNvPr id="33" name="C22-details-0" descr="\dfrac{U_s-u_m}{U_s-u_0}=e^{-t/(RC)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204722"/>
            <a:ext cx="1618986" cy="4967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382036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math-source-C22-details-1"/>
          <p:cNvSpPr txBox="1"/>
          <p:nvPr/>
        </p:nvSpPr>
        <p:spPr>
          <a:xfrm>
            <a:off x="6126480" y="382036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ln(forhold) [1]</a:t>
            </a:r>
          </a:p>
        </p:txBody>
      </p:sp>
      <p:pic>
        <p:nvPicPr>
          <p:cNvPr id="36" name="C22-details-1" descr="\ln(\mathrm{forhold})\,[1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820363"/>
            <a:ext cx="1325713" cy="25137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419061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C22-details-2"/>
          <p:cNvSpPr txBox="1"/>
          <p:nvPr/>
        </p:nvSpPr>
        <p:spPr>
          <a:xfrm>
            <a:off x="6126480" y="419061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</a:t>
            </a:r>
          </a:p>
        </p:txBody>
      </p:sp>
      <p:sp>
        <p:nvSpPr>
          <p:cNvPr id="39" name="math-source-C22-details-3"/>
          <p:cNvSpPr txBox="1"/>
          <p:nvPr/>
        </p:nvSpPr>
        <p:spPr>
          <a:xfrm>
            <a:off x="6126480" y="443292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u_m=U_s</a:t>
            </a:r>
          </a:p>
        </p:txBody>
      </p:sp>
      <p:pic>
        <p:nvPicPr>
          <p:cNvPr id="40" name="C22-details-3" descr="u_m=U_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4432928"/>
            <a:ext cx="736175" cy="251376"/>
          </a:xfrm>
          <a:prstGeom prst="rect">
            <a:avLst/>
          </a:prstGeom>
        </p:spPr>
      </p:pic>
      <p:sp>
        <p:nvSpPr>
          <p:cNvPr id="41" name="C22-details-4"/>
          <p:cNvSpPr txBox="1"/>
          <p:nvPr/>
        </p:nvSpPr>
        <p:spPr>
          <a:xfrm>
            <a:off x="6126480" y="472545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kræver idealmodellen uendelig tid.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av-back-index" descr="Til indeks">
            <a:hlinkClick action="ppaction://hlinksldjump" r:id="rId12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4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C23, C24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70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2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C23 · Søger: Opladningsmodstand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Uₛ, u₀, uₘ, t,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DC-seriekreds; konstant R,C og forsyningsspænding Uₛ. u₀&lt;uₘ&lt;Uₛ.</a:t>
            </a:r>
          </a:p>
        </p:txBody>
      </p:sp>
      <p:sp>
        <p:nvSpPr>
          <p:cNvPr id="11" name="math-source-C23-formula"/>
          <p:cNvSpPr txBox="1"/>
          <p:nvPr/>
        </p:nvSpPr>
        <p:spPr>
          <a:xfrm>
            <a:off x="411480" y="2340864"/>
            <a:ext cx="4800600" cy="6527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R=(-t)/(Cln((U_s-u_m)/(U_s-u_0)))</a:t>
            </a:r>
          </a:p>
        </p:txBody>
      </p:sp>
      <p:pic>
        <p:nvPicPr>
          <p:cNvPr id="12" name="C23-formula" descr="R=\dfrac{-t}{C\ln((U_s-u_m)/(U_s-u_0))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3799581" cy="6527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98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23-details-0"/>
          <p:cNvSpPr txBox="1"/>
          <p:nvPr/>
        </p:nvSpPr>
        <p:spPr>
          <a:xfrm>
            <a:off x="1005840" y="31398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t=-RCln((U_s-u_m)/(U_s-u_0))</a:t>
            </a:r>
          </a:p>
        </p:txBody>
      </p:sp>
      <p:pic>
        <p:nvPicPr>
          <p:cNvPr id="15" name="C23-details-0" descr="t=-RC\ln((U_s-u_m)/(U_s-u_0)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39883"/>
            <a:ext cx="2836967" cy="25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5101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C23-details-1"/>
          <p:cNvSpPr txBox="1"/>
          <p:nvPr/>
        </p:nvSpPr>
        <p:spPr>
          <a:xfrm>
            <a:off x="1005840" y="351013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s/F=Ω</a:t>
            </a:r>
          </a:p>
        </p:txBody>
      </p:sp>
      <p:pic>
        <p:nvPicPr>
          <p:cNvPr id="18" name="C23-details-1" descr="\mathrm{s}/\mathrm{F}=\Omeg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10132"/>
            <a:ext cx="715227" cy="25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38803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C23-details-2"/>
          <p:cNvSpPr txBox="1"/>
          <p:nvPr/>
        </p:nvSpPr>
        <p:spPr>
          <a:xfrm>
            <a:off x="1005840" y="388038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Logaritmens argument skal være mellem 0 og 1.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2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C24 · Søger: Opladningskapacitans C [F]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Uₛ, u₀, uₘ, t,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DC-seriekreds; konstant R,C og forsyningsspænding Uₛ. u₀&lt;uₘ&lt;Uₛ.</a:t>
            </a:r>
          </a:p>
        </p:txBody>
      </p:sp>
      <p:sp>
        <p:nvSpPr>
          <p:cNvPr id="25" name="math-source-C24-formula"/>
          <p:cNvSpPr txBox="1"/>
          <p:nvPr/>
        </p:nvSpPr>
        <p:spPr>
          <a:xfrm>
            <a:off x="5532120" y="2340864"/>
            <a:ext cx="4800600" cy="6527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C=(-t)/(Rln((U_s-u_m)/(U_s-u_0)))</a:t>
            </a:r>
          </a:p>
        </p:txBody>
      </p:sp>
      <p:pic>
        <p:nvPicPr>
          <p:cNvPr id="26" name="C24-formula" descr="C=\dfrac{-t}{R\ln((U_s-u_m)/(U_s-u_0))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3795258" cy="65271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31398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math-source-C24-details-0"/>
          <p:cNvSpPr txBox="1"/>
          <p:nvPr/>
        </p:nvSpPr>
        <p:spPr>
          <a:xfrm>
            <a:off x="6126480" y="31398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t=-RCln((U_s-u_m)/(U_s-u_0))</a:t>
            </a:r>
          </a:p>
        </p:txBody>
      </p:sp>
      <p:pic>
        <p:nvPicPr>
          <p:cNvPr id="29" name="C24-details-0" descr="t=-RC\ln((U_s-u_m)/(U_s-u_0)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139883"/>
            <a:ext cx="2836967" cy="2513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5101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math-source-C24-details-1"/>
          <p:cNvSpPr txBox="1"/>
          <p:nvPr/>
        </p:nvSpPr>
        <p:spPr>
          <a:xfrm>
            <a:off x="6126480" y="351013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s/Ω=F</a:t>
            </a:r>
          </a:p>
        </p:txBody>
      </p:sp>
      <p:pic>
        <p:nvPicPr>
          <p:cNvPr id="32" name="C24-details-1" descr="\mathrm{s}/\Omega=\mathrm{F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510132"/>
            <a:ext cx="721212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8803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C24-details-2"/>
          <p:cNvSpPr txBox="1"/>
          <p:nvPr/>
        </p:nvSpPr>
        <p:spPr>
          <a:xfrm>
            <a:off x="6126480" y="388038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Formlen forudsætter et enkelt konstant R og C.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7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C25, C26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71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2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C25 · Søger: Afladningsspænding uC(t)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u₀, R, C,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Forsyning frakoblet; kondensator har lukket afladevej gennem konstant R og C.</a:t>
            </a:r>
          </a:p>
        </p:txBody>
      </p:sp>
      <p:sp>
        <p:nvSpPr>
          <p:cNvPr id="11" name="math-source-C25-formula"/>
          <p:cNvSpPr txBox="1"/>
          <p:nvPr/>
        </p:nvSpPr>
        <p:spPr>
          <a:xfrm>
            <a:off x="411480" y="2340864"/>
            <a:ext cx="4800600" cy="4192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u_C(t)=u_0e^-t/(RC)</a:t>
            </a:r>
          </a:p>
        </p:txBody>
      </p:sp>
      <p:pic>
        <p:nvPicPr>
          <p:cNvPr id="12" name="C25-formula" descr="u_C(t)=u_0e^{-t/(RC)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226148" cy="4192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9064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25-details-0"/>
          <p:cNvSpPr txBox="1"/>
          <p:nvPr/>
        </p:nvSpPr>
        <p:spPr>
          <a:xfrm>
            <a:off x="1005840" y="290646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u_C(0)=u_0</a:t>
            </a:r>
          </a:p>
        </p:txBody>
      </p:sp>
      <p:pic>
        <p:nvPicPr>
          <p:cNvPr id="15" name="C25-details-0" descr="u_C(0)=u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906461"/>
            <a:ext cx="960618" cy="251376"/>
          </a:xfrm>
          <a:prstGeom prst="rect">
            <a:avLst/>
          </a:prstGeom>
        </p:spPr>
      </p:pic>
      <p:sp>
        <p:nvSpPr>
          <p:cNvPr id="16" name="math-source-C25-details-1"/>
          <p:cNvSpPr txBox="1"/>
          <p:nvPr/>
        </p:nvSpPr>
        <p:spPr>
          <a:xfrm>
            <a:off x="1005840" y="319898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u_C(tau)=u_0/e</a:t>
            </a:r>
          </a:p>
        </p:txBody>
      </p:sp>
      <p:pic>
        <p:nvPicPr>
          <p:cNvPr id="17" name="C25-details-1" descr="u_C(\tau)=u_0/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98986"/>
            <a:ext cx="1113240" cy="251376"/>
          </a:xfrm>
          <a:prstGeom prst="rect">
            <a:avLst/>
          </a:prstGeom>
        </p:spPr>
      </p:pic>
      <p:sp>
        <p:nvSpPr>
          <p:cNvPr id="18" name="math-source-C25-details-2"/>
          <p:cNvSpPr txBox="1"/>
          <p:nvPr/>
        </p:nvSpPr>
        <p:spPr>
          <a:xfrm>
            <a:off x="1005840" y="3491511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u_C(5tau)=u_0e^-5</a:t>
            </a:r>
          </a:p>
        </p:txBody>
      </p:sp>
      <p:pic>
        <p:nvPicPr>
          <p:cNvPr id="19" name="C25-details-2" descr="u_C(5\tau)=u_0e^{-5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491511"/>
            <a:ext cx="1364617" cy="290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39006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1" name="math-source-C25-details-3"/>
          <p:cNvSpPr txBox="1"/>
          <p:nvPr/>
        </p:nvSpPr>
        <p:spPr>
          <a:xfrm>
            <a:off x="1005840" y="390066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RC [s]</a:t>
            </a:r>
          </a:p>
        </p:txBody>
      </p:sp>
      <p:pic>
        <p:nvPicPr>
          <p:cNvPr id="22" name="C25-details-3" descr="RC\,[\mathrm{s}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900664"/>
            <a:ext cx="592531" cy="251376"/>
          </a:xfrm>
          <a:prstGeom prst="rect">
            <a:avLst/>
          </a:prstGeom>
        </p:spPr>
      </p:pic>
      <p:sp>
        <p:nvSpPr>
          <p:cNvPr id="23" name="math-source-C25-details-4"/>
          <p:cNvSpPr txBox="1"/>
          <p:nvPr/>
        </p:nvSpPr>
        <p:spPr>
          <a:xfrm>
            <a:off x="1005840" y="419318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t/(RC) [1]</a:t>
            </a:r>
          </a:p>
        </p:txBody>
      </p:sp>
      <p:pic>
        <p:nvPicPr>
          <p:cNvPr id="24" name="C25-details-4" descr="t/(RC)\,[1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193189"/>
            <a:ext cx="894781" cy="2513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11480" y="456343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6" name="C25-details-5"/>
          <p:cNvSpPr txBox="1"/>
          <p:nvPr/>
        </p:nvSpPr>
        <p:spPr>
          <a:xfrm>
            <a:off x="1005840" y="4563437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Isoleret kondensator aflades ikke efter denne RC-formel. Ved 5τ</a:t>
            </a:r>
            <a:br/>
            <a:r>
              <a:t>rest≈0,67 %.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08464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8" name="math-source-C25-details-6"/>
          <p:cNvSpPr txBox="1"/>
          <p:nvPr/>
        </p:nvSpPr>
        <p:spPr>
          <a:xfrm>
            <a:off x="1005840" y="5084645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u_C(10 s)=623 V e^-10/12≈270,75 V</a:t>
            </a:r>
          </a:p>
        </p:txBody>
      </p:sp>
      <p:pic>
        <p:nvPicPr>
          <p:cNvPr id="29" name="C25-details-6" descr="u_C(10\,\mathrm{s})=623\,\mathrm{V}\,e^{-10/12}\approx270{,}75\,\mathrm{V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084645"/>
            <a:ext cx="3202062" cy="29028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2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C26 · Søger: Afladningsstrøm i(t) [A]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u₀, R, C, 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Forsyning frakoblet; kondensator har lukket afladevej gennem konstant R og C. Positiv størrelse ud af kondensatoren.</a:t>
            </a:r>
          </a:p>
        </p:txBody>
      </p:sp>
      <p:sp>
        <p:nvSpPr>
          <p:cNvPr id="34" name="math-source-C26-formula"/>
          <p:cNvSpPr txBox="1"/>
          <p:nvPr/>
        </p:nvSpPr>
        <p:spPr>
          <a:xfrm>
            <a:off x="5532120" y="2340864"/>
            <a:ext cx="4800600" cy="6008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i_ud(t)=(u_0)/(R)e^-t/(RC)</a:t>
            </a:r>
          </a:p>
        </p:txBody>
      </p:sp>
      <p:pic>
        <p:nvPicPr>
          <p:cNvPr id="35" name="C26-formula" descr="i_{\mathrm{ud}}(t)=\dfrac{u_0}{R}e^{-t/(RC)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0" y="2340864"/>
            <a:ext cx="2273697" cy="60084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308801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7" name="math-source-C26-details-0"/>
          <p:cNvSpPr txBox="1"/>
          <p:nvPr/>
        </p:nvSpPr>
        <p:spPr>
          <a:xfrm>
            <a:off x="6126480" y="308801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i_ud(0)=u_0/R</a:t>
            </a:r>
          </a:p>
        </p:txBody>
      </p:sp>
      <p:pic>
        <p:nvPicPr>
          <p:cNvPr id="38" name="C26-details-0" descr="i_{\mathrm{ud}}(0)=u_0/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3088011"/>
            <a:ext cx="1176084" cy="251376"/>
          </a:xfrm>
          <a:prstGeom prst="rect">
            <a:avLst/>
          </a:prstGeom>
        </p:spPr>
      </p:pic>
      <p:sp>
        <p:nvSpPr>
          <p:cNvPr id="39" name="math-source-C26-details-1"/>
          <p:cNvSpPr txBox="1"/>
          <p:nvPr/>
        </p:nvSpPr>
        <p:spPr>
          <a:xfrm>
            <a:off x="6126480" y="3380536"/>
            <a:ext cx="4206240" cy="266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dq/dt=-i_ud</a:t>
            </a:r>
          </a:p>
        </p:txBody>
      </p:sp>
      <p:pic>
        <p:nvPicPr>
          <p:cNvPr id="40" name="C26-details-1" descr="dq/dt=-i_{\mathrm{ud}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3380536"/>
            <a:ext cx="1122218" cy="26633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532120" y="376574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2" name="math-source-C26-details-2"/>
          <p:cNvSpPr txBox="1"/>
          <p:nvPr/>
        </p:nvSpPr>
        <p:spPr>
          <a:xfrm>
            <a:off x="6126480" y="376574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V/Ω=A</a:t>
            </a:r>
          </a:p>
        </p:txBody>
      </p:sp>
      <p:pic>
        <p:nvPicPr>
          <p:cNvPr id="43" name="C26-details-2" descr="\mathrm{V}/\Omega=\mathrm{A}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0" y="3765748"/>
            <a:ext cx="831937" cy="25137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532120" y="413599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5" name="C26-details-3"/>
          <p:cNvSpPr txBox="1"/>
          <p:nvPr/>
        </p:nvSpPr>
        <p:spPr>
          <a:xfrm>
            <a:off x="6126480" y="413599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opladningens strømretning er strømmen negativ.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av-back-index" descr="Til indeks">
            <a:hlinkClick action="ppaction://hlinksldjump" r:id="rId14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8" name="nav-back-start" descr="Til start">
            <a:hlinkClick action="ppaction://hlinksldjump" r:id="rId15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C27, C28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72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2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C27 · Søger: Afladetid t [s]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u₀, uₘ, R,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Forsyning frakoblet; kondensator har lukket afladevej gennem konstant R og C. 0&lt;uₘ&lt;u₀.</a:t>
            </a:r>
          </a:p>
        </p:txBody>
      </p:sp>
      <p:sp>
        <p:nvSpPr>
          <p:cNvPr id="11" name="math-source-C27-formula"/>
          <p:cNvSpPr txBox="1"/>
          <p:nvPr/>
        </p:nvSpPr>
        <p:spPr>
          <a:xfrm>
            <a:off x="411480" y="2340864"/>
            <a:ext cx="4800600" cy="574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t=-RCln\!((u_m)/(u_0))</a:t>
            </a:r>
          </a:p>
        </p:txBody>
      </p:sp>
      <p:pic>
        <p:nvPicPr>
          <p:cNvPr id="12" name="C27-formula" descr="t=-RC\ln\!\left(\dfrac{u_m}{u_0}\right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061888" cy="5749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06207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27-details-0"/>
          <p:cNvSpPr txBox="1"/>
          <p:nvPr/>
        </p:nvSpPr>
        <p:spPr>
          <a:xfrm>
            <a:off x="1005840" y="3062076"/>
            <a:ext cx="4206240" cy="2813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u_m=u_0e^-t/(RC)</a:t>
            </a:r>
          </a:p>
        </p:txBody>
      </p:sp>
      <p:pic>
        <p:nvPicPr>
          <p:cNvPr id="15" name="C27-details-0" descr="u_m=u_0e^{-t/(RC)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62076"/>
            <a:ext cx="1334691" cy="2813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46225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C27-details-1"/>
          <p:cNvSpPr txBox="1"/>
          <p:nvPr/>
        </p:nvSpPr>
        <p:spPr>
          <a:xfrm>
            <a:off x="1005840" y="346225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ln(u_m/u_0) [1]</a:t>
            </a:r>
          </a:p>
        </p:txBody>
      </p:sp>
      <p:pic>
        <p:nvPicPr>
          <p:cNvPr id="18" name="C27-details-1" descr="\ln(u_m/u_0)\,[1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62250"/>
            <a:ext cx="1161121" cy="25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383249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C27-details-2"/>
          <p:cNvSpPr txBox="1"/>
          <p:nvPr/>
        </p:nvSpPr>
        <p:spPr>
          <a:xfrm>
            <a:off x="1005840" y="383249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Præcis nul nås først i grænsen t→∞.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15253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2" name="math-source-C27-details-3"/>
          <p:cNvSpPr txBox="1"/>
          <p:nvPr/>
        </p:nvSpPr>
        <p:spPr>
          <a:xfrm>
            <a:off x="1005840" y="415253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t=-12 s ln(50/623)≈30,27 s</a:t>
            </a:r>
          </a:p>
        </p:txBody>
      </p:sp>
      <p:pic>
        <p:nvPicPr>
          <p:cNvPr id="23" name="C27-details-3" descr="t=-12\,\mathrm{s}\,\ln(50/623)\approx30{,}27\,\mathrm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152539"/>
            <a:ext cx="2675368" cy="25137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28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C28 · Søger: Aflademodstand R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u₀, uₘ, t,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Forsyning frakoblet; kondensator har lukket afladevej gennem konstant R og C. 0&lt;uₘ&lt;u₀.</a:t>
            </a:r>
          </a:p>
        </p:txBody>
      </p:sp>
      <p:sp>
        <p:nvSpPr>
          <p:cNvPr id="28" name="math-source-C28-formula"/>
          <p:cNvSpPr txBox="1"/>
          <p:nvPr/>
        </p:nvSpPr>
        <p:spPr>
          <a:xfrm>
            <a:off x="5532120" y="2340864"/>
            <a:ext cx="4800600" cy="6527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R=(-t)/(Cln(u_m/u_0))</a:t>
            </a:r>
          </a:p>
        </p:txBody>
      </p:sp>
      <p:pic>
        <p:nvPicPr>
          <p:cNvPr id="29" name="C28-formula" descr="R=\dfrac{-t}{C\ln(u_m/u_0)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2031630" cy="65271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1398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math-source-C28-details-0"/>
          <p:cNvSpPr txBox="1"/>
          <p:nvPr/>
        </p:nvSpPr>
        <p:spPr>
          <a:xfrm>
            <a:off x="6126480" y="31398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t=-RCln(u_m/u_0)</a:t>
            </a:r>
          </a:p>
        </p:txBody>
      </p:sp>
      <p:pic>
        <p:nvPicPr>
          <p:cNvPr id="32" name="C28-details-0" descr="t=-RC\ln(u_m/u_0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139883"/>
            <a:ext cx="1613001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5101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math-source-C28-details-1"/>
          <p:cNvSpPr txBox="1"/>
          <p:nvPr/>
        </p:nvSpPr>
        <p:spPr>
          <a:xfrm>
            <a:off x="6126480" y="351013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s/F=Ω</a:t>
            </a:r>
          </a:p>
        </p:txBody>
      </p:sp>
      <p:pic>
        <p:nvPicPr>
          <p:cNvPr id="35" name="C28-details-1" descr="\mathrm{s}/\mathrm{F}=\Omeg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510132"/>
            <a:ext cx="715227" cy="2513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38803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C28-details-2"/>
          <p:cNvSpPr txBox="1"/>
          <p:nvPr/>
        </p:nvSpPr>
        <p:spPr>
          <a:xfrm>
            <a:off x="6126480" y="388038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Anvend R der danner den faktiske lukkede afladevej.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20042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9" name="math-source-C28-details-3"/>
          <p:cNvSpPr txBox="1"/>
          <p:nvPr/>
        </p:nvSpPr>
        <p:spPr>
          <a:xfrm>
            <a:off x="6126480" y="4200421"/>
            <a:ext cx="4206240" cy="490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R=(-35 s)/(12 muF ln(50/623))≈1,16 MΩ</a:t>
            </a:r>
          </a:p>
        </p:txBody>
      </p:sp>
      <p:pic>
        <p:nvPicPr>
          <p:cNvPr id="40" name="C28-details-3" descr="R=\dfrac{-35\,\mathrm{s}}{12\,\mu\mathrm{F}\,\ln(50/623)}\approx1{,}16\,\mathrm{M}\Omeg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200421"/>
            <a:ext cx="2956670" cy="490783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C29, C30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73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29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C29 · Søger: Afladningskapacitans C [F]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u₀, uₘ, t,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Forsyning frakoblet; kondensator har lukket afladevej gennem konstant R og C. 0&lt;uₘ&lt;u₀.</a:t>
            </a:r>
          </a:p>
        </p:txBody>
      </p:sp>
      <p:sp>
        <p:nvSpPr>
          <p:cNvPr id="11" name="math-source-C29-formula"/>
          <p:cNvSpPr txBox="1"/>
          <p:nvPr/>
        </p:nvSpPr>
        <p:spPr>
          <a:xfrm>
            <a:off x="411480" y="2340864"/>
            <a:ext cx="4800600" cy="6527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C=(-t)/(Rln(u_m/u_0))</a:t>
            </a:r>
          </a:p>
        </p:txBody>
      </p:sp>
      <p:pic>
        <p:nvPicPr>
          <p:cNvPr id="12" name="C29-formula" descr="C=\dfrac{-t}{R\ln(u_m/u_0)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027307" cy="6527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98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29-details-0"/>
          <p:cNvSpPr txBox="1"/>
          <p:nvPr/>
        </p:nvSpPr>
        <p:spPr>
          <a:xfrm>
            <a:off x="1005840" y="31398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t=-RCln(u_m/u_0)</a:t>
            </a:r>
          </a:p>
        </p:txBody>
      </p:sp>
      <p:pic>
        <p:nvPicPr>
          <p:cNvPr id="15" name="C29-details-0" descr="t=-RC\ln(u_m/u_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39883"/>
            <a:ext cx="1613001" cy="25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5101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C29-details-1"/>
          <p:cNvSpPr txBox="1"/>
          <p:nvPr/>
        </p:nvSpPr>
        <p:spPr>
          <a:xfrm>
            <a:off x="1005840" y="351013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s/Ω=F</a:t>
            </a:r>
          </a:p>
        </p:txBody>
      </p:sp>
      <p:pic>
        <p:nvPicPr>
          <p:cNvPr id="18" name="C29-details-1" descr="\mathrm{s}/\Omega=\mathrm{F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10132"/>
            <a:ext cx="721212" cy="25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38803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C29-details-2"/>
          <p:cNvSpPr txBox="1"/>
          <p:nvPr/>
        </p:nvSpPr>
        <p:spPr>
          <a:xfrm>
            <a:off x="1005840" y="388038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Modellens lækstrøm og dielektriske tab er forsømt.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30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C30 · Søger: Lagret energi W [J]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C [F], uC [V]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kondensator med konstant kapacitans C; spænding og ladning som størrelser.</a:t>
            </a:r>
          </a:p>
        </p:txBody>
      </p:sp>
      <p:sp>
        <p:nvSpPr>
          <p:cNvPr id="25" name="math-source-C30-formula"/>
          <p:cNvSpPr txBox="1"/>
          <p:nvPr/>
        </p:nvSpPr>
        <p:spPr>
          <a:xfrm>
            <a:off x="5532120" y="2340864"/>
            <a:ext cx="4800600" cy="639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W=(1)/(2)Cu_C^2</a:t>
            </a:r>
          </a:p>
        </p:txBody>
      </p:sp>
      <p:pic>
        <p:nvPicPr>
          <p:cNvPr id="26" name="C30-formula" descr="W=\dfrac{1}{2}Cu_C^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422141" cy="6397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312691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math-source-C30-details-0"/>
          <p:cNvSpPr txBox="1"/>
          <p:nvPr/>
        </p:nvSpPr>
        <p:spPr>
          <a:xfrm>
            <a:off x="6126480" y="3126915"/>
            <a:ext cx="4206240" cy="430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W=int_0^Q u dq</a:t>
            </a:r>
          </a:p>
        </p:txBody>
      </p:sp>
      <p:pic>
        <p:nvPicPr>
          <p:cNvPr id="29" name="C30-details-0" descr="W=\int_0^Q u\,dq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126915"/>
            <a:ext cx="1110247" cy="430931"/>
          </a:xfrm>
          <a:prstGeom prst="rect">
            <a:avLst/>
          </a:prstGeom>
        </p:spPr>
      </p:pic>
      <p:sp>
        <p:nvSpPr>
          <p:cNvPr id="30" name="math-source-C30-details-1"/>
          <p:cNvSpPr txBox="1"/>
          <p:nvPr/>
        </p:nvSpPr>
        <p:spPr>
          <a:xfrm>
            <a:off x="6126480" y="3598995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u=q/C</a:t>
            </a:r>
          </a:p>
        </p:txBody>
      </p:sp>
      <p:pic>
        <p:nvPicPr>
          <p:cNvPr id="31" name="C30-details-1" descr="u=q/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598995"/>
            <a:ext cx="724204" cy="26035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97822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3" name="math-source-C30-details-2"/>
          <p:cNvSpPr txBox="1"/>
          <p:nvPr/>
        </p:nvSpPr>
        <p:spPr>
          <a:xfrm>
            <a:off x="6126480" y="3978221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FcdotV^2=J</a:t>
            </a:r>
          </a:p>
        </p:txBody>
      </p:sp>
      <p:pic>
        <p:nvPicPr>
          <p:cNvPr id="34" name="C30-details-2" descr="\mathrm{F}\cdot\mathrm{V}^2=\mathrm{J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978221"/>
            <a:ext cx="870841" cy="25436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35146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C30-details-3"/>
          <p:cNvSpPr txBox="1"/>
          <p:nvPr/>
        </p:nvSpPr>
        <p:spPr>
          <a:xfrm>
            <a:off x="6126480" y="435146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Dobbelt spænding giver fire gange energi ved samme C.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C31, C32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74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3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C31 · Søger: Lagret energi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uC [V]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kondensator med konstant kapacitans C; spænding og ladning som størrelser.</a:t>
            </a:r>
          </a:p>
        </p:txBody>
      </p:sp>
      <p:sp>
        <p:nvSpPr>
          <p:cNvPr id="11" name="math-source-C31-formula"/>
          <p:cNvSpPr txBox="1"/>
          <p:nvPr/>
        </p:nvSpPr>
        <p:spPr>
          <a:xfrm>
            <a:off x="411480" y="2340864"/>
            <a:ext cx="4800600" cy="639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W=(1)/(2)Qu_C</a:t>
            </a:r>
          </a:p>
        </p:txBody>
      </p:sp>
      <p:pic>
        <p:nvPicPr>
          <p:cNvPr id="12" name="C31-formula" descr="W=\dfrac{1}{2}Qu_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439431" cy="6397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2691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31-details-0"/>
          <p:cNvSpPr txBox="1"/>
          <p:nvPr/>
        </p:nvSpPr>
        <p:spPr>
          <a:xfrm>
            <a:off x="1005840" y="3126915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Q=Cu_C</a:t>
            </a:r>
          </a:p>
        </p:txBody>
      </p:sp>
      <p:pic>
        <p:nvPicPr>
          <p:cNvPr id="15" name="C31-details-0" descr="Q=Cu_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26915"/>
            <a:ext cx="813982" cy="254369"/>
          </a:xfrm>
          <a:prstGeom prst="rect">
            <a:avLst/>
          </a:prstGeom>
        </p:spPr>
      </p:pic>
      <p:sp>
        <p:nvSpPr>
          <p:cNvPr id="16" name="math-source-C31-details-1"/>
          <p:cNvSpPr txBox="1"/>
          <p:nvPr/>
        </p:nvSpPr>
        <p:spPr>
          <a:xfrm>
            <a:off x="1005840" y="3422432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W=(1)/(2) Cu_C^2</a:t>
            </a:r>
          </a:p>
        </p:txBody>
      </p:sp>
      <p:pic>
        <p:nvPicPr>
          <p:cNvPr id="17" name="C31-details-1" descr="W=\dfrac{1}{2} Cu_C^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22432"/>
            <a:ext cx="984559" cy="4429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9842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ath-source-C31-details-2"/>
          <p:cNvSpPr txBox="1"/>
          <p:nvPr/>
        </p:nvSpPr>
        <p:spPr>
          <a:xfrm>
            <a:off x="1005840" y="398420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CcdotV=J</a:t>
            </a:r>
          </a:p>
        </p:txBody>
      </p:sp>
      <p:pic>
        <p:nvPicPr>
          <p:cNvPr id="20" name="C31-details-2" descr="\mathrm{C}\cdot\mathrm{V}=\mathrm{J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84207"/>
            <a:ext cx="802011" cy="2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435445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C31-details-3"/>
          <p:cNvSpPr txBox="1"/>
          <p:nvPr/>
        </p:nvSpPr>
        <p:spPr>
          <a:xfrm>
            <a:off x="1005840" y="435445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Q er ladning, ikke strøm.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3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C32 · Søger: Lagret energi W [J]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C [F]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kondensator med konstant kapacitans C; spænding og ladning som størrelser.</a:t>
            </a:r>
          </a:p>
        </p:txBody>
      </p:sp>
      <p:sp>
        <p:nvSpPr>
          <p:cNvPr id="27" name="math-source-C32-formula"/>
          <p:cNvSpPr txBox="1"/>
          <p:nvPr/>
        </p:nvSpPr>
        <p:spPr>
          <a:xfrm>
            <a:off x="5532120" y="2340864"/>
            <a:ext cx="4800600" cy="756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W=(Q^2)/(2C)</a:t>
            </a:r>
          </a:p>
        </p:txBody>
      </p:sp>
      <p:pic>
        <p:nvPicPr>
          <p:cNvPr id="28" name="C32-formula" descr="W=\dfrac{Q^2}{2C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076331" cy="75645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24362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math-source-C32-details-0"/>
          <p:cNvSpPr txBox="1"/>
          <p:nvPr/>
        </p:nvSpPr>
        <p:spPr>
          <a:xfrm>
            <a:off x="6126480" y="3243626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u_C=Q/C</a:t>
            </a:r>
          </a:p>
        </p:txBody>
      </p:sp>
      <p:pic>
        <p:nvPicPr>
          <p:cNvPr id="31" name="C32-details-0" descr="u_C=Q/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243626"/>
            <a:ext cx="891789" cy="254369"/>
          </a:xfrm>
          <a:prstGeom prst="rect">
            <a:avLst/>
          </a:prstGeom>
        </p:spPr>
      </p:pic>
      <p:sp>
        <p:nvSpPr>
          <p:cNvPr id="32" name="math-source-C32-details-1"/>
          <p:cNvSpPr txBox="1"/>
          <p:nvPr/>
        </p:nvSpPr>
        <p:spPr>
          <a:xfrm>
            <a:off x="6126480" y="3539143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W=(1)/(2) Qu_C</a:t>
            </a:r>
          </a:p>
        </p:txBody>
      </p:sp>
      <p:pic>
        <p:nvPicPr>
          <p:cNvPr id="33" name="C32-details-1" descr="W=\dfrac{1}{2} Qu_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539143"/>
            <a:ext cx="996529" cy="44290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41009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math-source-C32-details-2"/>
          <p:cNvSpPr txBox="1"/>
          <p:nvPr/>
        </p:nvSpPr>
        <p:spPr>
          <a:xfrm>
            <a:off x="6126480" y="4100917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C^2/F=J</a:t>
            </a:r>
          </a:p>
        </p:txBody>
      </p:sp>
      <p:pic>
        <p:nvPicPr>
          <p:cNvPr id="36" name="C32-details-2" descr="\mathrm{C}^2/\mathrm{F}=\mathrm{J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100917"/>
            <a:ext cx="790041" cy="25436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447415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C32-details-3"/>
          <p:cNvSpPr txBox="1"/>
          <p:nvPr/>
        </p:nvSpPr>
        <p:spPr>
          <a:xfrm>
            <a:off x="6126480" y="447415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Gælder for konstant C og én kondensator.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1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C33, C34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75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3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C33 · Søger: Kapacitans C [F]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uC [V]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kondensator med konstant kapacitans C; spænding og ladning som størrelser. uC&gt;0.</a:t>
            </a:r>
          </a:p>
        </p:txBody>
      </p:sp>
      <p:sp>
        <p:nvSpPr>
          <p:cNvPr id="11" name="math-source-C33-formula"/>
          <p:cNvSpPr txBox="1"/>
          <p:nvPr/>
        </p:nvSpPr>
        <p:spPr>
          <a:xfrm>
            <a:off x="411480" y="2340864"/>
            <a:ext cx="4800600" cy="782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C=(2W)/(u_C^2)</a:t>
            </a:r>
          </a:p>
        </p:txBody>
      </p:sp>
      <p:pic>
        <p:nvPicPr>
          <p:cNvPr id="12" name="C33-formula" descr="C=\dfrac{2W}{u_C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80654" cy="7823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695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33-details-0"/>
          <p:cNvSpPr txBox="1"/>
          <p:nvPr/>
        </p:nvSpPr>
        <p:spPr>
          <a:xfrm>
            <a:off x="1005840" y="3269561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W=(1)/(2) Cu_C^2</a:t>
            </a:r>
          </a:p>
        </p:txBody>
      </p:sp>
      <p:pic>
        <p:nvPicPr>
          <p:cNvPr id="15" name="C33-details-0" descr="W=\dfrac{1}{2} Cu_C^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69561"/>
            <a:ext cx="984559" cy="4429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83133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C33-details-1"/>
          <p:cNvSpPr txBox="1"/>
          <p:nvPr/>
        </p:nvSpPr>
        <p:spPr>
          <a:xfrm>
            <a:off x="1005840" y="3831336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J/V^2=F</a:t>
            </a:r>
          </a:p>
        </p:txBody>
      </p:sp>
      <p:pic>
        <p:nvPicPr>
          <p:cNvPr id="18" name="C33-details-1" descr="\mathrm{J}/\mathrm{V}^2=\mathrm{F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31336"/>
            <a:ext cx="805004" cy="25436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20457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C33-details-2"/>
          <p:cNvSpPr txBox="1"/>
          <p:nvPr/>
        </p:nvSpPr>
        <p:spPr>
          <a:xfrm>
            <a:off x="1005840" y="42045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nulspænding kan C ikke bestemmes af</a:t>
            </a:r>
          </a:p>
        </p:txBody>
      </p:sp>
      <p:sp>
        <p:nvSpPr>
          <p:cNvPr id="21" name="math-source-C33-details-3"/>
          <p:cNvSpPr txBox="1"/>
          <p:nvPr/>
        </p:nvSpPr>
        <p:spPr>
          <a:xfrm>
            <a:off x="1005840" y="444689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W=0</a:t>
            </a:r>
          </a:p>
        </p:txBody>
      </p:sp>
      <p:pic>
        <p:nvPicPr>
          <p:cNvPr id="22" name="C33-details-3" descr="W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46893"/>
            <a:ext cx="571583" cy="2513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3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C34 · Søger: Spænding uC [V]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C [F]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kondensator med konstant kapacitans C; spænding og ladning som størrelser. uC≥0.</a:t>
            </a:r>
          </a:p>
        </p:txBody>
      </p:sp>
      <p:sp>
        <p:nvSpPr>
          <p:cNvPr id="27" name="math-source-C34-formula"/>
          <p:cNvSpPr txBox="1"/>
          <p:nvPr/>
        </p:nvSpPr>
        <p:spPr>
          <a:xfrm>
            <a:off x="5532120" y="2340864"/>
            <a:ext cx="4800600" cy="7780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u_C=√((2W)/(C))</a:t>
            </a:r>
          </a:p>
        </p:txBody>
      </p:sp>
      <p:pic>
        <p:nvPicPr>
          <p:cNvPr id="28" name="C34-formula" descr="u_C=\sqrt{\dfrac{2W}{C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599368" cy="77807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26523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math-source-C34-details-0"/>
          <p:cNvSpPr txBox="1"/>
          <p:nvPr/>
        </p:nvSpPr>
        <p:spPr>
          <a:xfrm>
            <a:off x="6126480" y="3265239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W=(1)/(2) Cu_C^2</a:t>
            </a:r>
          </a:p>
        </p:txBody>
      </p:sp>
      <p:pic>
        <p:nvPicPr>
          <p:cNvPr id="31" name="C34-details-0" descr="W=\dfrac{1}{2} Cu_C^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265239"/>
            <a:ext cx="984559" cy="4429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8270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3" name="math-source-C34-details-1"/>
          <p:cNvSpPr txBox="1"/>
          <p:nvPr/>
        </p:nvSpPr>
        <p:spPr>
          <a:xfrm>
            <a:off x="6126480" y="3827013"/>
            <a:ext cx="4206240" cy="350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√(J/F)=V</a:t>
            </a:r>
          </a:p>
        </p:txBody>
      </p:sp>
      <p:pic>
        <p:nvPicPr>
          <p:cNvPr id="34" name="C34-details-1" descr="\sqrt{\mathrm{J}/\mathrm{F}}=\mathrm{V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827013"/>
            <a:ext cx="978574" cy="3501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2960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C34-details-2"/>
          <p:cNvSpPr txBox="1"/>
          <p:nvPr/>
        </p:nvSpPr>
        <p:spPr>
          <a:xfrm>
            <a:off x="6126480" y="4296017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Energien bestemmer kun spændingens størrelse, ikke</a:t>
            </a:r>
            <a:br/>
            <a:r>
              <a:t>polariteten.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C35, C36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76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3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C35 · Søger: Elektrisk fluxtæthed D [C/m²]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ε [F/m], E [V/m]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pladekondensator; ensartet felt, homogent lineært dielektrikum og kendt pladegeometri.</a:t>
            </a:r>
          </a:p>
        </p:txBody>
      </p:sp>
      <p:sp>
        <p:nvSpPr>
          <p:cNvPr id="11" name="math-source-C35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D=ε E</a:t>
            </a:r>
          </a:p>
        </p:txBody>
      </p:sp>
      <p:pic>
        <p:nvPicPr>
          <p:cNvPr id="12" name="C35-formula" descr="D=\varepsilon 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89879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35-details-0"/>
          <p:cNvSpPr txBox="1"/>
          <p:nvPr/>
        </p:nvSpPr>
        <p:spPr>
          <a:xfrm>
            <a:off x="1005840" y="285026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E=D/ε</a:t>
            </a:r>
          </a:p>
        </p:txBody>
      </p:sp>
      <p:pic>
        <p:nvPicPr>
          <p:cNvPr id="15" name="C35-details-0" descr="E=D/\varepsil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50267"/>
            <a:ext cx="739167" cy="251376"/>
          </a:xfrm>
          <a:prstGeom prst="rect">
            <a:avLst/>
          </a:prstGeom>
        </p:spPr>
      </p:pic>
      <p:sp>
        <p:nvSpPr>
          <p:cNvPr id="16" name="math-source-C35-details-1"/>
          <p:cNvSpPr txBox="1"/>
          <p:nvPr/>
        </p:nvSpPr>
        <p:spPr>
          <a:xfrm>
            <a:off x="1005840" y="314279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ε=ε_0ε_r</a:t>
            </a:r>
          </a:p>
        </p:txBody>
      </p:sp>
      <p:pic>
        <p:nvPicPr>
          <p:cNvPr id="17" name="C35-details-1" descr="\varepsilon=\varepsilon_0\varepsilon_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42792"/>
            <a:ext cx="733182" cy="25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5130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ath-source-C35-details-2"/>
          <p:cNvSpPr txBox="1"/>
          <p:nvPr/>
        </p:nvSpPr>
        <p:spPr>
          <a:xfrm>
            <a:off x="1005840" y="3513041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(F/m)(V/m)=C/m^2</a:t>
            </a:r>
          </a:p>
        </p:txBody>
      </p:sp>
      <p:pic>
        <p:nvPicPr>
          <p:cNvPr id="20" name="C35-details-2" descr="(\mathrm{F}/\mathrm{m})(\mathrm{V}/\mathrm{m})=\mathrm{C}/\mathrm{m}^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513041"/>
            <a:ext cx="1825474" cy="290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392219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C35-details-3"/>
          <p:cNvSpPr txBox="1"/>
          <p:nvPr/>
        </p:nvSpPr>
        <p:spPr>
          <a:xfrm>
            <a:off x="1005840" y="392219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 er ikke elektrisk flux Ψ [V·m].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3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C36 · Søger: Spænding U [V]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[V/m], a [m]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pladekondensator; ensartet felt, homogent lineært dielektrikum og kendt pladegeometri.</a:t>
            </a:r>
          </a:p>
        </p:txBody>
      </p:sp>
      <p:sp>
        <p:nvSpPr>
          <p:cNvPr id="27" name="math-source-C36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U=Ea</a:t>
            </a:r>
          </a:p>
        </p:txBody>
      </p:sp>
      <p:pic>
        <p:nvPicPr>
          <p:cNvPr id="28" name="C36-formula" descr="U=E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989879" cy="3630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math-source-C36-details-0"/>
          <p:cNvSpPr txBox="1"/>
          <p:nvPr/>
        </p:nvSpPr>
        <p:spPr>
          <a:xfrm>
            <a:off x="6126480" y="285026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E=U/a</a:t>
            </a:r>
          </a:p>
        </p:txBody>
      </p:sp>
      <p:pic>
        <p:nvPicPr>
          <p:cNvPr id="31" name="C36-details-0" descr="E=U/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2850267"/>
            <a:ext cx="751138" cy="25137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22051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3" name="math-source-C36-details-1"/>
          <p:cNvSpPr txBox="1"/>
          <p:nvPr/>
        </p:nvSpPr>
        <p:spPr>
          <a:xfrm>
            <a:off x="6126480" y="322051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(V/m)cdotm=V</a:t>
            </a:r>
          </a:p>
        </p:txBody>
      </p:sp>
      <p:pic>
        <p:nvPicPr>
          <p:cNvPr id="34" name="C36-details-1" descr="(\mathrm{V}/\mathrm{m})\cdot\mathrm{m}=\mathrm{V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220516"/>
            <a:ext cx="1301773" cy="25137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359076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C36-details-2"/>
          <p:cNvSpPr txBox="1"/>
          <p:nvPr/>
        </p:nvSpPr>
        <p:spPr>
          <a:xfrm>
            <a:off x="6126480" y="359076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er pladeafstand, ikke areal.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C37, C38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77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3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C37 · Søger: Pladeafstand a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E [V/m]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pladekondensator; ensartet felt, homogent lineært dielektrikum og kendt pladegeometri.</a:t>
            </a:r>
          </a:p>
        </p:txBody>
      </p:sp>
      <p:sp>
        <p:nvSpPr>
          <p:cNvPr id="11" name="math-source-C37-formula"/>
          <p:cNvSpPr txBox="1"/>
          <p:nvPr/>
        </p:nvSpPr>
        <p:spPr>
          <a:xfrm>
            <a:off x="41148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a=(U)/(E)</a:t>
            </a:r>
          </a:p>
        </p:txBody>
      </p:sp>
      <p:pic>
        <p:nvPicPr>
          <p:cNvPr id="12" name="C37-formula" descr="a=\dfrac{U}{E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12652" cy="631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37-details-0"/>
          <p:cNvSpPr txBox="1"/>
          <p:nvPr/>
        </p:nvSpPr>
        <p:spPr>
          <a:xfrm>
            <a:off x="1005840" y="311827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E=U/a</a:t>
            </a:r>
          </a:p>
        </p:txBody>
      </p:sp>
      <p:pic>
        <p:nvPicPr>
          <p:cNvPr id="15" name="C37-details-0" descr="E=U/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18270"/>
            <a:ext cx="751138" cy="25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48851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C37-details-1"/>
          <p:cNvSpPr txBox="1"/>
          <p:nvPr/>
        </p:nvSpPr>
        <p:spPr>
          <a:xfrm>
            <a:off x="1005840" y="348851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V/(V/m)=m</a:t>
            </a:r>
          </a:p>
        </p:txBody>
      </p:sp>
      <p:pic>
        <p:nvPicPr>
          <p:cNvPr id="18" name="C37-details-1" descr="\mathrm{V}/(\mathrm{V}/\mathrm{m})=\mathrm{m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88519"/>
            <a:ext cx="1238928" cy="25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385876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C37-details-2"/>
          <p:cNvSpPr txBox="1"/>
          <p:nvPr/>
        </p:nvSpPr>
        <p:spPr>
          <a:xfrm>
            <a:off x="1005840" y="385876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Gælder ikke som simpel middelværdi i stærkt uensartede felter.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38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C38 · Søger: Ladning Q [C]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ε [F/m], E [V/m], A [m²]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Ideel pladekondensator; ensartet felt, homogent lineært dielektrikum og kendt pladegeometri.</a:t>
            </a:r>
          </a:p>
        </p:txBody>
      </p:sp>
      <p:sp>
        <p:nvSpPr>
          <p:cNvPr id="25" name="math-source-C38-formula"/>
          <p:cNvSpPr txBox="1"/>
          <p:nvPr/>
        </p:nvSpPr>
        <p:spPr>
          <a:xfrm>
            <a:off x="5532120" y="2340864"/>
            <a:ext cx="4800600" cy="36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Q=ε EA</a:t>
            </a:r>
          </a:p>
        </p:txBody>
      </p:sp>
      <p:pic>
        <p:nvPicPr>
          <p:cNvPr id="26" name="C38-formula" descr="Q=\varepsilon E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167106" cy="36742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28545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math-source-C38-details-0"/>
          <p:cNvSpPr txBox="1"/>
          <p:nvPr/>
        </p:nvSpPr>
        <p:spPr>
          <a:xfrm>
            <a:off x="6126480" y="285459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D=ε E</a:t>
            </a:r>
          </a:p>
        </p:txBody>
      </p:sp>
      <p:pic>
        <p:nvPicPr>
          <p:cNvPr id="29" name="C38-details-0" descr="D=\varepsilon 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854590"/>
            <a:ext cx="685301" cy="251376"/>
          </a:xfrm>
          <a:prstGeom prst="rect">
            <a:avLst/>
          </a:prstGeom>
        </p:spPr>
      </p:pic>
      <p:sp>
        <p:nvSpPr>
          <p:cNvPr id="30" name="math-source-C38-details-1"/>
          <p:cNvSpPr txBox="1"/>
          <p:nvPr/>
        </p:nvSpPr>
        <p:spPr>
          <a:xfrm>
            <a:off x="6126480" y="3147115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Q=DA</a:t>
            </a:r>
          </a:p>
        </p:txBody>
      </p:sp>
      <p:pic>
        <p:nvPicPr>
          <p:cNvPr id="31" name="C38-details-1" descr="Q=D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147115"/>
            <a:ext cx="733182" cy="25436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52035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3" name="math-source-C38-details-2"/>
          <p:cNvSpPr txBox="1"/>
          <p:nvPr/>
        </p:nvSpPr>
        <p:spPr>
          <a:xfrm>
            <a:off x="6126480" y="3520356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(F/m)(V/m)m^2=C</a:t>
            </a:r>
          </a:p>
        </p:txBody>
      </p:sp>
      <p:pic>
        <p:nvPicPr>
          <p:cNvPr id="34" name="C38-details-2" descr="(\mathrm{F}/\mathrm{m})(\mathrm{V}/\mathrm{m})\mathrm{m}^2=\mathrm{C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520356"/>
            <a:ext cx="1768615" cy="2902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39295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C38-details-3"/>
          <p:cNvSpPr txBox="1"/>
          <p:nvPr/>
        </p:nvSpPr>
        <p:spPr>
          <a:xfrm>
            <a:off x="6126480" y="392950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Q er ladningens størrelse på én plade.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Kondensatorer · C39, C40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78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C39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C39 · Søger: Fælles overlapareal A [m²]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C, n, ε₀, εr,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 ens skiftevis forbundne plader, n−1 ens mellemrum og fælles overlapareal pr. par.</a:t>
            </a:r>
          </a:p>
        </p:txBody>
      </p:sp>
      <p:sp>
        <p:nvSpPr>
          <p:cNvPr id="11" name="math-source-C39-formula"/>
          <p:cNvSpPr txBox="1"/>
          <p:nvPr/>
        </p:nvSpPr>
        <p:spPr>
          <a:xfrm>
            <a:off x="411480" y="2340864"/>
            <a:ext cx="4800600" cy="6959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A=(Ca)/((n-1)ε_0ε_r)</a:t>
            </a:r>
          </a:p>
        </p:txBody>
      </p:sp>
      <p:pic>
        <p:nvPicPr>
          <p:cNvPr id="12" name="C39-formula" descr="A=\dfrac{Ca}{(n-1)\varepsilon_0\varepsilon_r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014340" cy="6959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831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C39-details-0"/>
          <p:cNvSpPr txBox="1"/>
          <p:nvPr/>
        </p:nvSpPr>
        <p:spPr>
          <a:xfrm>
            <a:off x="1005840" y="318310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C=(n-1)ε_0ε_r A/a</a:t>
            </a:r>
          </a:p>
        </p:txBody>
      </p:sp>
      <p:pic>
        <p:nvPicPr>
          <p:cNvPr id="15" name="C39-details-0" descr="C=(n-1)\varepsilon_0\varepsilon_r A/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83109"/>
            <a:ext cx="1705771" cy="25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55335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C39-details-1"/>
          <p:cNvSpPr txBox="1"/>
          <p:nvPr/>
        </p:nvSpPr>
        <p:spPr>
          <a:xfrm>
            <a:off x="1005840" y="3553358"/>
            <a:ext cx="4206240" cy="287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 [m^2]</a:t>
            </a:r>
          </a:p>
        </p:txBody>
      </p:sp>
      <p:pic>
        <p:nvPicPr>
          <p:cNvPr id="18" name="C39-details-1" descr="A\,[\mathrm{m}^2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53358"/>
            <a:ext cx="631434" cy="2872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39595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C39-details-2"/>
          <p:cNvSpPr txBox="1"/>
          <p:nvPr/>
        </p:nvSpPr>
        <p:spPr>
          <a:xfrm>
            <a:off x="1005840" y="39595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gælder hvert pladepar, ikke summen af alle pladers areal.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40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C40 · Søger: Pladeafstand a [m]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C, n, ε₀, εr,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 ens skiftevis forbundne plader, n−1 ens mellemrum og fælles overlapareal pr. par.</a:t>
            </a:r>
          </a:p>
        </p:txBody>
      </p:sp>
      <p:sp>
        <p:nvSpPr>
          <p:cNvPr id="25" name="math-source-C40-formula"/>
          <p:cNvSpPr txBox="1"/>
          <p:nvPr/>
        </p:nvSpPr>
        <p:spPr>
          <a:xfrm>
            <a:off x="5532120" y="2340864"/>
            <a:ext cx="4800600" cy="700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a=((n-1)ε_0ε_r A)/(C)</a:t>
            </a:r>
          </a:p>
        </p:txBody>
      </p:sp>
      <p:pic>
        <p:nvPicPr>
          <p:cNvPr id="26" name="C40-formula" descr="a=\dfrac{(n-1)\varepsilon_0\varepsilon_r A}{C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2161309" cy="7002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31874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math-source-C40-details-0"/>
          <p:cNvSpPr txBox="1"/>
          <p:nvPr/>
        </p:nvSpPr>
        <p:spPr>
          <a:xfrm>
            <a:off x="6126480" y="318743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C=(n-1)ε_0ε_r A/a</a:t>
            </a:r>
          </a:p>
        </p:txBody>
      </p:sp>
      <p:pic>
        <p:nvPicPr>
          <p:cNvPr id="29" name="C40-details-0" descr="C=(n-1)\varepsilon_0\varepsilon_r A/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187432"/>
            <a:ext cx="1705771" cy="2513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5576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math-source-C40-details-1"/>
          <p:cNvSpPr txBox="1"/>
          <p:nvPr/>
        </p:nvSpPr>
        <p:spPr>
          <a:xfrm>
            <a:off x="6126480" y="355768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 [m]</a:t>
            </a:r>
          </a:p>
        </p:txBody>
      </p:sp>
      <p:pic>
        <p:nvPicPr>
          <p:cNvPr id="32" name="C40-details-1" descr="a\,[\mathrm{m}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557681"/>
            <a:ext cx="502753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92792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C40-details-2"/>
          <p:cNvSpPr txBox="1"/>
          <p:nvPr/>
        </p:nvSpPr>
        <p:spPr>
          <a:xfrm>
            <a:off x="6126480" y="392792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mellemrum antages lige store; randfelter forsømmes.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7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Knudepunktsmetoden · to kilder og ét referencepunkt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79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pSp>
        <p:nvGrpSpPr>
          <p:cNvPr id="41" name="nodal-circuit"/>
          <p:cNvGrpSpPr/>
          <p:nvPr/>
        </p:nvGrpSpPr>
        <p:grpSpPr>
          <a:xfrm>
            <a:off x="502920" y="1051560"/>
            <a:ext cx="4846320" cy="4818888"/>
            <a:chOff x="502920" y="1051560"/>
            <a:chExt cx="4846320" cy="4818888"/>
          </a:xfrm>
        </p:grpSpPr>
        <p:cxnSp>
          <p:nvCxnSpPr>
            <p:cNvPr id="8" name="Connector 7"/>
            <p:cNvCxnSpPr/>
            <p:nvPr/>
          </p:nvCxnSpPr>
          <p:spPr>
            <a:xfrm>
              <a:off x="822960" y="1572768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822960" y="5349240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48640" y="105156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a: Va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0" y="5504688"/>
              <a:ext cx="406908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00" b="1">
                  <a:solidFill>
                    <a:srgbClr val="075B70"/>
                  </a:solidFill>
                  <a:latin typeface="Calibri"/>
                </a:defRPr>
              </a:pPr>
              <a:r>
                <a:t>0: reference = 0 V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82296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14300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math-source-nodal-label-I1"/>
            <p:cNvSpPr txBox="1"/>
            <p:nvPr/>
          </p:nvSpPr>
          <p:spPr>
            <a:xfrm>
              <a:off x="1234440" y="1920240"/>
              <a:ext cx="594360" cy="25137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750" b="0">
                  <a:solidFill>
                    <a:srgbClr val="FFFFFF"/>
                  </a:solidFill>
                  <a:latin typeface="Calibri"/>
                </a:defRPr>
              </a:pPr>
              <a:r>
                <a:rPr>
                  <a:latin typeface="Cambria Math"/>
                </a:rPr>
                <a:t>I</a:t>
              </a:r>
              <a:r>
                <a:t>_1</a:t>
              </a:r>
            </a:p>
          </p:txBody>
        </p:sp>
        <p:pic>
          <p:nvPicPr>
            <p:cNvPr id="15" name="nodal-label-I1" descr="I_{1}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4440" y="1920240"/>
              <a:ext cx="194517" cy="251376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70408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5156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R1</a:t>
              </a:r>
              <a:br/>
              <a:r>
                <a:t>1 Ω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82296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82296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>
            <a:xfrm>
              <a:off x="50292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2237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8872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E1</a:t>
              </a:r>
              <a:br/>
              <a:r>
                <a:t>27 V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237744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269748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math-source-nodal-label-I2"/>
            <p:cNvSpPr txBox="1"/>
            <p:nvPr/>
          </p:nvSpPr>
          <p:spPr>
            <a:xfrm>
              <a:off x="2788920" y="1920240"/>
              <a:ext cx="594360" cy="25137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750" b="0">
                  <a:solidFill>
                    <a:srgbClr val="FFFFFF"/>
                  </a:solidFill>
                  <a:latin typeface="Calibri"/>
                </a:defRPr>
              </a:pPr>
              <a:r>
                <a:rPr>
                  <a:latin typeface="Cambria Math"/>
                </a:rPr>
                <a:t>I</a:t>
              </a:r>
              <a:r>
                <a:t>_2</a:t>
              </a:r>
            </a:p>
          </p:txBody>
        </p:sp>
        <p:pic>
          <p:nvPicPr>
            <p:cNvPr id="26" name="nodal-label-I2" descr="I_{2}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8920" y="1920240"/>
              <a:ext cx="206488" cy="251376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225856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60604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R2</a:t>
              </a:r>
              <a:br/>
              <a:r>
                <a:t>2 Ω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237744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237744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/>
            <p:cNvSpPr/>
            <p:nvPr/>
          </p:nvSpPr>
          <p:spPr>
            <a:xfrm>
              <a:off x="205740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27685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74320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E2</a:t>
              </a:r>
              <a:br/>
              <a:r>
                <a:t>24 V</a:t>
              </a: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393192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251959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math-source-nodal-label-I3"/>
            <p:cNvSpPr txBox="1"/>
            <p:nvPr/>
          </p:nvSpPr>
          <p:spPr>
            <a:xfrm>
              <a:off x="4343400" y="1920240"/>
              <a:ext cx="594360" cy="251376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750" b="0">
                  <a:solidFill>
                    <a:srgbClr val="FFFFFF"/>
                  </a:solidFill>
                  <a:latin typeface="Calibri"/>
                </a:defRPr>
              </a:pPr>
              <a:r>
                <a:rPr>
                  <a:latin typeface="Cambria Math"/>
                </a:rPr>
                <a:t>I</a:t>
              </a:r>
              <a:r>
                <a:t>_3</a:t>
              </a:r>
            </a:p>
          </p:txBody>
        </p:sp>
        <p:pic>
          <p:nvPicPr>
            <p:cNvPr id="37" name="nodal-label-I3" descr="I_{3}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43400" y="1920240"/>
              <a:ext cx="200502" cy="251376"/>
            </a:xfrm>
            <a:prstGeom prst="rect">
              <a:avLst/>
            </a:prstGeom>
          </p:spPr>
        </p:pic>
        <p:sp>
          <p:nvSpPr>
            <p:cNvPr id="38" name="Rectangle 37"/>
            <p:cNvSpPr/>
            <p:nvPr/>
          </p:nvSpPr>
          <p:spPr>
            <a:xfrm>
              <a:off x="381304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16052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R3</a:t>
              </a:r>
              <a:br/>
              <a:r>
                <a:t>8 Ω</a:t>
              </a:r>
            </a:p>
          </p:txBody>
        </p:sp>
        <p:cxnSp>
          <p:nvCxnSpPr>
            <p:cNvPr id="40" name="Connector 39"/>
            <p:cNvCxnSpPr/>
            <p:nvPr/>
          </p:nvCxnSpPr>
          <p:spPr>
            <a:xfrm>
              <a:off x="3931920" y="3154680"/>
              <a:ext cx="0" cy="219456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nodal-model"/>
          <p:cNvSpPr txBox="1"/>
          <p:nvPr/>
        </p:nvSpPr>
        <p:spPr>
          <a:xfrm>
            <a:off x="5486400" y="1078992"/>
            <a:ext cx="478231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nederste knude som 0 V. Alle tre strømpile går ud af a. Skriv KCL med</a:t>
            </a:r>
            <a:br/>
            <a:r>
              <a:t>spændinger; kilders pluspoler er øverst.</a:t>
            </a:r>
          </a:p>
        </p:txBody>
      </p:sp>
      <p:sp>
        <p:nvSpPr>
          <p:cNvPr id="43" name="math-source-nodal-kcl"/>
          <p:cNvSpPr txBox="1"/>
          <p:nvPr/>
        </p:nvSpPr>
        <p:spPr>
          <a:xfrm>
            <a:off x="5486400" y="1591056"/>
            <a:ext cx="4782312" cy="5286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(V_a-27)/(1)+(V_a-24)/(2)+(V_a)/(8)=0</a:t>
            </a:r>
          </a:p>
        </p:txBody>
      </p:sp>
      <p:pic>
        <p:nvPicPr>
          <p:cNvPr id="44" name="nodal-kcl" descr="\frac{V_a-27}{1}+\frac{V_a-24}{2}+\frac{V_a}{8}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591056"/>
            <a:ext cx="2783101" cy="528689"/>
          </a:xfrm>
          <a:prstGeom prst="rect">
            <a:avLst/>
          </a:prstGeom>
        </p:spPr>
      </p:pic>
      <p:sp>
        <p:nvSpPr>
          <p:cNvPr id="45" name="math-source-nodal-voltage"/>
          <p:cNvSpPr txBox="1"/>
          <p:nvPr/>
        </p:nvSpPr>
        <p:spPr>
          <a:xfrm>
            <a:off x="5486400" y="2266049"/>
            <a:ext cx="4782312" cy="10075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V_a=((27)/(1)+(24)/(2))/((1)/(1)+(1)/(2)+(1)/(8))=24 V</a:t>
            </a:r>
          </a:p>
        </p:txBody>
      </p:sp>
      <p:pic>
        <p:nvPicPr>
          <p:cNvPr id="46" name="nodal-voltage" descr="V_a=\dfrac{\dfrac{27}{1}+\dfrac{24}{2}}{\dfrac{1}{1}+\dfrac{1}{2}+\dfrac{1}{8}}=24\,\mathrm{V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266049"/>
            <a:ext cx="2271037" cy="1007502"/>
          </a:xfrm>
          <a:prstGeom prst="rect">
            <a:avLst/>
          </a:prstGeom>
        </p:spPr>
      </p:pic>
      <p:sp>
        <p:nvSpPr>
          <p:cNvPr id="47" name="math-source-nodal-currents"/>
          <p:cNvSpPr txBox="1"/>
          <p:nvPr/>
        </p:nvSpPr>
        <p:spPr>
          <a:xfrm>
            <a:off x="5486400" y="3419856"/>
            <a:ext cx="4782312" cy="2793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rPr>
                <a:latin typeface="Cambria Math"/>
              </a:rPr>
              <a:t>I</a:t>
            </a:r>
            <a:r>
              <a:t>_1=-3 A, </a:t>
            </a:r>
            <a:r>
              <a:rPr>
                <a:latin typeface="Cambria Math"/>
              </a:rPr>
              <a:t>I</a:t>
            </a:r>
            <a:r>
              <a:t>_2=0, </a:t>
            </a:r>
            <a:r>
              <a:rPr>
                <a:latin typeface="Cambria Math"/>
              </a:rPr>
              <a:t>I</a:t>
            </a:r>
            <a:r>
              <a:t>_3=3 A</a:t>
            </a:r>
          </a:p>
        </p:txBody>
      </p:sp>
      <p:pic>
        <p:nvPicPr>
          <p:cNvPr id="48" name="nodal-currents" descr="I_1=-3\,\mathrm{A},\quad I_2=0,\quad I_3=3\,\mathrm{A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3419856"/>
            <a:ext cx="2909454" cy="2793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486400" y="38454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50" name="math-source-nodal-check-0"/>
          <p:cNvSpPr txBox="1"/>
          <p:nvPr/>
        </p:nvSpPr>
        <p:spPr>
          <a:xfrm>
            <a:off x="6080760" y="3845467"/>
            <a:ext cx="4187951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(-3+0+3) A=0 A</a:t>
            </a:r>
          </a:p>
        </p:txBody>
      </p:sp>
      <p:pic>
        <p:nvPicPr>
          <p:cNvPr id="51" name="nodal-check-0" descr="(-3+0+3)\,\mathrm{A}=0\,\mathrm{A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3845467"/>
            <a:ext cx="1864378" cy="25137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486400" y="421571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53" name="nodal-check-1"/>
          <p:cNvSpPr txBox="1"/>
          <p:nvPr/>
        </p:nvSpPr>
        <p:spPr>
          <a:xfrm>
            <a:off x="6080760" y="4215716"/>
            <a:ext cx="418795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Den faktiske første grenstrøm løber opad.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0" y="453575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55" name="math-source-nodal-check-2"/>
          <p:cNvSpPr txBox="1"/>
          <p:nvPr/>
        </p:nvSpPr>
        <p:spPr>
          <a:xfrm>
            <a:off x="6080760" y="4535756"/>
            <a:ext cx="4187951" cy="3052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P_R_3=(3 A)^2·8 Ω=72 W</a:t>
            </a:r>
          </a:p>
        </p:txBody>
      </p:sp>
      <p:pic>
        <p:nvPicPr>
          <p:cNvPr id="56" name="nodal-check-2" descr="P_{R_3}=(3\,\mathrm{A})^2\cdot8\,\Omega=72\,\mathrm{W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4535756"/>
            <a:ext cx="2271369" cy="305243"/>
          </a:xfrm>
          <a:prstGeom prst="rect">
            <a:avLst/>
          </a:prstGeom>
        </p:spPr>
      </p:pic>
      <p:sp>
        <p:nvSpPr>
          <p:cNvPr id="57" name="math-source-nodal-check-3"/>
          <p:cNvSpPr txBox="1"/>
          <p:nvPr/>
        </p:nvSpPr>
        <p:spPr>
          <a:xfrm>
            <a:off x="6080760" y="4882147"/>
            <a:ext cx="4187951" cy="263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P_E_1=27 V·3 A=81 W</a:t>
            </a:r>
          </a:p>
        </p:txBody>
      </p:sp>
      <p:pic>
        <p:nvPicPr>
          <p:cNvPr id="58" name="nodal-check-3" descr="P_{E_1}=27\,\mathrm{V}\cdot3\,\mathrm{A}=81\,\mathrm{W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0760" y="4882147"/>
            <a:ext cx="2133710" cy="263347"/>
          </a:xfrm>
          <a:prstGeom prst="rect">
            <a:avLst/>
          </a:prstGeom>
        </p:spPr>
      </p:pic>
      <p:sp>
        <p:nvSpPr>
          <p:cNvPr id="59" name="math-source-nodal-check-4"/>
          <p:cNvSpPr txBox="1"/>
          <p:nvPr/>
        </p:nvSpPr>
        <p:spPr>
          <a:xfrm>
            <a:off x="6080760" y="5186643"/>
            <a:ext cx="4187951" cy="263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P_R_1=9 W</a:t>
            </a:r>
          </a:p>
        </p:txBody>
      </p:sp>
      <p:pic>
        <p:nvPicPr>
          <p:cNvPr id="60" name="nodal-check-4" descr="P_{R_1}=9\,\mathrm{W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60" y="5186643"/>
            <a:ext cx="939670" cy="26334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48640" y="6126480"/>
            <a:ext cx="9646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pile går ud af a. Minus betyder strøm mod pilen. + og − angiver kildernes faste polaritet.</a:t>
            </a:r>
          </a:p>
        </p:txBody>
      </p:sp>
      <p:sp>
        <p:nvSpPr>
          <p:cNvPr id="62" name="nav-back-index" descr="Til indeks">
            <a:hlinkClick action="ppaction://hlinksldjump" r:id="rId13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63" name="nav-back-start" descr="Til start">
            <a:hlinkClick action="ppaction://hlinksldjump" r:id="rId14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80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930"/>
                <a:gridCol w="3424428"/>
                <a:gridCol w="1663293"/>
                <a:gridCol w="342442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Strøm; i(t) ved tidsvariation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Konventionel retning; elektroner modsat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Q, 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Ladning; antal elementarladninger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 er et antal, ikke en ladningsmængde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U, Ukl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Potentialforskel; klemspænding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+ og − angiver refereret polaritet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E, e, 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Kilde-EMK; induceret og selvinduktions-EMK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 i originalen kan også betyde felt; her Ef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V/m = N/C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originalens feltkapitel bruges 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R, ri, Rs, Rp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Resistans, indre, serie, parallel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Afhænger af komponent og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Ω·m eller Ω·mm²/m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materialets massefylde; samme græske bogstav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Konduktans for komponent/leder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S = 1/Ω; ikke ledertværsnittet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81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2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173736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Specifik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S/m eller m/(Ω·mm²)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γ = 1/ρ; også kaldet σ i andre bøger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S,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Ledertværsnit; felt-/kerneareal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mm² eller 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fra lederkapitlet; A fra magnetkapitlet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l, s, h, a,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Længde, strækning, højde, afstand, radius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 i magnetkredsen er feltvejens middellængde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Δt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Tid, tidsinterval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eller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i tidsenhed er time, ikke løftehøjde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t, ΔT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Temperatur, reference,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°C; K for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 t er ikke tidsvariablen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αt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Resistansens temperaturkoefficient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K⁻¹ = °C⁻¹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Hører til angivet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P, Pind, Pud, Ptab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Effekt, tilført, afgivet, 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er energi pr. tid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Arbejde/energi, som i kilderne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J, Wh, kWh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Størrelsen W må ikke forveksles med enheden W (watt)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82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3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699"/>
                <a:gridCol w="3292719"/>
                <a:gridCol w="2351942"/>
                <a:gridCol w="3292719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η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Virkningsgrad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eller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0,85 = 85 %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Masse; tyngdeacceleration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kg;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Undervisningens g = 9,82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F, 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kraft; 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N; N·m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 som moment og J som arbejde holdes adskilt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ω, θ, 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Vinkelhastighed, vinkel, omdrejningsfrekvens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rad/s; rad; s⁻¹ eller rpm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aldrig rad/s; rpm kræver faktor 1/60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magnetisk feltstyrke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fluxtæthed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= Wb/m²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som enhed er tesla, ikke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som enhedssymbol er henry, ikke feltstyrken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μ, μ0, μr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permeabilitet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H/m; H/m;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μr er ikke altid konstant for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83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4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257"/>
                <a:gridCol w="3567112"/>
                <a:gridCol w="1732597"/>
                <a:gridCol w="3567112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Magnetomotorisk 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 (amperevinding)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mekanisk kraft i newton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Reluktans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A/Wb = H⁻¹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resistans i ohm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N, 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Antal vindinger; induktans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1;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også SI-enheden newton i kraftformler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Hastighed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Ved bevægelsesinduktion skal retningen kendes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ε, ε0, εr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permittivitet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F/m; F/m;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den magnetiske permeabilitet μ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Ψ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feltflux i kildens notation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et fysisk antal linjer; ikke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fluxtæthed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C/m²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 = Q/A; ikke elektrisk flux Ψ [V·m]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C, A,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Kapacitans; fælles pladeareal; pladeafstand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F; m²; 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 er areal, lille a er afstand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84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5"/>
          <p:cNvGraphicFramePr>
            <a:graphicFrameLocks noGrp="1"/>
          </p:cNvGraphicFramePr>
          <p:nvPr/>
        </p:nvGraphicFramePr>
        <p:xfrm>
          <a:off x="411480" y="1042415"/>
          <a:ext cx="9784078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667"/>
                <a:gridCol w="3682180"/>
                <a:gridCol w="1052051"/>
                <a:gridCol w="368218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q, i, </a:t>
                      </a:r>
                      <a:r>
                        <a:rPr>
                          <a:latin typeface="Cambria Math"/>
                        </a:rPr>
                        <a:t>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Ladning; tidsvarierende strøm; konstant strøm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C; A; 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 = dq/dt; q er ikke strøm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Uₛ, u₀, uC, τ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Forsyning, start, aktuel spænding, tidskonstant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V; V; V;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Uₛ og u₀ må ikke sammenblandes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Eksponentialfunktionens grundtal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 ≈ 2,71828; elementarladningen e har enheden 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Coulombkonstant i mediet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N·m²/C²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 = 1/(4πε); ikke kilo-præfikset 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Va, Vb,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Knudespændinger og grenstrøm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V; 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Relativt til samme reference;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k følger valgt pil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85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1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622"/>
                <a:gridCol w="2812923"/>
                <a:gridCol w="428053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G, M,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10¹², 10⁹, 10⁶, 10³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Store præfikser; k er lille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µ, n, 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10⁻³, 10⁻⁶, 10⁻⁹, 10⁻¹²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milli, mikro, nano, pico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 → A; mV → 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Omregn før kvadrering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 → m; cm → 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 omregnes én gang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mm² → m²; cm² → 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10⁻⁶; × 10⁻⁴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Areal: længdefaktoren kvadreres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ρ: Ω·mm²/m → Ω·m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Cu: 0,0175 → 1,75·10⁻⁸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γ: m/(Ω·mm²) → S/m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Konduktivitet omregnes modsat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ms → s; min → s; h →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× 60; × 3600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Sekunder i SI-formler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86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2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536"/>
                <a:gridCol w="3517871"/>
                <a:gridCol w="384767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Ah; 1 Wh; 1 kWh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3600 C; 3600 J; 3,6 MJ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Ah er ladning; Wh og kWh er energi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kW; 1 kJ; 1 mT; 1 mH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1000 W; 1000 J; 0,001 T; 0,001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W, J, T og H i SI-beregninger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pF; 1 nF; 1 µF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10⁻¹² F; 10⁻⁹ F; 10⁻⁶ 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Kapacitans i farad i RC-beregninger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MΩ; Ω·F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10⁶ Ω; 1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Tidskonstant τ = RC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rpm → s⁻¹ → rad/s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n/60 → 2π·n/60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Rotationshastighed; ikke dokumentation for AC-pensum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grader → radianer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θrad = θ°·π/180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45° = π/4; 360° = 2π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ΔT [°C] → ΔT [K]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talværdi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 temperatur: TK = T°C + 273,15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% → forholdstal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85 % = 0,85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87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3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7059"/>
                <a:gridCol w="2893882"/>
                <a:gridCol w="48231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V; 1 W; 1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J/C; 1 J/s; 1 Wb/m²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 og enhedssymbol er forskellige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88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1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07"/>
                <a:gridCol w="1680094"/>
                <a:gridCol w="790632"/>
                <a:gridCol w="3459018"/>
                <a:gridCol w="2470727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1,602176634·10⁻¹⁹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Fysisk konstant; eksakt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BIPM; ampere-definition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4π·10⁻⁷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Undervisningsafrunding; ikke længere eksakt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EL01:11; NIST CODATA 2022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8,85·10⁻¹²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EL03:7; NIST CODATA 2022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9,82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Undervisningsmæssig tilnærmelse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EL13:14,18; facit 17676 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luft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Materialetilnærmelse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Kun kildens regneeksempel; ikke fast jerntal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89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2"/>
          <p:cNvGraphicFramePr>
            <a:graphicFrameLocks noGrp="1"/>
          </p:cNvGraphicFramePr>
          <p:nvPr/>
        </p:nvGraphicFramePr>
        <p:xfrm>
          <a:off x="411480" y="1042415"/>
          <a:ext cx="9784078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259"/>
                <a:gridCol w="1057738"/>
                <a:gridCol w="1057738"/>
                <a:gridCol w="4627605"/>
                <a:gridCol w="1057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HK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736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 af metrisk hestekraft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EL13:7-8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kcal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4187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omregning; definition/afrunding varierer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EL13:8-9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naturgas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38,9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MJ/m³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brændselsmodel; volumens reference er ikke oplyst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fuelolie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40,6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MJ/kg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kvalitet afhænger af brændsel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fyringsolie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36,2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volumen afhænger af temperatur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90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316"/>
                <a:gridCol w="1764342"/>
                <a:gridCol w="1924737"/>
                <a:gridCol w="352868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Aluminium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3,7·10⁻³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Bly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4,1·10⁻³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Guld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0,140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6,4·10⁻³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Kanthal A1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1,45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angivet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Kobber (ledning)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0,0175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Konstantan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0,488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5·10⁻⁶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Kromnikkel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1,05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0,13·10⁻³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91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2"/>
          <p:cNvGraphicFramePr>
            <a:graphicFrameLocks noGrp="1"/>
          </p:cNvGraphicFramePr>
          <p:nvPr/>
        </p:nvGraphicFramePr>
        <p:xfrm>
          <a:off x="411480" y="1042415"/>
          <a:ext cx="9784077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757"/>
                <a:gridCol w="1888155"/>
                <a:gridCol w="1544854"/>
                <a:gridCol w="377631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Kviksølv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Manganin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30·10⁻⁶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Platin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0,090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Sølv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0,0158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4,6·10⁻³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Wolfram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0,055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Kul (glødetråd)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−0,4·10⁻³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Zink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0,0625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3,9·10⁻³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92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949"/>
                <a:gridCol w="5188527"/>
                <a:gridCol w="1185949"/>
                <a:gridCol w="222365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 4.1 + 4.2 Det magnetiske felt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STA Definition af elektriske basisenheder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Elektrisk felt Coulombs lov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F,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Jævnstrømskredsløb og kredsløbsberegninger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 for den magnetiske kreds 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Den magnetiske Kreds+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STA Specifik resistans og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(Kirchoff) - Lånt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93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2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248"/>
                <a:gridCol w="5111086"/>
                <a:gridCol w="1168248"/>
                <a:gridCol w="2336496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med kirchhoff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N, U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3 - STA resistansers temperaturafhængighed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4.4 magnetisering af jern og permanente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4.7 Induktion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4 - for elektrisk energi og 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, M, P, R, U,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Faraday lenz hvirvelstrøm selvinduktion induktans bifilar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Kraftpåvirkning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Leder i magnetfelt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94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3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949"/>
                <a:gridCol w="5188527"/>
                <a:gridCol w="1185949"/>
                <a:gridCol w="222365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25740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Kondensator.pdf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25740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Kondensatorer op- og afladning.pdf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Faglige præciseringer i forhold til kilderne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95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rrections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289"/>
                <a:gridCol w="3891395"/>
                <a:gridCol w="389139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/ tvetydighed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Præcisering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EL02:6; EL15:4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Historisk ampere via kraft mellem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SI baseres nu på eksakt elementarladning e; kraftformlen bevares som fysik.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EL01:11; EL06:9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μ0 = 4π·10⁻⁷ som eksakt naturkonstant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Bevares som afrunding; efter SI-revisionen er μ0 målebestemt.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EL02:9-10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 lov gælder kun DC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= RI gælder også øjebliksværdier for en ideal ohmsk R; ikke hele vilkårlige AC-belastninger.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EL01:10; EL03:9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Flux som felt / antal feltlinjer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Φ [Wb], B [T], H [A/m] og Ψ [V·m] holdes adskilt. Feltlinjer er en tegne-model.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EL06:10,13; EL11:3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Ledende materialer og Rm-enhed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Ferromagnetisme er ikke elektrisk ledningsevne. μ er H/m; Rm er A/Wb = H⁻¹.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har [rad/s]; antal omdrejninger/frekvens blandes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s⁻¹ eller rpm; ω er rad/s. Rotationsarbejde bruger vinkel eller et antal omdrejninger.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EL13:17, opg. 8b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Moment fra elektrisk motor-effekt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 mangler η eller Pmek. En ideal antagelse η = 1 skal angives; ikke bruges skjult.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EL10:3,5,9-10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 og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αt følger referencen t. α20 kan ikke ubetinget bruges med en anden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Faglige præciseringer i forhold til kilderne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96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rrections-table-2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642"/>
                <a:gridCol w="4334718"/>
                <a:gridCol w="433471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/ tvetydighed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Præcisering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EL08:9-14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knudepunkter som uafhængige ligninger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Vælg reference. Brug n−1 uafhængige KCL-ligninger; superknude ved relevant spændingskilde.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EL18:7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U₀ kaldes spænding ved start i opladning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Uₛ er forsyning; u₀ er kondensatorens startspænding. Den viste specialformel kræver u₀ = 0.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EL18:7,9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Opladet / afladet efter 5τ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Resten er e⁻⁵ ≈ 0,0067, altså cirka 0,67 %. Ikke præcis 0 eller 100 %.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EL18:8-9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Afladning efter forsyningsafbrydelse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RC-formlen kræver lukket afladevej gennem R; en isoleret kondensator følger den ikke.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EL17:14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 tredobles når εr tredobles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Kun ved fastholdt U og geometri: D = εU/a. Ved fastholdt Q og A ændres D ikke.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EL18:3-4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q omtales én gang som strøm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q er ladning [C]; i = dq/dt er strøm [A].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Afgrænsning · vælg ikke formel ud fra enheder alene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97 / 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cope-table"/>
          <p:cNvGraphicFramePr>
            <a:graphicFrameLocks noGrp="1"/>
          </p:cNvGraphicFramePr>
          <p:nvPr/>
        </p:nvGraphicFramePr>
        <p:xfrm>
          <a:off x="411480" y="1042415"/>
          <a:ext cx="9784078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02"/>
                <a:gridCol w="4028738"/>
                <a:gridCol w="4028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/ opslag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Fundet / 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Afgrænsning / nødvendige oplysninger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Dokumenteret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DC, ledermodstand, temperatur, energi/moment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Elektriske og magnetiske felter, induktion, selvinduktion og magnetiske kræfter.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Beregningsvej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Knudepunktsmetoden er primær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med reference/pile → ligninger → grenstrømme. KVL og effektbalance er kontroller.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AC-omtale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Induktans nævnes som grundlag for AC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systematisk dokumentation af sinus, RMS, fase eller effektfaktor i de fundne slides.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AC: har P og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Oplysningerne er utilstrækkelige uden model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Afklar aktiv/tilsyneladende effekt, RMS/kurveform og effektfaktor. DC-opslag </a:t>
                      </a:r>
                      <a:r>
                        <a:rPr>
                          <a:latin typeface="Cambria Math"/>
                        </a:rPr>
                        <a:t>I</a:t>
                      </a:r>
                      <a:r>
                        <a:t> = P/U vælges ikke alene på enheder.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Dokumenteret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Kapacitans og DC-op-/afladning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EL17–EL18 dækker ideel pladekondensator, konstant strøm, RC-tidsforløb og lagret energi.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AC-reaktans, impedans, fasorer, RLC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formeldækning påstås for disse AC-emner; kræver relevante undervisningsfiler.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Resonans, transformerforhold, trefase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Transformerprincippet omtales, men beregningsformler/pensum er ikke dokumenteret.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AC-skelnen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Spidsværdi/RMS; fase/linje; effektfaktor/cos φ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Kan ikke sidestilles uden kurveform, topologi og betingelser. Disse emner er ikke udfyldt generisk.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Kilder mangler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Henviste bøger, Word-øvelser og Teams-opgaver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Deres indhold er ikke verificeret. Cheatsheetet dækker de faktiske lokale kilder, ikke hele BM4-pensum.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Redigerbarhed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Tekst, tabeller, strøm-/kredsløbsfigur er native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Brøkformler er højopløste billeder fra LaTeX. Formeltekst og data bevares i database og slideplan.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PowerPoint-app basisskabelon</dc:title>
  <dc:subject>Fast 16:9-skabelon til lokal undervisningspræsentation</dc:subject>
  <dc:creator>PowerPoint App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