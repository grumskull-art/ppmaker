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Genveje og sidetal beregnes ud fra slideplanens id’er og samme formeldatabase som HTML-opslaget.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W04: EL03:4,10, EL13:12</a:t>
            </a:r>
          </a:p>
          <a:p>
            <a:r>
              <a:t>I01: EL02:9-11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I02: EL02:10, EL13:13,17</a:t>
            </a:r>
          </a:p>
          <a:p>
            <a:r>
              <a:t>I03: EL02:10, EL13:13,16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I04: EL02:7, EL03:4</a:t>
            </a:r>
          </a:p>
          <a:p>
            <a:r>
              <a:t>I05: EL04:3-4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I06: EL04:6-7, EL09:3-10</a:t>
            </a:r>
          </a:p>
          <a:p>
            <a:r>
              <a:t>I07: EL04:7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B10: EL05:3, EL06:9-12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U01: EL02:9-11</a:t>
            </a:r>
          </a:p>
          <a:p>
            <a:r>
              <a:t>U02: EL02:10, EL13:13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U03: EL02:10, EL13:13,15</a:t>
            </a:r>
          </a:p>
          <a:p>
            <a:r>
              <a:t>U04: EL13:11-12, EL02:5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U05: EL04:3</a:t>
            </a:r>
          </a:p>
          <a:p>
            <a:r>
              <a:t>U06: EL04:5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R01: EL02:8-11</a:t>
            </a:r>
          </a:p>
          <a:p>
            <a:r>
              <a:t>R02: EL02:10, EL13:15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R03: EL02:10, EL13:13</a:t>
            </a:r>
          </a:p>
          <a:p>
            <a:r>
              <a:t>R04: EL07:3-5,8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R05: EL10:3-5</a:t>
            </a:r>
          </a:p>
          <a:p>
            <a:r>
              <a:t>R06: EL10:9-10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R07: EL04:4-5,8</a:t>
            </a:r>
          </a:p>
          <a:p>
            <a:r>
              <a:t>R08: EL04:6-8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R09: EL04:3,8</a:t>
            </a:r>
          </a:p>
          <a:p>
            <a:r>
              <a:t>R10: EL07:6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G03: EL07:3,6</a:t>
            </a:r>
          </a:p>
          <a:p>
            <a:r>
              <a:t>G04: EL07:3,8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G05: EL07:3,8</a:t>
            </a:r>
          </a:p>
          <a:p>
            <a:r>
              <a:t>G06: EL10:5,8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G01: EL07:6,9</a:t>
            </a:r>
          </a:p>
          <a:p>
            <a:r>
              <a:t>G02: EL07:6,9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P01: EL13:6,12-13</a:t>
            </a:r>
          </a:p>
          <a:p>
            <a:r>
              <a:t>P02: EL13:12-15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P03: EL13:12-13</a:t>
            </a:r>
          </a:p>
          <a:p>
            <a:r>
              <a:t>P04: EL13:6-7,17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P05: EL13:4</a:t>
            </a:r>
          </a:p>
          <a:p>
            <a:r>
              <a:t>P06: EL13:4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P07: EL13:4</a:t>
            </a:r>
          </a:p>
          <a:p>
            <a:r>
              <a:t>P08: EL13:10,17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W01: EL13:7-8,13,16</a:t>
            </a:r>
          </a:p>
          <a:p>
            <a:r>
              <a:t>W02: EL13:11-12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W03: EL13:17</a:t>
            </a:r>
          </a:p>
          <a:p>
            <a:r>
              <a:t>W05: EL13:9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M01: EL13:5,14,18</a:t>
            </a:r>
          </a:p>
          <a:p>
            <a:r>
              <a:t>M02: EL13:5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M05: EL13:10,15</a:t>
            </a:r>
          </a:p>
          <a:p>
            <a:r>
              <a:t>M03: EL13:10,15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M04: EL13:10,15</a:t>
            </a:r>
          </a:p>
          <a:p>
            <a:r>
              <a:t>M06: EL13:10,17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F01: EL03:5,7,9</a:t>
            </a:r>
          </a:p>
          <a:p>
            <a:r>
              <a:t>F02: EL03:8-10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F03: EL03:8,10</a:t>
            </a:r>
          </a:p>
          <a:p>
            <a:r>
              <a:t>F04: EL03:7,10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F05: EL03:10</a:t>
            </a:r>
          </a:p>
          <a:p>
            <a:r>
              <a:t>F06: EL03:9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F07: EL03:7,9</a:t>
            </a:r>
          </a:p>
          <a:p>
            <a:r>
              <a:t>B01: EL01:10-11, EL12:2, EL14:8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B02: EL01:11, EL05:2-3</a:t>
            </a:r>
          </a:p>
          <a:p>
            <a:r>
              <a:t>B03: EL05:3, EL06:9-12, EL11:3-4,8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B04: EL01:12-13</a:t>
            </a:r>
          </a:p>
          <a:p>
            <a:r>
              <a:t>B05: EL05:3, EL06:9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B06: EL05:2, EL06:5-8</a:t>
            </a:r>
          </a:p>
          <a:p>
            <a:r>
              <a:t>B07: EL05:2, EL06:6,13, EL11:3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B08: EL05:2, EL06:6,8,13</a:t>
            </a:r>
          </a:p>
          <a:p>
            <a:r>
              <a:t>B09: EL06:10-11, EL11:3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B11: EL05:2, EL06:6</a:t>
            </a:r>
          </a:p>
          <a:p>
            <a:r>
              <a:t>B12: EL05:3, EL11:4,8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B13: EL06:10-11</a:t>
            </a:r>
          </a:p>
          <a:p>
            <a:r>
              <a:t>K01: EL16:3-5,7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K02: EL16:7</a:t>
            </a:r>
          </a:p>
          <a:p>
            <a:r>
              <a:t>K03: EL16:7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K04: EL15:2,4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E01: EL14:3-5, EL12:3</a:t>
            </a:r>
          </a:p>
          <a:p>
            <a:r>
              <a:t>E02: EL14:4,8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E03: EL12:3-4</a:t>
            </a:r>
          </a:p>
          <a:p>
            <a:r>
              <a:t>E05: EL14:7-9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E04: EL14:8-9</a:t>
            </a:r>
          </a:p>
          <a:p>
            <a:r>
              <a:t>E06: EL14:8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N02: EL08:2, EL09:3-4</a:t>
            </a:r>
          </a:p>
          <a:p>
            <a:r>
              <a:t>U07: EL09:4-10, EL08:4-10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N01: EL08:2-10, EL09:3-10</a:t>
            </a:r>
          </a:p>
          <a:p>
            <a:r>
              <a:t>N03: EL08:3,9-14, EL09:3-10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 EL09:4–10. Her hedder grenstrømmene I1, I2 og I3; i originalen I, I1 og I2. Alle pile er bevidst valgt ud af a, så kildegrenen får −3 A i stedet for originalens +3 A. Belastningsresistansen R i originalen kaldes her R3. Begge kildepolariteter følger originalen. Knudepunktsmetoden er den primære løsningsvej; KVL bruges til kontrol.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SI-enheder og præfikser: BIPM SI Brochure. HK/kcal står særskilt som undervisningsafrundinger. Kildebaseret notation: EL02, EL07, EL10, EL13.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SI-enheder og præfikser: BIPM SI Brochure. HK/kcal står særskilt som undervisningsafrundinger. Kildebaseret notation: EL02, EL07, EL10, EL13.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Kontrolleret mod BIPM ampere-definition og NIST CODATA 2022. Links: https://www.bipm.org/en/si-base-units/ampere ; https://physics.nist.gov/cuu/pdf/wall_2022.pdf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Kontrolleret mod BIPM ampere-definition og NIST CODATA 2022. Links: https://www.bipm.org/en/si-base-units/ampere ; https://physics.nist.gov/cuu/pdf/wall_2022.pdf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Afskrevet fra EL07:4 og EL10:4, visuelt kontrolleret i originalerne. Tabellen er reproduceret som redigerbare celler. Pt100-standardens kurve må ikke sidestilles ukritisk med en ren platins generelle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Afskrevet fra EL07:4 og EL10:4, visuelt kontrolleret i originalerne. Tabellen er reproduceret som redigerbare celler. Pt100-standardens kurve må ikke sidestilles ukritisk med en ren platins generelle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160 originale slides er læst som tekst og renderet i Windows PowerPoint. Billedformler er visuelt transskriberet; databasefelterne source_locations peger på konkrete slides. Originalfilernes SHA256 er bevaret i databasen. Laboratorierapporten fra Downloads underbygger praksiskonteksten, men definerer ikke et nyt pensum.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160 originale slides er læst som tekst og renderet i Windows PowerPoint. Billedformler er visuelt transskriberet; databasefelterne source_locations peger på konkrete slides. Originalfilernes SHA256 er bevaret i databasen. Laboratorierapporten fra Downloads underbygger praksiskonteksten, men definerer ikke et nyt pensum.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Korrekturer er angivet åbent. BIPM: https://www.bipm.org/en/si-base-units/ampere ; NIST: https://physics.nist.gov/cuu/pdf/wall_2022.pdf. Ingen originale præsentationer er ændret.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Formler og beregningsveje dokumenteret i de 16 originale EL-præsentationer; 160 slides. Laboratorierapporten bruges som praksiskontekst. Ikke en fuld pensumdækning af BM4.</a:t>
            </a:r>
          </a:p>
          <a:p>
            <a:r>
              <a:t>De refererede undervisningsfiler om AC, RLC, trefase samt opgavesamlingen er ikke tilgængelige i de gennemgåede lokale mapper. Der er ikke opfundet adgang eller fyldt generiske AC-kapitler 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11.xml"/><Relationship Id="rId10" Type="http://schemas.openxmlformats.org/officeDocument/2006/relationships/slide" Target="slide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6.xml"/><Relationship Id="rId16" Type="http://schemas.openxmlformats.org/officeDocument/2006/relationships/slide" Target="slide17.xml"/><Relationship Id="rId17" Type="http://schemas.openxmlformats.org/officeDocument/2006/relationships/slide" Target="slide1.xml"/><Relationship Id="rId18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3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1.xml"/><Relationship Id="rId13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notesSlide" Target="../notesSlides/notesSlide4.xml"/><Relationship Id="rId13" Type="http://schemas.openxmlformats.org/officeDocument/2006/relationships/slide" Target="slide21.xml"/><Relationship Id="rId14" Type="http://schemas.openxmlformats.org/officeDocument/2006/relationships/slide" Target="slide22.xml"/><Relationship Id="rId15" Type="http://schemas.openxmlformats.org/officeDocument/2006/relationships/slide" Target="slide23.xml"/><Relationship Id="rId16" Type="http://schemas.openxmlformats.org/officeDocument/2006/relationships/slide" Target="slide24.xml"/><Relationship Id="rId17" Type="http://schemas.openxmlformats.org/officeDocument/2006/relationships/slide" Target="slide25.xml"/><Relationship Id="rId18" Type="http://schemas.openxmlformats.org/officeDocument/2006/relationships/slide" Target="slide1.xml"/><Relationship Id="rId19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notesSlide" Target="../notesSlides/notesSlide5.xml"/><Relationship Id="rId9" Type="http://schemas.openxmlformats.org/officeDocument/2006/relationships/slide" Target="slide26.xml"/><Relationship Id="rId10" Type="http://schemas.openxmlformats.org/officeDocument/2006/relationships/slide" Target="slide27.xml"/><Relationship Id="rId11" Type="http://schemas.openxmlformats.org/officeDocument/2006/relationships/slide" Target="slide28.xml"/><Relationship Id="rId12" Type="http://schemas.openxmlformats.org/officeDocument/2006/relationships/slide" Target="slide1.xml"/><Relationship Id="rId13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notesSlide" Target="../notesSlides/notesSlide6.xml"/><Relationship Id="rId11" Type="http://schemas.openxmlformats.org/officeDocument/2006/relationships/slide" Target="slide29.xml"/><Relationship Id="rId12" Type="http://schemas.openxmlformats.org/officeDocument/2006/relationships/slide" Target="slide30.xml"/><Relationship Id="rId13" Type="http://schemas.openxmlformats.org/officeDocument/2006/relationships/slide" Target="slide31.xml"/><Relationship Id="rId14" Type="http://schemas.openxmlformats.org/officeDocument/2006/relationships/slide" Target="slide32.xml"/><Relationship Id="rId15" Type="http://schemas.openxmlformats.org/officeDocument/2006/relationships/slide" Target="slide1.xml"/><Relationship Id="rId16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notesSlide" Target="../notesSlides/notesSlide7.xml"/><Relationship Id="rId13" Type="http://schemas.openxmlformats.org/officeDocument/2006/relationships/slide" Target="slide33.xml"/><Relationship Id="rId14" Type="http://schemas.openxmlformats.org/officeDocument/2006/relationships/slide" Target="slide34.xml"/><Relationship Id="rId15" Type="http://schemas.openxmlformats.org/officeDocument/2006/relationships/slide" Target="slide35.xml"/><Relationship Id="rId16" Type="http://schemas.openxmlformats.org/officeDocument/2006/relationships/slide" Target="slide36.xml"/><Relationship Id="rId17" Type="http://schemas.openxmlformats.org/officeDocument/2006/relationships/slide" Target="slide37.xml"/><Relationship Id="rId18" Type="http://schemas.openxmlformats.org/officeDocument/2006/relationships/slide" Target="slide1.xml"/><Relationship Id="rId19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notesSlide" Target="../notesSlides/notesSlide8.xml"/><Relationship Id="rId13" Type="http://schemas.openxmlformats.org/officeDocument/2006/relationships/slide" Target="slide38.xml"/><Relationship Id="rId14" Type="http://schemas.openxmlformats.org/officeDocument/2006/relationships/slide" Target="slide39.xml"/><Relationship Id="rId15" Type="http://schemas.openxmlformats.org/officeDocument/2006/relationships/slide" Target="slide40.xml"/><Relationship Id="rId16" Type="http://schemas.openxmlformats.org/officeDocument/2006/relationships/slide" Target="slide41.xml"/><Relationship Id="rId17" Type="http://schemas.openxmlformats.org/officeDocument/2006/relationships/slide" Target="slide42.xml"/><Relationship Id="rId18" Type="http://schemas.openxmlformats.org/officeDocument/2006/relationships/slide" Target="slide1.xml"/><Relationship Id="rId19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Relationship Id="rId11" Type="http://schemas.openxmlformats.org/officeDocument/2006/relationships/image" Target="../media/image69.png"/><Relationship Id="rId12" Type="http://schemas.openxmlformats.org/officeDocument/2006/relationships/notesSlide" Target="../notesSlides/notesSlide9.xml"/><Relationship Id="rId13" Type="http://schemas.openxmlformats.org/officeDocument/2006/relationships/slide" Target="slide43.xml"/><Relationship Id="rId14" Type="http://schemas.openxmlformats.org/officeDocument/2006/relationships/slide" Target="slide44.xml"/><Relationship Id="rId15" Type="http://schemas.openxmlformats.org/officeDocument/2006/relationships/slide" Target="slide45.xml"/><Relationship Id="rId16" Type="http://schemas.openxmlformats.org/officeDocument/2006/relationships/slide" Target="slide46.xml"/><Relationship Id="rId17" Type="http://schemas.openxmlformats.org/officeDocument/2006/relationships/slide" Target="slide47.xml"/><Relationship Id="rId18" Type="http://schemas.openxmlformats.org/officeDocument/2006/relationships/slide" Target="slide1.xml"/><Relationship Id="rId19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notesSlide" Target="../notesSlides/notesSlide10.xml"/><Relationship Id="rId6" Type="http://schemas.openxmlformats.org/officeDocument/2006/relationships/slide" Target="slide48.xml"/><Relationship Id="rId7" Type="http://schemas.openxmlformats.org/officeDocument/2006/relationships/slide" Target="slide49.xml"/><Relationship Id="rId8" Type="http://schemas.openxmlformats.org/officeDocument/2006/relationships/slide" Target="slide1.xml"/><Relationship Id="rId9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notesSlide" Target="../notesSlides/notesSlide11.xml"/><Relationship Id="rId9" Type="http://schemas.openxmlformats.org/officeDocument/2006/relationships/slide" Target="slide50.xml"/><Relationship Id="rId10" Type="http://schemas.openxmlformats.org/officeDocument/2006/relationships/slide" Target="slide51.xml"/><Relationship Id="rId11" Type="http://schemas.openxmlformats.org/officeDocument/2006/relationships/slide" Target="slide52.xml"/><Relationship Id="rId12" Type="http://schemas.openxmlformats.org/officeDocument/2006/relationships/slide" Target="slide1.xml"/><Relationship Id="rId13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notesSlide" Target="../notesSlides/notesSlide12.xml"/><Relationship Id="rId7" Type="http://schemas.openxmlformats.org/officeDocument/2006/relationships/slide" Target="slide53.xml"/><Relationship Id="rId8" Type="http://schemas.openxmlformats.org/officeDocument/2006/relationships/slide" Target="slide54.xml"/><Relationship Id="rId9" Type="http://schemas.openxmlformats.org/officeDocument/2006/relationships/slide" Target="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2.png"/><Relationship Id="rId8" Type="http://schemas.openxmlformats.org/officeDocument/2006/relationships/image" Target="../media/image87.png"/><Relationship Id="rId9" Type="http://schemas.openxmlformats.org/officeDocument/2006/relationships/image" Target="../media/image88.png"/><Relationship Id="rId10" Type="http://schemas.openxmlformats.org/officeDocument/2006/relationships/notesSlide" Target="../notesSlides/notesSlide13.xml"/><Relationship Id="rId11" Type="http://schemas.openxmlformats.org/officeDocument/2006/relationships/slide" Target="slide2.xml"/><Relationship Id="rId12" Type="http://schemas.openxmlformats.org/officeDocument/2006/relationships/slide" Target="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4.png"/><Relationship Id="rId7" Type="http://schemas.openxmlformats.org/officeDocument/2006/relationships/image" Target="../media/image92.png"/><Relationship Id="rId8" Type="http://schemas.openxmlformats.org/officeDocument/2006/relationships/notesSlide" Target="../notesSlides/notesSlide14.xml"/><Relationship Id="rId9" Type="http://schemas.openxmlformats.org/officeDocument/2006/relationships/slide" Target="slide2.xml"/><Relationship Id="rId10" Type="http://schemas.openxmlformats.org/officeDocument/2006/relationships/slide" Target="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6.png"/><Relationship Id="rId7" Type="http://schemas.openxmlformats.org/officeDocument/2006/relationships/image" Target="../media/image96.png"/><Relationship Id="rId8" Type="http://schemas.openxmlformats.org/officeDocument/2006/relationships/notesSlide" Target="../notesSlides/notesSlide15.xml"/><Relationship Id="rId9" Type="http://schemas.openxmlformats.org/officeDocument/2006/relationships/slide" Target="slide2.xml"/><Relationship Id="rId10" Type="http://schemas.openxmlformats.org/officeDocument/2006/relationships/slide" Target="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97.png"/><Relationship Id="rId4" Type="http://schemas.openxmlformats.org/officeDocument/2006/relationships/image" Target="../media/image8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notesSlide" Target="../notesSlides/notesSlide16.xml"/><Relationship Id="rId8" Type="http://schemas.openxmlformats.org/officeDocument/2006/relationships/slide" Target="slide2.xml"/><Relationship Id="rId9" Type="http://schemas.openxmlformats.org/officeDocument/2006/relationships/slide" Target="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7.xml"/><Relationship Id="rId4" Type="http://schemas.openxmlformats.org/officeDocument/2006/relationships/slide" Target="slide2.xml"/><Relationship Id="rId5" Type="http://schemas.openxmlformats.org/officeDocument/2006/relationships/slide" Target="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87.png"/><Relationship Id="rId4" Type="http://schemas.openxmlformats.org/officeDocument/2006/relationships/image" Target="../media/image11.png"/><Relationship Id="rId5" Type="http://schemas.openxmlformats.org/officeDocument/2006/relationships/image" Target="../media/image100.png"/><Relationship Id="rId6" Type="http://schemas.openxmlformats.org/officeDocument/2006/relationships/notesSlide" Target="../notesSlides/notesSlide18.xml"/><Relationship Id="rId7" Type="http://schemas.openxmlformats.org/officeDocument/2006/relationships/slide" Target="slide3.xml"/><Relationship Id="rId8" Type="http://schemas.openxmlformats.org/officeDocument/2006/relationships/slide" Target="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01.png"/><Relationship Id="rId4" Type="http://schemas.openxmlformats.org/officeDocument/2006/relationships/image" Target="../media/image13.png"/><Relationship Id="rId5" Type="http://schemas.openxmlformats.org/officeDocument/2006/relationships/image" Target="../media/image102.png"/><Relationship Id="rId6" Type="http://schemas.openxmlformats.org/officeDocument/2006/relationships/notesSlide" Target="../notesSlides/notesSlide19.xml"/><Relationship Id="rId7" Type="http://schemas.openxmlformats.org/officeDocument/2006/relationships/slide" Target="slide3.xml"/><Relationship Id="rId8" Type="http://schemas.openxmlformats.org/officeDocument/2006/relationships/slide" Target="slide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Relationship Id="rId5" Type="http://schemas.openxmlformats.org/officeDocument/2006/relationships/image" Target="../media/image15.png"/><Relationship Id="rId6" Type="http://schemas.openxmlformats.org/officeDocument/2006/relationships/image" Target="../media/image105.png"/><Relationship Id="rId7" Type="http://schemas.openxmlformats.org/officeDocument/2006/relationships/notesSlide" Target="../notesSlides/notesSlide20.xml"/><Relationship Id="rId8" Type="http://schemas.openxmlformats.org/officeDocument/2006/relationships/slide" Target="slide3.xml"/><Relationship Id="rId9" Type="http://schemas.openxmlformats.org/officeDocument/2006/relationships/slide" Target="slide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87.png"/><Relationship Id="rId4" Type="http://schemas.openxmlformats.org/officeDocument/2006/relationships/image" Target="../media/image17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notesSlide" Target="../notesSlides/notesSlide21.xml"/><Relationship Id="rId8" Type="http://schemas.openxmlformats.org/officeDocument/2006/relationships/slide" Target="slide4.xml"/><Relationship Id="rId9" Type="http://schemas.openxmlformats.org/officeDocument/2006/relationships/slide" Target="slide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Relationship Id="rId6" Type="http://schemas.openxmlformats.org/officeDocument/2006/relationships/image" Target="../media/image110.png"/><Relationship Id="rId7" Type="http://schemas.openxmlformats.org/officeDocument/2006/relationships/image" Target="../media/image111.png"/><Relationship Id="rId8" Type="http://schemas.openxmlformats.org/officeDocument/2006/relationships/notesSlide" Target="../notesSlides/notesSlide22.xml"/><Relationship Id="rId9" Type="http://schemas.openxmlformats.org/officeDocument/2006/relationships/slide" Target="slide4.xml"/><Relationship Id="rId10" Type="http://schemas.openxmlformats.org/officeDocument/2006/relationships/slide" Target="slide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21.png"/><Relationship Id="rId7" Type="http://schemas.openxmlformats.org/officeDocument/2006/relationships/notesSlide" Target="../notesSlides/notesSlide23.xml"/><Relationship Id="rId8" Type="http://schemas.openxmlformats.org/officeDocument/2006/relationships/slide" Target="slide4.xml"/><Relationship Id="rId9" Type="http://schemas.openxmlformats.org/officeDocument/2006/relationships/slide" Target="slide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23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9" Type="http://schemas.openxmlformats.org/officeDocument/2006/relationships/notesSlide" Target="../notesSlides/notesSlide24.xml"/><Relationship Id="rId10" Type="http://schemas.openxmlformats.org/officeDocument/2006/relationships/slide" Target="slide4.xml"/><Relationship Id="rId11" Type="http://schemas.openxmlformats.org/officeDocument/2006/relationships/slide" Target="slide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120.png"/><Relationship Id="rId4" Type="http://schemas.openxmlformats.org/officeDocument/2006/relationships/image" Target="../media/image121.png"/><Relationship Id="rId5" Type="http://schemas.openxmlformats.org/officeDocument/2006/relationships/image" Target="../media/image25.png"/><Relationship Id="rId6" Type="http://schemas.openxmlformats.org/officeDocument/2006/relationships/image" Target="../media/image122.png"/><Relationship Id="rId7" Type="http://schemas.openxmlformats.org/officeDocument/2006/relationships/image" Target="../media/image123.png"/><Relationship Id="rId8" Type="http://schemas.openxmlformats.org/officeDocument/2006/relationships/notesSlide" Target="../notesSlides/notesSlide25.xml"/><Relationship Id="rId9" Type="http://schemas.openxmlformats.org/officeDocument/2006/relationships/slide" Target="slide4.xml"/><Relationship Id="rId10" Type="http://schemas.openxmlformats.org/officeDocument/2006/relationships/slide" Target="slide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Relationship Id="rId7" Type="http://schemas.openxmlformats.org/officeDocument/2006/relationships/notesSlide" Target="../notesSlides/notesSlide26.xml"/><Relationship Id="rId8" Type="http://schemas.openxmlformats.org/officeDocument/2006/relationships/slide" Target="slide5.xml"/><Relationship Id="rId9" Type="http://schemas.openxmlformats.org/officeDocument/2006/relationships/slide" Target="slide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127.png"/><Relationship Id="rId4" Type="http://schemas.openxmlformats.org/officeDocument/2006/relationships/image" Target="../media/image128.png"/><Relationship Id="rId5" Type="http://schemas.openxmlformats.org/officeDocument/2006/relationships/image" Target="../media/image129.png"/><Relationship Id="rId6" Type="http://schemas.openxmlformats.org/officeDocument/2006/relationships/image" Target="../media/image29.png"/><Relationship Id="rId7" Type="http://schemas.openxmlformats.org/officeDocument/2006/relationships/image" Target="../media/image130.png"/><Relationship Id="rId8" Type="http://schemas.openxmlformats.org/officeDocument/2006/relationships/image" Target="../media/image131.png"/><Relationship Id="rId9" Type="http://schemas.openxmlformats.org/officeDocument/2006/relationships/image" Target="../media/image132.png"/><Relationship Id="rId10" Type="http://schemas.openxmlformats.org/officeDocument/2006/relationships/notesSlide" Target="../notesSlides/notesSlide27.xml"/><Relationship Id="rId11" Type="http://schemas.openxmlformats.org/officeDocument/2006/relationships/slide" Target="slide5.xml"/><Relationship Id="rId12" Type="http://schemas.openxmlformats.org/officeDocument/2006/relationships/slide" Target="slide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122.png"/><Relationship Id="rId4" Type="http://schemas.openxmlformats.org/officeDocument/2006/relationships/image" Target="../media/image133.png"/><Relationship Id="rId5" Type="http://schemas.openxmlformats.org/officeDocument/2006/relationships/image" Target="../media/image31.png"/><Relationship Id="rId6" Type="http://schemas.openxmlformats.org/officeDocument/2006/relationships/image" Target="../media/image134.png"/><Relationship Id="rId7" Type="http://schemas.openxmlformats.org/officeDocument/2006/relationships/image" Target="../media/image135.png"/><Relationship Id="rId8" Type="http://schemas.openxmlformats.org/officeDocument/2006/relationships/image" Target="../media/image136.png"/><Relationship Id="rId9" Type="http://schemas.openxmlformats.org/officeDocument/2006/relationships/image" Target="../media/image137.png"/><Relationship Id="rId10" Type="http://schemas.openxmlformats.org/officeDocument/2006/relationships/notesSlide" Target="../notesSlides/notesSlide28.xml"/><Relationship Id="rId11" Type="http://schemas.openxmlformats.org/officeDocument/2006/relationships/slide" Target="slide5.xml"/><Relationship Id="rId12" Type="http://schemas.openxmlformats.org/officeDocument/2006/relationships/slide" Target="slide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38.png"/><Relationship Id="rId4" Type="http://schemas.openxmlformats.org/officeDocument/2006/relationships/image" Target="../media/image139.png"/><Relationship Id="rId5" Type="http://schemas.openxmlformats.org/officeDocument/2006/relationships/image" Target="../media/image140.png"/><Relationship Id="rId6" Type="http://schemas.openxmlformats.org/officeDocument/2006/relationships/image" Target="../media/image33.png"/><Relationship Id="rId7" Type="http://schemas.openxmlformats.org/officeDocument/2006/relationships/image" Target="../media/image141.png"/><Relationship Id="rId8" Type="http://schemas.openxmlformats.org/officeDocument/2006/relationships/notesSlide" Target="../notesSlides/notesSlide29.xml"/><Relationship Id="rId9" Type="http://schemas.openxmlformats.org/officeDocument/2006/relationships/slide" Target="slide6.xml"/><Relationship Id="rId10" Type="http://schemas.openxmlformats.org/officeDocument/2006/relationships/slide" Target="slide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97.png"/><Relationship Id="rId4" Type="http://schemas.openxmlformats.org/officeDocument/2006/relationships/image" Target="../media/image35.png"/><Relationship Id="rId5" Type="http://schemas.openxmlformats.org/officeDocument/2006/relationships/image" Target="../media/image142.png"/><Relationship Id="rId6" Type="http://schemas.openxmlformats.org/officeDocument/2006/relationships/image" Target="../media/image94.png"/><Relationship Id="rId7" Type="http://schemas.openxmlformats.org/officeDocument/2006/relationships/image" Target="../media/image143.png"/><Relationship Id="rId8" Type="http://schemas.openxmlformats.org/officeDocument/2006/relationships/image" Target="../media/image144.png"/><Relationship Id="rId9" Type="http://schemas.openxmlformats.org/officeDocument/2006/relationships/notesSlide" Target="../notesSlides/notesSlide30.xml"/><Relationship Id="rId10" Type="http://schemas.openxmlformats.org/officeDocument/2006/relationships/slide" Target="slide6.xml"/><Relationship Id="rId11" Type="http://schemas.openxmlformats.org/officeDocument/2006/relationships/slide" Target="slide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89.png"/><Relationship Id="rId4" Type="http://schemas.openxmlformats.org/officeDocument/2006/relationships/image" Target="../media/image145.png"/><Relationship Id="rId5" Type="http://schemas.openxmlformats.org/officeDocument/2006/relationships/image" Target="../media/image146.png"/><Relationship Id="rId6" Type="http://schemas.openxmlformats.org/officeDocument/2006/relationships/image" Target="../media/image147.png"/><Relationship Id="rId7" Type="http://schemas.openxmlformats.org/officeDocument/2006/relationships/image" Target="../media/image37.png"/><Relationship Id="rId8" Type="http://schemas.openxmlformats.org/officeDocument/2006/relationships/image" Target="../media/image148.png"/><Relationship Id="rId9" Type="http://schemas.openxmlformats.org/officeDocument/2006/relationships/notesSlide" Target="../notesSlides/notesSlide31.xml"/><Relationship Id="rId10" Type="http://schemas.openxmlformats.org/officeDocument/2006/relationships/slide" Target="slide6.xml"/><Relationship Id="rId11" Type="http://schemas.openxmlformats.org/officeDocument/2006/relationships/slide" Target="slide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149.png"/><Relationship Id="rId4" Type="http://schemas.openxmlformats.org/officeDocument/2006/relationships/image" Target="../media/image150.png"/><Relationship Id="rId5" Type="http://schemas.openxmlformats.org/officeDocument/2006/relationships/image" Target="../media/image39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notesSlide" Target="../notesSlides/notesSlide32.xml"/><Relationship Id="rId10" Type="http://schemas.openxmlformats.org/officeDocument/2006/relationships/slide" Target="slide6.xml"/><Relationship Id="rId11" Type="http://schemas.openxmlformats.org/officeDocument/2006/relationships/slide" Target="slide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154.png"/><Relationship Id="rId4" Type="http://schemas.openxmlformats.org/officeDocument/2006/relationships/image" Target="../media/image155.png"/><Relationship Id="rId5" Type="http://schemas.openxmlformats.org/officeDocument/2006/relationships/image" Target="../media/image156.png"/><Relationship Id="rId6" Type="http://schemas.openxmlformats.org/officeDocument/2006/relationships/image" Target="../media/image157.png"/><Relationship Id="rId7" Type="http://schemas.openxmlformats.org/officeDocument/2006/relationships/image" Target="../media/image158.png"/><Relationship Id="rId8" Type="http://schemas.openxmlformats.org/officeDocument/2006/relationships/image" Target="../media/image41.png"/><Relationship Id="rId9" Type="http://schemas.openxmlformats.org/officeDocument/2006/relationships/image" Target="../media/image159.png"/><Relationship Id="rId10" Type="http://schemas.openxmlformats.org/officeDocument/2006/relationships/image" Target="../media/image160.png"/><Relationship Id="rId11" Type="http://schemas.openxmlformats.org/officeDocument/2006/relationships/notesSlide" Target="../notesSlides/notesSlide33.xml"/><Relationship Id="rId12" Type="http://schemas.openxmlformats.org/officeDocument/2006/relationships/slide" Target="slide7.xml"/><Relationship Id="rId13" Type="http://schemas.openxmlformats.org/officeDocument/2006/relationships/slide" Target="slide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161.png"/><Relationship Id="rId4" Type="http://schemas.openxmlformats.org/officeDocument/2006/relationships/image" Target="../media/image162.png"/><Relationship Id="rId5" Type="http://schemas.openxmlformats.org/officeDocument/2006/relationships/image" Target="../media/image163.png"/><Relationship Id="rId6" Type="http://schemas.openxmlformats.org/officeDocument/2006/relationships/image" Target="../media/image43.png"/><Relationship Id="rId7" Type="http://schemas.openxmlformats.org/officeDocument/2006/relationships/image" Target="../media/image164.png"/><Relationship Id="rId8" Type="http://schemas.openxmlformats.org/officeDocument/2006/relationships/notesSlide" Target="../notesSlides/notesSlide34.xml"/><Relationship Id="rId9" Type="http://schemas.openxmlformats.org/officeDocument/2006/relationships/slide" Target="slide7.xml"/><Relationship Id="rId10" Type="http://schemas.openxmlformats.org/officeDocument/2006/relationships/slide" Target="slide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165.png"/><Relationship Id="rId4" Type="http://schemas.openxmlformats.org/officeDocument/2006/relationships/image" Target="../media/image166.png"/><Relationship Id="rId5" Type="http://schemas.openxmlformats.org/officeDocument/2006/relationships/image" Target="../media/image167.png"/><Relationship Id="rId6" Type="http://schemas.openxmlformats.org/officeDocument/2006/relationships/image" Target="../media/image168.png"/><Relationship Id="rId7" Type="http://schemas.openxmlformats.org/officeDocument/2006/relationships/image" Target="../media/image169.png"/><Relationship Id="rId8" Type="http://schemas.openxmlformats.org/officeDocument/2006/relationships/image" Target="../media/image45.png"/><Relationship Id="rId9" Type="http://schemas.openxmlformats.org/officeDocument/2006/relationships/image" Target="../media/image170.png"/><Relationship Id="rId10" Type="http://schemas.openxmlformats.org/officeDocument/2006/relationships/image" Target="../media/image171.png"/><Relationship Id="rId11" Type="http://schemas.openxmlformats.org/officeDocument/2006/relationships/notesSlide" Target="../notesSlides/notesSlide35.xml"/><Relationship Id="rId12" Type="http://schemas.openxmlformats.org/officeDocument/2006/relationships/slide" Target="slide7.xml"/><Relationship Id="rId13" Type="http://schemas.openxmlformats.org/officeDocument/2006/relationships/slide" Target="slide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172.png"/><Relationship Id="rId4" Type="http://schemas.openxmlformats.org/officeDocument/2006/relationships/image" Target="../media/image173.png"/><Relationship Id="rId5" Type="http://schemas.openxmlformats.org/officeDocument/2006/relationships/image" Target="../media/image174.png"/><Relationship Id="rId6" Type="http://schemas.openxmlformats.org/officeDocument/2006/relationships/image" Target="../media/image175.png"/><Relationship Id="rId7" Type="http://schemas.openxmlformats.org/officeDocument/2006/relationships/image" Target="../media/image47.png"/><Relationship Id="rId8" Type="http://schemas.openxmlformats.org/officeDocument/2006/relationships/image" Target="../media/image176.png"/><Relationship Id="rId9" Type="http://schemas.openxmlformats.org/officeDocument/2006/relationships/image" Target="../media/image177.png"/><Relationship Id="rId10" Type="http://schemas.openxmlformats.org/officeDocument/2006/relationships/notesSlide" Target="../notesSlides/notesSlide36.xml"/><Relationship Id="rId11" Type="http://schemas.openxmlformats.org/officeDocument/2006/relationships/slide" Target="slide7.xml"/><Relationship Id="rId12" Type="http://schemas.openxmlformats.org/officeDocument/2006/relationships/slide" Target="slide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153.png"/><Relationship Id="rId4" Type="http://schemas.openxmlformats.org/officeDocument/2006/relationships/image" Target="../media/image173.png"/><Relationship Id="rId5" Type="http://schemas.openxmlformats.org/officeDocument/2006/relationships/image" Target="../media/image178.png"/><Relationship Id="rId6" Type="http://schemas.openxmlformats.org/officeDocument/2006/relationships/image" Target="../media/image179.png"/><Relationship Id="rId7" Type="http://schemas.openxmlformats.org/officeDocument/2006/relationships/image" Target="../media/image180.png"/><Relationship Id="rId8" Type="http://schemas.openxmlformats.org/officeDocument/2006/relationships/image" Target="../media/image49.png"/><Relationship Id="rId9" Type="http://schemas.openxmlformats.org/officeDocument/2006/relationships/image" Target="../media/image181.png"/><Relationship Id="rId10" Type="http://schemas.openxmlformats.org/officeDocument/2006/relationships/image" Target="../media/image182.png"/><Relationship Id="rId11" Type="http://schemas.openxmlformats.org/officeDocument/2006/relationships/image" Target="../media/image183.png"/><Relationship Id="rId12" Type="http://schemas.openxmlformats.org/officeDocument/2006/relationships/image" Target="../media/image184.png"/><Relationship Id="rId13" Type="http://schemas.openxmlformats.org/officeDocument/2006/relationships/notesSlide" Target="../notesSlides/notesSlide37.xml"/><Relationship Id="rId14" Type="http://schemas.openxmlformats.org/officeDocument/2006/relationships/slide" Target="slide7.xml"/><Relationship Id="rId15" Type="http://schemas.openxmlformats.org/officeDocument/2006/relationships/slide" Target="slide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Relationship Id="rId4" Type="http://schemas.openxmlformats.org/officeDocument/2006/relationships/image" Target="../media/image185.png"/><Relationship Id="rId5" Type="http://schemas.openxmlformats.org/officeDocument/2006/relationships/image" Target="../media/image51.png"/><Relationship Id="rId6" Type="http://schemas.openxmlformats.org/officeDocument/2006/relationships/image" Target="../media/image186.png"/><Relationship Id="rId7" Type="http://schemas.openxmlformats.org/officeDocument/2006/relationships/image" Target="../media/image187.png"/><Relationship Id="rId8" Type="http://schemas.openxmlformats.org/officeDocument/2006/relationships/image" Target="../media/image188.png"/><Relationship Id="rId9" Type="http://schemas.openxmlformats.org/officeDocument/2006/relationships/notesSlide" Target="../notesSlides/notesSlide38.xml"/><Relationship Id="rId10" Type="http://schemas.openxmlformats.org/officeDocument/2006/relationships/slide" Target="slide8.xml"/><Relationship Id="rId11" Type="http://schemas.openxmlformats.org/officeDocument/2006/relationships/slide" Target="slide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189.png"/><Relationship Id="rId5" Type="http://schemas.openxmlformats.org/officeDocument/2006/relationships/image" Target="../media/image190.png"/><Relationship Id="rId6" Type="http://schemas.openxmlformats.org/officeDocument/2006/relationships/image" Target="../media/image191.png"/><Relationship Id="rId7" Type="http://schemas.openxmlformats.org/officeDocument/2006/relationships/image" Target="../media/image192.png"/><Relationship Id="rId8" Type="http://schemas.openxmlformats.org/officeDocument/2006/relationships/image" Target="../media/image193.png"/><Relationship Id="rId9" Type="http://schemas.openxmlformats.org/officeDocument/2006/relationships/notesSlide" Target="../notesSlides/notesSlide39.xml"/><Relationship Id="rId10" Type="http://schemas.openxmlformats.org/officeDocument/2006/relationships/slide" Target="slide8.xml"/><Relationship Id="rId11" Type="http://schemas.openxmlformats.org/officeDocument/2006/relationships/slide" Target="slide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194.png"/><Relationship Id="rId4" Type="http://schemas.openxmlformats.org/officeDocument/2006/relationships/image" Target="../media/image195.png"/><Relationship Id="rId5" Type="http://schemas.openxmlformats.org/officeDocument/2006/relationships/image" Target="../media/image196.png"/><Relationship Id="rId6" Type="http://schemas.openxmlformats.org/officeDocument/2006/relationships/image" Target="../media/image55.png"/><Relationship Id="rId7" Type="http://schemas.openxmlformats.org/officeDocument/2006/relationships/image" Target="../media/image197.png"/><Relationship Id="rId8" Type="http://schemas.openxmlformats.org/officeDocument/2006/relationships/image" Target="../media/image198.png"/><Relationship Id="rId9" Type="http://schemas.openxmlformats.org/officeDocument/2006/relationships/image" Target="../media/image199.png"/><Relationship Id="rId10" Type="http://schemas.openxmlformats.org/officeDocument/2006/relationships/notesSlide" Target="../notesSlides/notesSlide40.xml"/><Relationship Id="rId11" Type="http://schemas.openxmlformats.org/officeDocument/2006/relationships/slide" Target="slide8.xml"/><Relationship Id="rId12" Type="http://schemas.openxmlformats.org/officeDocument/2006/relationships/slide" Target="slide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190.png"/><Relationship Id="rId4" Type="http://schemas.openxmlformats.org/officeDocument/2006/relationships/image" Target="../media/image200.png"/><Relationship Id="rId5" Type="http://schemas.openxmlformats.org/officeDocument/2006/relationships/image" Target="../media/image57.png"/><Relationship Id="rId6" Type="http://schemas.openxmlformats.org/officeDocument/2006/relationships/image" Target="../media/image201.png"/><Relationship Id="rId7" Type="http://schemas.openxmlformats.org/officeDocument/2006/relationships/image" Target="../media/image202.png"/><Relationship Id="rId8" Type="http://schemas.openxmlformats.org/officeDocument/2006/relationships/notesSlide" Target="../notesSlides/notesSlide41.xml"/><Relationship Id="rId9" Type="http://schemas.openxmlformats.org/officeDocument/2006/relationships/slide" Target="slide8.xml"/><Relationship Id="rId10" Type="http://schemas.openxmlformats.org/officeDocument/2006/relationships/slide" Target="slide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203.png"/><Relationship Id="rId4" Type="http://schemas.openxmlformats.org/officeDocument/2006/relationships/image" Target="../media/image204.png"/><Relationship Id="rId5" Type="http://schemas.openxmlformats.org/officeDocument/2006/relationships/image" Target="../media/image106.png"/><Relationship Id="rId6" Type="http://schemas.openxmlformats.org/officeDocument/2006/relationships/image" Target="../media/image59.png"/><Relationship Id="rId7" Type="http://schemas.openxmlformats.org/officeDocument/2006/relationships/image" Target="../media/image205.png"/><Relationship Id="rId8" Type="http://schemas.openxmlformats.org/officeDocument/2006/relationships/notesSlide" Target="../notesSlides/notesSlide42.xml"/><Relationship Id="rId9" Type="http://schemas.openxmlformats.org/officeDocument/2006/relationships/slide" Target="slide8.xml"/><Relationship Id="rId10" Type="http://schemas.openxmlformats.org/officeDocument/2006/relationships/slide" Target="slide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206.png"/><Relationship Id="rId4" Type="http://schemas.openxmlformats.org/officeDocument/2006/relationships/image" Target="../media/image207.png"/><Relationship Id="rId5" Type="http://schemas.openxmlformats.org/officeDocument/2006/relationships/image" Target="../media/image61.png"/><Relationship Id="rId6" Type="http://schemas.openxmlformats.org/officeDocument/2006/relationships/notesSlide" Target="../notesSlides/notesSlide43.xml"/><Relationship Id="rId7" Type="http://schemas.openxmlformats.org/officeDocument/2006/relationships/slide" Target="slide9.xml"/><Relationship Id="rId8" Type="http://schemas.openxmlformats.org/officeDocument/2006/relationships/slide" Target="slide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208.png"/><Relationship Id="rId4" Type="http://schemas.openxmlformats.org/officeDocument/2006/relationships/image" Target="../media/image63.png"/><Relationship Id="rId5" Type="http://schemas.openxmlformats.org/officeDocument/2006/relationships/image" Target="../media/image209.png"/><Relationship Id="rId6" Type="http://schemas.openxmlformats.org/officeDocument/2006/relationships/image" Target="../media/image210.png"/><Relationship Id="rId7" Type="http://schemas.openxmlformats.org/officeDocument/2006/relationships/image" Target="../media/image211.png"/><Relationship Id="rId8" Type="http://schemas.openxmlformats.org/officeDocument/2006/relationships/notesSlide" Target="../notesSlides/notesSlide44.xml"/><Relationship Id="rId9" Type="http://schemas.openxmlformats.org/officeDocument/2006/relationships/slide" Target="slide9.xml"/><Relationship Id="rId10" Type="http://schemas.openxmlformats.org/officeDocument/2006/relationships/slide" Target="slide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58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image" Target="../media/image212.png"/><Relationship Id="rId7" Type="http://schemas.openxmlformats.org/officeDocument/2006/relationships/notesSlide" Target="../notesSlides/notesSlide45.xml"/><Relationship Id="rId8" Type="http://schemas.openxmlformats.org/officeDocument/2006/relationships/slide" Target="slide9.xml"/><Relationship Id="rId9" Type="http://schemas.openxmlformats.org/officeDocument/2006/relationships/slide" Target="slide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213.png"/><Relationship Id="rId4" Type="http://schemas.openxmlformats.org/officeDocument/2006/relationships/image" Target="../media/image214.png"/><Relationship Id="rId5" Type="http://schemas.openxmlformats.org/officeDocument/2006/relationships/image" Target="../media/image67.png"/><Relationship Id="rId6" Type="http://schemas.openxmlformats.org/officeDocument/2006/relationships/image" Target="../media/image205.png"/><Relationship Id="rId7" Type="http://schemas.openxmlformats.org/officeDocument/2006/relationships/notesSlide" Target="../notesSlides/notesSlide46.xml"/><Relationship Id="rId8" Type="http://schemas.openxmlformats.org/officeDocument/2006/relationships/slide" Target="slide9.xml"/><Relationship Id="rId9" Type="http://schemas.openxmlformats.org/officeDocument/2006/relationships/slide" Target="slide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69.png"/><Relationship Id="rId6" Type="http://schemas.openxmlformats.org/officeDocument/2006/relationships/image" Target="../media/image217.png"/><Relationship Id="rId7" Type="http://schemas.openxmlformats.org/officeDocument/2006/relationships/image" Target="../media/image218.png"/><Relationship Id="rId8" Type="http://schemas.openxmlformats.org/officeDocument/2006/relationships/image" Target="../media/image219.png"/><Relationship Id="rId9" Type="http://schemas.openxmlformats.org/officeDocument/2006/relationships/image" Target="../media/image220.png"/><Relationship Id="rId10" Type="http://schemas.openxmlformats.org/officeDocument/2006/relationships/image" Target="../media/image221.png"/><Relationship Id="rId11" Type="http://schemas.openxmlformats.org/officeDocument/2006/relationships/notesSlide" Target="../notesSlides/notesSlide47.xml"/><Relationship Id="rId12" Type="http://schemas.openxmlformats.org/officeDocument/2006/relationships/slide" Target="slide9.xml"/><Relationship Id="rId13" Type="http://schemas.openxmlformats.org/officeDocument/2006/relationships/slide" Target="slide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222.png"/><Relationship Id="rId4" Type="http://schemas.openxmlformats.org/officeDocument/2006/relationships/image" Target="../media/image223.png"/><Relationship Id="rId5" Type="http://schemas.openxmlformats.org/officeDocument/2006/relationships/image" Target="../media/image224.png"/><Relationship Id="rId6" Type="http://schemas.openxmlformats.org/officeDocument/2006/relationships/image" Target="../media/image71.png"/><Relationship Id="rId7" Type="http://schemas.openxmlformats.org/officeDocument/2006/relationships/image" Target="../media/image225.png"/><Relationship Id="rId8" Type="http://schemas.openxmlformats.org/officeDocument/2006/relationships/image" Target="../media/image226.png"/><Relationship Id="rId9" Type="http://schemas.openxmlformats.org/officeDocument/2006/relationships/image" Target="../media/image227.png"/><Relationship Id="rId10" Type="http://schemas.openxmlformats.org/officeDocument/2006/relationships/notesSlide" Target="../notesSlides/notesSlide48.xml"/><Relationship Id="rId11" Type="http://schemas.openxmlformats.org/officeDocument/2006/relationships/slide" Target="slide10.xml"/><Relationship Id="rId12" Type="http://schemas.openxmlformats.org/officeDocument/2006/relationships/slide" Target="slide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Relationship Id="rId5" Type="http://schemas.openxmlformats.org/officeDocument/2006/relationships/notesSlide" Target="../notesSlides/notesSlide49.xml"/><Relationship Id="rId6" Type="http://schemas.openxmlformats.org/officeDocument/2006/relationships/slide" Target="slide10.xml"/><Relationship Id="rId7" Type="http://schemas.openxmlformats.org/officeDocument/2006/relationships/slide" Target="slide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230.png"/><Relationship Id="rId4" Type="http://schemas.openxmlformats.org/officeDocument/2006/relationships/image" Target="../media/image231.png"/><Relationship Id="rId5" Type="http://schemas.openxmlformats.org/officeDocument/2006/relationships/image" Target="../media/image232.png"/><Relationship Id="rId6" Type="http://schemas.openxmlformats.org/officeDocument/2006/relationships/image" Target="../media/image233.png"/><Relationship Id="rId7" Type="http://schemas.openxmlformats.org/officeDocument/2006/relationships/image" Target="../media/image234.png"/><Relationship Id="rId8" Type="http://schemas.openxmlformats.org/officeDocument/2006/relationships/image" Target="../media/image235.png"/><Relationship Id="rId9" Type="http://schemas.openxmlformats.org/officeDocument/2006/relationships/image" Target="../media/image236.png"/><Relationship Id="rId10" Type="http://schemas.openxmlformats.org/officeDocument/2006/relationships/image" Target="../media/image74.png"/><Relationship Id="rId11" Type="http://schemas.openxmlformats.org/officeDocument/2006/relationships/image" Target="../media/image237.png"/><Relationship Id="rId12" Type="http://schemas.openxmlformats.org/officeDocument/2006/relationships/image" Target="../media/image238.png"/><Relationship Id="rId13" Type="http://schemas.openxmlformats.org/officeDocument/2006/relationships/image" Target="../media/image239.png"/><Relationship Id="rId14" Type="http://schemas.openxmlformats.org/officeDocument/2006/relationships/notesSlide" Target="../notesSlides/notesSlide50.xml"/><Relationship Id="rId15" Type="http://schemas.openxmlformats.org/officeDocument/2006/relationships/slide" Target="slide11.xml"/><Relationship Id="rId16" Type="http://schemas.openxmlformats.org/officeDocument/2006/relationships/slide" Target="slide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240.png"/><Relationship Id="rId4" Type="http://schemas.openxmlformats.org/officeDocument/2006/relationships/image" Target="../media/image241.png"/><Relationship Id="rId5" Type="http://schemas.openxmlformats.org/officeDocument/2006/relationships/image" Target="../media/image76.png"/><Relationship Id="rId6" Type="http://schemas.openxmlformats.org/officeDocument/2006/relationships/image" Target="../media/image242.png"/><Relationship Id="rId7" Type="http://schemas.openxmlformats.org/officeDocument/2006/relationships/image" Target="../media/image243.png"/><Relationship Id="rId8" Type="http://schemas.openxmlformats.org/officeDocument/2006/relationships/image" Target="../media/image244.png"/><Relationship Id="rId9" Type="http://schemas.openxmlformats.org/officeDocument/2006/relationships/image" Target="../media/image245.png"/><Relationship Id="rId10" Type="http://schemas.openxmlformats.org/officeDocument/2006/relationships/image" Target="../media/image246.png"/><Relationship Id="rId11" Type="http://schemas.openxmlformats.org/officeDocument/2006/relationships/image" Target="../media/image247.png"/><Relationship Id="rId12" Type="http://schemas.openxmlformats.org/officeDocument/2006/relationships/notesSlide" Target="../notesSlides/notesSlide51.xml"/><Relationship Id="rId13" Type="http://schemas.openxmlformats.org/officeDocument/2006/relationships/slide" Target="slide11.xml"/><Relationship Id="rId14" Type="http://schemas.openxmlformats.org/officeDocument/2006/relationships/slide" Target="slide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205.png"/><Relationship Id="rId4" Type="http://schemas.openxmlformats.org/officeDocument/2006/relationships/image" Target="../media/image248.png"/><Relationship Id="rId5" Type="http://schemas.openxmlformats.org/officeDocument/2006/relationships/image" Target="../media/image78.png"/><Relationship Id="rId6" Type="http://schemas.openxmlformats.org/officeDocument/2006/relationships/image" Target="../media/image249.png"/><Relationship Id="rId7" Type="http://schemas.openxmlformats.org/officeDocument/2006/relationships/notesSlide" Target="../notesSlides/notesSlide52.xml"/><Relationship Id="rId8" Type="http://schemas.openxmlformats.org/officeDocument/2006/relationships/slide" Target="slide11.xml"/><Relationship Id="rId9" Type="http://schemas.openxmlformats.org/officeDocument/2006/relationships/slide" Target="slide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250.png"/><Relationship Id="rId4" Type="http://schemas.openxmlformats.org/officeDocument/2006/relationships/image" Target="../media/image251.png"/><Relationship Id="rId5" Type="http://schemas.openxmlformats.org/officeDocument/2006/relationships/image" Target="../media/image80.png"/><Relationship Id="rId6" Type="http://schemas.openxmlformats.org/officeDocument/2006/relationships/image" Target="../media/image252.png"/><Relationship Id="rId7" Type="http://schemas.openxmlformats.org/officeDocument/2006/relationships/image" Target="../media/image253.png"/><Relationship Id="rId8" Type="http://schemas.openxmlformats.org/officeDocument/2006/relationships/notesSlide" Target="../notesSlides/notesSlide53.xml"/><Relationship Id="rId9" Type="http://schemas.openxmlformats.org/officeDocument/2006/relationships/slide" Target="slide12.xml"/><Relationship Id="rId10" Type="http://schemas.openxmlformats.org/officeDocument/2006/relationships/slide" Target="slide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82.png"/><Relationship Id="rId6" Type="http://schemas.openxmlformats.org/officeDocument/2006/relationships/image" Target="../media/image256.png"/><Relationship Id="rId7" Type="http://schemas.openxmlformats.org/officeDocument/2006/relationships/image" Target="../media/image257.png"/><Relationship Id="rId8" Type="http://schemas.openxmlformats.org/officeDocument/2006/relationships/image" Target="../media/image258.png"/><Relationship Id="rId9" Type="http://schemas.openxmlformats.org/officeDocument/2006/relationships/notesSlide" Target="../notesSlides/notesSlide54.xml"/><Relationship Id="rId10" Type="http://schemas.openxmlformats.org/officeDocument/2006/relationships/slide" Target="slide12.xml"/><Relationship Id="rId11" Type="http://schemas.openxmlformats.org/officeDocument/2006/relationships/slide" Target="slide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260.png"/><Relationship Id="rId4" Type="http://schemas.openxmlformats.org/officeDocument/2006/relationships/image" Target="../media/image261.png"/><Relationship Id="rId5" Type="http://schemas.openxmlformats.org/officeDocument/2006/relationships/image" Target="../media/image262.png"/><Relationship Id="rId6" Type="http://schemas.openxmlformats.org/officeDocument/2006/relationships/image" Target="../media/image263.png"/><Relationship Id="rId7" Type="http://schemas.openxmlformats.org/officeDocument/2006/relationships/image" Target="../media/image264.png"/><Relationship Id="rId8" Type="http://schemas.openxmlformats.org/officeDocument/2006/relationships/image" Target="../media/image265.png"/><Relationship Id="rId9" Type="http://schemas.openxmlformats.org/officeDocument/2006/relationships/image" Target="../media/image266.png"/><Relationship Id="rId10" Type="http://schemas.openxmlformats.org/officeDocument/2006/relationships/image" Target="../media/image267.png"/><Relationship Id="rId11" Type="http://schemas.openxmlformats.org/officeDocument/2006/relationships/image" Target="../media/image268.png"/><Relationship Id="rId12" Type="http://schemas.openxmlformats.org/officeDocument/2006/relationships/notesSlide" Target="../notesSlides/notesSlide55.xml"/><Relationship Id="rId13" Type="http://schemas.openxmlformats.org/officeDocument/2006/relationships/slide" Target="slide12.xml"/><Relationship Id="rId14" Type="http://schemas.openxmlformats.org/officeDocument/2006/relationships/slide" Target="slide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Relationship Id="rId3" Type="http://schemas.openxmlformats.org/officeDocument/2006/relationships/slide" Target="slide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slide" Target="slide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Relationship Id="rId3" Type="http://schemas.openxmlformats.org/officeDocument/2006/relationships/slide" Target="slide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Relationship Id="rId3" Type="http://schemas.openxmlformats.org/officeDocument/2006/relationships/slide" Target="slide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Relationship Id="rId3" Type="http://schemas.openxmlformats.org/officeDocument/2006/relationships/slide" Target="slide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Relationship Id="rId3" Type="http://schemas.openxmlformats.org/officeDocument/2006/relationships/slide" Target="slide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Relationship Id="rId3" Type="http://schemas.openxmlformats.org/officeDocument/2006/relationships/slide" Target="slide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slide" Target="slide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Relationship Id="rId3" Type="http://schemas.openxmlformats.org/officeDocument/2006/relationships/slide" Target="slide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Relationship Id="rId3" Type="http://schemas.openxmlformats.org/officeDocument/2006/relationships/slide" Target="slide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slide" Target="slide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Relationship Id="rId3" Type="http://schemas.openxmlformats.org/officeDocument/2006/relationships/slide" Target="slide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Relationship Id="rId3" Type="http://schemas.openxmlformats.org/officeDocument/2006/relationships/slide" Target="slide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EL · find den rigtige formel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start-guide"/>
          <p:cNvSpPr txBox="1"/>
          <p:nvPr/>
        </p:nvSpPr>
        <p:spPr>
          <a:xfrm>
            <a:off x="411480" y="1024128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en søgt størrelse. </a:t>
            </a:r>
            <a:r>
              <a:rPr>
                <a:latin typeface="Cambria Math"/>
              </a:rPr>
              <a:t>I</a:t>
            </a:r>
            <a:r>
              <a:t> indekset vælger du både givne oplysninger og fysisk situation.</a:t>
            </a:r>
          </a:p>
        </p:txBody>
      </p:sp>
      <p:sp>
        <p:nvSpPr>
          <p:cNvPr id="9" name="start-scope"/>
          <p:cNvSpPr txBox="1"/>
          <p:nvPr/>
        </p:nvSpPr>
        <p:spPr>
          <a:xfrm>
            <a:off x="411480" y="1545336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DC, ledere, energi og felter er kildebaserede. Flere AC-emner mangler undervisningskilder.</a:t>
            </a:r>
          </a:p>
        </p:txBody>
      </p:sp>
      <p:sp>
        <p:nvSpPr>
          <p:cNvPr id="10" name="nav-group-current" descr="Strøm&#10;I [A] · ladning Q [C]">
            <a:hlinkClick action="ppaction://hlinksldjump" r:id="rId3" tooltip="Strøm&#10;I [A] · ladning Q [C]"/>
          </p:cNvPr>
          <p:cNvSpPr/>
          <p:nvPr/>
        </p:nvSpPr>
        <p:spPr>
          <a:xfrm>
            <a:off x="576072" y="218541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Strøm</a:t>
            </a:r>
            <a:br/>
            <a:r>
              <a:rPr sz="1100" b="0"/>
              <a:t>I [A] · ladning Q [C]</a:t>
            </a:r>
          </a:p>
        </p:txBody>
      </p:sp>
      <p:sp>
        <p:nvSpPr>
          <p:cNvPr id="11" name="nav-group-voltage" descr="Spænding&#10;U [V] · kilder og spændingsdeling">
            <a:hlinkClick action="ppaction://hlinksldjump" r:id="rId4" tooltip="Spænding&#10;U [V] · kilder og spændingsdeling"/>
          </p:cNvPr>
          <p:cNvSpPr/>
          <p:nvPr/>
        </p:nvSpPr>
        <p:spPr>
          <a:xfrm>
            <a:off x="5696712" y="218541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Spænding</a:t>
            </a:r>
            <a:br/>
            <a:r>
              <a:rPr sz="1100" b="0"/>
              <a:t>U [V] · kilder og spændingsdeling</a:t>
            </a:r>
          </a:p>
        </p:txBody>
      </p:sp>
      <p:sp>
        <p:nvSpPr>
          <p:cNvPr id="12" name="nav-group-resistance" descr="Modstand&#10;R [Ω] · ledere, temperatur og ledningsevne">
            <a:hlinkClick action="ppaction://hlinksldjump" r:id="rId5" tooltip="Modstand&#10;R [Ω] · ledere, temperatur og ledningsevne"/>
          </p:cNvPr>
          <p:cNvSpPr/>
          <p:nvPr/>
        </p:nvSpPr>
        <p:spPr>
          <a:xfrm>
            <a:off x="576072" y="314553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Modstand</a:t>
            </a:r>
            <a:br/>
            <a:r>
              <a:rPr sz="1100" b="0"/>
              <a:t>R [Ω] · ledere, temperatur og ledningsevne</a:t>
            </a:r>
          </a:p>
        </p:txBody>
      </p:sp>
      <p:sp>
        <p:nvSpPr>
          <p:cNvPr id="13" name="nav-group-power" descr="Effekt&#10;P [W] · virkningsgrad og tab">
            <a:hlinkClick action="ppaction://hlinksldjump" r:id="rId6" tooltip="Effekt&#10;P [W] · virkningsgrad og tab"/>
          </p:cNvPr>
          <p:cNvSpPr/>
          <p:nvPr/>
        </p:nvSpPr>
        <p:spPr>
          <a:xfrm>
            <a:off x="5696712" y="314553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Effekt</a:t>
            </a:r>
            <a:br/>
            <a:r>
              <a:rPr sz="1100" b="0"/>
              <a:t>P [W] · virkningsgrad og tab</a:t>
            </a:r>
          </a:p>
        </p:txBody>
      </p:sp>
      <p:sp>
        <p:nvSpPr>
          <p:cNvPr id="14" name="nav-group-energy" descr="Energi&#10;W [J] · tid og mekanisk arbejde">
            <a:hlinkClick action="ppaction://hlinksldjump" r:id="rId7" tooltip="Energi&#10;W [J] · tid og mekanisk arbejde"/>
          </p:cNvPr>
          <p:cNvSpPr/>
          <p:nvPr/>
        </p:nvSpPr>
        <p:spPr>
          <a:xfrm>
            <a:off x="576072" y="410565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Energi</a:t>
            </a:r>
            <a:br/>
            <a:r>
              <a:rPr sz="1100" b="0"/>
              <a:t>W [J] · tid og mekanisk arbejde</a:t>
            </a:r>
          </a:p>
        </p:txBody>
      </p:sp>
      <p:sp>
        <p:nvSpPr>
          <p:cNvPr id="15" name="nav-group-magnetism" descr="Magnetisme&#10;Magnetiske og elektriske felter · kræfter">
            <a:hlinkClick action="ppaction://hlinksldjump" r:id="rId8" tooltip="Magnetisme&#10;Magnetiske og elektriske felter · kræfter"/>
          </p:cNvPr>
          <p:cNvSpPr/>
          <p:nvPr/>
        </p:nvSpPr>
        <p:spPr>
          <a:xfrm>
            <a:off x="5696712" y="410565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Magnetisme</a:t>
            </a:r>
            <a:br/>
            <a:r>
              <a:rPr sz="1100" b="0"/>
              <a:t>Magnetiske og elektriske felter · kræfter</a:t>
            </a:r>
          </a:p>
        </p:txBody>
      </p:sp>
      <p:sp>
        <p:nvSpPr>
          <p:cNvPr id="16" name="nav-group-induction" descr="Induktion&#10;Induceret spænding · induktans">
            <a:hlinkClick action="ppaction://hlinksldjump" r:id="rId9" tooltip="Induktion&#10;Induceret spænding · induktans"/>
          </p:cNvPr>
          <p:cNvSpPr/>
          <p:nvPr/>
        </p:nvSpPr>
        <p:spPr>
          <a:xfrm>
            <a:off x="576072" y="506577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Induktion</a:t>
            </a:r>
            <a:br/>
            <a:r>
              <a:rPr sz="1100" b="0"/>
              <a:t>Induceret spænding · induktans</a:t>
            </a:r>
          </a:p>
        </p:txBody>
      </p:sp>
      <p:sp>
        <p:nvSpPr>
          <p:cNvPr id="17" name="nav-group-methods" descr="Kredsløbsmetoder&#10;Knudepunkter, Kirchhoff og reference">
            <a:hlinkClick action="ppaction://hlinksldjump" r:id="rId10" tooltip="Kredsløbsmetoder&#10;Knudepunkter, Kirchhoff og reference"/>
          </p:cNvPr>
          <p:cNvSpPr/>
          <p:nvPr/>
        </p:nvSpPr>
        <p:spPr>
          <a:xfrm>
            <a:off x="5696712" y="506577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Kredsløbsmetoder</a:t>
            </a:r>
            <a:br/>
            <a:r>
              <a:rPr sz="1100" b="0"/>
              <a:t>Knudepunkter, Kirchhoff og reference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Strøm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current-1-table"/>
          <p:cNvGraphicFramePr>
            <a:graphicFrameLocks noGrp="1"/>
          </p:cNvGraphicFramePr>
          <p:nvPr/>
        </p:nvGraphicFramePr>
        <p:xfrm>
          <a:off x="411480" y="1042415"/>
          <a:ext cx="9784079" cy="4999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W04 · Ladning Q [C]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strøm; ellers sum af delintervaller.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01 · Strøm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DC eller konsistente AC-magnituder.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02 · Strøm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P er elektrisk indgangseffekt.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03 · Strømmens størrelse |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|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resistans; P er tabet i 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04 · Middelstrøm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 [C],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Netto passeret ladning i valgt interval.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05 · Kildestrøm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ri [Ω],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Én DC-kilde med intern serie-modstand.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06 · Grenstrøm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k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Ugren [V], Rk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Parallelgrene har samme knudespænding.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07 · Grenstrøm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1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total [A], R1, R2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To parallelle ohmske modstande.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B10 · Viklingsstrøm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H [A/m], l [m], N [1]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vej/spole-model som B05.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pic>
        <p:nvPicPr>
          <p:cNvPr id="9" name="index-current-1-table-f1" descr="Q=I\Delta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507" y="1444752"/>
            <a:ext cx="1298985" cy="441655"/>
          </a:xfrm>
          <a:prstGeom prst="rect">
            <a:avLst/>
          </a:prstGeom>
        </p:spPr>
      </p:pic>
      <p:pic>
        <p:nvPicPr>
          <p:cNvPr id="10" name="index-current-1-table-f2" descr="I=\frac{U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309" y="1959559"/>
            <a:ext cx="529381" cy="441655"/>
          </a:xfrm>
          <a:prstGeom prst="rect">
            <a:avLst/>
          </a:prstGeom>
        </p:spPr>
      </p:pic>
      <p:pic>
        <p:nvPicPr>
          <p:cNvPr id="11" name="index-current-1-table-f3" descr="I=\frac{P}{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6309" y="2474366"/>
            <a:ext cx="529381" cy="441655"/>
          </a:xfrm>
          <a:prstGeom prst="rect">
            <a:avLst/>
          </a:prstGeom>
        </p:spPr>
      </p:pic>
      <p:pic>
        <p:nvPicPr>
          <p:cNvPr id="12" name="index-current-1-table-f4" descr="|I|=\sqrt{\frac{P}{R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3795" y="2989173"/>
            <a:ext cx="734409" cy="441655"/>
          </a:xfrm>
          <a:prstGeom prst="rect">
            <a:avLst/>
          </a:prstGeom>
        </p:spPr>
      </p:pic>
      <p:pic>
        <p:nvPicPr>
          <p:cNvPr id="13" name="index-current-1-table-f5" descr="I_{\mathrm{middel}}=\frac{Q}{\Delta t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6629" y="3503980"/>
            <a:ext cx="948740" cy="441655"/>
          </a:xfrm>
          <a:prstGeom prst="rect">
            <a:avLst/>
          </a:prstGeom>
        </p:spPr>
      </p:pic>
      <p:pic>
        <p:nvPicPr>
          <p:cNvPr id="14" name="index-current-1-table-f6" descr="I=\frac{E}{r_i+R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3537" y="4018787"/>
            <a:ext cx="814925" cy="441655"/>
          </a:xfrm>
          <a:prstGeom prst="rect">
            <a:avLst/>
          </a:prstGeom>
        </p:spPr>
      </p:pic>
      <p:pic>
        <p:nvPicPr>
          <p:cNvPr id="15" name="index-current-1-table-f7" descr="I_k=\frac{U_{\mathrm{gren}}}{R_k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7963" y="4533595"/>
            <a:ext cx="746072" cy="441655"/>
          </a:xfrm>
          <a:prstGeom prst="rect">
            <a:avLst/>
          </a:prstGeom>
        </p:spPr>
      </p:pic>
      <p:pic>
        <p:nvPicPr>
          <p:cNvPr id="16" name="index-current-1-table-f8" descr="I_1=I_{\mathrm{total}}\frac{R_2}{R_1+R_2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6398" y="5048402"/>
            <a:ext cx="1349202" cy="441655"/>
          </a:xfrm>
          <a:prstGeom prst="rect">
            <a:avLst/>
          </a:prstGeom>
        </p:spPr>
      </p:pic>
      <p:pic>
        <p:nvPicPr>
          <p:cNvPr id="17" name="index-current-1-table-f9" descr="I=\frac{Hl}{N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4961" y="5563209"/>
            <a:ext cx="572076" cy="441655"/>
          </a:xfrm>
          <a:prstGeom prst="rect">
            <a:avLst/>
          </a:prstGeom>
        </p:spPr>
      </p:pic>
      <p:sp>
        <p:nvSpPr>
          <p:cNvPr id="18" name="index-current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55.</a:t>
            </a:r>
          </a:p>
        </p:txBody>
      </p:sp>
      <p:sp>
        <p:nvSpPr>
          <p:cNvPr id="19" name="nav-entry-W04" descr="Åbn W04">
            <a:hlinkClick action="ppaction://hlinksldjump" r:id="rId12" tooltip="Åbn W04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I01" descr="Åbn I01">
            <a:hlinkClick action="ppaction://hlinksldjump" r:id="rId12" tooltip="Åbn I01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I02" descr="Åbn I02">
            <a:hlinkClick action="ppaction://hlinksldjump" r:id="rId13" tooltip="Åbn I02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I03" descr="Åbn I03">
            <a:hlinkClick action="ppaction://hlinksldjump" r:id="rId13" tooltip="Åbn I03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I04" descr="Åbn I04">
            <a:hlinkClick action="ppaction://hlinksldjump" r:id="rId14" tooltip="Åbn I04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I05" descr="Åbn I05">
            <a:hlinkClick action="ppaction://hlinksldjump" r:id="rId14" tooltip="Åbn I05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I06" descr="Åbn I06">
            <a:hlinkClick action="ppaction://hlinksldjump" r:id="rId15" tooltip="Åbn I06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I07" descr="Åbn I07">
            <a:hlinkClick action="ppaction://hlinksldjump" r:id="rId15" tooltip="Åbn I07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B10" descr="Åbn B10">
            <a:hlinkClick action="ppaction://hlinksldjump" r:id="rId16" tooltip="Åbn B10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back-start" descr="Til start">
            <a:hlinkClick action="ppaction://hlinksldjump" r:id="rId17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9" name="nav-next-index" descr="Næste indeks">
            <a:hlinkClick action="ppaction://hlinksldjump" r:id="rId18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Spænding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voltage-1-table"/>
          <p:cNvGraphicFramePr>
            <a:graphicFrameLocks noGrp="1"/>
          </p:cNvGraphicFramePr>
          <p:nvPr/>
        </p:nvGraphicFramePr>
        <p:xfrm>
          <a:off x="411480" y="1042415"/>
          <a:ext cx="9784079" cy="3454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U01 · Spænding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belastning; U følger valgt polaritet.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U02 · Spænding U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samme komponent for P og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U03 · Spændingens størrelse |U|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 afsat i ohmsk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U04 · Potentialforskel U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Q [C]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energi overført pr. ladning.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U05 · Klemspænding Ukl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ri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Afladning;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ud af kildens pluspol.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U06 · Delspænding U1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R1, R2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To serie-R; midtpunktet er ubelastet.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voltage-1-table-f1" descr="U=R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528" y="1444752"/>
            <a:ext cx="1140942" cy="441655"/>
          </a:xfrm>
          <a:prstGeom prst="rect">
            <a:avLst/>
          </a:prstGeom>
        </p:spPr>
      </p:pic>
      <p:pic>
        <p:nvPicPr>
          <p:cNvPr id="10" name="index-voltage-1-table-f2" descr="U=\frac{P}{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084" y="1959559"/>
            <a:ext cx="583831" cy="441655"/>
          </a:xfrm>
          <a:prstGeom prst="rect">
            <a:avLst/>
          </a:prstGeom>
        </p:spPr>
      </p:pic>
      <p:pic>
        <p:nvPicPr>
          <p:cNvPr id="11" name="index-voltage-1-table-f3" descr="|U|=\sqrt{P 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1530" y="2474366"/>
            <a:ext cx="1358939" cy="441655"/>
          </a:xfrm>
          <a:prstGeom prst="rect">
            <a:avLst/>
          </a:prstGeom>
        </p:spPr>
      </p:pic>
      <p:pic>
        <p:nvPicPr>
          <p:cNvPr id="12" name="index-voltage-1-table-f4" descr="U=\frac{W}{Q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6563" y="2989173"/>
            <a:ext cx="588873" cy="441655"/>
          </a:xfrm>
          <a:prstGeom prst="rect">
            <a:avLst/>
          </a:prstGeom>
        </p:spPr>
      </p:pic>
      <p:pic>
        <p:nvPicPr>
          <p:cNvPr id="13" name="index-voltage-1-table-f5" descr="U_{\mathrm{kl}}=E-I r_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6760" y="3503980"/>
            <a:ext cx="2008479" cy="441655"/>
          </a:xfrm>
          <a:prstGeom prst="rect">
            <a:avLst/>
          </a:prstGeom>
        </p:spPr>
      </p:pic>
      <p:pic>
        <p:nvPicPr>
          <p:cNvPr id="14" name="index-voltage-1-table-f6" descr="U_1=U\frac{R_1}{R_1+R_2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5359" y="4018787"/>
            <a:ext cx="1231281" cy="441655"/>
          </a:xfrm>
          <a:prstGeom prst="rect">
            <a:avLst/>
          </a:prstGeom>
        </p:spPr>
      </p:pic>
      <p:sp>
        <p:nvSpPr>
          <p:cNvPr id="15" name="index-voltage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55.</a:t>
            </a:r>
          </a:p>
        </p:txBody>
      </p:sp>
      <p:sp>
        <p:nvSpPr>
          <p:cNvPr id="16" name="nav-entry-U01" descr="Åbn U01">
            <a:hlinkClick action="ppaction://hlinksldjump" r:id="rId9" tooltip="Åbn U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U02" descr="Åbn U02">
            <a:hlinkClick action="ppaction://hlinksldjump" r:id="rId9" tooltip="Åbn U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entry-U03" descr="Åbn U03">
            <a:hlinkClick action="ppaction://hlinksldjump" r:id="rId10" tooltip="Åbn U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U04" descr="Åbn U04">
            <a:hlinkClick action="ppaction://hlinksldjump" r:id="rId10" tooltip="Åbn U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U05" descr="Åbn U05">
            <a:hlinkClick action="ppaction://hlinksldjump" r:id="rId11" tooltip="Åbn U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U06" descr="Åbn U06">
            <a:hlinkClick action="ppaction://hlinksldjump" r:id="rId11" tooltip="Åbn U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3" name="nav-next-index" descr="Næste indeks">
            <a:hlinkClick action="ppaction://hlinksldjump" r:id="rId13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Modstand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resistance-1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R01 · Resistans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komponent ved den aktuelle temperatur.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R02 · Resistans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P er dens afsatte effekt.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R03 · Resistans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U måles over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R04 · Ledermodstand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[Ω·mm²/m], l [m], S [mm²]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leder; ρ ved relevant temperatur.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R05 · Varm modstand RT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 [Ω], αt [K⁻¹], T, t [°C]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metalmodel; α hører til referencen 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R06 · Kold modstand Rt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 [Ω], αt [K⁻¹], T, t [°C]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lineære model og reference som R05.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R07 · Seriemodstand Rs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R1 … Rn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Én strømvej; samme strøm i alle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R08 · Parallelmodstand Rp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R1 … Rn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Alle R mellem de samme to knuder.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R09 · Indre modstand ri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Ukl [V],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Belastet DC-kilde; afladning.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R10 · Resistans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G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komponent.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resistance-1-table-f1" descr="R=\frac{U}{I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5060" y="1444752"/>
            <a:ext cx="591878" cy="441655"/>
          </a:xfrm>
          <a:prstGeom prst="rect">
            <a:avLst/>
          </a:prstGeom>
        </p:spPr>
      </p:pic>
      <p:pic>
        <p:nvPicPr>
          <p:cNvPr id="10" name="index-resistance-1-table-f2" descr="R=\frac{P}{I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317" y="1959559"/>
            <a:ext cx="551365" cy="441655"/>
          </a:xfrm>
          <a:prstGeom prst="rect">
            <a:avLst/>
          </a:prstGeom>
        </p:spPr>
      </p:pic>
      <p:pic>
        <p:nvPicPr>
          <p:cNvPr id="11" name="index-resistance-1-table-f3" descr="R=\frac{U^2}{P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397" y="2474366"/>
            <a:ext cx="647205" cy="441655"/>
          </a:xfrm>
          <a:prstGeom prst="rect">
            <a:avLst/>
          </a:prstGeom>
        </p:spPr>
      </p:pic>
      <p:pic>
        <p:nvPicPr>
          <p:cNvPr id="12" name="index-resistance-1-table-f4" descr="R=\rho\frac{l}{S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3008" y="2989173"/>
            <a:ext cx="635983" cy="441655"/>
          </a:xfrm>
          <a:prstGeom prst="rect">
            <a:avLst/>
          </a:prstGeom>
        </p:spPr>
      </p:pic>
      <p:pic>
        <p:nvPicPr>
          <p:cNvPr id="13" name="index-resistance-1-table-f5" descr="R_T=R_t[1+\alpha_t(T-t)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79" y="3509789"/>
            <a:ext cx="3291839" cy="430038"/>
          </a:xfrm>
          <a:prstGeom prst="rect">
            <a:avLst/>
          </a:prstGeom>
        </p:spPr>
      </p:pic>
      <p:pic>
        <p:nvPicPr>
          <p:cNvPr id="14" name="index-resistance-1-table-f6" descr="R_t=\frac{R_T}{1+\alpha_t(T-t)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2837" y="4018787"/>
            <a:ext cx="1356325" cy="441655"/>
          </a:xfrm>
          <a:prstGeom prst="rect">
            <a:avLst/>
          </a:prstGeom>
        </p:spPr>
      </p:pic>
      <p:pic>
        <p:nvPicPr>
          <p:cNvPr id="15" name="index-resistance-1-table-f7" descr="R_s=\sum_{k=1}^{n}R_k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5154" y="4533595"/>
            <a:ext cx="791690" cy="441655"/>
          </a:xfrm>
          <a:prstGeom prst="rect">
            <a:avLst/>
          </a:prstGeom>
        </p:spPr>
      </p:pic>
      <p:pic>
        <p:nvPicPr>
          <p:cNvPr id="16" name="index-resistance-1-table-f8" descr="R_p=\left(\sum_{k=1}^{n}\frac{1}{R_k}\right)^{-1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6937" y="5048402"/>
            <a:ext cx="1208125" cy="441655"/>
          </a:xfrm>
          <a:prstGeom prst="rect">
            <a:avLst/>
          </a:prstGeom>
        </p:spPr>
      </p:pic>
      <p:pic>
        <p:nvPicPr>
          <p:cNvPr id="17" name="index-resistance-1-table-f9" descr="r_i=\frac{E-U_{\mathrm{kl}}}{I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4643" y="5563209"/>
            <a:ext cx="1012712" cy="441655"/>
          </a:xfrm>
          <a:prstGeom prst="rect">
            <a:avLst/>
          </a:prstGeom>
        </p:spPr>
      </p:pic>
      <p:pic>
        <p:nvPicPr>
          <p:cNvPr id="18" name="index-resistance-1-table-f10" descr="R=\frac{1}{G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3479" y="6078016"/>
            <a:ext cx="575040" cy="441655"/>
          </a:xfrm>
          <a:prstGeom prst="rect">
            <a:avLst/>
          </a:prstGeom>
        </p:spPr>
      </p:pic>
      <p:sp>
        <p:nvSpPr>
          <p:cNvPr id="19" name="index-resistance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55.</a:t>
            </a:r>
          </a:p>
        </p:txBody>
      </p:sp>
      <p:sp>
        <p:nvSpPr>
          <p:cNvPr id="20" name="nav-entry-R01" descr="Åbn R01">
            <a:hlinkClick action="ppaction://hlinksldjump" r:id="rId13" tooltip="Åbn R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R02" descr="Åbn R02">
            <a:hlinkClick action="ppaction://hlinksldjump" r:id="rId13" tooltip="Åbn R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R03" descr="Åbn R03">
            <a:hlinkClick action="ppaction://hlinksldjump" r:id="rId14" tooltip="Åbn R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R04" descr="Åbn R04">
            <a:hlinkClick action="ppaction://hlinksldjump" r:id="rId14" tooltip="Åbn R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R05" descr="Åbn R05">
            <a:hlinkClick action="ppaction://hlinksldjump" r:id="rId15" tooltip="Åbn R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R06" descr="Åbn R06">
            <a:hlinkClick action="ppaction://hlinksldjump" r:id="rId15" tooltip="Åbn R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R07" descr="Åbn R07">
            <a:hlinkClick action="ppaction://hlinksldjump" r:id="rId16" tooltip="Åbn R0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R08" descr="Åbn R08">
            <a:hlinkClick action="ppaction://hlinksldjump" r:id="rId16" tooltip="Åbn R08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R09" descr="Åbn R09">
            <a:hlinkClick action="ppaction://hlinksldjump" r:id="rId17" tooltip="Åbn R09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R10" descr="Åbn R10">
            <a:hlinkClick action="ppaction://hlinksldjump" r:id="rId17" tooltip="Åbn R10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8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9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Modstand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resistance-2-table"/>
          <p:cNvGraphicFramePr>
            <a:graphicFrameLocks noGrp="1"/>
          </p:cNvGraphicFramePr>
          <p:nvPr/>
        </p:nvGraphicFramePr>
        <p:xfrm>
          <a:off x="411480" y="1042415"/>
          <a:ext cx="9784079" cy="3454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G03 · Resistivitet ρ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[Ω], l [m], S [mm²]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 ved kendt temperatur.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G04 · Tværsnit S [mm²]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[Ω·mm²/m], l [m],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leder; kendt materialeværdi.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G05 · Lederlængde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[Ω], S [mm²], ρ [Ω·mm²/m]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G06 · Temperaturstigning ΔT [K]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RT, Rt [Ω], αt [K⁻¹]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metalmodel med kendt 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G01 · Konduktans G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 eller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ohmske komponent.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G02 · Specifik ledningsevne 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i kendt enhed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Materialeværdi ved samme temperatur.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resistance-2-table-f1" descr="\rho=\frac{R S}{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063" y="1444752"/>
            <a:ext cx="641872" cy="441655"/>
          </a:xfrm>
          <a:prstGeom prst="rect">
            <a:avLst/>
          </a:prstGeom>
        </p:spPr>
      </p:pic>
      <p:pic>
        <p:nvPicPr>
          <p:cNvPr id="10" name="index-resistance-2-table-f2" descr="S=\rho\frac{l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203" y="1959559"/>
            <a:ext cx="641593" cy="441655"/>
          </a:xfrm>
          <a:prstGeom prst="rect">
            <a:avLst/>
          </a:prstGeom>
        </p:spPr>
      </p:pic>
      <p:pic>
        <p:nvPicPr>
          <p:cNvPr id="11" name="index-resistance-2-table-f3" descr="l=\frac{R S}{\rho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521" y="2474366"/>
            <a:ext cx="598957" cy="441655"/>
          </a:xfrm>
          <a:prstGeom prst="rect">
            <a:avLst/>
          </a:prstGeom>
        </p:spPr>
      </p:pic>
      <p:pic>
        <p:nvPicPr>
          <p:cNvPr id="12" name="index-resistance-2-table-f4" descr="\Delta T=\frac{R_T-R_t}{R_t\alpha_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8243" y="2989173"/>
            <a:ext cx="1085513" cy="441655"/>
          </a:xfrm>
          <a:prstGeom prst="rect">
            <a:avLst/>
          </a:prstGeom>
        </p:spPr>
      </p:pic>
      <p:pic>
        <p:nvPicPr>
          <p:cNvPr id="13" name="index-resistance-2-table-f5" descr="G=\frac{1}{R}=\frac{I}{U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1153" y="3503980"/>
            <a:ext cx="999692" cy="441655"/>
          </a:xfrm>
          <a:prstGeom prst="rect">
            <a:avLst/>
          </a:prstGeom>
        </p:spPr>
      </p:pic>
      <p:pic>
        <p:nvPicPr>
          <p:cNvPr id="14" name="index-resistance-2-table-f6" descr="\gamma=\frac{1}{\rho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7484" y="4018787"/>
            <a:ext cx="487030" cy="441655"/>
          </a:xfrm>
          <a:prstGeom prst="rect">
            <a:avLst/>
          </a:prstGeom>
        </p:spPr>
      </p:pic>
      <p:sp>
        <p:nvSpPr>
          <p:cNvPr id="15" name="index-resistance-2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55.</a:t>
            </a:r>
          </a:p>
        </p:txBody>
      </p:sp>
      <p:sp>
        <p:nvSpPr>
          <p:cNvPr id="16" name="nav-entry-G03" descr="Åbn G03">
            <a:hlinkClick action="ppaction://hlinksldjump" r:id="rId9" tooltip="Åbn G03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G04" descr="Åbn G04">
            <a:hlinkClick action="ppaction://hlinksldjump" r:id="rId9" tooltip="Åbn G04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entry-G05" descr="Åbn G05">
            <a:hlinkClick action="ppaction://hlinksldjump" r:id="rId10" tooltip="Åbn G05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G06" descr="Åbn G06">
            <a:hlinkClick action="ppaction://hlinksldjump" r:id="rId10" tooltip="Åbn G06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G01" descr="Åbn G01">
            <a:hlinkClick action="ppaction://hlinksldjump" r:id="rId11" tooltip="Åbn G01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G02" descr="Åbn G02">
            <a:hlinkClick action="ppaction://hlinksldjump" r:id="rId11" tooltip="Åbn G02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3" name="nav-next-index" descr="Næste indeks">
            <a:hlinkClick action="ppaction://hlinksldjump" r:id="rId13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Effekt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power-1-table"/>
          <p:cNvGraphicFramePr>
            <a:graphicFrameLocks noGrp="1"/>
          </p:cNvGraphicFramePr>
          <p:nvPr/>
        </p:nvGraphicFramePr>
        <p:xfrm>
          <a:off x="411480" y="1042415"/>
          <a:ext cx="9784079" cy="4484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P01 · Elektrisk effekt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forbrugerens pluspol mod strømpilen.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P02 · Varmeeffekt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 ved aktuel temperatur.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P03 · Varmeeffekt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 er spændingen over ohmsk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P04 · Middel-effekt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Δt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Energi/arbejde omsat i et interval.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P05 · Afgiven effekt Pud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η [1], Pind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maskine og driftspunkt.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P06 · Effekttab Ptab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Pind, Pud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energibalance.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P07 · Virkningsgrad η [1]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Pud, Pind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drift; eller samme energiperiode.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P08 · Mekanisk effekt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[N·m], ω [rad/s] eller n [rpm]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Rotation; n er omdrejninger pr. minut i sidste udtryk.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power-1-table-f1" descr="P=U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528" y="1444752"/>
            <a:ext cx="1140942" cy="441655"/>
          </a:xfrm>
          <a:prstGeom prst="rect">
            <a:avLst/>
          </a:prstGeom>
        </p:spPr>
      </p:pic>
      <p:pic>
        <p:nvPicPr>
          <p:cNvPr id="10" name="index-power-1-table-f2" descr="P=I^2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3" y="1959559"/>
            <a:ext cx="1261872" cy="441655"/>
          </a:xfrm>
          <a:prstGeom prst="rect">
            <a:avLst/>
          </a:prstGeom>
        </p:spPr>
      </p:pic>
      <p:pic>
        <p:nvPicPr>
          <p:cNvPr id="11" name="index-power-1-table-f3" descr="P=\frac{U^2}{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799" y="2474366"/>
            <a:ext cx="640400" cy="441655"/>
          </a:xfrm>
          <a:prstGeom prst="rect">
            <a:avLst/>
          </a:prstGeom>
        </p:spPr>
      </p:pic>
      <p:pic>
        <p:nvPicPr>
          <p:cNvPr id="12" name="index-power-1-table-f4" descr="P_{\mathrm{middel}}=\frac{W}{\Delta 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5600" y="2989173"/>
            <a:ext cx="1090799" cy="441655"/>
          </a:xfrm>
          <a:prstGeom prst="rect">
            <a:avLst/>
          </a:prstGeom>
        </p:spPr>
      </p:pic>
      <p:pic>
        <p:nvPicPr>
          <p:cNvPr id="13" name="index-power-1-table-f5" descr="P_{\mathrm{ud}}=\eta P_{\mathrm{ind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2554" y="3503980"/>
            <a:ext cx="1776891" cy="441655"/>
          </a:xfrm>
          <a:prstGeom prst="rect">
            <a:avLst/>
          </a:prstGeom>
        </p:spPr>
      </p:pic>
      <p:pic>
        <p:nvPicPr>
          <p:cNvPr id="14" name="index-power-1-table-f6" descr="P_{\mathrm{tab}}=P_{\mathrm{ind}}-P_{\mathrm{ud}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9178" y="4018787"/>
            <a:ext cx="2623642" cy="441655"/>
          </a:xfrm>
          <a:prstGeom prst="rect">
            <a:avLst/>
          </a:prstGeom>
        </p:spPr>
      </p:pic>
      <p:pic>
        <p:nvPicPr>
          <p:cNvPr id="15" name="index-power-1-table-f7" descr="\eta=\frac{P_{\mathrm{ud}}}{P_{\mathrm{ind}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3749" y="4533595"/>
            <a:ext cx="654501" cy="441655"/>
          </a:xfrm>
          <a:prstGeom prst="rect">
            <a:avLst/>
          </a:prstGeom>
        </p:spPr>
      </p:pic>
      <p:pic>
        <p:nvPicPr>
          <p:cNvPr id="16" name="index-power-1-table-f8" descr="P=M\omega=M\frac{2\pi n}{60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4602" y="5048402"/>
            <a:ext cx="1492794" cy="441655"/>
          </a:xfrm>
          <a:prstGeom prst="rect">
            <a:avLst/>
          </a:prstGeom>
        </p:spPr>
      </p:pic>
      <p:sp>
        <p:nvSpPr>
          <p:cNvPr id="17" name="index-power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55.</a:t>
            </a:r>
          </a:p>
        </p:txBody>
      </p:sp>
      <p:sp>
        <p:nvSpPr>
          <p:cNvPr id="18" name="nav-entry-P01" descr="Åbn P01">
            <a:hlinkClick action="ppaction://hlinksldjump" r:id="rId11" tooltip="Åbn P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P02" descr="Åbn P02">
            <a:hlinkClick action="ppaction://hlinksldjump" r:id="rId11" tooltip="Åbn P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P03" descr="Åbn P03">
            <a:hlinkClick action="ppaction://hlinksldjump" r:id="rId12" tooltip="Åbn P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P04" descr="Åbn P04">
            <a:hlinkClick action="ppaction://hlinksldjump" r:id="rId12" tooltip="Åbn P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P05" descr="Åbn P05">
            <a:hlinkClick action="ppaction://hlinksldjump" r:id="rId13" tooltip="Åbn P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P06" descr="Åbn P06">
            <a:hlinkClick action="ppaction://hlinksldjump" r:id="rId13" tooltip="Åbn P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P07" descr="Åbn P07">
            <a:hlinkClick action="ppaction://hlinksldjump" r:id="rId14" tooltip="Åbn P0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P08" descr="Åbn P08">
            <a:hlinkClick action="ppaction://hlinksldjump" r:id="rId14" tooltip="Åbn P08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back-start" descr="Til start">
            <a:hlinkClick action="ppaction://hlinksldjump" r:id="rId15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7" name="nav-next-index" descr="Næste indeks">
            <a:hlinkClick action="ppaction://hlinksldjump" r:id="rId16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Energi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7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energy-1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W01 · Energi W [J] eller [kWh]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 eller [kW], t [s] eller [h]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effekt i hele perioden.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W02 · Elektrisk energi W [J]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Q [C] eller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spænding; ved UIt også konstant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W03 · Tid 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effekt.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W05 · Brændselsenergi W [MJ]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Mængde og brændværdi Hu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omregningstabel; samme brændsel og reference.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M01 · Løftearbejde W [J]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[kg], g [m/s²], h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Roligt løft; ændringen i potentiel energi.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M02 · Arbejde W [J]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s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kraft parallelt med bevægelsen.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M05 · Rotationsarbejde W [J]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[N·m], θ [rad]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moment.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M03 · Moment M [N·m]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arm r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Kraften står vinkelret på armen.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M04 · Vinkelhastighed ω [rad/s]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Δθ [rad], Δt [s] eller n [s⁻¹]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rotation; ellers middelværdi.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M06 · Moment M [N·m]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Pmek [W], ω [rad/s] eller n [rpm]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Mekanisk aksel-effekt og omdrejningshastighed.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energy-1-table-f1" descr="W=P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26" y="1444752"/>
            <a:ext cx="1177747" cy="441655"/>
          </a:xfrm>
          <a:prstGeom prst="rect">
            <a:avLst/>
          </a:prstGeom>
        </p:spPr>
      </p:pic>
      <p:pic>
        <p:nvPicPr>
          <p:cNvPr id="10" name="index-energy-1-table-f2" descr="W=UQ=U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098" y="1959559"/>
            <a:ext cx="2301802" cy="441655"/>
          </a:xfrm>
          <a:prstGeom prst="rect">
            <a:avLst/>
          </a:prstGeom>
        </p:spPr>
      </p:pic>
      <p:pic>
        <p:nvPicPr>
          <p:cNvPr id="11" name="index-energy-1-table-f3" descr="t=\frac{W}{P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5721" y="2474366"/>
            <a:ext cx="550556" cy="441655"/>
          </a:xfrm>
          <a:prstGeom prst="rect">
            <a:avLst/>
          </a:prstGeom>
        </p:spPr>
      </p:pic>
      <p:pic>
        <p:nvPicPr>
          <p:cNvPr id="12" name="index-energy-1-table-f4" descr="W=H_u m\quad\mathrm{eller}\quad W=H_u V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79" y="3040775"/>
            <a:ext cx="3291839" cy="338451"/>
          </a:xfrm>
          <a:prstGeom prst="rect">
            <a:avLst/>
          </a:prstGeom>
        </p:spPr>
      </p:pic>
      <p:pic>
        <p:nvPicPr>
          <p:cNvPr id="13" name="index-energy-1-table-f5" descr="W=mg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5819" y="3503980"/>
            <a:ext cx="1430360" cy="441655"/>
          </a:xfrm>
          <a:prstGeom prst="rect">
            <a:avLst/>
          </a:prstGeom>
        </p:spPr>
      </p:pic>
      <p:pic>
        <p:nvPicPr>
          <p:cNvPr id="14" name="index-energy-1-table-f6" descr="W=F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6352" y="4018787"/>
            <a:ext cx="1209293" cy="441655"/>
          </a:xfrm>
          <a:prstGeom prst="rect">
            <a:avLst/>
          </a:prstGeom>
        </p:spPr>
      </p:pic>
      <p:pic>
        <p:nvPicPr>
          <p:cNvPr id="15" name="index-energy-1-table-f7" descr="W=M\thet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001" y="4533595"/>
            <a:ext cx="1345996" cy="441655"/>
          </a:xfrm>
          <a:prstGeom prst="rect">
            <a:avLst/>
          </a:prstGeom>
        </p:spPr>
      </p:pic>
      <p:pic>
        <p:nvPicPr>
          <p:cNvPr id="16" name="index-energy-1-table-f8" descr="M=F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5837" y="5048402"/>
            <a:ext cx="1230325" cy="441655"/>
          </a:xfrm>
          <a:prstGeom prst="rect">
            <a:avLst/>
          </a:prstGeom>
        </p:spPr>
      </p:pic>
      <p:pic>
        <p:nvPicPr>
          <p:cNvPr id="17" name="index-energy-1-table-f9" descr="\omega=\frac{\Delta\theta}{\Delta t}=2\pi 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0748" y="5563209"/>
            <a:ext cx="1280503" cy="441655"/>
          </a:xfrm>
          <a:prstGeom prst="rect">
            <a:avLst/>
          </a:prstGeom>
        </p:spPr>
      </p:pic>
      <p:pic>
        <p:nvPicPr>
          <p:cNvPr id="18" name="index-energy-1-table-f10" descr="M=\frac{P_{\mathrm{mek}}}{\omega}=\frac{60P_{\mathrm{mek}}}{2\pi n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66299" y="6078016"/>
            <a:ext cx="1669401" cy="441655"/>
          </a:xfrm>
          <a:prstGeom prst="rect">
            <a:avLst/>
          </a:prstGeom>
        </p:spPr>
      </p:pic>
      <p:sp>
        <p:nvSpPr>
          <p:cNvPr id="19" name="index-energy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55.</a:t>
            </a:r>
          </a:p>
        </p:txBody>
      </p:sp>
      <p:sp>
        <p:nvSpPr>
          <p:cNvPr id="20" name="nav-entry-W01" descr="Åbn W01">
            <a:hlinkClick action="ppaction://hlinksldjump" r:id="rId13" tooltip="Åbn W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W02" descr="Åbn W02">
            <a:hlinkClick action="ppaction://hlinksldjump" r:id="rId13" tooltip="Åbn W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W03" descr="Åbn W03">
            <a:hlinkClick action="ppaction://hlinksldjump" r:id="rId14" tooltip="Åbn W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W05" descr="Åbn W05">
            <a:hlinkClick action="ppaction://hlinksldjump" r:id="rId14" tooltip="Åbn W05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M01" descr="Åbn M01">
            <a:hlinkClick action="ppaction://hlinksldjump" r:id="rId15" tooltip="Åbn M01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M02" descr="Åbn M02">
            <a:hlinkClick action="ppaction://hlinksldjump" r:id="rId15" tooltip="Åbn M02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M05" descr="Åbn M05">
            <a:hlinkClick action="ppaction://hlinksldjump" r:id="rId16" tooltip="Åbn M05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M03" descr="Åbn M03">
            <a:hlinkClick action="ppaction://hlinksldjump" r:id="rId16" tooltip="Åbn M03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M04" descr="Åbn M04">
            <a:hlinkClick action="ppaction://hlinksldjump" r:id="rId17" tooltip="Åbn M04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M06" descr="Åbn M06">
            <a:hlinkClick action="ppaction://hlinksldjump" r:id="rId17" tooltip="Åbn M06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8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9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Magnetisme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8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agnetism-1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F01 · Elektrisk kraft |F| [N]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Q1, Q2 [C], a [m], ε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Punktladninger i ensartet isotropt medium.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F02 · Elektrisk feltstyrke Ef [V/m]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Q [C] eller kildeladning Qk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F/Q er feltet på prøveladningen; a ved punktkilden.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F03 · Kraft F [N]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 [C], Ef [V/m]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Prøveladning i givet elektrisk felt.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F04 · Afstand a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Q1, Q2 [C], ε [F/m]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punktladningsmodel som F01.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F05 · Ukendt ladning |Q2| [C]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a [m], Q1 [C], ε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Punktladninger; fortegnet afgøres af tiltrækning/frastødning.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F06 · Elektrisk flux Ψ [V·m]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Ef [V/m], A [m²] eller Q [C], ε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normalt felt; eller lukket kugle i ensartet medium.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F07 · Permittivitet ε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εr [1], ε0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Lineært isotropt medium.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B01 · Magnetisk flux Φ [Wb]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A [m²]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 vinkelret på fladen.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B02 · Fluxtæthed B [T]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Φ [Wb], A [m²]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felt; A er areal normalt på feltet.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B03 · Fluxtæthed B [T]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H [A/m], μ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materiale-model med kendt μ.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magnetism-1-table-f1" descr="|F|=\frac{|Q_1Q_2|}{4\pi\varepsilon a^2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709" y="1444752"/>
            <a:ext cx="944580" cy="441655"/>
          </a:xfrm>
          <a:prstGeom prst="rect">
            <a:avLst/>
          </a:prstGeom>
        </p:spPr>
      </p:pic>
      <p:pic>
        <p:nvPicPr>
          <p:cNvPr id="10" name="index-magnetism-1-table-f2" descr="E_f=\frac{F}{Q},\qquad |E_f|=\frac{|Q_k|}{4\pi\varepsilon a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761" y="1959559"/>
            <a:ext cx="1804476" cy="441655"/>
          </a:xfrm>
          <a:prstGeom prst="rect">
            <a:avLst/>
          </a:prstGeom>
        </p:spPr>
      </p:pic>
      <p:pic>
        <p:nvPicPr>
          <p:cNvPr id="11" name="index-magnetism-1-table-f3" descr="\vec F=Q\vec E_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172" y="2474366"/>
            <a:ext cx="1011654" cy="441655"/>
          </a:xfrm>
          <a:prstGeom prst="rect">
            <a:avLst/>
          </a:prstGeom>
        </p:spPr>
      </p:pic>
      <p:pic>
        <p:nvPicPr>
          <p:cNvPr id="12" name="index-magnetism-1-table-f4" descr="a=\sqrt{\frac{|Q_1Q_2|}{4\pi\varepsilon |F|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6911" y="2989173"/>
            <a:ext cx="1008176" cy="441655"/>
          </a:xfrm>
          <a:prstGeom prst="rect">
            <a:avLst/>
          </a:prstGeom>
        </p:spPr>
      </p:pic>
      <p:pic>
        <p:nvPicPr>
          <p:cNvPr id="13" name="index-magnetism-1-table-f5" descr="|Q_2|=\frac{4\pi\varepsilon a^2|F|}{|Q_1|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3799" y="3503980"/>
            <a:ext cx="1174401" cy="441655"/>
          </a:xfrm>
          <a:prstGeom prst="rect">
            <a:avLst/>
          </a:prstGeom>
        </p:spPr>
      </p:pic>
      <p:pic>
        <p:nvPicPr>
          <p:cNvPr id="14" name="index-magnetism-1-table-f6" descr="\Psi=E_f A=\frac{Q}{\varepsilon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4458" y="4018787"/>
            <a:ext cx="1193082" cy="441655"/>
          </a:xfrm>
          <a:prstGeom prst="rect">
            <a:avLst/>
          </a:prstGeom>
        </p:spPr>
      </p:pic>
      <p:pic>
        <p:nvPicPr>
          <p:cNvPr id="15" name="index-magnetism-1-table-f7" descr="\varepsilon=\varepsilon_0\varepsilon_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6919" y="4533595"/>
            <a:ext cx="1288160" cy="441655"/>
          </a:xfrm>
          <a:prstGeom prst="rect">
            <a:avLst/>
          </a:prstGeom>
        </p:spPr>
      </p:pic>
      <p:pic>
        <p:nvPicPr>
          <p:cNvPr id="16" name="index-magnetism-1-table-f8" descr="\Phi=B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692" y="5048402"/>
            <a:ext cx="1256614" cy="441655"/>
          </a:xfrm>
          <a:prstGeom prst="rect">
            <a:avLst/>
          </a:prstGeom>
        </p:spPr>
      </p:pic>
      <p:pic>
        <p:nvPicPr>
          <p:cNvPr id="17" name="index-magnetism-1-table-f9" descr="B=\frac{\Phi}{A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8895" y="5563209"/>
            <a:ext cx="604208" cy="441655"/>
          </a:xfrm>
          <a:prstGeom prst="rect">
            <a:avLst/>
          </a:prstGeom>
        </p:spPr>
      </p:pic>
      <p:pic>
        <p:nvPicPr>
          <p:cNvPr id="18" name="index-magnetism-1-table-f10" descr="B=\mu H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2440" y="6078016"/>
            <a:ext cx="1217119" cy="441655"/>
          </a:xfrm>
          <a:prstGeom prst="rect">
            <a:avLst/>
          </a:prstGeom>
        </p:spPr>
      </p:pic>
      <p:sp>
        <p:nvSpPr>
          <p:cNvPr id="19" name="index-magnetism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55.</a:t>
            </a:r>
          </a:p>
        </p:txBody>
      </p:sp>
      <p:sp>
        <p:nvSpPr>
          <p:cNvPr id="20" name="nav-entry-F01" descr="Åbn F01">
            <a:hlinkClick action="ppaction://hlinksldjump" r:id="rId13" tooltip="Åbn F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F02" descr="Åbn F02">
            <a:hlinkClick action="ppaction://hlinksldjump" r:id="rId13" tooltip="Åbn F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F03" descr="Åbn F03">
            <a:hlinkClick action="ppaction://hlinksldjump" r:id="rId14" tooltip="Åbn F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F04" descr="Åbn F04">
            <a:hlinkClick action="ppaction://hlinksldjump" r:id="rId14" tooltip="Åbn F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F05" descr="Åbn F05">
            <a:hlinkClick action="ppaction://hlinksldjump" r:id="rId15" tooltip="Åbn F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F06" descr="Åbn F06">
            <a:hlinkClick action="ppaction://hlinksldjump" r:id="rId15" tooltip="Åbn F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F07" descr="Åbn F07">
            <a:hlinkClick action="ppaction://hlinksldjump" r:id="rId16" tooltip="Åbn F0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B01" descr="Åbn B01">
            <a:hlinkClick action="ppaction://hlinksldjump" r:id="rId16" tooltip="Åbn B01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B02" descr="Åbn B02">
            <a:hlinkClick action="ppaction://hlinksldjump" r:id="rId17" tooltip="Åbn B02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B03" descr="Åbn B03">
            <a:hlinkClick action="ppaction://hlinksldjump" r:id="rId17" tooltip="Åbn B03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8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9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Magnetisme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9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agnetism-2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B04 · Felt om lang leder B [T]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a [m], μ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Lang, lige leder; punkt uden for lederen.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B05 · Magnetisk feltstyrke H [A/m]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N [1], l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magnetisk vej; ringkerne/længere spole-model.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B06 · Magnetomotorisk kraft Fm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 eller Rm [A/Wb], Φ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Amperevindingstal i magnetkredsmodellen.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B07 · Reluktans Rm [A/Wb]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l [m], μ [H/m], A [m²]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magnetisk segment; lineær μ.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B08 · Flux Φ [Wb]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Rm [A/Wb]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Lukket lineær magnetkreds; lækage negligeres.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B09 · Permeabilitet μ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μr [1], μ0 [H/m] eller B [T], H [A/m]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Lineært medium eller sekantværdi ved givet driftspunkt.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B11 · Magnetkredsens areal A [m²]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Φ [Wb], B [T]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 normalt på kernens tværsnit.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B12 · Feltstyrke H [A/m]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μ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materiale-model ved kendt μ.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B13 · Relativ permeabilitet μr [1]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μ [H/m], μ0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enhed for absolutte permeabiliteter.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K01 · Kraft på leder |F| [N]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l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ensartet magnetfelt.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magnetism-2-table-f1" descr="B=\frac{\mu I}{2\pi 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333" y="1444752"/>
            <a:ext cx="681333" cy="441655"/>
          </a:xfrm>
          <a:prstGeom prst="rect">
            <a:avLst/>
          </a:prstGeom>
        </p:spPr>
      </p:pic>
      <p:pic>
        <p:nvPicPr>
          <p:cNvPr id="10" name="index-magnetism-2-table-f2" descr="H=\frac{NI}{l}=\frac{F_m}{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014" y="1959559"/>
            <a:ext cx="1099971" cy="441655"/>
          </a:xfrm>
          <a:prstGeom prst="rect">
            <a:avLst/>
          </a:prstGeom>
        </p:spPr>
      </p:pic>
      <p:pic>
        <p:nvPicPr>
          <p:cNvPr id="11" name="index-magnetism-2-table-f3" descr="F_m=NI=R_m\Ph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272" y="2474366"/>
            <a:ext cx="2497454" cy="441655"/>
          </a:xfrm>
          <a:prstGeom prst="rect">
            <a:avLst/>
          </a:prstGeom>
        </p:spPr>
      </p:pic>
      <p:pic>
        <p:nvPicPr>
          <p:cNvPr id="12" name="index-magnetism-2-table-f4" descr="R_m=\frac{l}{\mu 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2322" y="2989173"/>
            <a:ext cx="717355" cy="441655"/>
          </a:xfrm>
          <a:prstGeom prst="rect">
            <a:avLst/>
          </a:prstGeom>
        </p:spPr>
      </p:pic>
      <p:pic>
        <p:nvPicPr>
          <p:cNvPr id="13" name="index-magnetism-2-table-f5" descr="\Phi=\frac{NI}{R_m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8360" y="3503980"/>
            <a:ext cx="665278" cy="441655"/>
          </a:xfrm>
          <a:prstGeom prst="rect">
            <a:avLst/>
          </a:prstGeom>
        </p:spPr>
      </p:pic>
      <p:pic>
        <p:nvPicPr>
          <p:cNvPr id="14" name="index-magnetism-2-table-f6" descr="\mu=\mu_0\mu_r=\frac{B}{H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4522" y="4018787"/>
            <a:ext cx="1232954" cy="441655"/>
          </a:xfrm>
          <a:prstGeom prst="rect">
            <a:avLst/>
          </a:prstGeom>
        </p:spPr>
      </p:pic>
      <p:pic>
        <p:nvPicPr>
          <p:cNvPr id="15" name="index-magnetism-2-table-f7" descr="A=\frac{\Phi}{B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4295" y="4533595"/>
            <a:ext cx="613409" cy="441655"/>
          </a:xfrm>
          <a:prstGeom prst="rect">
            <a:avLst/>
          </a:prstGeom>
        </p:spPr>
      </p:pic>
      <p:pic>
        <p:nvPicPr>
          <p:cNvPr id="16" name="index-magnetism-2-table-f8" descr="H=\frac{B}{\mu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1415" y="5048402"/>
            <a:ext cx="599168" cy="441655"/>
          </a:xfrm>
          <a:prstGeom prst="rect">
            <a:avLst/>
          </a:prstGeom>
        </p:spPr>
      </p:pic>
      <p:pic>
        <p:nvPicPr>
          <p:cNvPr id="17" name="index-magnetism-2-table-f9" descr="\mu_r=\frac{\mu}{\mu_0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3917" y="5563209"/>
            <a:ext cx="714165" cy="441655"/>
          </a:xfrm>
          <a:prstGeom prst="rect">
            <a:avLst/>
          </a:prstGeom>
        </p:spPr>
      </p:pic>
      <p:pic>
        <p:nvPicPr>
          <p:cNvPr id="18" name="index-magnetism-2-table-f10" descr="|F|=B|I|l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3361" y="6078016"/>
            <a:ext cx="1535277" cy="441655"/>
          </a:xfrm>
          <a:prstGeom prst="rect">
            <a:avLst/>
          </a:prstGeom>
        </p:spPr>
      </p:pic>
      <p:sp>
        <p:nvSpPr>
          <p:cNvPr id="19" name="index-magnetism-2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55.</a:t>
            </a:r>
          </a:p>
        </p:txBody>
      </p:sp>
      <p:sp>
        <p:nvSpPr>
          <p:cNvPr id="20" name="nav-entry-B04" descr="Åbn B04">
            <a:hlinkClick action="ppaction://hlinksldjump" r:id="rId13" tooltip="Åbn B04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B05" descr="Åbn B05">
            <a:hlinkClick action="ppaction://hlinksldjump" r:id="rId13" tooltip="Åbn B05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B06" descr="Åbn B06">
            <a:hlinkClick action="ppaction://hlinksldjump" r:id="rId14" tooltip="Åbn B06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B07" descr="Åbn B07">
            <a:hlinkClick action="ppaction://hlinksldjump" r:id="rId14" tooltip="Åbn B07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B08" descr="Åbn B08">
            <a:hlinkClick action="ppaction://hlinksldjump" r:id="rId15" tooltip="Åbn B08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B09" descr="Åbn B09">
            <a:hlinkClick action="ppaction://hlinksldjump" r:id="rId15" tooltip="Åbn B09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B11" descr="Åbn B11">
            <a:hlinkClick action="ppaction://hlinksldjump" r:id="rId16" tooltip="Åbn B11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B12" descr="Åbn B12">
            <a:hlinkClick action="ppaction://hlinksldjump" r:id="rId16" tooltip="Åbn B12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B13" descr="Åbn B13">
            <a:hlinkClick action="ppaction://hlinksldjump" r:id="rId17" tooltip="Åbn B13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K01" descr="Åbn K01">
            <a:hlinkClick action="ppaction://hlinksldjump" r:id="rId17" tooltip="Åbn K01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8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9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Magnetisme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10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agnetism-3-table"/>
          <p:cNvGraphicFramePr>
            <a:graphicFrameLocks noGrp="1"/>
          </p:cNvGraphicFramePr>
          <p:nvPr/>
        </p:nvGraphicFramePr>
        <p:xfrm>
          <a:off x="411480" y="1042415"/>
          <a:ext cx="9784079" cy="1910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K02 · Aktiv lederlængde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B [T], |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|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B.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K03 · Fluxtæthed B [T]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|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| [A], l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feltet.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K04 · Kraft mellem ledere |F| [N]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1,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2 [A], l, a [m], μ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Lange parallelle ledere; a er centerafstand.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pic>
        <p:nvPicPr>
          <p:cNvPr id="9" name="index-magnetism-3-table-f1" descr="l=\frac{|F|}{B|I|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2356" y="1444752"/>
            <a:ext cx="637287" cy="441655"/>
          </a:xfrm>
          <a:prstGeom prst="rect">
            <a:avLst/>
          </a:prstGeom>
        </p:spPr>
      </p:pic>
      <p:pic>
        <p:nvPicPr>
          <p:cNvPr id="10" name="index-magnetism-3-table-f2" descr="B=\frac{|F|}{|I|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008" y="1959559"/>
            <a:ext cx="635983" cy="441655"/>
          </a:xfrm>
          <a:prstGeom prst="rect">
            <a:avLst/>
          </a:prstGeom>
        </p:spPr>
      </p:pic>
      <p:pic>
        <p:nvPicPr>
          <p:cNvPr id="11" name="index-magnetism-3-table-f3" descr="|F|=\frac{\mu|I_1I_2|l}{2\pi 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457" y="2474366"/>
            <a:ext cx="1001085" cy="441655"/>
          </a:xfrm>
          <a:prstGeom prst="rect">
            <a:avLst/>
          </a:prstGeom>
        </p:spPr>
      </p:pic>
      <p:sp>
        <p:nvSpPr>
          <p:cNvPr id="12" name="index-magnetism-3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55.</a:t>
            </a:r>
          </a:p>
        </p:txBody>
      </p:sp>
      <p:sp>
        <p:nvSpPr>
          <p:cNvPr id="13" name="nav-entry-K02" descr="Åbn K02">
            <a:hlinkClick action="ppaction://hlinksldjump" r:id="rId6" tooltip="Åbn K02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v-entry-K03" descr="Åbn K03">
            <a:hlinkClick action="ppaction://hlinksldjump" r:id="rId6" tooltip="Åbn K03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entry-K04" descr="Åbn K04">
            <a:hlinkClick action="ppaction://hlinksldjump" r:id="rId7" tooltip="Åbn K04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17" name="nav-next-index" descr="Næste indeks">
            <a:hlinkClick action="ppaction://hlinksldjump" r:id="rId9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Induktion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11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induction-1-table"/>
          <p:cNvGraphicFramePr>
            <a:graphicFrameLocks noGrp="1"/>
          </p:cNvGraphicFramePr>
          <p:nvPr/>
        </p:nvGraphicFramePr>
        <p:xfrm>
          <a:off x="411480" y="1042415"/>
          <a:ext cx="9784079" cy="3454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E01 · Induceret spænding e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ΔΦ [Wb],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Middel-EMK over interval; samme flux gennem hver vinding.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E02 · Øjebliks-EMK e(t)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Φ(t) [Wb]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Valgt positiv fluxnormal og konsistent omløbsretning.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E03 · Bevægelses-EMK |E|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l [m], v [m/s]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Lige leder; l, v og B står indbyrdes vinkelret.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E05 · Selvinduktions-EMK es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L [H], di/dt [A/s]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induktans; induceret modspænding.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E04 · Induktans L [H]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μ [H/m], A [m²],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ensartet spole/magnetkreds; lækage negligeres.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E06 · Induktans L [H]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es [V], Δ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Δt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strømrampe; tab adskilt fra selvinduktion.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induction-1-table-f1" descr="e_{\mathrm{middel}}=-N\frac{\Delta\Phi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913" y="1444752"/>
            <a:ext cx="1474173" cy="441655"/>
          </a:xfrm>
          <a:prstGeom prst="rect">
            <a:avLst/>
          </a:prstGeom>
        </p:spPr>
      </p:pic>
      <p:pic>
        <p:nvPicPr>
          <p:cNvPr id="10" name="index-induction-1-table-f2" descr="e(t)=-N\frac{\mathrm{d}\Phi}{\mathrm{d}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620" y="1959559"/>
            <a:ext cx="1176759" cy="441655"/>
          </a:xfrm>
          <a:prstGeom prst="rect">
            <a:avLst/>
          </a:prstGeom>
        </p:spPr>
      </p:pic>
      <p:pic>
        <p:nvPicPr>
          <p:cNvPr id="11" name="index-induction-1-table-f3" descr="|E|=Bl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825" y="2474366"/>
            <a:ext cx="1414348" cy="441655"/>
          </a:xfrm>
          <a:prstGeom prst="rect">
            <a:avLst/>
          </a:prstGeom>
        </p:spPr>
      </p:pic>
      <p:pic>
        <p:nvPicPr>
          <p:cNvPr id="12" name="index-induction-1-table-f4" descr="e_s=-L\frac{\mathrm{d}i}{\mathrm{d}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8970" y="2989173"/>
            <a:ext cx="904059" cy="441655"/>
          </a:xfrm>
          <a:prstGeom prst="rect">
            <a:avLst/>
          </a:prstGeom>
        </p:spPr>
      </p:pic>
      <p:pic>
        <p:nvPicPr>
          <p:cNvPr id="13" name="index-induction-1-table-f5" descr="L=\frac{N^2\mu A}{l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5172" y="3503980"/>
            <a:ext cx="771655" cy="441655"/>
          </a:xfrm>
          <a:prstGeom prst="rect">
            <a:avLst/>
          </a:prstGeom>
        </p:spPr>
      </p:pic>
      <p:pic>
        <p:nvPicPr>
          <p:cNvPr id="14" name="index-induction-1-table-f6" descr="L=-\frac{e_s\Delta t}{\Delta I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9561" y="4018787"/>
            <a:ext cx="902877" cy="441655"/>
          </a:xfrm>
          <a:prstGeom prst="rect">
            <a:avLst/>
          </a:prstGeom>
        </p:spPr>
      </p:pic>
      <p:sp>
        <p:nvSpPr>
          <p:cNvPr id="15" name="index-induction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55.</a:t>
            </a:r>
          </a:p>
        </p:txBody>
      </p:sp>
      <p:sp>
        <p:nvSpPr>
          <p:cNvPr id="16" name="nav-entry-E01" descr="Åbn E01">
            <a:hlinkClick action="ppaction://hlinksldjump" r:id="rId9" tooltip="Åbn E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E02" descr="Åbn E02">
            <a:hlinkClick action="ppaction://hlinksldjump" r:id="rId9" tooltip="Åbn E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entry-E03" descr="Åbn E03">
            <a:hlinkClick action="ppaction://hlinksldjump" r:id="rId10" tooltip="Åbn E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E05" descr="Åbn E05">
            <a:hlinkClick action="ppaction://hlinksldjump" r:id="rId10" tooltip="Åbn E05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E04" descr="Åbn E04">
            <a:hlinkClick action="ppaction://hlinksldjump" r:id="rId11" tooltip="Åbn E04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E06" descr="Åbn E06">
            <a:hlinkClick action="ppaction://hlinksldjump" r:id="rId11" tooltip="Åbn E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3" name="nav-next-index" descr="Næste indeks">
            <a:hlinkClick action="ppaction://hlinksldjump" r:id="rId13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Kredsløbsmetoder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12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ethods-1-table"/>
          <p:cNvGraphicFramePr>
            <a:graphicFrameLocks noGrp="1"/>
          </p:cNvGraphicFramePr>
          <p:nvPr/>
        </p:nvGraphicFramePr>
        <p:xfrm>
          <a:off x="411480" y="1042415"/>
          <a:ext cx="9784079" cy="2424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N02 · Ukendt grenstrøm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x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Alle øvrige ind- og udstrømme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KCL i én knude; stationær kreds.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U07 · Knudespænding Va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Grenkilder Ek [V], Rk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Fælles knude a og reference 0; kilder + mod a.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N01 · Knudespændinger Va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Topologi, R [Ω], kilder og reference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DC-net; strømmene ud af hver ukendt knude.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N03 · Kontrol af spændinger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Kilders polaritet,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KVL i lukket DC-sløjfe; kontrol efter KCL-løsning.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methods-1-table-f1" descr="I_x=\sum I_{\mathrm{ind}}-\sum I_{\mathrm{andre,u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759" y="1444752"/>
            <a:ext cx="3082480" cy="441655"/>
          </a:xfrm>
          <a:prstGeom prst="rect">
            <a:avLst/>
          </a:prstGeom>
        </p:spPr>
      </p:pic>
      <p:pic>
        <p:nvPicPr>
          <p:cNvPr id="10" name="index-methods-1-table-f2" descr="V_a=\dfrac{\sum_k\dfrac{E_k}{R_k}}{\sum_k\dfrac{1}{R_k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467" y="1959559"/>
            <a:ext cx="385064" cy="441655"/>
          </a:xfrm>
          <a:prstGeom prst="rect">
            <a:avLst/>
          </a:prstGeom>
        </p:spPr>
      </p:pic>
      <p:pic>
        <p:nvPicPr>
          <p:cNvPr id="11" name="index-methods-1-table-f3" descr="\sum_b\frac{V_a-V_b}{R_{ab}}=I_{\mathrm{ind},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157" y="2474366"/>
            <a:ext cx="1295684" cy="441655"/>
          </a:xfrm>
          <a:prstGeom prst="rect">
            <a:avLst/>
          </a:prstGeom>
        </p:spPr>
      </p:pic>
      <p:pic>
        <p:nvPicPr>
          <p:cNvPr id="12" name="index-methods-1-table-f4" descr="\sum_k\Delta V_k=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9703" y="2989173"/>
            <a:ext cx="942592" cy="441655"/>
          </a:xfrm>
          <a:prstGeom prst="rect">
            <a:avLst/>
          </a:prstGeom>
        </p:spPr>
      </p:pic>
      <p:sp>
        <p:nvSpPr>
          <p:cNvPr id="13" name="index-methods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55.</a:t>
            </a:r>
          </a:p>
        </p:txBody>
      </p:sp>
      <p:sp>
        <p:nvSpPr>
          <p:cNvPr id="14" name="nav-entry-N02" descr="Åbn N02">
            <a:hlinkClick action="ppaction://hlinksldjump" r:id="rId7" tooltip="Åbn N02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entry-U07" descr="Åbn U07">
            <a:hlinkClick action="ppaction://hlinksldjump" r:id="rId7" tooltip="Åbn U07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entry-N01" descr="Åbn N01">
            <a:hlinkClick action="ppaction://hlinksldjump" r:id="rId8" tooltip="Åbn N01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N03" descr="Åbn N03">
            <a:hlinkClick action="ppaction://hlinksldjump" r:id="rId8" tooltip="Åbn N03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W04, </a:t>
            </a:r>
            <a:r>
              <a:rPr>
                <a:latin typeface="Cambria Math"/>
              </a:rPr>
              <a:t>I</a:t>
            </a: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13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W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W04 · Søger: Ladning Q [C]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</a:t>
            </a:r>
            <a:r>
              <a:rPr>
                <a:latin typeface="Cambria Math"/>
              </a:rPr>
              <a:t>I</a:t>
            </a:r>
            <a:r>
              <a:t> [A],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strøm; ellers sum af delintervaller.</a:t>
            </a:r>
          </a:p>
        </p:txBody>
      </p:sp>
      <p:sp>
        <p:nvSpPr>
          <p:cNvPr id="11" name="math-source-W04-formula"/>
          <p:cNvSpPr txBox="1"/>
          <p:nvPr/>
        </p:nvSpPr>
        <p:spPr>
          <a:xfrm>
            <a:off x="411480" y="2340864"/>
            <a:ext cx="4800600" cy="36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Q=</a:t>
            </a:r>
            <a:r>
              <a:rPr>
                <a:latin typeface="Cambria Math"/>
              </a:rPr>
              <a:t>I</a:t>
            </a:r>
            <a:r>
              <a:t>Δ t</a:t>
            </a:r>
          </a:p>
        </p:txBody>
      </p:sp>
      <p:pic>
        <p:nvPicPr>
          <p:cNvPr id="12" name="W04-formula" descr="Q=I\Delta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080654" cy="3674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459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W04-details-0"/>
          <p:cNvSpPr txBox="1"/>
          <p:nvPr/>
        </p:nvSpPr>
        <p:spPr>
          <a:xfrm>
            <a:off x="1005840" y="285459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Antal elementarladninger:</a:t>
            </a:r>
          </a:p>
        </p:txBody>
      </p:sp>
      <p:sp>
        <p:nvSpPr>
          <p:cNvPr id="15" name="math-source-W04-details-1"/>
          <p:cNvSpPr txBox="1"/>
          <p:nvPr/>
        </p:nvSpPr>
        <p:spPr>
          <a:xfrm>
            <a:off x="1005840" y="3096906"/>
            <a:ext cx="4206240" cy="4279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N_e=(|Q|)/(e)</a:t>
            </a:r>
          </a:p>
        </p:txBody>
      </p:sp>
      <p:pic>
        <p:nvPicPr>
          <p:cNvPr id="16" name="W04-details-1" descr="N_e=\dfrac{|Q|}{e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96906"/>
            <a:ext cx="769093" cy="4279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64371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W04-details-2"/>
          <p:cNvSpPr txBox="1"/>
          <p:nvPr/>
        </p:nvSpPr>
        <p:spPr>
          <a:xfrm>
            <a:off x="1005840" y="3643717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Acdots=C</a:t>
            </a:r>
          </a:p>
        </p:txBody>
      </p:sp>
      <p:pic>
        <p:nvPicPr>
          <p:cNvPr id="19" name="W04-details-2" descr="\mathrm{A}\cdot\mathrm{s}=\mathrm{C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43717"/>
            <a:ext cx="802011" cy="251376"/>
          </a:xfrm>
          <a:prstGeom prst="rect">
            <a:avLst/>
          </a:prstGeom>
        </p:spPr>
      </p:pic>
      <p:sp>
        <p:nvSpPr>
          <p:cNvPr id="20" name="math-source-W04-details-3"/>
          <p:cNvSpPr txBox="1"/>
          <p:nvPr/>
        </p:nvSpPr>
        <p:spPr>
          <a:xfrm>
            <a:off x="1005840" y="3936242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Ah=3600 C</a:t>
            </a:r>
          </a:p>
        </p:txBody>
      </p:sp>
      <p:pic>
        <p:nvPicPr>
          <p:cNvPr id="21" name="W04-details-3" descr="1\,\mathrm{Ah}=3600\,\mathrm{C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936242"/>
            <a:ext cx="1322721" cy="2513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1480" y="430649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3" name="W04-details-4"/>
          <p:cNvSpPr txBox="1"/>
          <p:nvPr/>
        </p:nvSpPr>
        <p:spPr>
          <a:xfrm>
            <a:off x="1005840" y="430649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Elektroner bevæger sig modsat den konventionelle strøm.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62653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5" name="math-source-W04-details-5"/>
          <p:cNvSpPr txBox="1"/>
          <p:nvPr/>
        </p:nvSpPr>
        <p:spPr>
          <a:xfrm>
            <a:off x="1005840" y="4626531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Q=50 A·60 s=3000 C</a:t>
            </a:r>
          </a:p>
        </p:txBody>
      </p:sp>
      <p:pic>
        <p:nvPicPr>
          <p:cNvPr id="26" name="W04-details-5" descr="Q=50\,\mathrm{A}\cdot60\,\mathrm{s}=3000\,\mathrm{C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626531"/>
            <a:ext cx="2187577" cy="254369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01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01 · Søger: Strøm </a:t>
            </a:r>
            <a:r>
              <a:rPr>
                <a:latin typeface="Cambria Math"/>
              </a:rPr>
              <a:t>I</a:t>
            </a:r>
            <a:r>
              <a:t> [A]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 [Ω]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DC eller konsistente AC-magnituder.</a:t>
            </a:r>
          </a:p>
        </p:txBody>
      </p:sp>
      <p:sp>
        <p:nvSpPr>
          <p:cNvPr id="31" name="math-source-I01-formula"/>
          <p:cNvSpPr txBox="1"/>
          <p:nvPr/>
        </p:nvSpPr>
        <p:spPr>
          <a:xfrm>
            <a:off x="5532120" y="2340864"/>
            <a:ext cx="4800600" cy="631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=(U)/(R)</a:t>
            </a:r>
          </a:p>
        </p:txBody>
      </p:sp>
      <p:pic>
        <p:nvPicPr>
          <p:cNvPr id="32" name="I01-formula" descr="I=\frac{U}{R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2340864"/>
            <a:ext cx="756458" cy="63110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31182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4" name="I01-details-0"/>
          <p:cNvSpPr txBox="1"/>
          <p:nvPr/>
        </p:nvSpPr>
        <p:spPr>
          <a:xfrm>
            <a:off x="6126480" y="31182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Indsæt spændingen over netop 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343831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6" name="math-source-I01-details-1"/>
          <p:cNvSpPr txBox="1"/>
          <p:nvPr/>
        </p:nvSpPr>
        <p:spPr>
          <a:xfrm>
            <a:off x="6126480" y="3438310"/>
            <a:ext cx="4206240" cy="4788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[A]=(</a:t>
            </a:r>
            <a:r>
              <a:rPr>
                <a:latin typeface="Cambria Math"/>
              </a:rPr>
              <a:t>I</a:t>
            </a:r>
            <a:r>
              <a:t>[mA])/(1000)</a:t>
            </a:r>
          </a:p>
        </p:txBody>
      </p:sp>
      <p:pic>
        <p:nvPicPr>
          <p:cNvPr id="37" name="I01-details-1" descr="I[\mathrm{A}]=\dfrac{I[\mathrm{mA}]}{1000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438310"/>
            <a:ext cx="1238928" cy="47881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532120" y="403599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9" name="I01-details-2"/>
          <p:cNvSpPr txBox="1"/>
          <p:nvPr/>
        </p:nvSpPr>
        <p:spPr>
          <a:xfrm>
            <a:off x="6126480" y="4035995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AC: U og </a:t>
            </a:r>
            <a:r>
              <a:rPr>
                <a:latin typeface="Cambria Math"/>
              </a:rPr>
              <a:t>I</a:t>
            </a:r>
            <a:r>
              <a:t> skal være samtidige værdier eller begge RMS. Brug U</a:t>
            </a:r>
            <a:br/>
            <a:r>
              <a:t>over netop 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455720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1" name="math-source-I01-details-3"/>
          <p:cNvSpPr txBox="1"/>
          <p:nvPr/>
        </p:nvSpPr>
        <p:spPr>
          <a:xfrm>
            <a:off x="6126480" y="4557203"/>
            <a:ext cx="4206240" cy="439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=(24 V)/(12 Ω)=2 A</a:t>
            </a:r>
          </a:p>
        </p:txBody>
      </p:sp>
      <p:pic>
        <p:nvPicPr>
          <p:cNvPr id="42" name="I01-details-3" descr="I=\dfrac{24\,\mathrm{V}}{12\,\Omega}=2\,\mathrm{A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4557203"/>
            <a:ext cx="1328706" cy="439909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av-back-index" descr="Til indeks">
            <a:hlinkClick action="ppaction://hlinksldjump" r:id="rId11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5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</a:t>
            </a:r>
            <a:r>
              <a:rPr>
                <a:latin typeface="Cambria Math"/>
              </a:rPr>
              <a:t>I</a:t>
            </a:r>
            <a:r>
              <a:t>02, </a:t>
            </a:r>
            <a:r>
              <a:rPr>
                <a:latin typeface="Cambria Math"/>
              </a:rPr>
              <a:t>I</a:t>
            </a: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14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I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02 · Søger: Strøm </a:t>
            </a:r>
            <a:r>
              <a:rPr>
                <a:latin typeface="Cambria Math"/>
              </a:rPr>
              <a:t>I</a:t>
            </a:r>
            <a:r>
              <a:t>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U [V]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P er elektrisk indgangseffekt.</a:t>
            </a:r>
          </a:p>
        </p:txBody>
      </p:sp>
      <p:sp>
        <p:nvSpPr>
          <p:cNvPr id="11" name="math-source-I02-formula"/>
          <p:cNvSpPr txBox="1"/>
          <p:nvPr/>
        </p:nvSpPr>
        <p:spPr>
          <a:xfrm>
            <a:off x="411480" y="2340864"/>
            <a:ext cx="4800600" cy="631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=(P)/(U)</a:t>
            </a:r>
          </a:p>
        </p:txBody>
      </p:sp>
      <p:pic>
        <p:nvPicPr>
          <p:cNvPr id="12" name="I02-formula" descr="I=\frac{P}{U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756458" cy="6311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182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I02-details-0"/>
          <p:cNvSpPr txBox="1"/>
          <p:nvPr/>
        </p:nvSpPr>
        <p:spPr>
          <a:xfrm>
            <a:off x="1005840" y="31182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mekanisk udgangseffekt findes først:</a:t>
            </a:r>
          </a:p>
        </p:txBody>
      </p:sp>
      <p:sp>
        <p:nvSpPr>
          <p:cNvPr id="15" name="math-source-I02-details-1"/>
          <p:cNvSpPr txBox="1"/>
          <p:nvPr/>
        </p:nvSpPr>
        <p:spPr>
          <a:xfrm>
            <a:off x="1005840" y="3360586"/>
            <a:ext cx="4206240" cy="46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P_ind=dfracP_udη</a:t>
            </a:r>
          </a:p>
        </p:txBody>
      </p:sp>
      <p:pic>
        <p:nvPicPr>
          <p:cNvPr id="16" name="I02-details-1" descr="P_{\mathrm{ind}}=\dfrac{P_{\mathrm{ud}}}{\et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60586"/>
            <a:ext cx="936678" cy="4638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94330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I02-details-2"/>
          <p:cNvSpPr txBox="1"/>
          <p:nvPr/>
        </p:nvSpPr>
        <p:spPr>
          <a:xfrm>
            <a:off x="1005840" y="394330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P[W]=1000P[kW]</a:t>
            </a:r>
          </a:p>
        </p:txBody>
      </p:sp>
      <p:pic>
        <p:nvPicPr>
          <p:cNvPr id="19" name="I02-details-2" descr="P[\mathrm{W}]=1000P[\mathrm{kW}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43308"/>
            <a:ext cx="1840437" cy="2513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31355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I02-details-3"/>
          <p:cNvSpPr txBox="1"/>
          <p:nvPr/>
        </p:nvSpPr>
        <p:spPr>
          <a:xfrm>
            <a:off x="1005840" y="431355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AC mangler kurveform/fase/effektfaktor. Se afgrænsning.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63359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3" name="math-source-I02-details-4"/>
          <p:cNvSpPr txBox="1"/>
          <p:nvPr/>
        </p:nvSpPr>
        <p:spPr>
          <a:xfrm>
            <a:off x="1005840" y="4633597"/>
            <a:ext cx="4206240" cy="4698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=(200 W)/(37,5 V)=5,333 A</a:t>
            </a:r>
          </a:p>
        </p:txBody>
      </p:sp>
      <p:pic>
        <p:nvPicPr>
          <p:cNvPr id="24" name="I02-details-4" descr="I=\dfrac{200\,\mathrm{W}}{37{,}5\,\mathrm{V}}=5{,}333\,\mathrm{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633597"/>
            <a:ext cx="1897296" cy="469835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03 · Søger: Strømmens størrelse |</a:t>
            </a:r>
            <a:r>
              <a:rPr>
                <a:latin typeface="Cambria Math"/>
              </a:rPr>
              <a:t>I</a:t>
            </a:r>
            <a:r>
              <a:t>| [A]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R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resistans; P er tabet i R.</a:t>
            </a:r>
          </a:p>
        </p:txBody>
      </p:sp>
      <p:sp>
        <p:nvSpPr>
          <p:cNvPr id="29" name="math-source-I03-formula"/>
          <p:cNvSpPr txBox="1"/>
          <p:nvPr/>
        </p:nvSpPr>
        <p:spPr>
          <a:xfrm>
            <a:off x="5532120" y="2340864"/>
            <a:ext cx="4800600" cy="7564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</a:t>
            </a:r>
            <a:r>
              <a:rPr>
                <a:latin typeface="Cambria Math"/>
              </a:rPr>
              <a:t>I</a:t>
            </a:r>
            <a:r>
              <a:t>|=√((P)/(R))</a:t>
            </a:r>
          </a:p>
        </p:txBody>
      </p:sp>
      <p:pic>
        <p:nvPicPr>
          <p:cNvPr id="30" name="I03-formula" descr="|I|=\sqrt{\frac{P}{R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1257881" cy="75645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32120" y="324362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2" name="I03-details-0"/>
          <p:cNvSpPr txBox="1"/>
          <p:nvPr/>
        </p:nvSpPr>
        <p:spPr>
          <a:xfrm>
            <a:off x="6126480" y="324362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retningen særskilt.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356366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4" name="I03-details-1"/>
          <p:cNvSpPr txBox="1"/>
          <p:nvPr/>
        </p:nvSpPr>
        <p:spPr>
          <a:xfrm>
            <a:off x="6126480" y="356366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 i Ω; P i 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388370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6" name="I03-details-2"/>
          <p:cNvSpPr txBox="1"/>
          <p:nvPr/>
        </p:nvSpPr>
        <p:spPr>
          <a:xfrm>
            <a:off x="6126480" y="388370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Kvadratroden giver størrelse, ikke retning.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420374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8" name="math-source-I03-details-3"/>
          <p:cNvSpPr txBox="1"/>
          <p:nvPr/>
        </p:nvSpPr>
        <p:spPr>
          <a:xfrm>
            <a:off x="6126480" y="4203746"/>
            <a:ext cx="4206240" cy="5626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</a:t>
            </a:r>
            <a:r>
              <a:rPr>
                <a:latin typeface="Cambria Math"/>
              </a:rPr>
              <a:t>I</a:t>
            </a:r>
            <a:r>
              <a:t>|=√((150 W)/(0,96 Ω))=12,5 A</a:t>
            </a:r>
          </a:p>
        </p:txBody>
      </p:sp>
      <p:pic>
        <p:nvPicPr>
          <p:cNvPr id="39" name="I03-details-3" descr="|I|=\sqrt{\dfrac{150\,\mathrm{W}}{0{,}96\,\Omega}}=12{,}5\,\mathrm{A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203746"/>
            <a:ext cx="2160644" cy="562605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2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</a:t>
            </a:r>
            <a:r>
              <a:rPr>
                <a:latin typeface="Cambria Math"/>
              </a:rPr>
              <a:t>I</a:t>
            </a:r>
            <a:r>
              <a:t>04, </a:t>
            </a:r>
            <a:r>
              <a:rPr>
                <a:latin typeface="Cambria Math"/>
              </a:rPr>
              <a:t>I</a:t>
            </a: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15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I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04 · Søger: Middelstrøm </a:t>
            </a:r>
            <a:r>
              <a:rPr>
                <a:latin typeface="Cambria Math"/>
              </a:rPr>
              <a:t>I</a:t>
            </a:r>
            <a:r>
              <a:t>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 [C],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Netto passeret ladning i valgt interval.</a:t>
            </a:r>
          </a:p>
        </p:txBody>
      </p:sp>
      <p:sp>
        <p:nvSpPr>
          <p:cNvPr id="11" name="math-source-I04-formula"/>
          <p:cNvSpPr txBox="1"/>
          <p:nvPr/>
        </p:nvSpPr>
        <p:spPr>
          <a:xfrm>
            <a:off x="411480" y="2340864"/>
            <a:ext cx="4800600" cy="700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_middel=(Q)/(Δ t)</a:t>
            </a:r>
          </a:p>
        </p:txBody>
      </p:sp>
      <p:pic>
        <p:nvPicPr>
          <p:cNvPr id="12" name="I04-formula" descr="I_{\mathrm{middel}}=\frac{Q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504271" cy="7002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874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I04-details-0"/>
          <p:cNvSpPr txBox="1"/>
          <p:nvPr/>
        </p:nvSpPr>
        <p:spPr>
          <a:xfrm>
            <a:off x="1005840" y="318743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konstant strøm:</a:t>
            </a:r>
          </a:p>
        </p:txBody>
      </p:sp>
      <p:sp>
        <p:nvSpPr>
          <p:cNvPr id="15" name="math-source-I04-details-1"/>
          <p:cNvSpPr txBox="1"/>
          <p:nvPr/>
        </p:nvSpPr>
        <p:spPr>
          <a:xfrm>
            <a:off x="1005840" y="342974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_middel=</a:t>
            </a:r>
            <a:r>
              <a:rPr>
                <a:latin typeface="Cambria Math"/>
              </a:rPr>
              <a:t>I</a:t>
            </a:r>
          </a:p>
        </p:txBody>
      </p:sp>
      <p:pic>
        <p:nvPicPr>
          <p:cNvPr id="16" name="I04-details-1" descr="I_{\mathrm{middel}}=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29748"/>
            <a:ext cx="879819" cy="2513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79999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I04-details-2"/>
          <p:cNvSpPr txBox="1"/>
          <p:nvPr/>
        </p:nvSpPr>
        <p:spPr>
          <a:xfrm>
            <a:off x="1005840" y="3799997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t[s]=60t[min]</a:t>
            </a:r>
          </a:p>
        </p:txBody>
      </p:sp>
      <p:pic>
        <p:nvPicPr>
          <p:cNvPr id="19" name="I04-details-2" descr="t[\mathrm{s}]=60t[\mathrm{min}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99997"/>
            <a:ext cx="1358632" cy="2513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17024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I04-details-3"/>
          <p:cNvSpPr txBox="1"/>
          <p:nvPr/>
        </p:nvSpPr>
        <p:spPr>
          <a:xfrm>
            <a:off x="1005840" y="417024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Strøm og energi er forskellige; ladning bruges ikke 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49028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3" name="math-source-I04-details-4"/>
          <p:cNvSpPr txBox="1"/>
          <p:nvPr/>
        </p:nvSpPr>
        <p:spPr>
          <a:xfrm>
            <a:off x="1005840" y="4490285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_middel=(2 C)/(1 s)=2 A</a:t>
            </a:r>
          </a:p>
        </p:txBody>
      </p:sp>
      <p:pic>
        <p:nvPicPr>
          <p:cNvPr id="24" name="I04-details-4" descr="I_{\mathrm{middel}}=\dfrac{2\,\mathrm{C}}{1\,\mathrm{s}}=2\,\mathrm{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490285"/>
            <a:ext cx="1654897" cy="445894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05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05 · Søger: Kildestrøm </a:t>
            </a:r>
            <a:r>
              <a:rPr>
                <a:latin typeface="Cambria Math"/>
              </a:rPr>
              <a:t>I</a:t>
            </a:r>
            <a:r>
              <a:t> [A]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ri [Ω], R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Én DC-kilde med intern serie-modstand.</a:t>
            </a:r>
          </a:p>
        </p:txBody>
      </p:sp>
      <p:sp>
        <p:nvSpPr>
          <p:cNvPr id="29" name="math-source-I05-formula"/>
          <p:cNvSpPr txBox="1"/>
          <p:nvPr/>
        </p:nvSpPr>
        <p:spPr>
          <a:xfrm>
            <a:off x="5532120" y="2340864"/>
            <a:ext cx="4800600" cy="6700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=(E)/(r_i+R)</a:t>
            </a:r>
          </a:p>
        </p:txBody>
      </p:sp>
      <p:pic>
        <p:nvPicPr>
          <p:cNvPr id="30" name="I05-formula" descr="I=\frac{E}{r_i+R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1236268" cy="67000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32120" y="315717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2" name="I05-details-0"/>
          <p:cNvSpPr txBox="1"/>
          <p:nvPr/>
        </p:nvSpPr>
        <p:spPr>
          <a:xfrm>
            <a:off x="6126480" y="315717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Find først hele seriens modstand.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347721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4" name="I05-details-1"/>
          <p:cNvSpPr txBox="1"/>
          <p:nvPr/>
        </p:nvSpPr>
        <p:spPr>
          <a:xfrm>
            <a:off x="6126480" y="347721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modstande i Ω.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379725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6" name="I05-details-2"/>
          <p:cNvSpPr txBox="1"/>
          <p:nvPr/>
        </p:nvSpPr>
        <p:spPr>
          <a:xfrm>
            <a:off x="6126480" y="379725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afladning er klemspændingen mindre end EMK:</a:t>
            </a:r>
          </a:p>
        </p:txBody>
      </p:sp>
      <p:sp>
        <p:nvSpPr>
          <p:cNvPr id="37" name="math-source-I05-details-3"/>
          <p:cNvSpPr txBox="1"/>
          <p:nvPr/>
        </p:nvSpPr>
        <p:spPr>
          <a:xfrm>
            <a:off x="6126480" y="4039569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U_kl&lt;E</a:t>
            </a:r>
          </a:p>
        </p:txBody>
      </p:sp>
      <p:pic>
        <p:nvPicPr>
          <p:cNvPr id="38" name="I05-details-3" descr="U_{\mathrm{kl}}&lt;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039569"/>
            <a:ext cx="718219" cy="251376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1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</a:t>
            </a:r>
            <a:r>
              <a:rPr>
                <a:latin typeface="Cambria Math"/>
              </a:rPr>
              <a:t>I</a:t>
            </a:r>
            <a:r>
              <a:t>06, </a:t>
            </a:r>
            <a:r>
              <a:rPr>
                <a:latin typeface="Cambria Math"/>
              </a:rPr>
              <a:t>I</a:t>
            </a: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16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I06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06 · Søger: Grenstrøm </a:t>
            </a:r>
            <a:r>
              <a:rPr>
                <a:latin typeface="Cambria Math"/>
              </a:rPr>
              <a:t>I</a:t>
            </a:r>
            <a:r>
              <a:t>k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Ugren [V], Rk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Parallelgrene har samme knudespænding.</a:t>
            </a:r>
          </a:p>
        </p:txBody>
      </p:sp>
      <p:sp>
        <p:nvSpPr>
          <p:cNvPr id="11" name="math-source-I06-formula"/>
          <p:cNvSpPr txBox="1"/>
          <p:nvPr/>
        </p:nvSpPr>
        <p:spPr>
          <a:xfrm>
            <a:off x="411480" y="2340864"/>
            <a:ext cx="4800600" cy="765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_k=fracU_grenR_k</a:t>
            </a:r>
          </a:p>
        </p:txBody>
      </p:sp>
      <p:pic>
        <p:nvPicPr>
          <p:cNvPr id="12" name="I06-formula" descr="I_k=\frac{U_{\mathrm{gren}}}{R_k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292462" cy="76510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5227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I06-details-0"/>
          <p:cNvSpPr txBox="1"/>
          <p:nvPr/>
        </p:nvSpPr>
        <p:spPr>
          <a:xfrm>
            <a:off x="1005840" y="325227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Find grenspændingen med knudepunktsmetoden ved flere kilder.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57231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I06-details-1"/>
          <p:cNvSpPr txBox="1"/>
          <p:nvPr/>
        </p:nvSpPr>
        <p:spPr>
          <a:xfrm>
            <a:off x="1005840" y="357231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R[Ω]=1000R[kΩ]</a:t>
            </a:r>
          </a:p>
        </p:txBody>
      </p:sp>
      <p:pic>
        <p:nvPicPr>
          <p:cNvPr id="17" name="I06-details-1" descr="R[\Omega]=1000R[\mathrm{k}\Omega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72311"/>
            <a:ext cx="1750660" cy="25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394256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9" name="I06-details-2"/>
          <p:cNvSpPr txBox="1"/>
          <p:nvPr/>
        </p:nvSpPr>
        <p:spPr>
          <a:xfrm>
            <a:off x="1005840" y="394256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grene er ikke nødvendigvis over hele kildespændingen.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07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07 · Søger: Grenstrøm </a:t>
            </a:r>
            <a:r>
              <a:rPr>
                <a:latin typeface="Cambria Math"/>
              </a:rPr>
              <a:t>I</a:t>
            </a:r>
            <a:r>
              <a:t>1 [A]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</a:t>
            </a:r>
            <a:r>
              <a:rPr>
                <a:latin typeface="Cambria Math"/>
              </a:rPr>
              <a:t>I</a:t>
            </a:r>
            <a:r>
              <a:t>total [A], R1, R2 [Ω]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To parallelle ohmske modstande.</a:t>
            </a:r>
          </a:p>
        </p:txBody>
      </p:sp>
      <p:sp>
        <p:nvSpPr>
          <p:cNvPr id="24" name="math-source-I07-formula"/>
          <p:cNvSpPr txBox="1"/>
          <p:nvPr/>
        </p:nvSpPr>
        <p:spPr>
          <a:xfrm>
            <a:off x="5532120" y="2340864"/>
            <a:ext cx="4800600" cy="708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_1=</a:t>
            </a:r>
            <a:r>
              <a:rPr>
                <a:latin typeface="Cambria Math"/>
              </a:rPr>
              <a:t>I</a:t>
            </a:r>
            <a:r>
              <a:t>_total(R_2)/(R_1+R_2)</a:t>
            </a:r>
          </a:p>
        </p:txBody>
      </p:sp>
      <p:pic>
        <p:nvPicPr>
          <p:cNvPr id="25" name="I07-formula" descr="I_1=I_{\mathrm{total}}\frac{R_2}{R_1+R_2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340864"/>
            <a:ext cx="2165631" cy="7089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532120" y="319607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7" name="I07-details-0"/>
          <p:cNvSpPr txBox="1"/>
          <p:nvPr/>
        </p:nvSpPr>
        <p:spPr>
          <a:xfrm>
            <a:off x="6126480" y="319607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For flere grene:</a:t>
            </a:r>
          </a:p>
        </p:txBody>
      </p:sp>
      <p:sp>
        <p:nvSpPr>
          <p:cNvPr id="28" name="math-source-I07-details-1"/>
          <p:cNvSpPr txBox="1"/>
          <p:nvPr/>
        </p:nvSpPr>
        <p:spPr>
          <a:xfrm>
            <a:off x="6126480" y="3438393"/>
            <a:ext cx="4206240" cy="7301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_k=</a:t>
            </a:r>
            <a:r>
              <a:rPr>
                <a:latin typeface="Cambria Math"/>
              </a:rPr>
              <a:t>I</a:t>
            </a:r>
            <a:r>
              <a:t>_total(G_k)/(Σ_j G_j)</a:t>
            </a:r>
          </a:p>
        </p:txBody>
      </p:sp>
      <p:pic>
        <p:nvPicPr>
          <p:cNvPr id="29" name="I07-details-1" descr="I_k=I_{\mathrm{total}}\dfrac{G_k}{\sum_j G_j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438393"/>
            <a:ext cx="1211995" cy="73018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428745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1" name="I07-details-2"/>
          <p:cNvSpPr txBox="1"/>
          <p:nvPr/>
        </p:nvSpPr>
        <p:spPr>
          <a:xfrm>
            <a:off x="6126480" y="428745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Samme modstandsenhed i forholdet.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460749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3" name="I07-details-3"/>
          <p:cNvSpPr txBox="1"/>
          <p:nvPr/>
        </p:nvSpPr>
        <p:spPr>
          <a:xfrm>
            <a:off x="6126480" y="460749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Den modsatte modstand står i tælleren.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492753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5" name="math-source-I07-details-4"/>
          <p:cNvSpPr txBox="1"/>
          <p:nvPr/>
        </p:nvSpPr>
        <p:spPr>
          <a:xfrm>
            <a:off x="6126480" y="4927535"/>
            <a:ext cx="4206240" cy="451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_1=6 A(20 Ω)/(10 Ω+20 Ω)=4 A</a:t>
            </a:r>
          </a:p>
        </p:txBody>
      </p:sp>
      <p:pic>
        <p:nvPicPr>
          <p:cNvPr id="36" name="I07-details-4" descr="I_1=6\,\mathrm{A}\dfrac{20\,\Omega}{10\,\Omega+20\,\Omega}=4\,\mathrm{A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927535"/>
            <a:ext cx="2379102" cy="451879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9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17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10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B10 · Søger: Viklingsstrøm </a:t>
            </a:r>
            <a:r>
              <a:rPr>
                <a:latin typeface="Cambria Math"/>
              </a:rPr>
              <a:t>I</a:t>
            </a:r>
            <a:r>
              <a:t>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H [A/m], l [m], N 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Magnetisk vej/spole-model som B05.</a:t>
            </a:r>
          </a:p>
        </p:txBody>
      </p:sp>
      <p:sp>
        <p:nvSpPr>
          <p:cNvPr id="11" name="math-source-B10-formula"/>
          <p:cNvSpPr txBox="1"/>
          <p:nvPr/>
        </p:nvSpPr>
        <p:spPr>
          <a:xfrm>
            <a:off x="41148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=(Hl)/(N)</a:t>
            </a:r>
          </a:p>
        </p:txBody>
      </p:sp>
      <p:pic>
        <p:nvPicPr>
          <p:cNvPr id="12" name="B10-formula" descr="I=\frac{Hl}{N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834265" cy="6440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B10-details-0"/>
          <p:cNvSpPr txBox="1"/>
          <p:nvPr/>
        </p:nvSpPr>
        <p:spPr>
          <a:xfrm>
            <a:off x="1005840" y="3131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Hvis B ønskes i jern: aflæs H fra B(H)-kurven først.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5127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B10-details-1"/>
          <p:cNvSpPr txBox="1"/>
          <p:nvPr/>
        </p:nvSpPr>
        <p:spPr>
          <a:xfrm>
            <a:off x="1005840" y="345127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 i m; H i A/m.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77131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8" name="B10-details-2"/>
          <p:cNvSpPr txBox="1"/>
          <p:nvPr/>
        </p:nvSpPr>
        <p:spPr>
          <a:xfrm>
            <a:off x="1005840" y="377131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Aflæs ved relevant materiale og magnetiseringstilstand.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back-index" descr="Til indeks">
            <a:hlinkClick action="ppaction://hlinksldjump" r:id="rId4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21" name="nav-back-start" descr="Til start">
            <a:hlinkClick action="ppaction://hlinksldjump" r:id="rId5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Spænding · U01, U02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18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U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U01 · Søger: Spænding U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</a:t>
            </a:r>
            <a:r>
              <a:rPr>
                <a:latin typeface="Cambria Math"/>
              </a:rPr>
              <a:t>I</a:t>
            </a:r>
            <a:r>
              <a:t> [A], R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belastning; U følger valgt polaritet.</a:t>
            </a:r>
          </a:p>
        </p:txBody>
      </p:sp>
      <p:sp>
        <p:nvSpPr>
          <p:cNvPr id="11" name="math-source-U01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U=R </a:t>
            </a:r>
            <a:r>
              <a:rPr>
                <a:latin typeface="Cambria Math"/>
              </a:rPr>
              <a:t>I</a:t>
            </a:r>
          </a:p>
        </p:txBody>
      </p:sp>
      <p:pic>
        <p:nvPicPr>
          <p:cNvPr id="12" name="U01-formula" descr="U=R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938008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U01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Strømpil ind i + på R giver positivt spændingsfald.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17030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U01-details-1"/>
          <p:cNvSpPr txBox="1"/>
          <p:nvPr/>
        </p:nvSpPr>
        <p:spPr>
          <a:xfrm>
            <a:off x="1005840" y="3170307"/>
            <a:ext cx="4206240" cy="4788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[A]=(</a:t>
            </a:r>
            <a:r>
              <a:rPr>
                <a:latin typeface="Cambria Math"/>
              </a:rPr>
              <a:t>I</a:t>
            </a:r>
            <a:r>
              <a:t>[mA])/(1000)</a:t>
            </a:r>
          </a:p>
        </p:txBody>
      </p:sp>
      <p:pic>
        <p:nvPicPr>
          <p:cNvPr id="17" name="U01-details-1" descr="I[\mathrm{A}]=\dfrac{I[\mathrm{mA}]}{1000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70307"/>
            <a:ext cx="1238928" cy="47881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376799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9" name="U01-details-2"/>
          <p:cNvSpPr txBox="1"/>
          <p:nvPr/>
        </p:nvSpPr>
        <p:spPr>
          <a:xfrm>
            <a:off x="1005840" y="376799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Et negativt resultat vender valgt polaritet.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U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U02 · Søger: Spænding U [V]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</a:t>
            </a:r>
            <a:r>
              <a:rPr>
                <a:latin typeface="Cambria Math"/>
              </a:rPr>
              <a:t>I</a:t>
            </a:r>
            <a:r>
              <a:t> [A]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samme komponent for P og </a:t>
            </a:r>
            <a:r>
              <a:rPr>
                <a:latin typeface="Cambria Math"/>
              </a:rPr>
              <a:t>I</a:t>
            </a:r>
            <a:r>
              <a:t>.</a:t>
            </a:r>
          </a:p>
        </p:txBody>
      </p:sp>
      <p:sp>
        <p:nvSpPr>
          <p:cNvPr id="24" name="math-source-U02-formula"/>
          <p:cNvSpPr txBox="1"/>
          <p:nvPr/>
        </p:nvSpPr>
        <p:spPr>
          <a:xfrm>
            <a:off x="5532120" y="2340864"/>
            <a:ext cx="4800600" cy="631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U=(P)/(</a:t>
            </a:r>
            <a:r>
              <a:rPr>
                <a:latin typeface="Cambria Math"/>
              </a:rPr>
              <a:t>I</a:t>
            </a:r>
            <a:r>
              <a:t>)</a:t>
            </a:r>
          </a:p>
        </p:txBody>
      </p:sp>
      <p:pic>
        <p:nvPicPr>
          <p:cNvPr id="25" name="U02-formula" descr="U=\frac{P}{I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340864"/>
            <a:ext cx="834265" cy="63110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532120" y="31182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7" name="U02-details-0"/>
          <p:cNvSpPr txBox="1"/>
          <p:nvPr/>
        </p:nvSpPr>
        <p:spPr>
          <a:xfrm>
            <a:off x="6126480" y="31182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Kontrollér:</a:t>
            </a:r>
          </a:p>
        </p:txBody>
      </p:sp>
      <p:sp>
        <p:nvSpPr>
          <p:cNvPr id="28" name="math-source-U02-details-1"/>
          <p:cNvSpPr txBox="1"/>
          <p:nvPr/>
        </p:nvSpPr>
        <p:spPr>
          <a:xfrm>
            <a:off x="6126480" y="336058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≠0</a:t>
            </a:r>
          </a:p>
        </p:txBody>
      </p:sp>
      <p:pic>
        <p:nvPicPr>
          <p:cNvPr id="29" name="U02-details-1" descr="I\ne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360586"/>
            <a:ext cx="457865" cy="2513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373083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1" name="U02-details-2"/>
          <p:cNvSpPr txBox="1"/>
          <p:nvPr/>
        </p:nvSpPr>
        <p:spPr>
          <a:xfrm>
            <a:off x="6126480" y="373083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W og 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405087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3" name="U02-details-3"/>
          <p:cNvSpPr txBox="1"/>
          <p:nvPr/>
        </p:nvSpPr>
        <p:spPr>
          <a:xfrm>
            <a:off x="6126480" y="405087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Mekanisk udgangseffekt kan ikke indsættes direkte.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6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Spænding · U03, U04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19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U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U03 · Søger: Spændingens størrelse |U|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R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Effekt afsat i ohmsk R.</a:t>
            </a:r>
          </a:p>
        </p:txBody>
      </p:sp>
      <p:sp>
        <p:nvSpPr>
          <p:cNvPr id="11" name="math-source-U03-formula"/>
          <p:cNvSpPr txBox="1"/>
          <p:nvPr/>
        </p:nvSpPr>
        <p:spPr>
          <a:xfrm>
            <a:off x="411480" y="2340864"/>
            <a:ext cx="4800600" cy="5057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|U|=√(P R)</a:t>
            </a:r>
          </a:p>
        </p:txBody>
      </p:sp>
      <p:pic>
        <p:nvPicPr>
          <p:cNvPr id="12" name="U03-formula" descr="|U|=\sqrt{P R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556142" cy="50574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99291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U03-details-0"/>
          <p:cNvSpPr txBox="1"/>
          <p:nvPr/>
        </p:nvSpPr>
        <p:spPr>
          <a:xfrm>
            <a:off x="1005840" y="299291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Polariteten vælges separat.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31295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U03-details-1"/>
          <p:cNvSpPr txBox="1"/>
          <p:nvPr/>
        </p:nvSpPr>
        <p:spPr>
          <a:xfrm>
            <a:off x="1005840" y="331295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P i W; R i Ω.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63299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8" name="U03-details-2"/>
          <p:cNvSpPr txBox="1"/>
          <p:nvPr/>
        </p:nvSpPr>
        <p:spPr>
          <a:xfrm>
            <a:off x="1005840" y="363299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Kvadratroden giver størrelse.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95303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0" name="math-source-U03-details-3"/>
          <p:cNvSpPr txBox="1"/>
          <p:nvPr/>
        </p:nvSpPr>
        <p:spPr>
          <a:xfrm>
            <a:off x="1005840" y="3953034"/>
            <a:ext cx="4206240" cy="350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|U|=√(57,6 W·10 Ω)=24 V</a:t>
            </a:r>
          </a:p>
        </p:txBody>
      </p:sp>
      <p:pic>
        <p:nvPicPr>
          <p:cNvPr id="21" name="U03-details-3" descr="|U|=\sqrt{57{,}6\,\mathrm{W}\cdot10\,\Omega}=24\,\mathrm{V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953034"/>
            <a:ext cx="2636464" cy="35013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U04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U04 · Søger: Potentialforskel U [V]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Q [C]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Elektrisk energi overført pr. ladning.</a:t>
            </a:r>
          </a:p>
        </p:txBody>
      </p:sp>
      <p:sp>
        <p:nvSpPr>
          <p:cNvPr id="26" name="math-source-U04-formula"/>
          <p:cNvSpPr txBox="1"/>
          <p:nvPr/>
        </p:nvSpPr>
        <p:spPr>
          <a:xfrm>
            <a:off x="5532120" y="2340864"/>
            <a:ext cx="4800600" cy="700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U=(W)/(Q)</a:t>
            </a:r>
          </a:p>
        </p:txBody>
      </p:sp>
      <p:pic>
        <p:nvPicPr>
          <p:cNvPr id="27" name="U04-formula" descr="U=\frac{W}{Q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340864"/>
            <a:ext cx="933685" cy="7002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32120" y="31874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9" name="U04-details-0"/>
          <p:cNvSpPr txBox="1"/>
          <p:nvPr/>
        </p:nvSpPr>
        <p:spPr>
          <a:xfrm>
            <a:off x="6126480" y="318743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W for elektrisk arbejde mellem de valgte punkter.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350747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1" name="math-source-U04-details-1"/>
          <p:cNvSpPr txBox="1"/>
          <p:nvPr/>
        </p:nvSpPr>
        <p:spPr>
          <a:xfrm>
            <a:off x="6126480" y="3507472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(1 J)/(1 C)=1 V</a:t>
            </a:r>
          </a:p>
        </p:txBody>
      </p:sp>
      <p:pic>
        <p:nvPicPr>
          <p:cNvPr id="32" name="U04-details-1" descr="\dfrac{1\,\mathrm{J}}{1\,\mathrm{C}}=1\,\mathrm{V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507472"/>
            <a:ext cx="897774" cy="44589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4072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4" name="U04-details-2"/>
          <p:cNvSpPr txBox="1"/>
          <p:nvPr/>
        </p:nvSpPr>
        <p:spPr>
          <a:xfrm>
            <a:off x="6126480" y="4072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W er her energi, ikke enhedssymbolet watt.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7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Spænding · U05, U06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20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U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U05 · Søger: Klemspænding Ukl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</a:t>
            </a:r>
            <a:r>
              <a:rPr>
                <a:latin typeface="Cambria Math"/>
              </a:rPr>
              <a:t>I</a:t>
            </a:r>
            <a:r>
              <a:t> [A], ri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Afladning; </a:t>
            </a:r>
            <a:r>
              <a:rPr>
                <a:latin typeface="Cambria Math"/>
              </a:rPr>
              <a:t>I</a:t>
            </a:r>
            <a:r>
              <a:t> ud af kildens pluspol.</a:t>
            </a:r>
          </a:p>
        </p:txBody>
      </p:sp>
      <p:sp>
        <p:nvSpPr>
          <p:cNvPr id="11" name="math-source-U05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U_kl=E-</a:t>
            </a:r>
            <a:r>
              <a:rPr>
                <a:latin typeface="Cambria Math"/>
              </a:rPr>
              <a:t>I</a:t>
            </a:r>
            <a:r>
              <a:t> r_i</a:t>
            </a:r>
          </a:p>
        </p:txBody>
      </p:sp>
      <p:pic>
        <p:nvPicPr>
          <p:cNvPr id="12" name="U05-formula" descr="U_{\mathrm{kl}}=E-I r_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651240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U05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Beregn det interne spændingsfald først:</a:t>
            </a:r>
          </a:p>
        </p:txBody>
      </p:sp>
      <p:sp>
        <p:nvSpPr>
          <p:cNvPr id="15" name="math-source-U05-details-1"/>
          <p:cNvSpPr txBox="1"/>
          <p:nvPr/>
        </p:nvSpPr>
        <p:spPr>
          <a:xfrm>
            <a:off x="1005840" y="30925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U_i=</a:t>
            </a:r>
            <a:r>
              <a:rPr>
                <a:latin typeface="Cambria Math"/>
              </a:rPr>
              <a:t>I</a:t>
            </a:r>
            <a:r>
              <a:t> r_i</a:t>
            </a:r>
          </a:p>
        </p:txBody>
      </p:sp>
      <p:pic>
        <p:nvPicPr>
          <p:cNvPr id="16" name="U05-details-1" descr="\Delta U_i=I r_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92583"/>
            <a:ext cx="864856" cy="2513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4628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U05-details-2"/>
          <p:cNvSpPr txBox="1"/>
          <p:nvPr/>
        </p:nvSpPr>
        <p:spPr>
          <a:xfrm>
            <a:off x="1005840" y="346283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 og Ω.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78287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U05-details-3"/>
          <p:cNvSpPr txBox="1"/>
          <p:nvPr/>
        </p:nvSpPr>
        <p:spPr>
          <a:xfrm>
            <a:off x="1005840" y="378287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opladning med samme positive strøm:</a:t>
            </a:r>
          </a:p>
        </p:txBody>
      </p:sp>
      <p:sp>
        <p:nvSpPr>
          <p:cNvPr id="21" name="math-source-U05-details-4"/>
          <p:cNvSpPr txBox="1"/>
          <p:nvPr/>
        </p:nvSpPr>
        <p:spPr>
          <a:xfrm>
            <a:off x="1005840" y="402518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U_kl=E+</a:t>
            </a:r>
            <a:r>
              <a:rPr>
                <a:latin typeface="Cambria Math"/>
              </a:rPr>
              <a:t>I</a:t>
            </a:r>
            <a:r>
              <a:t> r_i</a:t>
            </a:r>
          </a:p>
        </p:txBody>
      </p:sp>
      <p:pic>
        <p:nvPicPr>
          <p:cNvPr id="22" name="U05-details-4" descr="U_{\mathrm{kl}}=E+I r_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025188"/>
            <a:ext cx="1143166" cy="2513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U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U06 · Søger: Delspænding U1 [V]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R1, R2 [Ω]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To serie-R; midtpunktet er ubelastet.</a:t>
            </a:r>
          </a:p>
        </p:txBody>
      </p:sp>
      <p:sp>
        <p:nvSpPr>
          <p:cNvPr id="27" name="math-source-U06-formula"/>
          <p:cNvSpPr txBox="1"/>
          <p:nvPr/>
        </p:nvSpPr>
        <p:spPr>
          <a:xfrm>
            <a:off x="5532120" y="2340864"/>
            <a:ext cx="48006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U_1=U(R_1)/(R_1+R_2)</a:t>
            </a:r>
          </a:p>
        </p:txBody>
      </p:sp>
      <p:pic>
        <p:nvPicPr>
          <p:cNvPr id="28" name="U06-formula" descr="U_1=U\frac{R_1}{R_1+R_2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988404" cy="71323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32004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0" name="U06-details-0"/>
          <p:cNvSpPr txBox="1"/>
          <p:nvPr/>
        </p:nvSpPr>
        <p:spPr>
          <a:xfrm>
            <a:off x="6126480" y="320040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last: erstat belastet R med dens parallelkombination.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52044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2" name="U06-details-1"/>
          <p:cNvSpPr txBox="1"/>
          <p:nvPr/>
        </p:nvSpPr>
        <p:spPr>
          <a:xfrm>
            <a:off x="6126480" y="352044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Samme enhed for R1 og R2.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384048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4" name="U06-details-2"/>
          <p:cNvSpPr txBox="1"/>
          <p:nvPr/>
        </p:nvSpPr>
        <p:spPr>
          <a:xfrm>
            <a:off x="6126480" y="384048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En tilsluttet last ændrer spændingsdelingen.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416052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6" name="math-source-U06-details-3"/>
          <p:cNvSpPr txBox="1"/>
          <p:nvPr/>
        </p:nvSpPr>
        <p:spPr>
          <a:xfrm>
            <a:off x="6126480" y="4160520"/>
            <a:ext cx="4206240" cy="451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U_1=24 V(100 Ω)/(100 Ω+200 Ω)=8 V</a:t>
            </a:r>
          </a:p>
        </p:txBody>
      </p:sp>
      <p:pic>
        <p:nvPicPr>
          <p:cNvPr id="37" name="U06-details-3" descr="U_1=24\,\mathrm{V}\dfrac{100\,\Omega}{100\,\Omega+200\,\Omega}=8\,\mathrm{V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160520"/>
            <a:ext cx="2804049" cy="451879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0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R01, R02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21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R01 · Søger: Resistans R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</a:t>
            </a:r>
            <a:r>
              <a:rPr>
                <a:latin typeface="Cambria Math"/>
              </a:rPr>
              <a:t>I</a:t>
            </a:r>
            <a:r>
              <a:t>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komponent ved den aktuelle temperatur.</a:t>
            </a:r>
          </a:p>
        </p:txBody>
      </p:sp>
      <p:sp>
        <p:nvSpPr>
          <p:cNvPr id="11" name="math-source-R01-formula"/>
          <p:cNvSpPr txBox="1"/>
          <p:nvPr/>
        </p:nvSpPr>
        <p:spPr>
          <a:xfrm>
            <a:off x="411480" y="2340864"/>
            <a:ext cx="4800600" cy="635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R=(U)/(</a:t>
            </a:r>
            <a:r>
              <a:rPr>
                <a:latin typeface="Cambria Math"/>
              </a:rPr>
              <a:t>I</a:t>
            </a:r>
            <a:r>
              <a:t>)</a:t>
            </a:r>
          </a:p>
        </p:txBody>
      </p:sp>
      <p:pic>
        <p:nvPicPr>
          <p:cNvPr id="12" name="R01-formula" descr="R=\frac{U}{I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851555" cy="635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2259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R01-details-0"/>
          <p:cNvSpPr txBox="1"/>
          <p:nvPr/>
        </p:nvSpPr>
        <p:spPr>
          <a:xfrm>
            <a:off x="1005840" y="312259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U og </a:t>
            </a:r>
            <a:r>
              <a:rPr>
                <a:latin typeface="Cambria Math"/>
              </a:rPr>
              <a:t>I</a:t>
            </a:r>
            <a:r>
              <a:t> skal høre til samme komponent.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426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R01-details-1"/>
          <p:cNvSpPr txBox="1"/>
          <p:nvPr/>
        </p:nvSpPr>
        <p:spPr>
          <a:xfrm>
            <a:off x="1005840" y="3442632"/>
            <a:ext cx="4206240" cy="4788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[A]=(</a:t>
            </a:r>
            <a:r>
              <a:rPr>
                <a:latin typeface="Cambria Math"/>
              </a:rPr>
              <a:t>I</a:t>
            </a:r>
            <a:r>
              <a:t>[mA])/(1000)</a:t>
            </a:r>
          </a:p>
        </p:txBody>
      </p:sp>
      <p:pic>
        <p:nvPicPr>
          <p:cNvPr id="17" name="R01-details-1" descr="I[\mathrm{A}]=\dfrac{I[\mathrm{mA}]}{1000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42632"/>
            <a:ext cx="1238928" cy="47881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404031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9" name="R01-details-2"/>
          <p:cNvSpPr txBox="1"/>
          <p:nvPr/>
        </p:nvSpPr>
        <p:spPr>
          <a:xfrm>
            <a:off x="1005840" y="404031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 er komponentens modstand; ρ er materialets resistivitet.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R02 · Søger: Resistans R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</a:t>
            </a:r>
            <a:r>
              <a:rPr>
                <a:latin typeface="Cambria Math"/>
              </a:rPr>
              <a:t>I</a:t>
            </a:r>
            <a:r>
              <a:t> [A]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P er dens afsatte effekt.</a:t>
            </a:r>
          </a:p>
        </p:txBody>
      </p:sp>
      <p:sp>
        <p:nvSpPr>
          <p:cNvPr id="24" name="math-source-R02-formula"/>
          <p:cNvSpPr txBox="1"/>
          <p:nvPr/>
        </p:nvSpPr>
        <p:spPr>
          <a:xfrm>
            <a:off x="5532120" y="2340864"/>
            <a:ext cx="4800600" cy="678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R=(P)/(</a:t>
            </a:r>
            <a:r>
              <a:rPr>
                <a:latin typeface="Cambria Math"/>
              </a:rPr>
              <a:t>I</a:t>
            </a:r>
            <a:r>
              <a:t>^2)</a:t>
            </a:r>
          </a:p>
        </p:txBody>
      </p:sp>
      <p:pic>
        <p:nvPicPr>
          <p:cNvPr id="25" name="R02-formula" descr="R=\frac{P}{I^2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340864"/>
            <a:ext cx="847233" cy="67865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532120" y="316581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7" name="R02-details-0"/>
          <p:cNvSpPr txBox="1"/>
          <p:nvPr/>
        </p:nvSpPr>
        <p:spPr>
          <a:xfrm>
            <a:off x="6126480" y="316581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Kvadrér </a:t>
            </a:r>
            <a:r>
              <a:rPr>
                <a:latin typeface="Cambria Math"/>
              </a:rPr>
              <a:t>I</a:t>
            </a:r>
            <a:r>
              <a:t> efter enhedsomregning.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348585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29" name="R02-details-1"/>
          <p:cNvSpPr txBox="1"/>
          <p:nvPr/>
        </p:nvSpPr>
        <p:spPr>
          <a:xfrm>
            <a:off x="6126480" y="348585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A, ikke mA.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380589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1" name="R02-details-2"/>
          <p:cNvSpPr txBox="1"/>
          <p:nvPr/>
        </p:nvSpPr>
        <p:spPr>
          <a:xfrm>
            <a:off x="6126480" y="380589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Et mA-tal uden omregning giver fejl på faktor:</a:t>
            </a:r>
          </a:p>
        </p:txBody>
      </p:sp>
      <p:sp>
        <p:nvSpPr>
          <p:cNvPr id="32" name="math-source-R02-details-3"/>
          <p:cNvSpPr txBox="1"/>
          <p:nvPr/>
        </p:nvSpPr>
        <p:spPr>
          <a:xfrm>
            <a:off x="6126480" y="4048215"/>
            <a:ext cx="4206240" cy="257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10^6</a:t>
            </a:r>
          </a:p>
        </p:txBody>
      </p:sp>
      <p:pic>
        <p:nvPicPr>
          <p:cNvPr id="33" name="R02-details-3" descr="10^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048215"/>
            <a:ext cx="359109" cy="25736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442444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5" name="math-source-R02-details-4"/>
          <p:cNvSpPr txBox="1"/>
          <p:nvPr/>
        </p:nvSpPr>
        <p:spPr>
          <a:xfrm>
            <a:off x="6126480" y="4424449"/>
            <a:ext cx="4206240" cy="5147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R=(24 W)/((2 A)^2)=6 Ω</a:t>
            </a:r>
          </a:p>
        </p:txBody>
      </p:sp>
      <p:pic>
        <p:nvPicPr>
          <p:cNvPr id="36" name="R02-details-4" descr="R=\dfrac{24\,\mathrm{W}}{(2\,\mathrm{A})^2}=6\,\Omeg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424449"/>
            <a:ext cx="1526216" cy="514724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9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R03, R04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22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R03 · Søger: Resistans R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P [W]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U måles over R.</a:t>
            </a:r>
          </a:p>
        </p:txBody>
      </p:sp>
      <p:sp>
        <p:nvSpPr>
          <p:cNvPr id="11" name="math-source-R03-formula"/>
          <p:cNvSpPr txBox="1"/>
          <p:nvPr/>
        </p:nvSpPr>
        <p:spPr>
          <a:xfrm>
            <a:off x="411480" y="2340864"/>
            <a:ext cx="4800600" cy="687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R=(U^2)/(P)</a:t>
            </a:r>
          </a:p>
        </p:txBody>
      </p:sp>
      <p:pic>
        <p:nvPicPr>
          <p:cNvPr id="12" name="R03-formula" descr="R=\frac{U^2}{P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007170" cy="6872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7446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R03-details-0"/>
          <p:cNvSpPr txBox="1"/>
          <p:nvPr/>
        </p:nvSpPr>
        <p:spPr>
          <a:xfrm>
            <a:off x="1005840" y="317446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P skal være tabet i den samme 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9450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R03-details-1"/>
          <p:cNvSpPr txBox="1"/>
          <p:nvPr/>
        </p:nvSpPr>
        <p:spPr>
          <a:xfrm>
            <a:off x="1005840" y="349450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 og 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81454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8" name="R03-details-2"/>
          <p:cNvSpPr txBox="1"/>
          <p:nvPr/>
        </p:nvSpPr>
        <p:spPr>
          <a:xfrm>
            <a:off x="1005840" y="381454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Gælder ikke motorens mekaniske udgangseffekt.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04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R04 · Søger: Ledermodstand R [Ω]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[Ω·mm²/m], l [m], S [mm²]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leder; ρ ved relevant temperatur.</a:t>
            </a:r>
          </a:p>
        </p:txBody>
      </p:sp>
      <p:sp>
        <p:nvSpPr>
          <p:cNvPr id="23" name="math-source-R04-formula"/>
          <p:cNvSpPr txBox="1"/>
          <p:nvPr/>
        </p:nvSpPr>
        <p:spPr>
          <a:xfrm>
            <a:off x="5532120" y="2340864"/>
            <a:ext cx="4800600" cy="648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R=ρ(l)/(S)</a:t>
            </a:r>
          </a:p>
        </p:txBody>
      </p:sp>
      <p:pic>
        <p:nvPicPr>
          <p:cNvPr id="24" name="R04-formula" descr="R=\rho\frac{l}{S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340864"/>
            <a:ext cx="933685" cy="6483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532120" y="313556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6" name="R04-details-0"/>
          <p:cNvSpPr txBox="1"/>
          <p:nvPr/>
        </p:nvSpPr>
        <p:spPr>
          <a:xfrm>
            <a:off x="6126480" y="313556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identiske frem- og returledere bruges sløjfelængden:</a:t>
            </a:r>
          </a:p>
        </p:txBody>
      </p:sp>
      <p:sp>
        <p:nvSpPr>
          <p:cNvPr id="27" name="math-source-R04-details-1"/>
          <p:cNvSpPr txBox="1"/>
          <p:nvPr/>
        </p:nvSpPr>
        <p:spPr>
          <a:xfrm>
            <a:off x="6126480" y="3377876"/>
            <a:ext cx="4206240" cy="2813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l_sløjfe=2l</a:t>
            </a:r>
          </a:p>
        </p:txBody>
      </p:sp>
      <p:pic>
        <p:nvPicPr>
          <p:cNvPr id="28" name="R04-details-1" descr="l_{\mathrm{sløjfe}}=2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377876"/>
            <a:ext cx="879819" cy="28130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377805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0" name="R04-details-2"/>
          <p:cNvSpPr txBox="1"/>
          <p:nvPr/>
        </p:nvSpPr>
        <p:spPr>
          <a:xfrm>
            <a:off x="6126480" y="377805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Med ρ [Ω·m] skal S være i m².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409809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2" name="R04-details-3"/>
          <p:cNvSpPr txBox="1"/>
          <p:nvPr/>
        </p:nvSpPr>
        <p:spPr>
          <a:xfrm>
            <a:off x="6126480" y="409809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Et kabel med fire ledere på 10 mm² har pr. leder:</a:t>
            </a:r>
          </a:p>
        </p:txBody>
      </p:sp>
      <p:sp>
        <p:nvSpPr>
          <p:cNvPr id="33" name="math-source-R04-details-4"/>
          <p:cNvSpPr txBox="1"/>
          <p:nvPr/>
        </p:nvSpPr>
        <p:spPr>
          <a:xfrm>
            <a:off x="6126480" y="4340407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S=10 mm^2</a:t>
            </a:r>
          </a:p>
        </p:txBody>
      </p:sp>
      <p:pic>
        <p:nvPicPr>
          <p:cNvPr id="34" name="R04-details-4" descr="S=10\,\mathrm{mm}^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340407"/>
            <a:ext cx="1077329" cy="25436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471364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6" name="R04-details-5"/>
          <p:cNvSpPr txBox="1"/>
          <p:nvPr/>
        </p:nvSpPr>
        <p:spPr>
          <a:xfrm>
            <a:off x="6126480" y="471364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Kobber, pr. leder:</a:t>
            </a:r>
          </a:p>
        </p:txBody>
      </p:sp>
      <p:sp>
        <p:nvSpPr>
          <p:cNvPr id="37" name="math-source-R04-details-6"/>
          <p:cNvSpPr txBox="1"/>
          <p:nvPr/>
        </p:nvSpPr>
        <p:spPr>
          <a:xfrm>
            <a:off x="6126480" y="4955964"/>
            <a:ext cx="4206240" cy="5476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R=(0,0175 Omegamm^2·300 m)/(m·10 mm^2)</a:t>
            </a:r>
          </a:p>
        </p:txBody>
      </p:sp>
      <p:pic>
        <p:nvPicPr>
          <p:cNvPr id="38" name="R04-details-6" descr="R=\dfrac{0{,}0175\,\Omega\mathrm{mm}^2\cdot300\,\mathrm{m}}{\mathrm{m}\cdot10\,\mathrm{mm}^2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955964"/>
            <a:ext cx="2370124" cy="547642"/>
          </a:xfrm>
          <a:prstGeom prst="rect">
            <a:avLst/>
          </a:prstGeom>
        </p:spPr>
      </p:pic>
      <p:sp>
        <p:nvSpPr>
          <p:cNvPr id="39" name="math-source-R04-details-7"/>
          <p:cNvSpPr txBox="1"/>
          <p:nvPr/>
        </p:nvSpPr>
        <p:spPr>
          <a:xfrm>
            <a:off x="6126480" y="554475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R=0,525 Ω</a:t>
            </a:r>
          </a:p>
        </p:txBody>
      </p:sp>
      <p:pic>
        <p:nvPicPr>
          <p:cNvPr id="40" name="R04-details-7" descr="R=0{,}525\,\Omega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5544755"/>
            <a:ext cx="1122218" cy="251376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3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R05, R06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23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R05 · Søger: Varm modstand RT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 [Ω], αt [K⁻¹], T, t [°C]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metalmodel; α hører til referencen t.</a:t>
            </a:r>
          </a:p>
        </p:txBody>
      </p:sp>
      <p:sp>
        <p:nvSpPr>
          <p:cNvPr id="11" name="math-source-R05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R_T=R_t[1+α_t(T-t)]</a:t>
            </a:r>
          </a:p>
        </p:txBody>
      </p:sp>
      <p:pic>
        <p:nvPicPr>
          <p:cNvPr id="12" name="R05-formula" descr="R_T=R_t[1+\alpha_t(T-t)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779443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R05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Referencetemperatur:</a:t>
            </a:r>
          </a:p>
        </p:txBody>
      </p:sp>
      <p:sp>
        <p:nvSpPr>
          <p:cNvPr id="15" name="math-source-R05-details-1"/>
          <p:cNvSpPr txBox="1"/>
          <p:nvPr/>
        </p:nvSpPr>
        <p:spPr>
          <a:xfrm>
            <a:off x="1005840" y="30925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t=20 ^circC</a:t>
            </a:r>
          </a:p>
        </p:txBody>
      </p:sp>
      <p:pic>
        <p:nvPicPr>
          <p:cNvPr id="16" name="R05-details-1" descr="t=20\,{}^\circ\mathrm{C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92583"/>
            <a:ext cx="852885" cy="251376"/>
          </a:xfrm>
          <a:prstGeom prst="rect">
            <a:avLst/>
          </a:prstGeom>
        </p:spPr>
      </p:pic>
      <p:sp>
        <p:nvSpPr>
          <p:cNvPr id="17" name="R05-details-2"/>
          <p:cNvSpPr txBox="1"/>
          <p:nvPr/>
        </p:nvSpPr>
        <p:spPr>
          <a:xfrm>
            <a:off x="1005840" y="338510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materialetabellens</a:t>
            </a:r>
          </a:p>
        </p:txBody>
      </p:sp>
      <p:sp>
        <p:nvSpPr>
          <p:cNvPr id="18" name="math-source-R05-details-3"/>
          <p:cNvSpPr txBox="1"/>
          <p:nvPr/>
        </p:nvSpPr>
        <p:spPr>
          <a:xfrm>
            <a:off x="1005840" y="362742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α_20</a:t>
            </a:r>
          </a:p>
        </p:txBody>
      </p:sp>
      <p:pic>
        <p:nvPicPr>
          <p:cNvPr id="19" name="R05-details-3" descr="\alpha_{20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27424"/>
            <a:ext cx="332176" cy="2513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399767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21" name="R05-details-4"/>
          <p:cNvSpPr txBox="1"/>
          <p:nvPr/>
        </p:nvSpPr>
        <p:spPr>
          <a:xfrm>
            <a:off x="1005840" y="399767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Temperaturforskellens talværdi:</a:t>
            </a:r>
          </a:p>
        </p:txBody>
      </p:sp>
      <p:sp>
        <p:nvSpPr>
          <p:cNvPr id="22" name="math-source-R05-details-5"/>
          <p:cNvSpPr txBox="1"/>
          <p:nvPr/>
        </p:nvSpPr>
        <p:spPr>
          <a:xfrm>
            <a:off x="1005840" y="4239989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T[K]=Δ T[^circC]</a:t>
            </a:r>
          </a:p>
        </p:txBody>
      </p:sp>
      <p:pic>
        <p:nvPicPr>
          <p:cNvPr id="23" name="R05-details-5" descr="\Delta T[\mathrm{K}]=\Delta T[{}^\circ\mathrm{C}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39989"/>
            <a:ext cx="1574098" cy="2513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4610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5" name="R05-details-6"/>
          <p:cNvSpPr txBox="1"/>
          <p:nvPr/>
        </p:nvSpPr>
        <p:spPr>
          <a:xfrm>
            <a:off x="1005840" y="4610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Ikke en generel model for NTC/PTC eller stor temperaturændring.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R06 · Søger: Kold modstand Rt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 [Ω], αt [K⁻¹], T, t [°C]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lineære model og reference som R05.</a:t>
            </a:r>
          </a:p>
        </p:txBody>
      </p:sp>
      <p:sp>
        <p:nvSpPr>
          <p:cNvPr id="30" name="math-source-R06-formula"/>
          <p:cNvSpPr txBox="1"/>
          <p:nvPr/>
        </p:nvSpPr>
        <p:spPr>
          <a:xfrm>
            <a:off x="5532120" y="2340864"/>
            <a:ext cx="4800600" cy="7305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R_t=(R_T)/(1+α_t(T-t))</a:t>
            </a:r>
          </a:p>
        </p:txBody>
      </p:sp>
      <p:pic>
        <p:nvPicPr>
          <p:cNvPr id="31" name="R06-formula" descr="R_t=\frac{R_T}{1+\alpha_t(T-t)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2243438" cy="73052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32120" y="321769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3" name="R06-details-0"/>
          <p:cNvSpPr txBox="1"/>
          <p:nvPr/>
        </p:nvSpPr>
        <p:spPr>
          <a:xfrm>
            <a:off x="6126480" y="321769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Kontrollér nævneren og referencetemperaturen.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353773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5" name="R06-details-1"/>
          <p:cNvSpPr txBox="1"/>
          <p:nvPr/>
        </p:nvSpPr>
        <p:spPr>
          <a:xfrm>
            <a:off x="6126480" y="353773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Forskel i K eller °C.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38577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7" name="R06-details-2"/>
          <p:cNvSpPr txBox="1"/>
          <p:nvPr/>
        </p:nvSpPr>
        <p:spPr>
          <a:xfrm>
            <a:off x="6126480" y="38577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ikke</a:t>
            </a:r>
          </a:p>
        </p:txBody>
      </p:sp>
      <p:sp>
        <p:nvSpPr>
          <p:cNvPr id="38" name="math-source-R06-details-3"/>
          <p:cNvSpPr txBox="1"/>
          <p:nvPr/>
        </p:nvSpPr>
        <p:spPr>
          <a:xfrm>
            <a:off x="6126480" y="410008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α_20</a:t>
            </a:r>
          </a:p>
        </p:txBody>
      </p:sp>
      <p:pic>
        <p:nvPicPr>
          <p:cNvPr id="39" name="R06-details-3" descr="\alpha_{20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4100086"/>
            <a:ext cx="332176" cy="251376"/>
          </a:xfrm>
          <a:prstGeom prst="rect">
            <a:avLst/>
          </a:prstGeom>
        </p:spPr>
      </p:pic>
      <p:sp>
        <p:nvSpPr>
          <p:cNvPr id="40" name="R06-details-4"/>
          <p:cNvSpPr txBox="1"/>
          <p:nvPr/>
        </p:nvSpPr>
        <p:spPr>
          <a:xfrm>
            <a:off x="6126480" y="439261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ukritisk ved reference 0 °C.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3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R07, R08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24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7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R07 · Søger: Seriemodstand Rs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R1 … Rn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Én strømvej; samme strøm i alle R.</a:t>
            </a:r>
          </a:p>
        </p:txBody>
      </p:sp>
      <p:sp>
        <p:nvSpPr>
          <p:cNvPr id="11" name="math-source-R07-formula"/>
          <p:cNvSpPr txBox="1"/>
          <p:nvPr/>
        </p:nvSpPr>
        <p:spPr>
          <a:xfrm>
            <a:off x="411480" y="2340864"/>
            <a:ext cx="4800600" cy="812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R_s=Σ_k=1^nR_k</a:t>
            </a:r>
          </a:p>
        </p:txBody>
      </p:sp>
      <p:pic>
        <p:nvPicPr>
          <p:cNvPr id="12" name="R07-formula" descr="R_s=\sum_{k=1}^{n}R_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456722" cy="8126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9982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R07-details-0"/>
          <p:cNvSpPr txBox="1"/>
          <p:nvPr/>
        </p:nvSpPr>
        <p:spPr>
          <a:xfrm>
            <a:off x="1005840" y="329982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Spændinger og effekter summeres også.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61986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R07-details-1"/>
          <p:cNvSpPr txBox="1"/>
          <p:nvPr/>
        </p:nvSpPr>
        <p:spPr>
          <a:xfrm>
            <a:off x="1005840" y="361986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R i samme enhed.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9399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8" name="R07-details-2"/>
          <p:cNvSpPr txBox="1"/>
          <p:nvPr/>
        </p:nvSpPr>
        <p:spPr>
          <a:xfrm>
            <a:off x="1005840" y="393990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 i separate strømveje er ikke i serie.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5994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0" name="math-source-R07-details-3"/>
          <p:cNvSpPr txBox="1"/>
          <p:nvPr/>
        </p:nvSpPr>
        <p:spPr>
          <a:xfrm>
            <a:off x="1005840" y="425994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R_s=200 Ω+160 Ω+140 Ω</a:t>
            </a:r>
          </a:p>
        </p:txBody>
      </p:sp>
      <p:pic>
        <p:nvPicPr>
          <p:cNvPr id="21" name="R07-details-3" descr="R_s=200\,\Omega+160\,\Omega+140\,\Omeg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259940"/>
            <a:ext cx="2546687" cy="251376"/>
          </a:xfrm>
          <a:prstGeom prst="rect">
            <a:avLst/>
          </a:prstGeom>
        </p:spPr>
      </p:pic>
      <p:sp>
        <p:nvSpPr>
          <p:cNvPr id="22" name="math-source-R07-details-4"/>
          <p:cNvSpPr txBox="1"/>
          <p:nvPr/>
        </p:nvSpPr>
        <p:spPr>
          <a:xfrm>
            <a:off x="1005840" y="455246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R_s=500 Ω</a:t>
            </a:r>
          </a:p>
        </p:txBody>
      </p:sp>
      <p:pic>
        <p:nvPicPr>
          <p:cNvPr id="23" name="R07-details-4" descr="R_s=500\,\Omeg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552465"/>
            <a:ext cx="1023462" cy="25137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08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R08 · Søger: Parallelmodstand Rp [Ω]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R1 … Rn [Ω]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Alle R mellem de samme to knuder.</a:t>
            </a:r>
          </a:p>
        </p:txBody>
      </p:sp>
      <p:sp>
        <p:nvSpPr>
          <p:cNvPr id="28" name="math-source-R08-formula"/>
          <p:cNvSpPr txBox="1"/>
          <p:nvPr/>
        </p:nvSpPr>
        <p:spPr>
          <a:xfrm>
            <a:off x="5532120" y="2340864"/>
            <a:ext cx="4800600" cy="8169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R_p=(Σ_k=1^n(1)/(R_k))^-1</a:t>
            </a:r>
          </a:p>
        </p:txBody>
      </p:sp>
      <p:pic>
        <p:nvPicPr>
          <p:cNvPr id="29" name="R08-formula" descr="R_p=\left(\sum_{k=1}^{n}\frac{1}{R_k}\right)^{-1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2234793" cy="81697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330414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1" name="R08-details-0"/>
          <p:cNvSpPr txBox="1"/>
          <p:nvPr/>
        </p:nvSpPr>
        <p:spPr>
          <a:xfrm>
            <a:off x="6126480" y="330414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To parallelle modstande:</a:t>
            </a:r>
          </a:p>
        </p:txBody>
      </p:sp>
      <p:sp>
        <p:nvSpPr>
          <p:cNvPr id="32" name="math-source-R08-details-1"/>
          <p:cNvSpPr txBox="1"/>
          <p:nvPr/>
        </p:nvSpPr>
        <p:spPr>
          <a:xfrm>
            <a:off x="6126480" y="3546458"/>
            <a:ext cx="420624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R_p=(R_1R_2)/(R_1+R_2)</a:t>
            </a:r>
          </a:p>
        </p:txBody>
      </p:sp>
      <p:pic>
        <p:nvPicPr>
          <p:cNvPr id="33" name="R08-details-1" descr="R_p=\dfrac{R_1R_2}{R_1+R_2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546458"/>
            <a:ext cx="1188054" cy="4937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415910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5" name="R08-details-2"/>
          <p:cNvSpPr txBox="1"/>
          <p:nvPr/>
        </p:nvSpPr>
        <p:spPr>
          <a:xfrm>
            <a:off x="6126480" y="415910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R i samme enhed.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447914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7" name="R08-details-3"/>
          <p:cNvSpPr txBox="1"/>
          <p:nvPr/>
        </p:nvSpPr>
        <p:spPr>
          <a:xfrm>
            <a:off x="6126480" y="4479146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Parallelmodstanden skal være mindre end den mindste</a:t>
            </a:r>
            <a:br/>
            <a:r>
              <a:t>grenmodstand.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500035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9" name="math-source-R08-details-4"/>
          <p:cNvSpPr txBox="1"/>
          <p:nvPr/>
        </p:nvSpPr>
        <p:spPr>
          <a:xfrm>
            <a:off x="6126480" y="5000354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R_p=((1)/(125 Ω)+(1)/(100 Ω)+(1)/(40 Ω))^-1</a:t>
            </a:r>
          </a:p>
        </p:txBody>
      </p:sp>
      <p:pic>
        <p:nvPicPr>
          <p:cNvPr id="40" name="R08-details-4" descr="R_p=\left(\dfrac{1}{125\,\Omega}+\dfrac{1}{100\,\Omega}+\dfrac{1}{40\,\Omega}\right)^{-1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5000354"/>
            <a:ext cx="2971633" cy="445894"/>
          </a:xfrm>
          <a:prstGeom prst="rect">
            <a:avLst/>
          </a:prstGeom>
        </p:spPr>
      </p:pic>
      <p:sp>
        <p:nvSpPr>
          <p:cNvPr id="41" name="math-source-R08-details-5"/>
          <p:cNvSpPr txBox="1"/>
          <p:nvPr/>
        </p:nvSpPr>
        <p:spPr>
          <a:xfrm>
            <a:off x="6126480" y="5487397"/>
            <a:ext cx="4206240" cy="2753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R_p=23,256 Ω</a:t>
            </a:r>
          </a:p>
        </p:txBody>
      </p:sp>
      <p:pic>
        <p:nvPicPr>
          <p:cNvPr id="42" name="R08-details-5" descr="R_p=23{,}256\,\Omeg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5487397"/>
            <a:ext cx="1325713" cy="275317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5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R09, R10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25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9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R09 · Søger: Indre modstand ri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Ukl [V], </a:t>
            </a:r>
            <a:r>
              <a:rPr>
                <a:latin typeface="Cambria Math"/>
              </a:rPr>
              <a:t>I</a:t>
            </a:r>
            <a:r>
              <a:t>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Belastet DC-kilde; afladning.</a:t>
            </a:r>
          </a:p>
        </p:txBody>
      </p:sp>
      <p:sp>
        <p:nvSpPr>
          <p:cNvPr id="11" name="math-source-R09-formula"/>
          <p:cNvSpPr txBox="1"/>
          <p:nvPr/>
        </p:nvSpPr>
        <p:spPr>
          <a:xfrm>
            <a:off x="411480" y="2340864"/>
            <a:ext cx="4800600" cy="678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r_i=fracE-U_klI</a:t>
            </a:r>
          </a:p>
        </p:txBody>
      </p:sp>
      <p:pic>
        <p:nvPicPr>
          <p:cNvPr id="12" name="R09-formula" descr="r_i=\frac{E-U_{\mathrm{kl}}}{I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556142" cy="6786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6581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R09-details-0"/>
          <p:cNvSpPr txBox="1"/>
          <p:nvPr/>
        </p:nvSpPr>
        <p:spPr>
          <a:xfrm>
            <a:off x="1005840" y="316581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Find kildens EMK ved tomgang:</a:t>
            </a:r>
          </a:p>
        </p:txBody>
      </p:sp>
      <p:sp>
        <p:nvSpPr>
          <p:cNvPr id="15" name="math-source-R09-details-1"/>
          <p:cNvSpPr txBox="1"/>
          <p:nvPr/>
        </p:nvSpPr>
        <p:spPr>
          <a:xfrm>
            <a:off x="1005840" y="340813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=0</a:t>
            </a:r>
          </a:p>
        </p:txBody>
      </p:sp>
      <p:pic>
        <p:nvPicPr>
          <p:cNvPr id="16" name="R09-details-1" descr="I=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08135"/>
            <a:ext cx="457865" cy="2513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77838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R09-details-2"/>
          <p:cNvSpPr txBox="1"/>
          <p:nvPr/>
        </p:nvSpPr>
        <p:spPr>
          <a:xfrm>
            <a:off x="1005840" y="377838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 og 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09842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R09-details-3"/>
          <p:cNvSpPr txBox="1"/>
          <p:nvPr/>
        </p:nvSpPr>
        <p:spPr>
          <a:xfrm>
            <a:off x="1005840" y="409842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Målingerne skal være ved samme kildetilstand.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41846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2" name="math-source-R09-details-4"/>
          <p:cNvSpPr txBox="1"/>
          <p:nvPr/>
        </p:nvSpPr>
        <p:spPr>
          <a:xfrm>
            <a:off x="1005840" y="4418463"/>
            <a:ext cx="4206240" cy="484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r_i=((12,4-11,2) V)/(6 A)=0,2 Ω</a:t>
            </a:r>
          </a:p>
        </p:txBody>
      </p:sp>
      <p:pic>
        <p:nvPicPr>
          <p:cNvPr id="23" name="R09-details-4" descr="r_i=\dfrac{(12{,}4-11{,}2)\,\mathrm{V}}{6\,\mathrm{A}}=0{,}2\,\Omeg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418463"/>
            <a:ext cx="2510776" cy="484798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10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R10 · Søger: Resistans R [Ω]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G [S]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komponent.</a:t>
            </a:r>
          </a:p>
        </p:txBody>
      </p:sp>
      <p:sp>
        <p:nvSpPr>
          <p:cNvPr id="28" name="math-source-R10-formula"/>
          <p:cNvSpPr txBox="1"/>
          <p:nvPr/>
        </p:nvSpPr>
        <p:spPr>
          <a:xfrm>
            <a:off x="553212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R=(1)/(G)</a:t>
            </a:r>
          </a:p>
        </p:txBody>
      </p:sp>
      <p:pic>
        <p:nvPicPr>
          <p:cNvPr id="29" name="R10-formula" descr="R=\frac{1}{G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838587" cy="64407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1" name="R10-details-0"/>
          <p:cNvSpPr txBox="1"/>
          <p:nvPr/>
        </p:nvSpPr>
        <p:spPr>
          <a:xfrm>
            <a:off x="6126480" y="3131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For en leder findes først:</a:t>
            </a:r>
          </a:p>
        </p:txBody>
      </p:sp>
      <p:sp>
        <p:nvSpPr>
          <p:cNvPr id="32" name="math-source-R10-details-1"/>
          <p:cNvSpPr txBox="1"/>
          <p:nvPr/>
        </p:nvSpPr>
        <p:spPr>
          <a:xfrm>
            <a:off x="6126480" y="3373554"/>
            <a:ext cx="4206240" cy="448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G=γ(S)/(l)</a:t>
            </a:r>
          </a:p>
        </p:txBody>
      </p:sp>
      <p:pic>
        <p:nvPicPr>
          <p:cNvPr id="33" name="R10-details-1" descr="G=\gamma\dfrac{S}{l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373554"/>
            <a:ext cx="649390" cy="44888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394131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5" name="math-source-R10-details-2"/>
          <p:cNvSpPr txBox="1"/>
          <p:nvPr/>
        </p:nvSpPr>
        <p:spPr>
          <a:xfrm>
            <a:off x="6126480" y="3941313"/>
            <a:ext cx="4206240" cy="4788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G[S]=(G[mS])/(1000)</a:t>
            </a:r>
          </a:p>
        </p:txBody>
      </p:sp>
      <p:pic>
        <p:nvPicPr>
          <p:cNvPr id="36" name="R10-details-2" descr="G[\mathrm{S}]=\dfrac{G[\mathrm{mS}]}{1000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941313"/>
            <a:ext cx="1340676" cy="47881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32120" y="453899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8" name="R10-details-3"/>
          <p:cNvSpPr txBox="1"/>
          <p:nvPr/>
        </p:nvSpPr>
        <p:spPr>
          <a:xfrm>
            <a:off x="6126480" y="453899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Specifik γ og komponentens G er forskellige.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1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G03, G04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26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G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G03 · Søger: Resistivitet 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[Ω], l [m], S [mm²]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 ved kendt temperatur.</a:t>
            </a:r>
          </a:p>
        </p:txBody>
      </p:sp>
      <p:sp>
        <p:nvSpPr>
          <p:cNvPr id="11" name="math-source-G03-formula"/>
          <p:cNvSpPr txBox="1"/>
          <p:nvPr/>
        </p:nvSpPr>
        <p:spPr>
          <a:xfrm>
            <a:off x="411480" y="2340864"/>
            <a:ext cx="4800600" cy="648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ρ=(R S)/(l)</a:t>
            </a:r>
          </a:p>
        </p:txBody>
      </p:sp>
      <p:pic>
        <p:nvPicPr>
          <p:cNvPr id="12" name="G03-formula" descr="\rho=\frac{R S}{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942330" cy="6483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3556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G03-details-0"/>
          <p:cNvSpPr txBox="1"/>
          <p:nvPr/>
        </p:nvSpPr>
        <p:spPr>
          <a:xfrm>
            <a:off x="1005840" y="313556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enten mm²-systemet eller SI konsekvent.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556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G03-details-1"/>
          <p:cNvSpPr txBox="1"/>
          <p:nvPr/>
        </p:nvSpPr>
        <p:spPr>
          <a:xfrm>
            <a:off x="1005840" y="345560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 i mm² giver ρ i Ω·mm²/m.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77564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8" name="G03-details-2"/>
          <p:cNvSpPr txBox="1"/>
          <p:nvPr/>
        </p:nvSpPr>
        <p:spPr>
          <a:xfrm>
            <a:off x="1005840" y="377564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Materialeværdi, ikke hele lederens modstand.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04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G04 · Søger: Tværsnit S [mm²]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[Ω·mm²/m], l [m], R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leder; kendt materialeværdi.</a:t>
            </a:r>
          </a:p>
        </p:txBody>
      </p:sp>
      <p:sp>
        <p:nvSpPr>
          <p:cNvPr id="23" name="math-source-G04-formula"/>
          <p:cNvSpPr txBox="1"/>
          <p:nvPr/>
        </p:nvSpPr>
        <p:spPr>
          <a:xfrm>
            <a:off x="5532120" y="2340864"/>
            <a:ext cx="4800600" cy="6397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S=ρ(l)/(R)</a:t>
            </a:r>
          </a:p>
        </p:txBody>
      </p:sp>
      <p:pic>
        <p:nvPicPr>
          <p:cNvPr id="24" name="G04-formula" descr="S=\rho\frac{l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340864"/>
            <a:ext cx="929362" cy="63974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532120" y="312691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6" name="G04-details-0"/>
          <p:cNvSpPr txBox="1"/>
          <p:nvPr/>
        </p:nvSpPr>
        <p:spPr>
          <a:xfrm>
            <a:off x="6126480" y="312691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Rund leder med diameter d:</a:t>
            </a:r>
          </a:p>
        </p:txBody>
      </p:sp>
      <p:sp>
        <p:nvSpPr>
          <p:cNvPr id="27" name="math-source-G04-details-1"/>
          <p:cNvSpPr txBox="1"/>
          <p:nvPr/>
        </p:nvSpPr>
        <p:spPr>
          <a:xfrm>
            <a:off x="6126480" y="3369231"/>
            <a:ext cx="4206240" cy="4818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S=(π d^2)/(4)</a:t>
            </a:r>
          </a:p>
        </p:txBody>
      </p:sp>
      <p:pic>
        <p:nvPicPr>
          <p:cNvPr id="28" name="G04-details-1" descr="S=\dfrac{\pi d^2}{4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369231"/>
            <a:ext cx="733182" cy="48180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396990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0" name="G04-details-2"/>
          <p:cNvSpPr txBox="1"/>
          <p:nvPr/>
        </p:nvSpPr>
        <p:spPr>
          <a:xfrm>
            <a:off x="6126480" y="396990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Med SI-ρ fås S i m².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428994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2" name="G04-details-3"/>
          <p:cNvSpPr txBox="1"/>
          <p:nvPr/>
        </p:nvSpPr>
        <p:spPr>
          <a:xfrm>
            <a:off x="6126480" y="428994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Radius og diameter giver forskellige arealformler.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460998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4" name="G04-details-4"/>
          <p:cNvSpPr txBox="1"/>
          <p:nvPr/>
        </p:nvSpPr>
        <p:spPr>
          <a:xfrm>
            <a:off x="6126480" y="460998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Aluminium:</a:t>
            </a:r>
          </a:p>
        </p:txBody>
      </p:sp>
      <p:sp>
        <p:nvSpPr>
          <p:cNvPr id="35" name="math-source-G04-details-5"/>
          <p:cNvSpPr txBox="1"/>
          <p:nvPr/>
        </p:nvSpPr>
        <p:spPr>
          <a:xfrm>
            <a:off x="6126480" y="4852305"/>
            <a:ext cx="4206240" cy="538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S=(0,029 Omegamm^2·500 m)/(m·0,740 Ω)</a:t>
            </a:r>
          </a:p>
        </p:txBody>
      </p:sp>
      <p:pic>
        <p:nvPicPr>
          <p:cNvPr id="36" name="G04-details-5" descr="S=\dfrac{0{,}029\,\Omega\mathrm{mm}^2\cdot500\,\mathrm{m}}{\mathrm{m}\cdot0{,}740\,\Omeg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852305"/>
            <a:ext cx="2229473" cy="538664"/>
          </a:xfrm>
          <a:prstGeom prst="rect">
            <a:avLst/>
          </a:prstGeom>
        </p:spPr>
      </p:pic>
      <p:sp>
        <p:nvSpPr>
          <p:cNvPr id="37" name="math-source-G04-details-6"/>
          <p:cNvSpPr txBox="1"/>
          <p:nvPr/>
        </p:nvSpPr>
        <p:spPr>
          <a:xfrm>
            <a:off x="6126480" y="5432117"/>
            <a:ext cx="4206240" cy="2783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S=19,595 mm^2</a:t>
            </a:r>
          </a:p>
        </p:txBody>
      </p:sp>
      <p:pic>
        <p:nvPicPr>
          <p:cNvPr id="38" name="G04-details-6" descr="S=19{,}595\,\mathrm{mm}^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5432117"/>
            <a:ext cx="1478335" cy="27831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1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G05, G06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27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G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G05 · Søger: Lederlængde l [m]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[Ω], S [mm²], ρ [Ω·mm²/m]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leder.</a:t>
            </a:r>
          </a:p>
        </p:txBody>
      </p:sp>
      <p:sp>
        <p:nvSpPr>
          <p:cNvPr id="11" name="math-source-G05-formula"/>
          <p:cNvSpPr txBox="1"/>
          <p:nvPr/>
        </p:nvSpPr>
        <p:spPr>
          <a:xfrm>
            <a:off x="411480" y="2340864"/>
            <a:ext cx="4800600" cy="631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l=(R S)/(ρ)</a:t>
            </a:r>
          </a:p>
        </p:txBody>
      </p:sp>
      <p:pic>
        <p:nvPicPr>
          <p:cNvPr id="12" name="G05-formula" descr="l=\frac{R S}{\rho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855878" cy="6311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182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G05-details-0"/>
          <p:cNvSpPr txBox="1"/>
          <p:nvPr/>
        </p:nvSpPr>
        <p:spPr>
          <a:xfrm>
            <a:off x="1005840" y="31182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Afklar om R er én leder eller en hel sløjfe.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3831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G05-details-1"/>
          <p:cNvSpPr txBox="1"/>
          <p:nvPr/>
        </p:nvSpPr>
        <p:spPr>
          <a:xfrm>
            <a:off x="1005840" y="3438310"/>
            <a:ext cx="4206240" cy="4788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R[Ω]=(R[mΩ])/(1000)</a:t>
            </a:r>
          </a:p>
        </p:txBody>
      </p:sp>
      <p:pic>
        <p:nvPicPr>
          <p:cNvPr id="17" name="G05-details-1" descr="R[\Omega]=\dfrac{R[\mathrm{m}\Omega]}{1000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38310"/>
            <a:ext cx="1376587" cy="47881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403599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9" name="G05-details-2"/>
          <p:cNvSpPr txBox="1"/>
          <p:nvPr/>
        </p:nvSpPr>
        <p:spPr>
          <a:xfrm>
            <a:off x="1005840" y="403599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Sløjfens samlede længde er frem + retur.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35603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1" name="G05-details-3"/>
          <p:cNvSpPr txBox="1"/>
          <p:nvPr/>
        </p:nvSpPr>
        <p:spPr>
          <a:xfrm>
            <a:off x="1005840" y="435603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Kobber:</a:t>
            </a:r>
          </a:p>
        </p:txBody>
      </p:sp>
      <p:sp>
        <p:nvSpPr>
          <p:cNvPr id="22" name="math-source-G05-details-4"/>
          <p:cNvSpPr txBox="1"/>
          <p:nvPr/>
        </p:nvSpPr>
        <p:spPr>
          <a:xfrm>
            <a:off x="1005840" y="4598351"/>
            <a:ext cx="4206240" cy="574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l=(0,080 Ω·10 mm^2)/(0,0175 Omegamm^2/m)</a:t>
            </a:r>
          </a:p>
        </p:txBody>
      </p:sp>
      <p:pic>
        <p:nvPicPr>
          <p:cNvPr id="23" name="G05-details-4" descr="l=\dfrac{0{,}080\,\Omega\cdot10\,\mathrm{mm}^2}{0{,}0175\,\Omega\mathrm{mm}^2/\mathrm{m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598351"/>
            <a:ext cx="1885326" cy="574575"/>
          </a:xfrm>
          <a:prstGeom prst="rect">
            <a:avLst/>
          </a:prstGeom>
        </p:spPr>
      </p:pic>
      <p:sp>
        <p:nvSpPr>
          <p:cNvPr id="24" name="math-source-G05-details-5"/>
          <p:cNvSpPr txBox="1"/>
          <p:nvPr/>
        </p:nvSpPr>
        <p:spPr>
          <a:xfrm>
            <a:off x="1005840" y="521407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l=45,714 m</a:t>
            </a:r>
          </a:p>
        </p:txBody>
      </p:sp>
      <p:pic>
        <p:nvPicPr>
          <p:cNvPr id="25" name="G05-details-5" descr="l=45{,}714\,\mathrm{m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214075"/>
            <a:ext cx="1170099" cy="251376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G06 · Søger: Temperaturstigning ΔT [K]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RT, Rt [Ω], αt [K⁻¹]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metalmodel med kendt t.</a:t>
            </a:r>
          </a:p>
        </p:txBody>
      </p:sp>
      <p:sp>
        <p:nvSpPr>
          <p:cNvPr id="30" name="math-source-G06-formula"/>
          <p:cNvSpPr txBox="1"/>
          <p:nvPr/>
        </p:nvSpPr>
        <p:spPr>
          <a:xfrm>
            <a:off x="5532120" y="2340864"/>
            <a:ext cx="4800600" cy="7175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T=(R_T-R_t)/(R_tα_t)</a:t>
            </a:r>
          </a:p>
        </p:txBody>
      </p:sp>
      <p:pic>
        <p:nvPicPr>
          <p:cNvPr id="31" name="G06-formula" descr="\Delta T=\frac{R_T-R_t}{R_t\alpha_t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1763628" cy="71755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32120" y="320472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3" name="G06-details-0"/>
          <p:cNvSpPr txBox="1"/>
          <p:nvPr/>
        </p:nvSpPr>
        <p:spPr>
          <a:xfrm>
            <a:off x="6126480" y="320472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Den endelige temperatur:</a:t>
            </a:r>
          </a:p>
        </p:txBody>
      </p:sp>
      <p:sp>
        <p:nvSpPr>
          <p:cNvPr id="34" name="math-source-G06-details-1"/>
          <p:cNvSpPr txBox="1"/>
          <p:nvPr/>
        </p:nvSpPr>
        <p:spPr>
          <a:xfrm>
            <a:off x="6126480" y="344703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T=t+Δ T</a:t>
            </a:r>
          </a:p>
        </p:txBody>
      </p:sp>
      <p:pic>
        <p:nvPicPr>
          <p:cNvPr id="35" name="G06-details-1" descr="T=t+\Delta 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447038"/>
            <a:ext cx="996529" cy="2513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532120" y="381728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7" name="G06-details-2"/>
          <p:cNvSpPr txBox="1"/>
          <p:nvPr/>
        </p:nvSpPr>
        <p:spPr>
          <a:xfrm>
            <a:off x="6126480" y="381728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ΔT i K har samme talværdi som °C.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13732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9" name="G06-details-3"/>
          <p:cNvSpPr txBox="1"/>
          <p:nvPr/>
        </p:nvSpPr>
        <p:spPr>
          <a:xfrm>
            <a:off x="6126480" y="413732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En stigning på 32,7 K fra 20 °C giver 52,7 °C.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44573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1" name="math-source-G06-details-4"/>
          <p:cNvSpPr txBox="1"/>
          <p:nvPr/>
        </p:nvSpPr>
        <p:spPr>
          <a:xfrm>
            <a:off x="6126480" y="4457367"/>
            <a:ext cx="4206240" cy="544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T=dfrac(475-420) Ω420 Ω·0,004 K^-1</a:t>
            </a:r>
          </a:p>
        </p:txBody>
      </p:sp>
      <p:pic>
        <p:nvPicPr>
          <p:cNvPr id="42" name="G06-details-4" descr="\Delta T=\dfrac{(475-420)\,\Omega}{420\,\Omega\cdot0{,}004\,\mathrm{K}^{-1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457367"/>
            <a:ext cx="2145681" cy="544649"/>
          </a:xfrm>
          <a:prstGeom prst="rect">
            <a:avLst/>
          </a:prstGeom>
        </p:spPr>
      </p:pic>
      <p:sp>
        <p:nvSpPr>
          <p:cNvPr id="43" name="math-source-G06-details-5"/>
          <p:cNvSpPr txBox="1"/>
          <p:nvPr/>
        </p:nvSpPr>
        <p:spPr>
          <a:xfrm>
            <a:off x="6126480" y="504316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T=32,738 K</a:t>
            </a:r>
          </a:p>
        </p:txBody>
      </p:sp>
      <p:pic>
        <p:nvPicPr>
          <p:cNvPr id="44" name="G06-details-5" descr="\Delta T=32{,}738\,\mathrm{K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5043165"/>
            <a:ext cx="1385565" cy="251376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av-back-index" descr="Til indeks">
            <a:hlinkClick action="ppaction://hlinksldjump" r:id="rId11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7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G01, G02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28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G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G01 · Søger: Konduktans G [S]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 eller </a:t>
            </a:r>
            <a:r>
              <a:rPr>
                <a:latin typeface="Cambria Math"/>
              </a:rPr>
              <a:t>I</a:t>
            </a:r>
            <a:r>
              <a:t> [A], U [V]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ohmske komponent.</a:t>
            </a:r>
          </a:p>
        </p:txBody>
      </p:sp>
      <p:sp>
        <p:nvSpPr>
          <p:cNvPr id="11" name="math-source-G01-formula"/>
          <p:cNvSpPr txBox="1"/>
          <p:nvPr/>
        </p:nvSpPr>
        <p:spPr>
          <a:xfrm>
            <a:off x="411480" y="2340864"/>
            <a:ext cx="4800600" cy="6397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G=(1)/(R)=(</a:t>
            </a:r>
            <a:r>
              <a:rPr>
                <a:latin typeface="Cambria Math"/>
              </a:rPr>
              <a:t>I</a:t>
            </a:r>
            <a:r>
              <a:t>)/(U)</a:t>
            </a:r>
          </a:p>
        </p:txBody>
      </p:sp>
      <p:pic>
        <p:nvPicPr>
          <p:cNvPr id="12" name="G01-formula" descr="G=\frac{1}{R}=\frac{I}{U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448077" cy="6397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2691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G01-details-0"/>
          <p:cNvSpPr txBox="1"/>
          <p:nvPr/>
        </p:nvSpPr>
        <p:spPr>
          <a:xfrm>
            <a:off x="1005840" y="312691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Ensartet leder:</a:t>
            </a:r>
          </a:p>
        </p:txBody>
      </p:sp>
      <p:sp>
        <p:nvSpPr>
          <p:cNvPr id="15" name="math-source-G01-details-1"/>
          <p:cNvSpPr txBox="1"/>
          <p:nvPr/>
        </p:nvSpPr>
        <p:spPr>
          <a:xfrm>
            <a:off x="1005840" y="3369231"/>
            <a:ext cx="4206240" cy="448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G=γ(S)/(l)</a:t>
            </a:r>
          </a:p>
        </p:txBody>
      </p:sp>
      <p:pic>
        <p:nvPicPr>
          <p:cNvPr id="16" name="G01-details-1" descr="G=\gamma\dfrac{S}{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69231"/>
            <a:ext cx="649390" cy="44888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93699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G01-details-2"/>
          <p:cNvSpPr txBox="1"/>
          <p:nvPr/>
        </p:nvSpPr>
        <p:spPr>
          <a:xfrm>
            <a:off x="1005840" y="3936990"/>
            <a:ext cx="4206240" cy="4429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S=(1)/(Ω)</a:t>
            </a:r>
          </a:p>
        </p:txBody>
      </p:sp>
      <p:pic>
        <p:nvPicPr>
          <p:cNvPr id="19" name="G01-details-2" descr="1\,\mathrm{S}=\dfrac{1}{\Omeg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36990"/>
            <a:ext cx="712234" cy="44290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49876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G01-details-3"/>
          <p:cNvSpPr txBox="1"/>
          <p:nvPr/>
        </p:nvSpPr>
        <p:spPr>
          <a:xfrm>
            <a:off x="1005840" y="449876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 [S] og tværsnit S [mm²] er forskellige størrelser.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G02 · Søger: Specifik ledningsevne 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i kendt enhed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Materialeværdi ved samme temperatur.</a:t>
            </a:r>
          </a:p>
        </p:txBody>
      </p:sp>
      <p:sp>
        <p:nvSpPr>
          <p:cNvPr id="26" name="math-source-G02-formula"/>
          <p:cNvSpPr txBox="1"/>
          <p:nvPr/>
        </p:nvSpPr>
        <p:spPr>
          <a:xfrm>
            <a:off x="5532120" y="2340864"/>
            <a:ext cx="4800600" cy="631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γ=(1)/(ρ)</a:t>
            </a:r>
          </a:p>
        </p:txBody>
      </p:sp>
      <p:pic>
        <p:nvPicPr>
          <p:cNvPr id="27" name="G02-formula" descr="\gamma=\frac{1}{\rho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695941" cy="63110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32120" y="31182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9" name="G02-details-0"/>
          <p:cNvSpPr txBox="1"/>
          <p:nvPr/>
        </p:nvSpPr>
        <p:spPr>
          <a:xfrm>
            <a:off x="6126480" y="31182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SI-enhed for ledningsevne:</a:t>
            </a:r>
          </a:p>
        </p:txBody>
      </p:sp>
      <p:sp>
        <p:nvSpPr>
          <p:cNvPr id="30" name="math-source-G02-details-1"/>
          <p:cNvSpPr txBox="1"/>
          <p:nvPr/>
        </p:nvSpPr>
        <p:spPr>
          <a:xfrm>
            <a:off x="6126480" y="3360586"/>
            <a:ext cx="4206240" cy="3860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(S)/(m)</a:t>
            </a:r>
          </a:p>
        </p:txBody>
      </p:sp>
      <p:pic>
        <p:nvPicPr>
          <p:cNvPr id="31" name="G02-details-1" descr="\dfrac{\mathrm{S}}{\mathrm{m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360586"/>
            <a:ext cx="227436" cy="386043"/>
          </a:xfrm>
          <a:prstGeom prst="rect">
            <a:avLst/>
          </a:prstGeom>
        </p:spPr>
      </p:pic>
      <p:sp>
        <p:nvSpPr>
          <p:cNvPr id="32" name="G02-details-2"/>
          <p:cNvSpPr txBox="1"/>
          <p:nvPr/>
        </p:nvSpPr>
        <p:spPr>
          <a:xfrm>
            <a:off x="6126480" y="378777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Med resistivitet i Ω·mm²/m:</a:t>
            </a:r>
          </a:p>
        </p:txBody>
      </p:sp>
      <p:sp>
        <p:nvSpPr>
          <p:cNvPr id="33" name="math-source-G02-details-3"/>
          <p:cNvSpPr txBox="1"/>
          <p:nvPr/>
        </p:nvSpPr>
        <p:spPr>
          <a:xfrm>
            <a:off x="6126480" y="4030093"/>
            <a:ext cx="4206240" cy="4249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(m)/(Ωcdotmm^2)</a:t>
            </a:r>
          </a:p>
        </p:txBody>
      </p:sp>
      <p:pic>
        <p:nvPicPr>
          <p:cNvPr id="34" name="G02-details-3" descr="\dfrac{\mathrm{m}}{\Omega\cdot\mathrm{mm}^2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030093"/>
            <a:ext cx="802011" cy="42494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457391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6" name="G02-details-4"/>
          <p:cNvSpPr txBox="1"/>
          <p:nvPr/>
        </p:nvSpPr>
        <p:spPr>
          <a:xfrm>
            <a:off x="6126480" y="457391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Omregn ρ først ved skift til SI.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489395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8" name="G02-details-5"/>
          <p:cNvSpPr txBox="1"/>
          <p:nvPr/>
        </p:nvSpPr>
        <p:spPr>
          <a:xfrm>
            <a:off x="6126480" y="489395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Konduktans G afhænger også af geometri.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521399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0" name="G02-details-6"/>
          <p:cNvSpPr txBox="1"/>
          <p:nvPr/>
        </p:nvSpPr>
        <p:spPr>
          <a:xfrm>
            <a:off x="6126480" y="521399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Aluminium:</a:t>
            </a:r>
          </a:p>
        </p:txBody>
      </p:sp>
      <p:sp>
        <p:nvSpPr>
          <p:cNvPr id="41" name="math-source-G02-details-7"/>
          <p:cNvSpPr txBox="1"/>
          <p:nvPr/>
        </p:nvSpPr>
        <p:spPr>
          <a:xfrm>
            <a:off x="6126480" y="5456307"/>
            <a:ext cx="4206240" cy="5057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γ=(1)/(0,029 Omegamm^2/m)</a:t>
            </a:r>
          </a:p>
        </p:txBody>
      </p:sp>
      <p:pic>
        <p:nvPicPr>
          <p:cNvPr id="42" name="G02-details-7" descr="\gamma=\dfrac{1}{0{,}029\,\Omega\mathrm{mm}^2/\mathrm{m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5456307"/>
            <a:ext cx="1768615" cy="505746"/>
          </a:xfrm>
          <a:prstGeom prst="rect">
            <a:avLst/>
          </a:prstGeom>
        </p:spPr>
      </p:pic>
      <p:sp>
        <p:nvSpPr>
          <p:cNvPr id="43" name="math-source-G02-details-8"/>
          <p:cNvSpPr txBox="1"/>
          <p:nvPr/>
        </p:nvSpPr>
        <p:spPr>
          <a:xfrm>
            <a:off x="6126480" y="6003202"/>
            <a:ext cx="4206240" cy="4249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γ=34,483 (m)/(Omegamm^2)</a:t>
            </a:r>
          </a:p>
        </p:txBody>
      </p:sp>
      <p:pic>
        <p:nvPicPr>
          <p:cNvPr id="44" name="G02-details-8" descr="\gamma=34{,}483\,\dfrac{\mathrm{m}}{\Omega\mathrm{mm}^2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6003202"/>
            <a:ext cx="1642927" cy="424946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av-back-index" descr="Til indeks">
            <a:hlinkClick action="ppaction://hlinksldjump" r:id="rId11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7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Effekt · P01, P02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29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P01 · Søger: Elektrisk effekt P [W]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</a:t>
            </a:r>
            <a:r>
              <a:rPr>
                <a:latin typeface="Cambria Math"/>
              </a:rPr>
              <a:t>I</a:t>
            </a:r>
            <a:r>
              <a:t>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forbrugerens pluspol mod strømpilen.</a:t>
            </a:r>
          </a:p>
        </p:txBody>
      </p:sp>
      <p:sp>
        <p:nvSpPr>
          <p:cNvPr id="11" name="math-source-P01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P=U </a:t>
            </a:r>
            <a:r>
              <a:rPr>
                <a:latin typeface="Cambria Math"/>
              </a:rPr>
              <a:t>I</a:t>
            </a:r>
          </a:p>
        </p:txBody>
      </p:sp>
      <p:pic>
        <p:nvPicPr>
          <p:cNvPr id="12" name="P01-formula" descr="P=U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938008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P01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Optaget effekt ved passiv fortegnskonvention:</a:t>
            </a:r>
          </a:p>
        </p:txBody>
      </p:sp>
      <p:sp>
        <p:nvSpPr>
          <p:cNvPr id="15" name="math-source-P01-details-1"/>
          <p:cNvSpPr txBox="1"/>
          <p:nvPr/>
        </p:nvSpPr>
        <p:spPr>
          <a:xfrm>
            <a:off x="1005840" y="30925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P&gt;0</a:t>
            </a:r>
          </a:p>
        </p:txBody>
      </p:sp>
      <p:pic>
        <p:nvPicPr>
          <p:cNvPr id="16" name="P01-details-1" descr="P&gt;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92583"/>
            <a:ext cx="520709" cy="2513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4628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P01-details-2"/>
          <p:cNvSpPr txBox="1"/>
          <p:nvPr/>
        </p:nvSpPr>
        <p:spPr>
          <a:xfrm>
            <a:off x="1005840" y="346283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DC:</a:t>
            </a:r>
          </a:p>
        </p:txBody>
      </p:sp>
      <p:sp>
        <p:nvSpPr>
          <p:cNvPr id="19" name="math-source-P01-details-3"/>
          <p:cNvSpPr txBox="1"/>
          <p:nvPr/>
        </p:nvSpPr>
        <p:spPr>
          <a:xfrm>
            <a:off x="1005840" y="370514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kVcdotA=kW</a:t>
            </a:r>
          </a:p>
        </p:txBody>
      </p:sp>
      <p:pic>
        <p:nvPicPr>
          <p:cNvPr id="20" name="P01-details-3" descr="\mathrm{kV}\cdot\mathrm{A}=\mathrm{kW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05148"/>
            <a:ext cx="1176084" cy="251376"/>
          </a:xfrm>
          <a:prstGeom prst="rect">
            <a:avLst/>
          </a:prstGeom>
        </p:spPr>
      </p:pic>
      <p:sp>
        <p:nvSpPr>
          <p:cNvPr id="21" name="math-source-P01-details-4"/>
          <p:cNvSpPr txBox="1"/>
          <p:nvPr/>
        </p:nvSpPr>
        <p:spPr>
          <a:xfrm>
            <a:off x="1005840" y="399767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VcdotA=W</a:t>
            </a:r>
          </a:p>
        </p:txBody>
      </p:sp>
      <p:pic>
        <p:nvPicPr>
          <p:cNvPr id="22" name="P01-details-4" descr="\mathrm{V}\cdot\mathrm{A}=\mathrm{W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997673"/>
            <a:ext cx="948648" cy="25137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11480" y="436792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4" name="P01-details-5"/>
          <p:cNvSpPr txBox="1"/>
          <p:nvPr/>
        </p:nvSpPr>
        <p:spPr>
          <a:xfrm>
            <a:off x="1005840" y="436792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AC kræver en særskilt model.</a:t>
            </a:r>
          </a:p>
        </p:txBody>
      </p:sp>
      <p:sp>
        <p:nvSpPr>
          <p:cNvPr id="25" name="math-source-P01-details-6"/>
          <p:cNvSpPr txBox="1"/>
          <p:nvPr/>
        </p:nvSpPr>
        <p:spPr>
          <a:xfrm>
            <a:off x="1005840" y="461023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P=UI</a:t>
            </a:r>
          </a:p>
        </p:txBody>
      </p:sp>
      <p:pic>
        <p:nvPicPr>
          <p:cNvPr id="26" name="P01-details-6" descr="P=U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610238"/>
            <a:ext cx="649390" cy="251376"/>
          </a:xfrm>
          <a:prstGeom prst="rect">
            <a:avLst/>
          </a:prstGeom>
        </p:spPr>
      </p:pic>
      <p:sp>
        <p:nvSpPr>
          <p:cNvPr id="27" name="P01-details-7"/>
          <p:cNvSpPr txBox="1"/>
          <p:nvPr/>
        </p:nvSpPr>
        <p:spPr>
          <a:xfrm>
            <a:off x="1005840" y="490276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er ikke generelt aktiv AC-effekt.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P02 · Søger: Varmeeffekt P [W]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</a:t>
            </a:r>
            <a:r>
              <a:rPr>
                <a:latin typeface="Cambria Math"/>
              </a:rPr>
              <a:t>I</a:t>
            </a:r>
            <a:r>
              <a:t> [A], R [Ω]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 ved aktuel temperatur.</a:t>
            </a:r>
          </a:p>
        </p:txBody>
      </p:sp>
      <p:sp>
        <p:nvSpPr>
          <p:cNvPr id="32" name="math-source-P02-formula"/>
          <p:cNvSpPr txBox="1"/>
          <p:nvPr/>
        </p:nvSpPr>
        <p:spPr>
          <a:xfrm>
            <a:off x="553212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P=</a:t>
            </a:r>
            <a:r>
              <a:rPr>
                <a:latin typeface="Cambria Math"/>
              </a:rPr>
              <a:t>I</a:t>
            </a:r>
            <a:r>
              <a:t>^2R</a:t>
            </a:r>
          </a:p>
        </p:txBody>
      </p:sp>
      <p:pic>
        <p:nvPicPr>
          <p:cNvPr id="33" name="P02-formula" descr="P=I^2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1037428" cy="36309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5" name="P02-details-0"/>
          <p:cNvSpPr txBox="1"/>
          <p:nvPr/>
        </p:nvSpPr>
        <p:spPr>
          <a:xfrm>
            <a:off x="612648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samme R som strømmen løber i.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317030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7" name="P02-details-1"/>
          <p:cNvSpPr txBox="1"/>
          <p:nvPr/>
        </p:nvSpPr>
        <p:spPr>
          <a:xfrm>
            <a:off x="6126480" y="317030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 og Ω.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349034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9" name="P02-details-2"/>
          <p:cNvSpPr txBox="1"/>
          <p:nvPr/>
        </p:nvSpPr>
        <p:spPr>
          <a:xfrm>
            <a:off x="6126480" y="349034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P er energioverførsel pr. tid; strøm bruges ikke op.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381038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1" name="math-source-P02-details-3"/>
          <p:cNvSpPr txBox="1"/>
          <p:nvPr/>
        </p:nvSpPr>
        <p:spPr>
          <a:xfrm>
            <a:off x="6126480" y="3810387"/>
            <a:ext cx="4206240" cy="29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P=(2 A)^2·7 Ω=28 W</a:t>
            </a:r>
          </a:p>
        </p:txBody>
      </p:sp>
      <p:pic>
        <p:nvPicPr>
          <p:cNvPr id="42" name="P02-details-3" descr="P=(2\,\mathrm{A})^2\cdot7\,\Omega=28\,\mathrm{W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810387"/>
            <a:ext cx="2100792" cy="290280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5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Effekt · P03, P04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30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P03 · Søger: Varmeeffekt P [W]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U er spændingen over ohmsk R.</a:t>
            </a:r>
          </a:p>
        </p:txBody>
      </p:sp>
      <p:sp>
        <p:nvSpPr>
          <p:cNvPr id="11" name="math-source-P03-formula"/>
          <p:cNvSpPr txBox="1"/>
          <p:nvPr/>
        </p:nvSpPr>
        <p:spPr>
          <a:xfrm>
            <a:off x="411480" y="2340864"/>
            <a:ext cx="4800600" cy="6916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P=(U^2)/(R)</a:t>
            </a:r>
          </a:p>
        </p:txBody>
      </p:sp>
      <p:pic>
        <p:nvPicPr>
          <p:cNvPr id="12" name="P03-formula" descr="P=\frac{U^2}{R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002847" cy="6916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7878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P03-details-0"/>
          <p:cNvSpPr txBox="1"/>
          <p:nvPr/>
        </p:nvSpPr>
        <p:spPr>
          <a:xfrm>
            <a:off x="1005840" y="317878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Omregn R før indsættelse.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9882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P03-details-1"/>
          <p:cNvSpPr txBox="1"/>
          <p:nvPr/>
        </p:nvSpPr>
        <p:spPr>
          <a:xfrm>
            <a:off x="1005840" y="349882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R[Ω]=1000R[kΩ]</a:t>
            </a:r>
          </a:p>
        </p:txBody>
      </p:sp>
      <p:pic>
        <p:nvPicPr>
          <p:cNvPr id="17" name="P03-details-1" descr="R[\Omega]=1000R[\mathrm{k}\Omega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98826"/>
            <a:ext cx="1750660" cy="25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386907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9" name="P03-details-2"/>
          <p:cNvSpPr txBox="1"/>
          <p:nvPr/>
        </p:nvSpPr>
        <p:spPr>
          <a:xfrm>
            <a:off x="1005840" y="386907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U over en hel serie er ikke U over hver modstand.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04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P04 · Søger: Middel-effekt P [W]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Δt [s]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Energi/arbejde omsat i et interval.</a:t>
            </a:r>
          </a:p>
        </p:txBody>
      </p:sp>
      <p:sp>
        <p:nvSpPr>
          <p:cNvPr id="24" name="math-source-P04-formula"/>
          <p:cNvSpPr txBox="1"/>
          <p:nvPr/>
        </p:nvSpPr>
        <p:spPr>
          <a:xfrm>
            <a:off x="553212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P_middel=(W)/(Δ t)</a:t>
            </a:r>
          </a:p>
        </p:txBody>
      </p:sp>
      <p:pic>
        <p:nvPicPr>
          <p:cNvPr id="25" name="P04-formula" descr="P_{\mathrm{middel}}=\frac{W}{\Delta t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340864"/>
            <a:ext cx="1590723" cy="64407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53212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7" name="P04-details-0"/>
          <p:cNvSpPr txBox="1"/>
          <p:nvPr/>
        </p:nvSpPr>
        <p:spPr>
          <a:xfrm>
            <a:off x="6126480" y="3131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P er konstant kun hvis forløbet er stationært.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345127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29" name="math-source-P04-details-1"/>
          <p:cNvSpPr txBox="1"/>
          <p:nvPr/>
        </p:nvSpPr>
        <p:spPr>
          <a:xfrm>
            <a:off x="6126480" y="345127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W[J]=1000W[kJ]</a:t>
            </a:r>
          </a:p>
        </p:txBody>
      </p:sp>
      <p:pic>
        <p:nvPicPr>
          <p:cNvPr id="30" name="P04-details-1" descr="W[\mathrm{J}]=1000W[\mathrm{kJ}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451278"/>
            <a:ext cx="1678838" cy="251376"/>
          </a:xfrm>
          <a:prstGeom prst="rect">
            <a:avLst/>
          </a:prstGeom>
        </p:spPr>
      </p:pic>
      <p:sp>
        <p:nvSpPr>
          <p:cNvPr id="31" name="math-source-P04-details-2"/>
          <p:cNvSpPr txBox="1"/>
          <p:nvPr/>
        </p:nvSpPr>
        <p:spPr>
          <a:xfrm>
            <a:off x="6126480" y="3743802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t[s]=60t[min]</a:t>
            </a:r>
          </a:p>
        </p:txBody>
      </p:sp>
      <p:pic>
        <p:nvPicPr>
          <p:cNvPr id="32" name="P04-details-2" descr="t[\mathrm{s}]=60t[\mathrm{min}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743802"/>
            <a:ext cx="1358632" cy="2513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411405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4" name="math-source-P04-details-3"/>
          <p:cNvSpPr txBox="1"/>
          <p:nvPr/>
        </p:nvSpPr>
        <p:spPr>
          <a:xfrm>
            <a:off x="6126480" y="4114051"/>
            <a:ext cx="4206240" cy="4429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(kWh)/(h)=kW</a:t>
            </a:r>
          </a:p>
        </p:txBody>
      </p:sp>
      <p:pic>
        <p:nvPicPr>
          <p:cNvPr id="35" name="P04-details-3" descr="\dfrac{\mathrm{kWh}}{\mathrm{h}}=\mathrm{kW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114051"/>
            <a:ext cx="1074336" cy="442902"/>
          </a:xfrm>
          <a:prstGeom prst="rect">
            <a:avLst/>
          </a:prstGeom>
        </p:spPr>
      </p:pic>
      <p:sp>
        <p:nvSpPr>
          <p:cNvPr id="36" name="P04-details-4"/>
          <p:cNvSpPr txBox="1"/>
          <p:nvPr/>
        </p:nvSpPr>
        <p:spPr>
          <a:xfrm>
            <a:off x="6126480" y="459810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Resultatet er ikke i 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491814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8" name="math-source-P04-details-5"/>
          <p:cNvSpPr txBox="1"/>
          <p:nvPr/>
        </p:nvSpPr>
        <p:spPr>
          <a:xfrm>
            <a:off x="6126480" y="4918141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P=(117 kJ)/(120 s)=975 W</a:t>
            </a:r>
          </a:p>
        </p:txBody>
      </p:sp>
      <p:pic>
        <p:nvPicPr>
          <p:cNvPr id="39" name="P04-details-5" descr="P=\dfrac{117\,\mathrm{kJ}}{120\,\mathrm{s}}=975\,\mathrm{W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918141"/>
            <a:ext cx="1816497" cy="445894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2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Effekt · P05, P06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31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P05 · Søger: Afgiven effekt Pud [W]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η [1], Pind [W]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maskine og driftspunkt.</a:t>
            </a:r>
          </a:p>
        </p:txBody>
      </p:sp>
      <p:sp>
        <p:nvSpPr>
          <p:cNvPr id="11" name="math-source-P05-formula"/>
          <p:cNvSpPr txBox="1"/>
          <p:nvPr/>
        </p:nvSpPr>
        <p:spPr>
          <a:xfrm>
            <a:off x="411480" y="2340864"/>
            <a:ext cx="4800600" cy="371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P_ud=η P_ind</a:t>
            </a:r>
          </a:p>
        </p:txBody>
      </p:sp>
      <p:pic>
        <p:nvPicPr>
          <p:cNvPr id="12" name="P05-formula" descr="P_{\mathrm{ud}}=\eta P_{\mathrm{in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495625" cy="3717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891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P05-details-0"/>
          <p:cNvSpPr txBox="1"/>
          <p:nvPr/>
        </p:nvSpPr>
        <p:spPr>
          <a:xfrm>
            <a:off x="1005840" y="285891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Omvendt beregning:</a:t>
            </a:r>
          </a:p>
        </p:txBody>
      </p:sp>
      <p:sp>
        <p:nvSpPr>
          <p:cNvPr id="15" name="math-source-P05-details-1"/>
          <p:cNvSpPr txBox="1"/>
          <p:nvPr/>
        </p:nvSpPr>
        <p:spPr>
          <a:xfrm>
            <a:off x="1005840" y="3101229"/>
            <a:ext cx="4206240" cy="46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P_ind=dfracP_udη</a:t>
            </a:r>
          </a:p>
        </p:txBody>
      </p:sp>
      <p:pic>
        <p:nvPicPr>
          <p:cNvPr id="16" name="P05-details-1" descr="P_{\mathrm{ind}}=\dfrac{P_{\mathrm{ud}}}{\et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01229"/>
            <a:ext cx="936678" cy="4638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68395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P05-details-2"/>
          <p:cNvSpPr txBox="1"/>
          <p:nvPr/>
        </p:nvSpPr>
        <p:spPr>
          <a:xfrm>
            <a:off x="1005840" y="3683951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η=85 \%=(85)/(100)=0,85</a:t>
            </a:r>
          </a:p>
        </p:txBody>
      </p:sp>
      <p:pic>
        <p:nvPicPr>
          <p:cNvPr id="19" name="P05-details-2" descr="\eta=85\,\%=\dfrac{85}{100}=0{,}8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83951"/>
            <a:ext cx="2011014" cy="44589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24871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P05-details-3"/>
          <p:cNvSpPr txBox="1"/>
          <p:nvPr/>
        </p:nvSpPr>
        <p:spPr>
          <a:xfrm>
            <a:off x="1005840" y="424871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Kaskade:</a:t>
            </a:r>
          </a:p>
        </p:txBody>
      </p:sp>
      <p:sp>
        <p:nvSpPr>
          <p:cNvPr id="22" name="math-source-P05-details-4"/>
          <p:cNvSpPr txBox="1"/>
          <p:nvPr/>
        </p:nvSpPr>
        <p:spPr>
          <a:xfrm>
            <a:off x="1005840" y="4491034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η_total=prod_kη_k</a:t>
            </a:r>
          </a:p>
        </p:txBody>
      </p:sp>
      <p:pic>
        <p:nvPicPr>
          <p:cNvPr id="23" name="P05-details-4" descr="\eta_{\mathrm{total}}=\prod_k\eta_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491034"/>
            <a:ext cx="1062366" cy="44589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50558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5" name="math-source-P05-details-5"/>
          <p:cNvSpPr txBox="1"/>
          <p:nvPr/>
        </p:nvSpPr>
        <p:spPr>
          <a:xfrm>
            <a:off x="1005840" y="505580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P_ud=0,85·1000 W=850 W</a:t>
            </a:r>
          </a:p>
        </p:txBody>
      </p:sp>
      <p:pic>
        <p:nvPicPr>
          <p:cNvPr id="26" name="P05-details-5" descr="P_{\mathrm{ud}}=0{,}85\cdot1000\,\mathrm{W}=850\,\mathrm{W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055800"/>
            <a:ext cx="2621501" cy="25137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P06 · Søger: Effekttab Ptab [W]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Pind, Pud [W]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energibalance.</a:t>
            </a:r>
          </a:p>
        </p:txBody>
      </p:sp>
      <p:sp>
        <p:nvSpPr>
          <p:cNvPr id="31" name="math-source-P06-formula"/>
          <p:cNvSpPr txBox="1"/>
          <p:nvPr/>
        </p:nvSpPr>
        <p:spPr>
          <a:xfrm>
            <a:off x="553212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P_tab=P_ind-P_ud</a:t>
            </a:r>
          </a:p>
        </p:txBody>
      </p:sp>
      <p:pic>
        <p:nvPicPr>
          <p:cNvPr id="32" name="P06-formula" descr="P_{\mathrm{tab}}=P_{\mathrm{ind}}-P_{\mathrm{ud}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2340864"/>
            <a:ext cx="2156986" cy="3630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4" name="P06-details-0"/>
          <p:cNvSpPr txBox="1"/>
          <p:nvPr/>
        </p:nvSpPr>
        <p:spPr>
          <a:xfrm>
            <a:off x="612648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Ohmsk ledningstab:</a:t>
            </a:r>
          </a:p>
        </p:txBody>
      </p:sp>
      <p:sp>
        <p:nvSpPr>
          <p:cNvPr id="35" name="math-source-P06-details-1"/>
          <p:cNvSpPr txBox="1"/>
          <p:nvPr/>
        </p:nvSpPr>
        <p:spPr>
          <a:xfrm>
            <a:off x="6126480" y="3092583"/>
            <a:ext cx="4206240" cy="317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P_ledning=</a:t>
            </a:r>
            <a:r>
              <a:rPr>
                <a:latin typeface="Cambria Math"/>
              </a:rPr>
              <a:t>I</a:t>
            </a:r>
            <a:r>
              <a:t>^2R_ledning</a:t>
            </a:r>
          </a:p>
        </p:txBody>
      </p:sp>
      <p:pic>
        <p:nvPicPr>
          <p:cNvPr id="36" name="P06-details-1" descr="P_{\mathrm{ledning}}=I^2R_{\mathrm{ledning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092583"/>
            <a:ext cx="1687816" cy="31721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32120" y="352866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8" name="P06-details-2"/>
          <p:cNvSpPr txBox="1"/>
          <p:nvPr/>
        </p:nvSpPr>
        <p:spPr>
          <a:xfrm>
            <a:off x="6126480" y="352866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Begge effekter i samme enhed.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84870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40" name="P06-details-3"/>
          <p:cNvSpPr txBox="1"/>
          <p:nvPr/>
        </p:nvSpPr>
        <p:spPr>
          <a:xfrm>
            <a:off x="6126480" y="384870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Effekter skal høre til samme afgrænsning; energi forsvinder ikke.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3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Effekt · P07, P08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32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7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P07 · Søger: Virkningsgrad η 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Pud, Pind [W]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drift; eller samme energiperiode.</a:t>
            </a:r>
          </a:p>
        </p:txBody>
      </p:sp>
      <p:sp>
        <p:nvSpPr>
          <p:cNvPr id="11" name="math-source-P07-formula"/>
          <p:cNvSpPr txBox="1"/>
          <p:nvPr/>
        </p:nvSpPr>
        <p:spPr>
          <a:xfrm>
            <a:off x="411480" y="2340864"/>
            <a:ext cx="4800600" cy="7175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η=fracP_udP_ind</a:t>
            </a:r>
          </a:p>
        </p:txBody>
      </p:sp>
      <p:pic>
        <p:nvPicPr>
          <p:cNvPr id="12" name="P07-formula" descr="\eta=\frac{P_{\mathrm{ud}}}{P_{\mathrm{ind}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063364" cy="7175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0472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P07-details-0"/>
          <p:cNvSpPr txBox="1"/>
          <p:nvPr/>
        </p:nvSpPr>
        <p:spPr>
          <a:xfrm>
            <a:off x="1005840" y="320472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energier:</a:t>
            </a:r>
          </a:p>
        </p:txBody>
      </p:sp>
      <p:sp>
        <p:nvSpPr>
          <p:cNvPr id="15" name="math-source-P07-details-1"/>
          <p:cNvSpPr txBox="1"/>
          <p:nvPr/>
        </p:nvSpPr>
        <p:spPr>
          <a:xfrm>
            <a:off x="1005840" y="3447038"/>
            <a:ext cx="4206240" cy="496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η=dfracW_udW_ind</a:t>
            </a:r>
          </a:p>
        </p:txBody>
      </p:sp>
      <p:pic>
        <p:nvPicPr>
          <p:cNvPr id="16" name="P07-details-1" descr="\eta=\dfrac{W_{\mathrm{ud}}}{W_{\mathrm{ind}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47038"/>
            <a:ext cx="787049" cy="4967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406267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P07-details-2"/>
          <p:cNvSpPr txBox="1"/>
          <p:nvPr/>
        </p:nvSpPr>
        <p:spPr>
          <a:xfrm>
            <a:off x="1005840" y="4062679"/>
            <a:ext cx="4206240" cy="266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η[\%]=100η</a:t>
            </a:r>
          </a:p>
        </p:txBody>
      </p:sp>
      <p:pic>
        <p:nvPicPr>
          <p:cNvPr id="19" name="P07-details-2" descr="\eta[\%]=100\e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062679"/>
            <a:ext cx="1149151" cy="2663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44789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P07-details-3"/>
          <p:cNvSpPr txBox="1"/>
          <p:nvPr/>
        </p:nvSpPr>
        <p:spPr>
          <a:xfrm>
            <a:off x="1005840" y="444789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Måleperioder og systemgrænser skal være ens.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08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P08 · Søger: Mekanisk effekt P [W]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[N·m], ω [rad/s] eller n [rpm]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Rotation; n er omdrejninger pr. minut i sidste udtryk.</a:t>
            </a:r>
          </a:p>
        </p:txBody>
      </p:sp>
      <p:sp>
        <p:nvSpPr>
          <p:cNvPr id="26" name="math-source-P08-formula"/>
          <p:cNvSpPr txBox="1"/>
          <p:nvPr/>
        </p:nvSpPr>
        <p:spPr>
          <a:xfrm>
            <a:off x="5532120" y="2340864"/>
            <a:ext cx="4800600" cy="648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P=Mω=M(2π n)/(60)</a:t>
            </a:r>
          </a:p>
        </p:txBody>
      </p:sp>
      <p:pic>
        <p:nvPicPr>
          <p:cNvPr id="27" name="P08-formula" descr="P=M\omega=M\frac{2\pi n}{60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2191567" cy="64839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32120" y="313556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9" name="P08-details-0"/>
          <p:cNvSpPr txBox="1"/>
          <p:nvPr/>
        </p:nvSpPr>
        <p:spPr>
          <a:xfrm>
            <a:off x="6126480" y="313556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Med n i omdrejninger pr. sekund:</a:t>
            </a:r>
          </a:p>
        </p:txBody>
      </p:sp>
      <p:sp>
        <p:nvSpPr>
          <p:cNvPr id="30" name="math-source-P08-details-1"/>
          <p:cNvSpPr txBox="1"/>
          <p:nvPr/>
        </p:nvSpPr>
        <p:spPr>
          <a:xfrm>
            <a:off x="6126480" y="337787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ω=2π n</a:t>
            </a:r>
          </a:p>
        </p:txBody>
      </p:sp>
      <p:pic>
        <p:nvPicPr>
          <p:cNvPr id="31" name="P08-details-1" descr="\omega=2\pi 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377876"/>
            <a:ext cx="769093" cy="251376"/>
          </a:xfrm>
          <a:prstGeom prst="rect">
            <a:avLst/>
          </a:prstGeom>
        </p:spPr>
      </p:pic>
      <p:sp>
        <p:nvSpPr>
          <p:cNvPr id="32" name="P08-details-2"/>
          <p:cNvSpPr txBox="1"/>
          <p:nvPr/>
        </p:nvSpPr>
        <p:spPr>
          <a:xfrm>
            <a:off x="6126480" y="367040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Med effekt i kW og n i rpm:</a:t>
            </a:r>
          </a:p>
        </p:txBody>
      </p:sp>
      <p:sp>
        <p:nvSpPr>
          <p:cNvPr id="33" name="math-source-P08-details-3"/>
          <p:cNvSpPr txBox="1"/>
          <p:nvPr/>
        </p:nvSpPr>
        <p:spPr>
          <a:xfrm>
            <a:off x="6126480" y="3912717"/>
            <a:ext cx="4206240" cy="5237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M[Ncdotm]≈9550(P[kW])/(n[rpm])</a:t>
            </a:r>
          </a:p>
        </p:txBody>
      </p:sp>
      <p:pic>
        <p:nvPicPr>
          <p:cNvPr id="34" name="P08-details-3" descr="M[\mathrm{N}\cdot\mathrm{m}]\approx9550\dfrac{P[\mathrm{kW}]}{n[\mathrm{rpm}]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912717"/>
            <a:ext cx="2184584" cy="52370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455529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6" name="math-source-P08-details-4"/>
          <p:cNvSpPr txBox="1"/>
          <p:nvPr/>
        </p:nvSpPr>
        <p:spPr>
          <a:xfrm>
            <a:off x="6126480" y="4555291"/>
            <a:ext cx="4206240" cy="490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n[s^-1]=(n[rpm])/(60)</a:t>
            </a:r>
          </a:p>
        </p:txBody>
      </p:sp>
      <p:pic>
        <p:nvPicPr>
          <p:cNvPr id="37" name="P08-details-4" descr="n[\mathrm{s}^{-1}]=\dfrac{n[\mathrm{rpm}]}{60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555291"/>
            <a:ext cx="1466365" cy="49078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532120" y="516494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9" name="P08-details-5"/>
          <p:cNvSpPr txBox="1"/>
          <p:nvPr/>
        </p:nvSpPr>
        <p:spPr>
          <a:xfrm>
            <a:off x="6126480" y="5164946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Elektrisk indgangseffekt er ikke mekanisk udgangseffekt uden</a:t>
            </a:r>
            <a:br/>
            <a:r>
              <a:t>virkningsgrad.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2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W01, W02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33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W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W01 · Søger: Energi W [J] eller [kWh]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 eller [kW], t [s] eller [h]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effekt i hele perioden.</a:t>
            </a:r>
          </a:p>
        </p:txBody>
      </p:sp>
      <p:sp>
        <p:nvSpPr>
          <p:cNvPr id="11" name="math-source-W01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W=P t</a:t>
            </a:r>
          </a:p>
        </p:txBody>
      </p:sp>
      <p:pic>
        <p:nvPicPr>
          <p:cNvPr id="12" name="W01-formula" descr="W=P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968266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W01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Varierende effekt: summér delperioder eller integrér.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17030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W01-details-1"/>
          <p:cNvSpPr txBox="1"/>
          <p:nvPr/>
        </p:nvSpPr>
        <p:spPr>
          <a:xfrm>
            <a:off x="1005840" y="3170307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Wcdots=J</a:t>
            </a:r>
          </a:p>
        </p:txBody>
      </p:sp>
      <p:pic>
        <p:nvPicPr>
          <p:cNvPr id="17" name="W01-details-1" descr="\mathrm{W}\cdot\mathrm{s}=\mathrm{J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70307"/>
            <a:ext cx="790041" cy="251376"/>
          </a:xfrm>
          <a:prstGeom prst="rect">
            <a:avLst/>
          </a:prstGeom>
        </p:spPr>
      </p:pic>
      <p:sp>
        <p:nvSpPr>
          <p:cNvPr id="18" name="math-source-W01-details-2"/>
          <p:cNvSpPr txBox="1"/>
          <p:nvPr/>
        </p:nvSpPr>
        <p:spPr>
          <a:xfrm>
            <a:off x="1005840" y="3462832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kWcdoth=kWh</a:t>
            </a:r>
          </a:p>
        </p:txBody>
      </p:sp>
      <p:pic>
        <p:nvPicPr>
          <p:cNvPr id="19" name="W01-details-2" descr="\mathrm{kW}\cdot\mathrm{h}=\mathrm{kWh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62832"/>
            <a:ext cx="1289802" cy="2513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383308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math-source-W01-details-3"/>
          <p:cNvSpPr txBox="1"/>
          <p:nvPr/>
        </p:nvSpPr>
        <p:spPr>
          <a:xfrm>
            <a:off x="1005840" y="383308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kWcdots=kJ</a:t>
            </a:r>
          </a:p>
        </p:txBody>
      </p:sp>
      <p:pic>
        <p:nvPicPr>
          <p:cNvPr id="22" name="W01-details-3" descr="\mathrm{kW}\cdot\mathrm{s}=\mathrm{kJ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833081"/>
            <a:ext cx="1017477" cy="251376"/>
          </a:xfrm>
          <a:prstGeom prst="rect">
            <a:avLst/>
          </a:prstGeom>
        </p:spPr>
      </p:pic>
      <p:sp>
        <p:nvSpPr>
          <p:cNvPr id="23" name="W01-details-4"/>
          <p:cNvSpPr txBox="1"/>
          <p:nvPr/>
        </p:nvSpPr>
        <p:spPr>
          <a:xfrm>
            <a:off x="1005840" y="412560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Resultatet er ikke kWh.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44564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5" name="math-source-W01-details-5"/>
          <p:cNvSpPr txBox="1"/>
          <p:nvPr/>
        </p:nvSpPr>
        <p:spPr>
          <a:xfrm>
            <a:off x="1005840" y="444564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W=875 W·180 s</a:t>
            </a:r>
          </a:p>
        </p:txBody>
      </p:sp>
      <p:pic>
        <p:nvPicPr>
          <p:cNvPr id="26" name="W01-details-5" descr="W=875\,\mathrm{W}\cdot180\,\mathrm{s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445646"/>
            <a:ext cx="1630957" cy="251376"/>
          </a:xfrm>
          <a:prstGeom prst="rect">
            <a:avLst/>
          </a:prstGeom>
        </p:spPr>
      </p:pic>
      <p:sp>
        <p:nvSpPr>
          <p:cNvPr id="27" name="math-source-W01-details-6"/>
          <p:cNvSpPr txBox="1"/>
          <p:nvPr/>
        </p:nvSpPr>
        <p:spPr>
          <a:xfrm>
            <a:off x="1005840" y="473817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W=157500 J=0,04375 kWh</a:t>
            </a:r>
          </a:p>
        </p:txBody>
      </p:sp>
      <p:pic>
        <p:nvPicPr>
          <p:cNvPr id="28" name="W01-details-6" descr="W=157500\,\mathrm{J}=0{,}04375\,\mathrm{kWh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738171"/>
            <a:ext cx="2696316" cy="25137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W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W02 · Søger: Elektrisk energi W [J]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Q [C] eller </a:t>
            </a:r>
            <a:r>
              <a:rPr>
                <a:latin typeface="Cambria Math"/>
              </a:rPr>
              <a:t>I</a:t>
            </a:r>
            <a:r>
              <a:t> [A], t [s]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spænding; ved UIt også konstant </a:t>
            </a:r>
            <a:r>
              <a:rPr>
                <a:latin typeface="Cambria Math"/>
              </a:rPr>
              <a:t>I</a:t>
            </a:r>
            <a:r>
              <a:t>.</a:t>
            </a:r>
          </a:p>
        </p:txBody>
      </p:sp>
      <p:sp>
        <p:nvSpPr>
          <p:cNvPr id="33" name="math-source-W02-formula"/>
          <p:cNvSpPr txBox="1"/>
          <p:nvPr/>
        </p:nvSpPr>
        <p:spPr>
          <a:xfrm>
            <a:off x="5532120" y="2340864"/>
            <a:ext cx="4800600" cy="36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W=UQ=UIt</a:t>
            </a:r>
          </a:p>
        </p:txBody>
      </p:sp>
      <p:pic>
        <p:nvPicPr>
          <p:cNvPr id="34" name="W02-formula" descr="W=UQ=UI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2340864"/>
            <a:ext cx="1914919" cy="36742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285459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6" name="W02-details-0"/>
          <p:cNvSpPr txBox="1"/>
          <p:nvPr/>
        </p:nvSpPr>
        <p:spPr>
          <a:xfrm>
            <a:off x="6126480" y="285459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Før energien beregnes som spænding gange ladning:</a:t>
            </a:r>
          </a:p>
        </p:txBody>
      </p:sp>
      <p:sp>
        <p:nvSpPr>
          <p:cNvPr id="37" name="math-source-W02-details-1"/>
          <p:cNvSpPr txBox="1"/>
          <p:nvPr/>
        </p:nvSpPr>
        <p:spPr>
          <a:xfrm>
            <a:off x="6126480" y="3096906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Q=It</a:t>
            </a:r>
          </a:p>
        </p:txBody>
      </p:sp>
      <p:pic>
        <p:nvPicPr>
          <p:cNvPr id="38" name="W02-details-1" descr="Q=I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3096906"/>
            <a:ext cx="580560" cy="25436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532120" y="347014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40" name="math-source-W02-details-2"/>
          <p:cNvSpPr txBox="1"/>
          <p:nvPr/>
        </p:nvSpPr>
        <p:spPr>
          <a:xfrm>
            <a:off x="6126480" y="347014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VcdotC=1 J</a:t>
            </a:r>
          </a:p>
        </p:txBody>
      </p:sp>
      <p:pic>
        <p:nvPicPr>
          <p:cNvPr id="41" name="W02-details-2" descr="1\,\mathrm{V}\cdot\mathrm{C}=1\,\mathrm{J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3470148"/>
            <a:ext cx="1086307" cy="25137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532120" y="384039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43" name="W02-details-3"/>
          <p:cNvSpPr txBox="1"/>
          <p:nvPr/>
        </p:nvSpPr>
        <p:spPr>
          <a:xfrm>
            <a:off x="6126480" y="384039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Energi og ladning er forskellige størrelser.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nav-back-index" descr="Til indeks">
            <a:hlinkClick action="ppaction://hlinksldjump" r:id="rId12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6" name="nav-back-start" descr="Til start">
            <a:hlinkClick action="ppaction://hlinksldjump" r:id="rId13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W03, W05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34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W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W03 · Søger: Tid t [s]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P [W]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effekt.</a:t>
            </a:r>
          </a:p>
        </p:txBody>
      </p:sp>
      <p:sp>
        <p:nvSpPr>
          <p:cNvPr id="11" name="math-source-W03-formula"/>
          <p:cNvSpPr txBox="1"/>
          <p:nvPr/>
        </p:nvSpPr>
        <p:spPr>
          <a:xfrm>
            <a:off x="411480" y="2340864"/>
            <a:ext cx="4800600" cy="631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t=(W)/(P)</a:t>
            </a:r>
          </a:p>
        </p:txBody>
      </p:sp>
      <p:pic>
        <p:nvPicPr>
          <p:cNvPr id="12" name="W03-formula" descr="t=\frac{W}{P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786716" cy="6311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182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W03-details-0"/>
          <p:cNvSpPr txBox="1"/>
          <p:nvPr/>
        </p:nvSpPr>
        <p:spPr>
          <a:xfrm>
            <a:off x="1005840" y="31182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ændret effekt bruges den relevante nye 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3831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W03-details-1"/>
          <p:cNvSpPr txBox="1"/>
          <p:nvPr/>
        </p:nvSpPr>
        <p:spPr>
          <a:xfrm>
            <a:off x="1005840" y="3438310"/>
            <a:ext cx="4206240" cy="439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(J)/(W)=s</a:t>
            </a:r>
          </a:p>
        </p:txBody>
      </p:sp>
      <p:pic>
        <p:nvPicPr>
          <p:cNvPr id="17" name="W03-details-1" descr="\dfrac{\mathrm{J}}{\mathrm{W}}=\mathrm{s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38310"/>
            <a:ext cx="598516" cy="439909"/>
          </a:xfrm>
          <a:prstGeom prst="rect">
            <a:avLst/>
          </a:prstGeom>
        </p:spPr>
      </p:pic>
      <p:sp>
        <p:nvSpPr>
          <p:cNvPr id="18" name="math-source-W03-details-2"/>
          <p:cNvSpPr txBox="1"/>
          <p:nvPr/>
        </p:nvSpPr>
        <p:spPr>
          <a:xfrm>
            <a:off x="1005840" y="3919367"/>
            <a:ext cx="4206240" cy="4429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(kWh)/(kW)=h</a:t>
            </a:r>
          </a:p>
        </p:txBody>
      </p:sp>
      <p:pic>
        <p:nvPicPr>
          <p:cNvPr id="19" name="W03-details-2" descr="\dfrac{\mathrm{kWh}}{\mathrm{kW}}=\mathrm{h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19367"/>
            <a:ext cx="855878" cy="44290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48114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W03-details-3"/>
          <p:cNvSpPr txBox="1"/>
          <p:nvPr/>
        </p:nvSpPr>
        <p:spPr>
          <a:xfrm>
            <a:off x="1005840" y="4481141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ikke mængden fra én delperiode med effekten fra en</a:t>
            </a:r>
            <a:br/>
            <a:r>
              <a:t>anden.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0234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3" name="math-source-W03-details-4"/>
          <p:cNvSpPr txBox="1"/>
          <p:nvPr/>
        </p:nvSpPr>
        <p:spPr>
          <a:xfrm>
            <a:off x="1005840" y="5002349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t=(1200 kJ)/(300 W)=4000 s</a:t>
            </a:r>
          </a:p>
        </p:txBody>
      </p:sp>
      <p:pic>
        <p:nvPicPr>
          <p:cNvPr id="24" name="W03-details-4" descr="t=\dfrac{1200\,\mathrm{kJ}}{300\,\mathrm{W}}=4000\,\mathrm{s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002349"/>
            <a:ext cx="1837445" cy="445894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W05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W05 · Søger: Brændselsenergi W [MJ]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Mængde og brændværdi Hu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Kildens omregningstabel; samme brændsel og reference.</a:t>
            </a:r>
          </a:p>
        </p:txBody>
      </p:sp>
      <p:sp>
        <p:nvSpPr>
          <p:cNvPr id="29" name="math-source-W05-formula"/>
          <p:cNvSpPr txBox="1"/>
          <p:nvPr/>
        </p:nvSpPr>
        <p:spPr>
          <a:xfrm>
            <a:off x="553212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W=H_u mquadeller W=H_u V</a:t>
            </a:r>
          </a:p>
        </p:txBody>
      </p:sp>
      <p:pic>
        <p:nvPicPr>
          <p:cNvPr id="30" name="W05-formula" descr="W=H_u m\quad\mathrm{eller}\quad W=H_u V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3531579" cy="3630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3212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2" name="W05-details-0"/>
          <p:cNvSpPr txBox="1"/>
          <p:nvPr/>
        </p:nvSpPr>
        <p:spPr>
          <a:xfrm>
            <a:off x="612648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brændværdi i MJ/kg, MJ/L eller MJ/m³ efter mængden.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317030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4" name="math-source-W05-details-1"/>
          <p:cNvSpPr txBox="1"/>
          <p:nvPr/>
        </p:nvSpPr>
        <p:spPr>
          <a:xfrm>
            <a:off x="6126480" y="3170307"/>
            <a:ext cx="4206240" cy="5027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W[kWh]=(W[MJ])/(3,6)</a:t>
            </a:r>
          </a:p>
        </p:txBody>
      </p:sp>
      <p:pic>
        <p:nvPicPr>
          <p:cNvPr id="35" name="W05-details-1" descr="W[\mathrm{kWh}]=\dfrac{W[\mathrm{MJ}]}{3{,}6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170307"/>
            <a:ext cx="1690808" cy="50275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532120" y="379193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7" name="W05-details-2"/>
          <p:cNvSpPr txBox="1"/>
          <p:nvPr/>
        </p:nvSpPr>
        <p:spPr>
          <a:xfrm>
            <a:off x="6126480" y="3791933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Brændværdi og gasvolumen afhænger af</a:t>
            </a:r>
            <a:br/>
            <a:r>
              <a:t>sammensætning/reference; ikke universelle konstanter.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0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M01, M02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35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M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M01 · Søger: Løftearbejde W [J]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[kg], g [m/s²], h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Roligt løft; ændringen i potentiel energi.</a:t>
            </a:r>
          </a:p>
        </p:txBody>
      </p:sp>
      <p:sp>
        <p:nvSpPr>
          <p:cNvPr id="11" name="math-source-M01-formula"/>
          <p:cNvSpPr txBox="1"/>
          <p:nvPr/>
        </p:nvSpPr>
        <p:spPr>
          <a:xfrm>
            <a:off x="411480" y="2340864"/>
            <a:ext cx="4800600" cy="380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W=mgh</a:t>
            </a:r>
          </a:p>
        </p:txBody>
      </p:sp>
      <p:pic>
        <p:nvPicPr>
          <p:cNvPr id="12" name="M01-formula" descr="W=mg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231946" cy="38039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6755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M01-details-0"/>
          <p:cNvSpPr txBox="1"/>
          <p:nvPr/>
        </p:nvSpPr>
        <p:spPr>
          <a:xfrm>
            <a:off x="1005840" y="2867558"/>
            <a:ext cx="4206240" cy="257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F=mg</a:t>
            </a:r>
          </a:p>
        </p:txBody>
      </p:sp>
      <p:pic>
        <p:nvPicPr>
          <p:cNvPr id="15" name="M01-details-0" descr="F=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867558"/>
            <a:ext cx="685301" cy="257362"/>
          </a:xfrm>
          <a:prstGeom prst="rect">
            <a:avLst/>
          </a:prstGeom>
        </p:spPr>
      </p:pic>
      <p:sp>
        <p:nvSpPr>
          <p:cNvPr id="16" name="math-source-M01-details-1"/>
          <p:cNvSpPr txBox="1"/>
          <p:nvPr/>
        </p:nvSpPr>
        <p:spPr>
          <a:xfrm>
            <a:off x="1005840" y="316606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W=Fh</a:t>
            </a:r>
          </a:p>
        </p:txBody>
      </p:sp>
      <p:pic>
        <p:nvPicPr>
          <p:cNvPr id="17" name="M01-details-1" descr="W=F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166068"/>
            <a:ext cx="712234" cy="25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353631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9" name="M01-details-2"/>
          <p:cNvSpPr txBox="1"/>
          <p:nvPr/>
        </p:nvSpPr>
        <p:spPr>
          <a:xfrm>
            <a:off x="1005840" y="353631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Løftehøjden i 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85635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M01-details-3"/>
          <p:cNvSpPr txBox="1"/>
          <p:nvPr/>
        </p:nvSpPr>
        <p:spPr>
          <a:xfrm>
            <a:off x="1005840" y="385635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Optaget motorenergi med opgivet virkningsgrad:</a:t>
            </a:r>
          </a:p>
        </p:txBody>
      </p:sp>
      <p:sp>
        <p:nvSpPr>
          <p:cNvPr id="22" name="math-source-M01-details-4"/>
          <p:cNvSpPr txBox="1"/>
          <p:nvPr/>
        </p:nvSpPr>
        <p:spPr>
          <a:xfrm>
            <a:off x="1005840" y="4098673"/>
            <a:ext cx="4206240" cy="436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W_ind=(W)/(η)</a:t>
            </a:r>
          </a:p>
        </p:txBody>
      </p:sp>
      <p:pic>
        <p:nvPicPr>
          <p:cNvPr id="23" name="M01-details-4" descr="W_{\mathrm{ind}}=\dfrac{W}{\et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098673"/>
            <a:ext cx="885804" cy="4369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465446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5" name="math-source-M01-details-5"/>
          <p:cNvSpPr txBox="1"/>
          <p:nvPr/>
        </p:nvSpPr>
        <p:spPr>
          <a:xfrm>
            <a:off x="1005840" y="4654462"/>
            <a:ext cx="4206240" cy="4279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W=90 kg·9,82 (m)/(s^2)·20 m</a:t>
            </a:r>
          </a:p>
        </p:txBody>
      </p:sp>
      <p:pic>
        <p:nvPicPr>
          <p:cNvPr id="26" name="M01-details-5" descr="W=90\,\mathrm{kg}\cdot9{,}82\,\dfrac{\mathrm{m}}{\mathrm{s}^2}\cdot20\,\mathrm{m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654462"/>
            <a:ext cx="2283339" cy="427939"/>
          </a:xfrm>
          <a:prstGeom prst="rect">
            <a:avLst/>
          </a:prstGeom>
        </p:spPr>
      </p:pic>
      <p:sp>
        <p:nvSpPr>
          <p:cNvPr id="27" name="math-source-M01-details-6"/>
          <p:cNvSpPr txBox="1"/>
          <p:nvPr/>
        </p:nvSpPr>
        <p:spPr>
          <a:xfrm>
            <a:off x="1005840" y="5123549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W=17676 J=4,91 Wh</a:t>
            </a:r>
          </a:p>
        </p:txBody>
      </p:sp>
      <p:pic>
        <p:nvPicPr>
          <p:cNvPr id="28" name="M01-details-6" descr="W=17676\,\mathrm{J}=4{,}91\,\mathrm{Wh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5123549"/>
            <a:ext cx="2124733" cy="25137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M02 · Søger: Arbejde W [J]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s [m]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kraft parallelt med bevægelsen.</a:t>
            </a:r>
          </a:p>
        </p:txBody>
      </p:sp>
      <p:sp>
        <p:nvSpPr>
          <p:cNvPr id="33" name="math-source-M02-formula"/>
          <p:cNvSpPr txBox="1"/>
          <p:nvPr/>
        </p:nvSpPr>
        <p:spPr>
          <a:xfrm>
            <a:off x="553212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W=Fs</a:t>
            </a:r>
          </a:p>
        </p:txBody>
      </p:sp>
      <p:pic>
        <p:nvPicPr>
          <p:cNvPr id="34" name="M02-formula" descr="W=F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2340864"/>
            <a:ext cx="994202" cy="36309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6" name="M02-details-0"/>
          <p:cNvSpPr txBox="1"/>
          <p:nvPr/>
        </p:nvSpPr>
        <p:spPr>
          <a:xfrm>
            <a:off x="612648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vinkel mellem kraft og bevægelse:</a:t>
            </a:r>
          </a:p>
        </p:txBody>
      </p:sp>
      <p:sp>
        <p:nvSpPr>
          <p:cNvPr id="37" name="math-source-M02-details-1"/>
          <p:cNvSpPr txBox="1"/>
          <p:nvPr/>
        </p:nvSpPr>
        <p:spPr>
          <a:xfrm>
            <a:off x="6126480" y="30925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W=Fscosθ</a:t>
            </a:r>
          </a:p>
        </p:txBody>
      </p:sp>
      <p:pic>
        <p:nvPicPr>
          <p:cNvPr id="38" name="M02-details-1" descr="W=Fs\cos\thet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3092583"/>
            <a:ext cx="1137181" cy="25137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532120" y="34628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40" name="math-source-M02-details-2"/>
          <p:cNvSpPr txBox="1"/>
          <p:nvPr/>
        </p:nvSpPr>
        <p:spPr>
          <a:xfrm>
            <a:off x="6126480" y="3462832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Ncdotm=J</a:t>
            </a:r>
          </a:p>
        </p:txBody>
      </p:sp>
      <p:pic>
        <p:nvPicPr>
          <p:cNvPr id="41" name="M02-details-2" descr="\mathrm{N}\cdot\mathrm{m}=\mathrm{J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3462832"/>
            <a:ext cx="828945" cy="25137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532120" y="383308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43" name="M02-details-3"/>
          <p:cNvSpPr txBox="1"/>
          <p:nvPr/>
        </p:nvSpPr>
        <p:spPr>
          <a:xfrm>
            <a:off x="6126480" y="383308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En vinkelret kraft udfører ikke arbejde langs bevægelsen.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nav-back-index" descr="Til indeks">
            <a:hlinkClick action="ppaction://hlinksldjump" r:id="rId12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6" name="nav-back-start" descr="Til start">
            <a:hlinkClick action="ppaction://hlinksldjump" r:id="rId13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M05, M03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36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M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M05 · Søger: Rotationsarbejde W [J]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[N·m], θ [rad]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moment.</a:t>
            </a:r>
          </a:p>
        </p:txBody>
      </p:sp>
      <p:sp>
        <p:nvSpPr>
          <p:cNvPr id="11" name="math-source-M05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W=Mθ</a:t>
            </a:r>
          </a:p>
        </p:txBody>
      </p:sp>
      <p:pic>
        <p:nvPicPr>
          <p:cNvPr id="12" name="M05-formula" descr="W=M\th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106590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05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z fulde omdrejninger:</a:t>
            </a:r>
          </a:p>
        </p:txBody>
      </p:sp>
      <p:sp>
        <p:nvSpPr>
          <p:cNvPr id="15" name="math-source-M05-details-1"/>
          <p:cNvSpPr txBox="1"/>
          <p:nvPr/>
        </p:nvSpPr>
        <p:spPr>
          <a:xfrm>
            <a:off x="1005840" y="30925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θ=2π z</a:t>
            </a:r>
          </a:p>
        </p:txBody>
      </p:sp>
      <p:pic>
        <p:nvPicPr>
          <p:cNvPr id="16" name="M05-details-1" descr="\theta=2\pi z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92583"/>
            <a:ext cx="700264" cy="2513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4628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M05-details-2"/>
          <p:cNvSpPr txBox="1"/>
          <p:nvPr/>
        </p:nvSpPr>
        <p:spPr>
          <a:xfrm>
            <a:off x="1005840" y="3462832"/>
            <a:ext cx="4206240" cy="392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θ[rad]=θ[^°](π)/(180)</a:t>
            </a:r>
          </a:p>
        </p:txBody>
      </p:sp>
      <p:pic>
        <p:nvPicPr>
          <p:cNvPr id="19" name="M05-details-2" descr="\theta[\mathrm{rad}]=\theta[{}^\circ]\dfrac{\pi}{180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62832"/>
            <a:ext cx="1547164" cy="3920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397373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M05-details-3"/>
          <p:cNvSpPr txBox="1"/>
          <p:nvPr/>
        </p:nvSpPr>
        <p:spPr>
          <a:xfrm>
            <a:off x="1005840" y="397373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Antal omdrejninger er ikke det samme som n [rpm].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29377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3" name="math-source-M05-details-4"/>
          <p:cNvSpPr txBox="1"/>
          <p:nvPr/>
        </p:nvSpPr>
        <p:spPr>
          <a:xfrm>
            <a:off x="1005840" y="4293773"/>
            <a:ext cx="4206240" cy="3860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W=0,20 Ncdotm·(π)/(4)</a:t>
            </a:r>
          </a:p>
        </p:txBody>
      </p:sp>
      <p:pic>
        <p:nvPicPr>
          <p:cNvPr id="24" name="M05-details-4" descr="W=0{,}20\,\mathrm{N}\cdot\mathrm{m}\cdot\dfrac{\pi}{4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93773"/>
            <a:ext cx="1618986" cy="386043"/>
          </a:xfrm>
          <a:prstGeom prst="rect">
            <a:avLst/>
          </a:prstGeom>
        </p:spPr>
      </p:pic>
      <p:sp>
        <p:nvSpPr>
          <p:cNvPr id="25" name="math-source-M05-details-5"/>
          <p:cNvSpPr txBox="1"/>
          <p:nvPr/>
        </p:nvSpPr>
        <p:spPr>
          <a:xfrm>
            <a:off x="1005840" y="472096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W=0,157080 J</a:t>
            </a:r>
          </a:p>
        </p:txBody>
      </p:sp>
      <p:pic>
        <p:nvPicPr>
          <p:cNvPr id="26" name="M05-details-5" descr="W=0{,}157080\,\mathrm{J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720964"/>
            <a:ext cx="1427461" cy="25137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M03 · Søger: Moment M [N·m]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arm r [m]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Kraften står vinkelret på armen.</a:t>
            </a:r>
          </a:p>
        </p:txBody>
      </p:sp>
      <p:sp>
        <p:nvSpPr>
          <p:cNvPr id="31" name="math-source-M03-formula"/>
          <p:cNvSpPr txBox="1"/>
          <p:nvPr/>
        </p:nvSpPr>
        <p:spPr>
          <a:xfrm>
            <a:off x="553212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M=Fr</a:t>
            </a:r>
          </a:p>
        </p:txBody>
      </p:sp>
      <p:pic>
        <p:nvPicPr>
          <p:cNvPr id="32" name="M03-formula" descr="M=F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2340864"/>
            <a:ext cx="1011492" cy="3630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4" name="M03-details-0"/>
          <p:cNvSpPr txBox="1"/>
          <p:nvPr/>
        </p:nvSpPr>
        <p:spPr>
          <a:xfrm>
            <a:off x="612648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Generelt: brug den vinkelrette momentarm.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317030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6" name="math-source-M03-details-1"/>
          <p:cNvSpPr txBox="1"/>
          <p:nvPr/>
        </p:nvSpPr>
        <p:spPr>
          <a:xfrm>
            <a:off x="6126480" y="3170307"/>
            <a:ext cx="4206240" cy="47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r[m]=(r[cm])/(100)</a:t>
            </a:r>
          </a:p>
        </p:txBody>
      </p:sp>
      <p:pic>
        <p:nvPicPr>
          <p:cNvPr id="37" name="M03-details-1" descr="r[\mathrm{m}]=\dfrac{r[\mathrm{cm}]}{100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170307"/>
            <a:ext cx="1211995" cy="4758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532120" y="37650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9" name="M03-details-2"/>
          <p:cNvSpPr txBox="1"/>
          <p:nvPr/>
        </p:nvSpPr>
        <p:spPr>
          <a:xfrm>
            <a:off x="6126480" y="376500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Geometrisk radius er ikke altid momentarm.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408504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1" name="math-source-M03-details-3"/>
          <p:cNvSpPr txBox="1"/>
          <p:nvPr/>
        </p:nvSpPr>
        <p:spPr>
          <a:xfrm>
            <a:off x="6126480" y="408504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M=2 N·0,10 m=0,20 Ncdotm</a:t>
            </a:r>
          </a:p>
        </p:txBody>
      </p:sp>
      <p:pic>
        <p:nvPicPr>
          <p:cNvPr id="42" name="M03-details-3" descr="M=2\,\mathrm{N}\cdot0{,}10\,\mathrm{m}=0{,}20\,\mathrm{N}\cdot\mathrm{m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4085040"/>
            <a:ext cx="2633472" cy="251376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av-back-index" descr="Til indeks">
            <a:hlinkClick action="ppaction://hlinksldjump" r:id="rId11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5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M04, M06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37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M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M04 · Søger: Vinkelhastighed ω [rad/s]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Δθ [rad], Δt [s] eller n [s⁻¹]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rotation; ellers middelværdi.</a:t>
            </a:r>
          </a:p>
        </p:txBody>
      </p:sp>
      <p:sp>
        <p:nvSpPr>
          <p:cNvPr id="11" name="math-source-M04-formula"/>
          <p:cNvSpPr txBox="1"/>
          <p:nvPr/>
        </p:nvSpPr>
        <p:spPr>
          <a:xfrm>
            <a:off x="41148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ω=(Δθ)/(Δ t)=2π n</a:t>
            </a:r>
          </a:p>
        </p:txBody>
      </p:sp>
      <p:pic>
        <p:nvPicPr>
          <p:cNvPr id="12" name="M04-formula" descr="\omega=\frac{\Delta\theta}{\Delta t}=2\pi 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867371" cy="6440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M04-details-0"/>
          <p:cNvSpPr txBox="1"/>
          <p:nvPr/>
        </p:nvSpPr>
        <p:spPr>
          <a:xfrm>
            <a:off x="1005840" y="3131238"/>
            <a:ext cx="4206240" cy="490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n[s^-1]=(n[rpm])/(60)</a:t>
            </a:r>
          </a:p>
        </p:txBody>
      </p:sp>
      <p:pic>
        <p:nvPicPr>
          <p:cNvPr id="15" name="M04-details-0" descr="n[\mathrm{s}^{-1}]=\dfrac{n[\mathrm{rpm}]}{60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31238"/>
            <a:ext cx="1466365" cy="490783"/>
          </a:xfrm>
          <a:prstGeom prst="rect">
            <a:avLst/>
          </a:prstGeom>
        </p:spPr>
      </p:pic>
      <p:sp>
        <p:nvSpPr>
          <p:cNvPr id="16" name="math-source-M04-details-1"/>
          <p:cNvSpPr txBox="1"/>
          <p:nvPr/>
        </p:nvSpPr>
        <p:spPr>
          <a:xfrm>
            <a:off x="1005840" y="3663169"/>
            <a:ext cx="4206240" cy="392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θ[rad]=θ[^°](π)/(180)</a:t>
            </a:r>
          </a:p>
        </p:txBody>
      </p:sp>
      <p:pic>
        <p:nvPicPr>
          <p:cNvPr id="17" name="M04-details-1" descr="\theta[\mathrm{rad}]=\theta[{}^\circ]\dfrac{\pi}{180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63169"/>
            <a:ext cx="1547164" cy="3920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417406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9" name="M04-details-2"/>
          <p:cNvSpPr txBox="1"/>
          <p:nvPr/>
        </p:nvSpPr>
        <p:spPr>
          <a:xfrm>
            <a:off x="1005840" y="417406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rad/s, ikke omdrejninger/s.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49410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math-source-M04-details-3"/>
          <p:cNvSpPr txBox="1"/>
          <p:nvPr/>
        </p:nvSpPr>
        <p:spPr>
          <a:xfrm>
            <a:off x="1005840" y="4494109"/>
            <a:ext cx="4206240" cy="3860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45^°=(π)/(4) rad</a:t>
            </a:r>
          </a:p>
        </p:txBody>
      </p:sp>
      <p:pic>
        <p:nvPicPr>
          <p:cNvPr id="22" name="M04-details-3" descr="45^\circ=\dfrac{\pi}{4}\,\mathrm{rad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494109"/>
            <a:ext cx="1077329" cy="386043"/>
          </a:xfrm>
          <a:prstGeom prst="rect">
            <a:avLst/>
          </a:prstGeom>
        </p:spPr>
      </p:pic>
      <p:sp>
        <p:nvSpPr>
          <p:cNvPr id="23" name="M04-details-4"/>
          <p:cNvSpPr txBox="1"/>
          <p:nvPr/>
        </p:nvSpPr>
        <p:spPr>
          <a:xfrm>
            <a:off x="1005840" y="492130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Kildens etiket rad/s for omdrejningsfrekvensen er forkert.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24134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5" name="math-source-M04-details-5"/>
          <p:cNvSpPr txBox="1"/>
          <p:nvPr/>
        </p:nvSpPr>
        <p:spPr>
          <a:xfrm>
            <a:off x="1005840" y="5241340"/>
            <a:ext cx="4206240" cy="448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ω=(45π)/(180·3 s) rad</a:t>
            </a:r>
          </a:p>
        </p:txBody>
      </p:sp>
      <p:pic>
        <p:nvPicPr>
          <p:cNvPr id="26" name="M04-details-5" descr="\omega=\dfrac{45\pi}{180\cdot3\,\mathrm{s}}\,\mathrm{rad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241340"/>
            <a:ext cx="1481327" cy="448887"/>
          </a:xfrm>
          <a:prstGeom prst="rect">
            <a:avLst/>
          </a:prstGeom>
        </p:spPr>
      </p:pic>
      <p:sp>
        <p:nvSpPr>
          <p:cNvPr id="27" name="math-source-M04-details-6"/>
          <p:cNvSpPr txBox="1"/>
          <p:nvPr/>
        </p:nvSpPr>
        <p:spPr>
          <a:xfrm>
            <a:off x="1005840" y="573137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ω=0,261799 rad/s</a:t>
            </a:r>
          </a:p>
        </p:txBody>
      </p:sp>
      <p:pic>
        <p:nvPicPr>
          <p:cNvPr id="28" name="M04-details-6" descr="\omega=0{,}261799\,\mathrm{rad/s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5731376"/>
            <a:ext cx="1750660" cy="25137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M06 · Søger: Moment M [N·m]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Pmek [W], ω [rad/s] eller n [rpm]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Mekanisk aksel-effekt og omdrejningshastighed.</a:t>
            </a:r>
          </a:p>
        </p:txBody>
      </p:sp>
      <p:sp>
        <p:nvSpPr>
          <p:cNvPr id="33" name="math-source-M06-formula"/>
          <p:cNvSpPr txBox="1"/>
          <p:nvPr/>
        </p:nvSpPr>
        <p:spPr>
          <a:xfrm>
            <a:off x="5532120" y="2340864"/>
            <a:ext cx="4800600" cy="687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M=fracP_mekω=frac60P_mek2π n</a:t>
            </a:r>
          </a:p>
        </p:txBody>
      </p:sp>
      <p:pic>
        <p:nvPicPr>
          <p:cNvPr id="34" name="M06-formula" descr="M=\frac{P_{\mathrm{mek}}}{\omega}=\frac{60P_{\mathrm{mek}}}{2\pi n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2340864"/>
            <a:ext cx="2597893" cy="6872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317446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6" name="M06-details-0"/>
          <p:cNvSpPr txBox="1"/>
          <p:nvPr/>
        </p:nvSpPr>
        <p:spPr>
          <a:xfrm>
            <a:off x="6126480" y="317446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Kun elektrisk indgangseffekt opgivet:</a:t>
            </a:r>
          </a:p>
        </p:txBody>
      </p:sp>
      <p:sp>
        <p:nvSpPr>
          <p:cNvPr id="37" name="math-source-M06-details-1"/>
          <p:cNvSpPr txBox="1"/>
          <p:nvPr/>
        </p:nvSpPr>
        <p:spPr>
          <a:xfrm>
            <a:off x="6126480" y="3416780"/>
            <a:ext cx="4206240" cy="257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P_mek=η P_ind</a:t>
            </a:r>
          </a:p>
        </p:txBody>
      </p:sp>
      <p:pic>
        <p:nvPicPr>
          <p:cNvPr id="38" name="M06-details-1" descr="P_{\mathrm{mek}}=\eta P_{\mathrm{ind}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3416780"/>
            <a:ext cx="1149151" cy="25736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532120" y="379301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40" name="M06-details-2"/>
          <p:cNvSpPr txBox="1"/>
          <p:nvPr/>
        </p:nvSpPr>
        <p:spPr>
          <a:xfrm>
            <a:off x="6126480" y="379301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Effekt i W; omdrejningstal i rpm i sidste udtryk.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2120" y="411305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42" name="math-source-M06-details-3"/>
          <p:cNvSpPr txBox="1"/>
          <p:nvPr/>
        </p:nvSpPr>
        <p:spPr>
          <a:xfrm>
            <a:off x="6126480" y="411305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P_ind=200 W</a:t>
            </a:r>
          </a:p>
        </p:txBody>
      </p:sp>
      <p:pic>
        <p:nvPicPr>
          <p:cNvPr id="43" name="M06-details-3" descr="P_{\mathrm{ind}}=200\,\mathrm{W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4113054"/>
            <a:ext cx="1211995" cy="251376"/>
          </a:xfrm>
          <a:prstGeom prst="rect">
            <a:avLst/>
          </a:prstGeom>
        </p:spPr>
      </p:pic>
      <p:sp>
        <p:nvSpPr>
          <p:cNvPr id="44" name="math-source-M06-details-4"/>
          <p:cNvSpPr txBox="1"/>
          <p:nvPr/>
        </p:nvSpPr>
        <p:spPr>
          <a:xfrm>
            <a:off x="6126480" y="4405579"/>
            <a:ext cx="4206240" cy="263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n=3000 rpm</a:t>
            </a:r>
          </a:p>
        </p:txBody>
      </p:sp>
      <p:pic>
        <p:nvPicPr>
          <p:cNvPr id="45" name="M06-details-4" descr="n=3000\,\mathrm{rpm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6480" y="4405579"/>
            <a:ext cx="1238928" cy="263347"/>
          </a:xfrm>
          <a:prstGeom prst="rect">
            <a:avLst/>
          </a:prstGeom>
        </p:spPr>
      </p:pic>
      <p:sp>
        <p:nvSpPr>
          <p:cNvPr id="46" name="M06-details-5"/>
          <p:cNvSpPr txBox="1"/>
          <p:nvPr/>
        </p:nvSpPr>
        <p:spPr>
          <a:xfrm>
            <a:off x="6126480" y="471007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Virkningsgraden mangler.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32120" y="503011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8" name="math-source-M06-details-6"/>
          <p:cNvSpPr txBox="1"/>
          <p:nvPr/>
        </p:nvSpPr>
        <p:spPr>
          <a:xfrm>
            <a:off x="6126480" y="5030114"/>
            <a:ext cx="4206240" cy="2603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M=0,6366η Ncdotm</a:t>
            </a:r>
          </a:p>
        </p:txBody>
      </p:sp>
      <p:pic>
        <p:nvPicPr>
          <p:cNvPr id="49" name="M06-details-6" descr="M=0{,}6366\eta\,\mathrm{N}\cdot\mathrm{m}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0" y="5030114"/>
            <a:ext cx="1705771" cy="260354"/>
          </a:xfrm>
          <a:prstGeom prst="rect">
            <a:avLst/>
          </a:prstGeom>
        </p:spPr>
      </p:pic>
      <p:sp>
        <p:nvSpPr>
          <p:cNvPr id="50" name="M06-details-7"/>
          <p:cNvSpPr txBox="1"/>
          <p:nvPr/>
        </p:nvSpPr>
        <p:spPr>
          <a:xfrm>
            <a:off x="6126480" y="533161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Resultatet afhænger af virkningsgraden.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nav-back-index" descr="Til indeks">
            <a:hlinkClick action="ppaction://hlinksldjump" r:id="rId14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53" name="nav-back-start" descr="Til start">
            <a:hlinkClick action="ppaction://hlinksldjump" r:id="rId15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F01, F02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38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F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F01 · Søger: Elektrisk kraft |F| [N]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Q1, Q2 [C], a [m], ε [F/m]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Punktladninger i ensartet isotropt medium.</a:t>
            </a:r>
          </a:p>
        </p:txBody>
      </p:sp>
      <p:sp>
        <p:nvSpPr>
          <p:cNvPr id="11" name="math-source-F01-formula"/>
          <p:cNvSpPr txBox="1"/>
          <p:nvPr/>
        </p:nvSpPr>
        <p:spPr>
          <a:xfrm>
            <a:off x="411480" y="2340864"/>
            <a:ext cx="4800600" cy="7478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|F|=(|Q_1Q_2|)/(4πε a^2)</a:t>
            </a:r>
          </a:p>
        </p:txBody>
      </p:sp>
      <p:pic>
        <p:nvPicPr>
          <p:cNvPr id="12" name="F01-formula" descr="|F|=\frac{|Q_1Q_2|}{4\pi\varepsilon a^2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599368" cy="7478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3498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F01-details-0"/>
          <p:cNvSpPr txBox="1"/>
          <p:nvPr/>
        </p:nvSpPr>
        <p:spPr>
          <a:xfrm>
            <a:off x="1005840" y="323498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ε=ε_0ε_r</a:t>
            </a:r>
          </a:p>
        </p:txBody>
      </p:sp>
      <p:pic>
        <p:nvPicPr>
          <p:cNvPr id="15" name="F01-details-0" descr="\varepsilon=\varepsilon_0\varepsilon_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34980"/>
            <a:ext cx="733182" cy="251376"/>
          </a:xfrm>
          <a:prstGeom prst="rect">
            <a:avLst/>
          </a:prstGeom>
        </p:spPr>
      </p:pic>
      <p:sp>
        <p:nvSpPr>
          <p:cNvPr id="16" name="F01-details-1"/>
          <p:cNvSpPr txBox="1"/>
          <p:nvPr/>
        </p:nvSpPr>
        <p:spPr>
          <a:xfrm>
            <a:off x="1005840" y="352750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Samme fortegn frastøder; modsat tiltrækker.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84754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F01-details-2"/>
          <p:cNvSpPr txBox="1"/>
          <p:nvPr/>
        </p:nvSpPr>
        <p:spPr>
          <a:xfrm>
            <a:off x="1005840" y="3847545"/>
            <a:ext cx="4206240" cy="30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Q[C]=10^-6Q[muC]</a:t>
            </a:r>
          </a:p>
        </p:txBody>
      </p:sp>
      <p:pic>
        <p:nvPicPr>
          <p:cNvPr id="19" name="F01-details-2" descr="Q[\mathrm{C}]=10^{-6}Q[\mu\mathrm{C}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847545"/>
            <a:ext cx="1744675" cy="302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26866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F01-details-3"/>
          <p:cNvSpPr txBox="1"/>
          <p:nvPr/>
        </p:nvSpPr>
        <p:spPr>
          <a:xfrm>
            <a:off x="1005840" y="426866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Beregner størrelse. Retning fastlægges separat.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F02 · Søger: Elektrisk feltstyrke Ef [V/m]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Q [C] eller kildeladning Qk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F/Q er feltet på prøveladningen; a ved punktkilden.</a:t>
            </a:r>
          </a:p>
        </p:txBody>
      </p:sp>
      <p:sp>
        <p:nvSpPr>
          <p:cNvPr id="26" name="math-source-F02-formula"/>
          <p:cNvSpPr txBox="1"/>
          <p:nvPr/>
        </p:nvSpPr>
        <p:spPr>
          <a:xfrm>
            <a:off x="5532120" y="2340864"/>
            <a:ext cx="4800600" cy="7564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E_f=(F)/(Q), |E_f|=(|Q_k|)/(4πε a^2)</a:t>
            </a:r>
          </a:p>
        </p:txBody>
      </p:sp>
      <p:pic>
        <p:nvPicPr>
          <p:cNvPr id="27" name="F02-formula" descr="E_f=\frac{F}{Q},\qquad |E_f|=\frac{|Q_k|}{4\pi\varepsilon a^2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3090672" cy="75645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32120" y="324362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9" name="F02-details-0"/>
          <p:cNvSpPr txBox="1"/>
          <p:nvPr/>
        </p:nvSpPr>
        <p:spPr>
          <a:xfrm>
            <a:off x="6126480" y="324362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Feltretningen defineres med en positiv prøveladning.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356366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1" name="math-source-F02-details-1"/>
          <p:cNvSpPr txBox="1"/>
          <p:nvPr/>
        </p:nvSpPr>
        <p:spPr>
          <a:xfrm>
            <a:off x="6126480" y="3563666"/>
            <a:ext cx="4206240" cy="448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(1 N)/(1 C)=(1 V)/(1 m)</a:t>
            </a:r>
          </a:p>
        </p:txBody>
      </p:sp>
      <p:pic>
        <p:nvPicPr>
          <p:cNvPr id="32" name="F02-details-1" descr="\dfrac{1\,\mathrm{N}}{1\,\mathrm{C}}=\dfrac{1\,\mathrm{V}}{1\,\mathrm{m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563666"/>
            <a:ext cx="927700" cy="44888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413142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4" name="F02-details-2"/>
          <p:cNvSpPr txBox="1"/>
          <p:nvPr/>
        </p:nvSpPr>
        <p:spPr>
          <a:xfrm>
            <a:off x="6126480" y="413142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Elektrisk feltstyrke i V/m er ikke det samme som kildens EMK i V.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445146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6" name="math-source-F02-details-3"/>
          <p:cNvSpPr txBox="1"/>
          <p:nvPr/>
        </p:nvSpPr>
        <p:spPr>
          <a:xfrm>
            <a:off x="6126480" y="4451465"/>
            <a:ext cx="4206240" cy="3890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F=(300 V)/(m)·0,1 muC</a:t>
            </a:r>
          </a:p>
        </p:txBody>
      </p:sp>
      <p:pic>
        <p:nvPicPr>
          <p:cNvPr id="37" name="F02-details-3" descr="F=\dfrac{300\,\mathrm{V}}{\mathrm{m}}\cdot0{,}1\,\mu\mathrm{C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451465"/>
            <a:ext cx="1684823" cy="389035"/>
          </a:xfrm>
          <a:prstGeom prst="rect">
            <a:avLst/>
          </a:prstGeom>
        </p:spPr>
      </p:pic>
      <p:sp>
        <p:nvSpPr>
          <p:cNvPr id="38" name="math-source-F02-details-4"/>
          <p:cNvSpPr txBox="1"/>
          <p:nvPr/>
        </p:nvSpPr>
        <p:spPr>
          <a:xfrm>
            <a:off x="6126480" y="4881649"/>
            <a:ext cx="4206240" cy="2603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F=30 muN</a:t>
            </a:r>
          </a:p>
        </p:txBody>
      </p:sp>
      <p:pic>
        <p:nvPicPr>
          <p:cNvPr id="39" name="F02-details-4" descr="F=30\,\mu\mathrm{N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881649"/>
            <a:ext cx="951641" cy="260354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2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F03, F04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39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F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F03 · Søger: Kraft F [N]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 [C], Ef [V/m]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Prøveladning i givet elektrisk felt.</a:t>
            </a:r>
          </a:p>
        </p:txBody>
      </p:sp>
      <p:sp>
        <p:nvSpPr>
          <p:cNvPr id="11" name="math-source-F03-formula"/>
          <p:cNvSpPr txBox="1"/>
          <p:nvPr/>
        </p:nvSpPr>
        <p:spPr>
          <a:xfrm>
            <a:off x="411480" y="2340864"/>
            <a:ext cx="4800600" cy="5057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vec F=Qvec E_f</a:t>
            </a:r>
          </a:p>
        </p:txBody>
      </p:sp>
      <p:pic>
        <p:nvPicPr>
          <p:cNvPr id="12" name="F03-formula" descr="\vec F=Q\vec E_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158461" cy="50574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99291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F03-details-0"/>
          <p:cNvSpPr txBox="1"/>
          <p:nvPr/>
        </p:nvSpPr>
        <p:spPr>
          <a:xfrm>
            <a:off x="1005840" y="299291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Negativ Q giver kraft modsat feltretningen.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31295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F03-details-1"/>
          <p:cNvSpPr txBox="1"/>
          <p:nvPr/>
        </p:nvSpPr>
        <p:spPr>
          <a:xfrm>
            <a:off x="1005840" y="331295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Q i 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63299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8" name="F03-details-2"/>
          <p:cNvSpPr txBox="1"/>
          <p:nvPr/>
        </p:nvSpPr>
        <p:spPr>
          <a:xfrm>
            <a:off x="1005840" y="363299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Feltet fra prøveladningen selv indgår ikke.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04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F04 · Søger: Afstand a [m]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Q1, Q2 [C], ε [F/m]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punktladningsmodel som F01.</a:t>
            </a:r>
          </a:p>
        </p:txBody>
      </p:sp>
      <p:sp>
        <p:nvSpPr>
          <p:cNvPr id="23" name="math-source-F04-formula"/>
          <p:cNvSpPr txBox="1"/>
          <p:nvPr/>
        </p:nvSpPr>
        <p:spPr>
          <a:xfrm>
            <a:off x="5532120" y="2340864"/>
            <a:ext cx="4800600" cy="825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a=√((|Q_1Q_2|)/(4πε |F|))</a:t>
            </a:r>
          </a:p>
        </p:txBody>
      </p:sp>
      <p:pic>
        <p:nvPicPr>
          <p:cNvPr id="24" name="F04-formula" descr="a=\sqrt{\frac{|Q_1Q_2|}{4\pi\varepsilon |F|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340864"/>
            <a:ext cx="1884661" cy="8256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532120" y="331278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6" name="F04-details-0"/>
          <p:cNvSpPr txBox="1"/>
          <p:nvPr/>
        </p:nvSpPr>
        <p:spPr>
          <a:xfrm>
            <a:off x="6126480" y="331278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Lige ladninger:</a:t>
            </a:r>
          </a:p>
        </p:txBody>
      </p:sp>
      <p:sp>
        <p:nvSpPr>
          <p:cNvPr id="27" name="math-source-F04-details-1"/>
          <p:cNvSpPr txBox="1"/>
          <p:nvPr/>
        </p:nvSpPr>
        <p:spPr>
          <a:xfrm>
            <a:off x="6126480" y="3555104"/>
            <a:ext cx="4206240" cy="538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|Q|=a√((|F|)/(k))</a:t>
            </a:r>
          </a:p>
        </p:txBody>
      </p:sp>
      <p:pic>
        <p:nvPicPr>
          <p:cNvPr id="28" name="F04-details-1" descr="|Q|=a\sqrt{\dfrac{|F|}{k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555104"/>
            <a:ext cx="1173092" cy="538664"/>
          </a:xfrm>
          <a:prstGeom prst="rect">
            <a:avLst/>
          </a:prstGeom>
        </p:spPr>
      </p:pic>
      <p:sp>
        <p:nvSpPr>
          <p:cNvPr id="29" name="math-source-F04-details-2"/>
          <p:cNvSpPr txBox="1"/>
          <p:nvPr/>
        </p:nvSpPr>
        <p:spPr>
          <a:xfrm>
            <a:off x="6126480" y="4134916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k=(1)/(4πε)</a:t>
            </a:r>
          </a:p>
        </p:txBody>
      </p:sp>
      <p:pic>
        <p:nvPicPr>
          <p:cNvPr id="30" name="F04-details-2" descr="k=\dfrac{1}{4\pi\varepsilon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134916"/>
            <a:ext cx="706249" cy="44589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32120" y="469968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2" name="math-source-F04-details-3"/>
          <p:cNvSpPr txBox="1"/>
          <p:nvPr/>
        </p:nvSpPr>
        <p:spPr>
          <a:xfrm>
            <a:off x="6126480" y="4699683"/>
            <a:ext cx="4206240" cy="47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a[m]=(a[mm])/(1000)</a:t>
            </a:r>
          </a:p>
        </p:txBody>
      </p:sp>
      <p:pic>
        <p:nvPicPr>
          <p:cNvPr id="33" name="F04-details-3" descr="a[\mathrm{m}]=\dfrac{a[\mathrm{mm}]}{1000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699683"/>
            <a:ext cx="1340676" cy="4758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529437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5" name="F04-details-4"/>
          <p:cNvSpPr txBox="1"/>
          <p:nvPr/>
        </p:nvSpPr>
        <p:spPr>
          <a:xfrm>
            <a:off x="6126480" y="529437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Kraften varierer med:</a:t>
            </a:r>
          </a:p>
        </p:txBody>
      </p:sp>
      <p:sp>
        <p:nvSpPr>
          <p:cNvPr id="36" name="math-source-F04-details-5"/>
          <p:cNvSpPr txBox="1"/>
          <p:nvPr/>
        </p:nvSpPr>
        <p:spPr>
          <a:xfrm>
            <a:off x="6126480" y="5536692"/>
            <a:ext cx="4206240" cy="4788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(1)/(a^2)</a:t>
            </a:r>
          </a:p>
        </p:txBody>
      </p:sp>
      <p:pic>
        <p:nvPicPr>
          <p:cNvPr id="37" name="F04-details-5" descr="\dfrac{1}{a^2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5536692"/>
            <a:ext cx="269332" cy="478813"/>
          </a:xfrm>
          <a:prstGeom prst="rect">
            <a:avLst/>
          </a:prstGeom>
        </p:spPr>
      </p:pic>
      <p:sp>
        <p:nvSpPr>
          <p:cNvPr id="38" name="F04-details-6"/>
          <p:cNvSpPr txBox="1"/>
          <p:nvPr/>
        </p:nvSpPr>
        <p:spPr>
          <a:xfrm>
            <a:off x="6126480" y="605665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Afstandsafhængigheden er ikke</a:t>
            </a:r>
          </a:p>
        </p:txBody>
      </p:sp>
      <p:sp>
        <p:nvSpPr>
          <p:cNvPr id="39" name="math-source-F04-details-7"/>
          <p:cNvSpPr txBox="1"/>
          <p:nvPr/>
        </p:nvSpPr>
        <p:spPr>
          <a:xfrm>
            <a:off x="6126480" y="6298969"/>
            <a:ext cx="4206240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(1)/(a)</a:t>
            </a:r>
          </a:p>
        </p:txBody>
      </p:sp>
      <p:pic>
        <p:nvPicPr>
          <p:cNvPr id="40" name="F04-details-7" descr="\dfrac{1}{a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6298969"/>
            <a:ext cx="164592" cy="39502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3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F05, F06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40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F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F05 · Søger: Ukendt ladning |Q2| [C]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a [m], Q1 [C], 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Punktladninger; fortegnet afgøres af tiltrækning/frastødning.</a:t>
            </a:r>
          </a:p>
        </p:txBody>
      </p:sp>
      <p:sp>
        <p:nvSpPr>
          <p:cNvPr id="11" name="math-source-F05-formula"/>
          <p:cNvSpPr txBox="1"/>
          <p:nvPr/>
        </p:nvSpPr>
        <p:spPr>
          <a:xfrm>
            <a:off x="411480" y="2340864"/>
            <a:ext cx="4800600" cy="760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|Q_2|=(4πε a^2|F|)/(|Q_1|)</a:t>
            </a:r>
          </a:p>
        </p:txBody>
      </p:sp>
      <p:pic>
        <p:nvPicPr>
          <p:cNvPr id="12" name="F05-formula" descr="|Q_2|=\frac{4\pi\varepsilon a^2|F|}{|Q_1|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022985" cy="7607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4794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F05-details-0"/>
          <p:cNvSpPr txBox="1"/>
          <p:nvPr/>
        </p:nvSpPr>
        <p:spPr>
          <a:xfrm>
            <a:off x="1005840" y="324794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Tiltrækning → modsat fortegn af Q1.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56798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F05-details-1"/>
          <p:cNvSpPr txBox="1"/>
          <p:nvPr/>
        </p:nvSpPr>
        <p:spPr>
          <a:xfrm>
            <a:off x="1005840" y="3567988"/>
            <a:ext cx="4206240" cy="2932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Q[C]=10^-9Q[nC]</a:t>
            </a:r>
          </a:p>
        </p:txBody>
      </p:sp>
      <p:pic>
        <p:nvPicPr>
          <p:cNvPr id="17" name="F05-details-1" descr="Q[\mathrm{C}]=10^{-9}Q[\mathrm{nC}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67988"/>
            <a:ext cx="1738690" cy="293273"/>
          </a:xfrm>
          <a:prstGeom prst="rect">
            <a:avLst/>
          </a:prstGeom>
        </p:spPr>
      </p:pic>
      <p:sp>
        <p:nvSpPr>
          <p:cNvPr id="18" name="math-source-F05-details-2"/>
          <p:cNvSpPr txBox="1"/>
          <p:nvPr/>
        </p:nvSpPr>
        <p:spPr>
          <a:xfrm>
            <a:off x="1005840" y="3902409"/>
            <a:ext cx="4206240" cy="2872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F[N]=10^-3F[mN]</a:t>
            </a:r>
          </a:p>
        </p:txBody>
      </p:sp>
      <p:pic>
        <p:nvPicPr>
          <p:cNvPr id="19" name="F05-details-2" descr="F[\mathrm{N}]=10^{-3}F[\mathrm{mN}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02409"/>
            <a:ext cx="1777593" cy="28728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30856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math-source-F05-details-3"/>
          <p:cNvSpPr txBox="1"/>
          <p:nvPr/>
        </p:nvSpPr>
        <p:spPr>
          <a:xfrm>
            <a:off x="1005840" y="4308569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Q_1=0</a:t>
            </a:r>
          </a:p>
        </p:txBody>
      </p:sp>
      <p:pic>
        <p:nvPicPr>
          <p:cNvPr id="22" name="F05-details-3" descr="Q_1=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308569"/>
            <a:ext cx="637419" cy="254369"/>
          </a:xfrm>
          <a:prstGeom prst="rect">
            <a:avLst/>
          </a:prstGeom>
        </p:spPr>
      </p:pic>
      <p:sp>
        <p:nvSpPr>
          <p:cNvPr id="23" name="F05-details-4"/>
          <p:cNvSpPr txBox="1"/>
          <p:nvPr/>
        </p:nvSpPr>
        <p:spPr>
          <a:xfrm>
            <a:off x="1005840" y="460408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giver ingen bestemt løsning med denne formel.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F06 · Søger: Elektrisk flux Ψ [V·m]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Ef [V/m], A [m²] eller Q [C], 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normalt felt; eller lukket kugle i ensartet medium.</a:t>
            </a:r>
          </a:p>
        </p:txBody>
      </p:sp>
      <p:sp>
        <p:nvSpPr>
          <p:cNvPr id="28" name="math-source-F06-formula"/>
          <p:cNvSpPr txBox="1"/>
          <p:nvPr/>
        </p:nvSpPr>
        <p:spPr>
          <a:xfrm>
            <a:off x="5532120" y="2340864"/>
            <a:ext cx="4800600" cy="6224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Ψ=E_f A=(Q)/(ε)</a:t>
            </a:r>
          </a:p>
        </p:txBody>
      </p:sp>
      <p:pic>
        <p:nvPicPr>
          <p:cNvPr id="29" name="F06-formula" descr="\Psi=E_f A=\frac{Q}{\varepsilon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1681498" cy="62245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310962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1" name="F06-details-0"/>
          <p:cNvSpPr txBox="1"/>
          <p:nvPr/>
        </p:nvSpPr>
        <p:spPr>
          <a:xfrm>
            <a:off x="6126480" y="310962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Kuglens areal:</a:t>
            </a:r>
          </a:p>
        </p:txBody>
      </p:sp>
      <p:sp>
        <p:nvSpPr>
          <p:cNvPr id="32" name="math-source-F06-details-1"/>
          <p:cNvSpPr txBox="1"/>
          <p:nvPr/>
        </p:nvSpPr>
        <p:spPr>
          <a:xfrm>
            <a:off x="6126480" y="3351941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A=4π a^2</a:t>
            </a:r>
          </a:p>
        </p:txBody>
      </p:sp>
      <p:pic>
        <p:nvPicPr>
          <p:cNvPr id="33" name="F06-details-1" descr="A=4\pi a^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351941"/>
            <a:ext cx="858870" cy="254369"/>
          </a:xfrm>
          <a:prstGeom prst="rect">
            <a:avLst/>
          </a:prstGeom>
        </p:spPr>
      </p:pic>
      <p:sp>
        <p:nvSpPr>
          <p:cNvPr id="34" name="F06-details-2"/>
          <p:cNvSpPr txBox="1"/>
          <p:nvPr/>
        </p:nvSpPr>
        <p:spPr>
          <a:xfrm>
            <a:off x="6126480" y="364745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Lukket flade:</a:t>
            </a:r>
          </a:p>
        </p:txBody>
      </p:sp>
      <p:sp>
        <p:nvSpPr>
          <p:cNvPr id="35" name="math-source-F06-details-3"/>
          <p:cNvSpPr txBox="1"/>
          <p:nvPr/>
        </p:nvSpPr>
        <p:spPr>
          <a:xfrm>
            <a:off x="6126480" y="3889774"/>
            <a:ext cx="4206240" cy="430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Ψ=(Q)/(ε)</a:t>
            </a:r>
          </a:p>
        </p:txBody>
      </p:sp>
      <p:pic>
        <p:nvPicPr>
          <p:cNvPr id="36" name="F06-details-3" descr="\Psi=\dfrac{Q}{\varepsilon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889774"/>
            <a:ext cx="607494" cy="43093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32120" y="443957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8" name="math-source-F06-details-4"/>
          <p:cNvSpPr txBox="1"/>
          <p:nvPr/>
        </p:nvSpPr>
        <p:spPr>
          <a:xfrm>
            <a:off x="6126480" y="4439578"/>
            <a:ext cx="4206240" cy="3860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(V)/(m)cdotm^2=Vcdotm</a:t>
            </a:r>
          </a:p>
        </p:txBody>
      </p:sp>
      <p:pic>
        <p:nvPicPr>
          <p:cNvPr id="39" name="F06-details-4" descr="\dfrac{\mathrm{V}}{\mathrm{m}}\cdot\mathrm{m}^2=\mathrm{V}\cdot\mathrm{m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4439578"/>
            <a:ext cx="1355639" cy="38604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532120" y="494449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41" name="F06-details-5"/>
          <p:cNvSpPr txBox="1"/>
          <p:nvPr/>
        </p:nvSpPr>
        <p:spPr>
          <a:xfrm>
            <a:off x="6126480" y="4944493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Flux er ikke et bogstaveligt antal feltlinjer; ikke magnetisk Φ</a:t>
            </a:r>
            <a:br/>
            <a:r>
              <a:t>[Wb].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nav-back-index" descr="Til indeks">
            <a:hlinkClick action="ppaction://hlinksldjump" r:id="rId11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4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F07, B01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41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F07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F07 · Søger: Permittivitet ε [F/m]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εr [1], ε0 [F/m]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Lineært isotropt medium.</a:t>
            </a:r>
          </a:p>
        </p:txBody>
      </p:sp>
      <p:sp>
        <p:nvSpPr>
          <p:cNvPr id="11" name="math-source-F07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ε=ε_0ε_r</a:t>
            </a:r>
          </a:p>
        </p:txBody>
      </p:sp>
      <p:pic>
        <p:nvPicPr>
          <p:cNvPr id="12" name="F07-formula" descr="\varepsilon=\varepsilon_0\varepsilon_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059041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F07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Coulombkonstant i mediet:</a:t>
            </a:r>
          </a:p>
        </p:txBody>
      </p:sp>
      <p:sp>
        <p:nvSpPr>
          <p:cNvPr id="15" name="math-source-F07-details-1"/>
          <p:cNvSpPr txBox="1"/>
          <p:nvPr/>
        </p:nvSpPr>
        <p:spPr>
          <a:xfrm>
            <a:off x="1005840" y="3092583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k=(1)/(4πε)</a:t>
            </a:r>
          </a:p>
        </p:txBody>
      </p:sp>
      <p:pic>
        <p:nvPicPr>
          <p:cNvPr id="16" name="F07-details-1" descr="k=\dfrac{1}{4\pi\varepsilon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92583"/>
            <a:ext cx="706249" cy="44589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65735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F07-details-2"/>
          <p:cNvSpPr txBox="1"/>
          <p:nvPr/>
        </p:nvSpPr>
        <p:spPr>
          <a:xfrm>
            <a:off x="1005840" y="365735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εr er dimensionsløs.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97739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F07-details-3"/>
          <p:cNvSpPr txBox="1"/>
          <p:nvPr/>
        </p:nvSpPr>
        <p:spPr>
          <a:xfrm>
            <a:off x="1005840" y="397739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materialeværdi. Vakuum/luft-tilnærmelse:</a:t>
            </a:r>
          </a:p>
        </p:txBody>
      </p:sp>
      <p:sp>
        <p:nvSpPr>
          <p:cNvPr id="21" name="math-source-F07-details-4"/>
          <p:cNvSpPr txBox="1"/>
          <p:nvPr/>
        </p:nvSpPr>
        <p:spPr>
          <a:xfrm>
            <a:off x="1005840" y="421970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ε_r=1</a:t>
            </a:r>
          </a:p>
        </p:txBody>
      </p:sp>
      <p:pic>
        <p:nvPicPr>
          <p:cNvPr id="22" name="F07-details-4" descr="\varepsilon_r=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19706"/>
            <a:ext cx="538664" cy="2513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01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B01 · Søger: Magnetisk flux Φ [Wb]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A [m²]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 vinkelret på fladen.</a:t>
            </a:r>
          </a:p>
        </p:txBody>
      </p:sp>
      <p:sp>
        <p:nvSpPr>
          <p:cNvPr id="27" name="math-source-B01-formula"/>
          <p:cNvSpPr txBox="1"/>
          <p:nvPr/>
        </p:nvSpPr>
        <p:spPr>
          <a:xfrm>
            <a:off x="553212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Φ=BA</a:t>
            </a:r>
          </a:p>
        </p:txBody>
      </p:sp>
      <p:pic>
        <p:nvPicPr>
          <p:cNvPr id="28" name="B01-formula" descr="\Phi=B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033105" cy="36309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0" name="B01-details-0"/>
          <p:cNvSpPr txBox="1"/>
          <p:nvPr/>
        </p:nvSpPr>
        <p:spPr>
          <a:xfrm>
            <a:off x="612648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Vinkel til fladenormalen:</a:t>
            </a:r>
          </a:p>
        </p:txBody>
      </p:sp>
      <p:sp>
        <p:nvSpPr>
          <p:cNvPr id="31" name="math-source-B01-details-1"/>
          <p:cNvSpPr txBox="1"/>
          <p:nvPr/>
        </p:nvSpPr>
        <p:spPr>
          <a:xfrm>
            <a:off x="6126480" y="30925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Φ=BAcosθ</a:t>
            </a:r>
          </a:p>
        </p:txBody>
      </p:sp>
      <p:pic>
        <p:nvPicPr>
          <p:cNvPr id="32" name="B01-details-1" descr="\Phi=BA\cos\thet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092583"/>
            <a:ext cx="1173092" cy="2513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34628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4" name="math-source-B01-details-2"/>
          <p:cNvSpPr txBox="1"/>
          <p:nvPr/>
        </p:nvSpPr>
        <p:spPr>
          <a:xfrm>
            <a:off x="6126480" y="3462832"/>
            <a:ext cx="4206240" cy="2872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A[m^2]=10^-4A[cm^2]</a:t>
            </a:r>
          </a:p>
        </p:txBody>
      </p:sp>
      <p:pic>
        <p:nvPicPr>
          <p:cNvPr id="35" name="B01-details-2" descr="A[\mathrm{m}^2]=10^{-4}A[\mathrm{cm}^2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462832"/>
            <a:ext cx="1924230" cy="28728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532120" y="386899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7" name="B01-details-3"/>
          <p:cNvSpPr txBox="1"/>
          <p:nvPr/>
        </p:nvSpPr>
        <p:spPr>
          <a:xfrm>
            <a:off x="6126480" y="386899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 er fluxtæthed; Φ er flux, ikke samme størrelse.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0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B02, B03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42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B02 · Søger: Fluxtæthed B [T]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Φ [Wb], A [m²]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felt; A er areal normalt på feltet.</a:t>
            </a:r>
          </a:p>
        </p:txBody>
      </p:sp>
      <p:sp>
        <p:nvSpPr>
          <p:cNvPr id="11" name="math-source-B02-formula"/>
          <p:cNvSpPr txBox="1"/>
          <p:nvPr/>
        </p:nvSpPr>
        <p:spPr>
          <a:xfrm>
            <a:off x="411480" y="2340864"/>
            <a:ext cx="4800600" cy="6224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B=(Φ)/(A)</a:t>
            </a:r>
          </a:p>
        </p:txBody>
      </p:sp>
      <p:pic>
        <p:nvPicPr>
          <p:cNvPr id="12" name="B02-formula" descr="B=\frac{\Phi}{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851555" cy="6224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0962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B02-details-0"/>
          <p:cNvSpPr txBox="1"/>
          <p:nvPr/>
        </p:nvSpPr>
        <p:spPr>
          <a:xfrm>
            <a:off x="1005840" y="3109625"/>
            <a:ext cx="4206240" cy="47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T=(1 Wb)/(1 m^2)</a:t>
            </a:r>
          </a:p>
        </p:txBody>
      </p:sp>
      <p:pic>
        <p:nvPicPr>
          <p:cNvPr id="15" name="B02-details-0" descr="1\,\mathrm{T}=\dfrac{1\,\mathrm{Wb}}{1\,\mathrm{m}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09625"/>
            <a:ext cx="1026455" cy="4758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370431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7" name="math-source-B02-details-1"/>
          <p:cNvSpPr txBox="1"/>
          <p:nvPr/>
        </p:nvSpPr>
        <p:spPr>
          <a:xfrm>
            <a:off x="1005840" y="3704317"/>
            <a:ext cx="4206240" cy="2872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Φ[Wb]=10^-3Φ[mWb]</a:t>
            </a:r>
          </a:p>
        </p:txBody>
      </p:sp>
      <p:pic>
        <p:nvPicPr>
          <p:cNvPr id="18" name="B02-details-1" descr="\Phi[\mathrm{Wb}]=10^{-3}\Phi[\mathrm{mWb}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04317"/>
            <a:ext cx="2175606" cy="28728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411047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B02-details-2"/>
          <p:cNvSpPr txBox="1"/>
          <p:nvPr/>
        </p:nvSpPr>
        <p:spPr>
          <a:xfrm>
            <a:off x="1005840" y="411047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Fra m² til mm² kræves faktoren:</a:t>
            </a:r>
          </a:p>
        </p:txBody>
      </p:sp>
      <p:sp>
        <p:nvSpPr>
          <p:cNvPr id="21" name="math-source-B02-details-3"/>
          <p:cNvSpPr txBox="1"/>
          <p:nvPr/>
        </p:nvSpPr>
        <p:spPr>
          <a:xfrm>
            <a:off x="1005840" y="4352793"/>
            <a:ext cx="4206240" cy="257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10^6</a:t>
            </a:r>
          </a:p>
        </p:txBody>
      </p:sp>
      <p:pic>
        <p:nvPicPr>
          <p:cNvPr id="22" name="B02-details-3" descr="10^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352793"/>
            <a:ext cx="359109" cy="25736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B03 · Søger: Fluxtæthed B [T]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H [A/m], μ [H/m]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materiale-model med kendt μ.</a:t>
            </a:r>
          </a:p>
        </p:txBody>
      </p:sp>
      <p:sp>
        <p:nvSpPr>
          <p:cNvPr id="27" name="math-source-B03-formula"/>
          <p:cNvSpPr txBox="1"/>
          <p:nvPr/>
        </p:nvSpPr>
        <p:spPr>
          <a:xfrm>
            <a:off x="5532120" y="2340864"/>
            <a:ext cx="4800600" cy="371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B=μ H</a:t>
            </a:r>
          </a:p>
        </p:txBody>
      </p:sp>
      <p:pic>
        <p:nvPicPr>
          <p:cNvPr id="28" name="B03-formula" descr="B=\mu 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1024460" cy="37174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285891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0" name="B03-details-0"/>
          <p:cNvSpPr txBox="1"/>
          <p:nvPr/>
        </p:nvSpPr>
        <p:spPr>
          <a:xfrm>
            <a:off x="6126480" y="2858913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Ferromagnetisk materiale: aflæs B på B(H)-kurven ved relevant</a:t>
            </a:r>
            <a:br/>
            <a:r>
              <a:t>driftspunkt.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38012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2" name="math-source-B03-details-1"/>
          <p:cNvSpPr txBox="1"/>
          <p:nvPr/>
        </p:nvSpPr>
        <p:spPr>
          <a:xfrm>
            <a:off x="6126480" y="338012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μ=μ_0μ_r</a:t>
            </a:r>
          </a:p>
        </p:txBody>
      </p:sp>
      <p:pic>
        <p:nvPicPr>
          <p:cNvPr id="33" name="B03-details-1" descr="\mu=\mu_0\mu_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380121"/>
            <a:ext cx="796026" cy="2513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37503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5" name="B03-details-2"/>
          <p:cNvSpPr txBox="1"/>
          <p:nvPr/>
        </p:nvSpPr>
        <p:spPr>
          <a:xfrm>
            <a:off x="6126480" y="3750370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Jern har ikke én universel konstant μ; mætning/hysterese kræver</a:t>
            </a:r>
            <a:br/>
            <a:r>
              <a:t>kurve.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8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B04, B05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43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B04 · Søger: Felt om lang leder B [T]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</a:t>
            </a:r>
            <a:r>
              <a:rPr>
                <a:latin typeface="Cambria Math"/>
              </a:rPr>
              <a:t>I</a:t>
            </a:r>
            <a:r>
              <a:t> [A], a [m], μ [H/m]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Lang, lige leder; punkt uden for lederen.</a:t>
            </a:r>
          </a:p>
        </p:txBody>
      </p:sp>
      <p:sp>
        <p:nvSpPr>
          <p:cNvPr id="11" name="math-source-B04-formula"/>
          <p:cNvSpPr txBox="1"/>
          <p:nvPr/>
        </p:nvSpPr>
        <p:spPr>
          <a:xfrm>
            <a:off x="411480" y="2340864"/>
            <a:ext cx="4800600" cy="708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B=(μ </a:t>
            </a:r>
            <a:r>
              <a:rPr>
                <a:latin typeface="Cambria Math"/>
              </a:rPr>
              <a:t>I</a:t>
            </a:r>
            <a:r>
              <a:t>)/(2π a)</a:t>
            </a:r>
          </a:p>
        </p:txBody>
      </p:sp>
      <p:pic>
        <p:nvPicPr>
          <p:cNvPr id="12" name="B04-formula" descr="B=\frac{\mu I}{2\pi 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093622" cy="7089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9607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B04-details-0"/>
          <p:cNvSpPr txBox="1"/>
          <p:nvPr/>
        </p:nvSpPr>
        <p:spPr>
          <a:xfrm>
            <a:off x="1005840" y="319607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Luft:</a:t>
            </a:r>
          </a:p>
        </p:txBody>
      </p:sp>
      <p:sp>
        <p:nvSpPr>
          <p:cNvPr id="15" name="math-source-B04-details-1"/>
          <p:cNvSpPr txBox="1"/>
          <p:nvPr/>
        </p:nvSpPr>
        <p:spPr>
          <a:xfrm>
            <a:off x="1005840" y="343839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μ≈μ_0</a:t>
            </a:r>
          </a:p>
        </p:txBody>
      </p:sp>
      <p:pic>
        <p:nvPicPr>
          <p:cNvPr id="16" name="B04-details-1" descr="\mu\approx\mu_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38393"/>
            <a:ext cx="598516" cy="251376"/>
          </a:xfrm>
          <a:prstGeom prst="rect">
            <a:avLst/>
          </a:prstGeom>
        </p:spPr>
      </p:pic>
      <p:sp>
        <p:nvSpPr>
          <p:cNvPr id="17" name="B04-details-2"/>
          <p:cNvSpPr txBox="1"/>
          <p:nvPr/>
        </p:nvSpPr>
        <p:spPr>
          <a:xfrm>
            <a:off x="1005840" y="373091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Undervisningens SI-tilnærmelse:</a:t>
            </a:r>
          </a:p>
        </p:txBody>
      </p:sp>
      <p:sp>
        <p:nvSpPr>
          <p:cNvPr id="18" name="math-source-B04-details-3"/>
          <p:cNvSpPr txBox="1"/>
          <p:nvPr/>
        </p:nvSpPr>
        <p:spPr>
          <a:xfrm>
            <a:off x="1005840" y="3973234"/>
            <a:ext cx="4206240" cy="392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B≈2·10^-7 (H)/(m)(</a:t>
            </a:r>
            <a:r>
              <a:rPr>
                <a:latin typeface="Cambria Math"/>
              </a:rPr>
              <a:t>I</a:t>
            </a:r>
            <a:r>
              <a:t>)/(a)</a:t>
            </a:r>
          </a:p>
        </p:txBody>
      </p:sp>
      <p:pic>
        <p:nvPicPr>
          <p:cNvPr id="19" name="B04-details-3" descr="B\approx2\cdot10^{-7}\,\dfrac{\mathrm{H}}{\mathrm{m}}\dfrac{I}{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73234"/>
            <a:ext cx="1439431" cy="3920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48413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21" name="B04-details-4"/>
          <p:cNvSpPr txBox="1"/>
          <p:nvPr/>
        </p:nvSpPr>
        <p:spPr>
          <a:xfrm>
            <a:off x="1005840" y="448413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 er afstand fra centrum i 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0417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3" name="B04-details-5"/>
          <p:cNvSpPr txBox="1"/>
          <p:nvPr/>
        </p:nvSpPr>
        <p:spPr>
          <a:xfrm>
            <a:off x="1005840" y="480417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Ikke generelt feltet inden i lederen eller nær ender.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05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B05 · Søger: Magnetisk feltstyrke H [A/m]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</a:t>
            </a:r>
            <a:r>
              <a:rPr>
                <a:latin typeface="Cambria Math"/>
              </a:rPr>
              <a:t>I</a:t>
            </a:r>
            <a:r>
              <a:t> [A], N [1], l [m]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magnetisk vej; ringkerne/længere spole-model.</a:t>
            </a:r>
          </a:p>
        </p:txBody>
      </p:sp>
      <p:sp>
        <p:nvSpPr>
          <p:cNvPr id="28" name="math-source-B05-formula"/>
          <p:cNvSpPr txBox="1"/>
          <p:nvPr/>
        </p:nvSpPr>
        <p:spPr>
          <a:xfrm>
            <a:off x="5532120" y="2340864"/>
            <a:ext cx="4800600" cy="687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H=(NI)/(l)=(F_m)/(l)</a:t>
            </a:r>
          </a:p>
        </p:txBody>
      </p:sp>
      <p:pic>
        <p:nvPicPr>
          <p:cNvPr id="29" name="B05-formula" descr="H=\frac{NI}{l}=\frac{F_m}{l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711756" cy="68729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317446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1" name="B05-details-0"/>
          <p:cNvSpPr txBox="1"/>
          <p:nvPr/>
        </p:nvSpPr>
        <p:spPr>
          <a:xfrm>
            <a:off x="6126480" y="317446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 er middel-længden af den magnetiske vej.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349450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3" name="B05-details-1"/>
          <p:cNvSpPr txBox="1"/>
          <p:nvPr/>
        </p:nvSpPr>
        <p:spPr>
          <a:xfrm>
            <a:off x="6126480" y="349450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N er antal vindinger, ikke enheden newton.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381454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5" name="B05-details-2"/>
          <p:cNvSpPr txBox="1"/>
          <p:nvPr/>
        </p:nvSpPr>
        <p:spPr>
          <a:xfrm>
            <a:off x="6126480" y="381454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Ledertrådens længde er ikke magnetkredsens 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8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B06, B07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44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6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B06 · Søger: Magnetomotorisk kraft Fm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</a:t>
            </a:r>
            <a:r>
              <a:rPr>
                <a:latin typeface="Cambria Math"/>
              </a:rPr>
              <a:t>I</a:t>
            </a:r>
            <a:r>
              <a:t> [A] eller Rm [A/Wb], 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Amperevindingstal i magnetkredsmodellen.</a:t>
            </a:r>
          </a:p>
        </p:txBody>
      </p:sp>
      <p:sp>
        <p:nvSpPr>
          <p:cNvPr id="11" name="math-source-B06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F_m=NI=R_mΦ</a:t>
            </a:r>
          </a:p>
        </p:txBody>
      </p:sp>
      <p:pic>
        <p:nvPicPr>
          <p:cNvPr id="12" name="B06-formula" descr="F_m=NI=R_m\Ph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053243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B06-details-0"/>
          <p:cNvSpPr txBox="1"/>
          <p:nvPr/>
        </p:nvSpPr>
        <p:spPr>
          <a:xfrm>
            <a:off x="1005840" y="2850267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Flere viklinger: summér amperevindinger med fortegn efter</a:t>
            </a:r>
            <a:br/>
            <a:r>
              <a:t>feltretningen.</a:t>
            </a:r>
          </a:p>
        </p:txBody>
      </p:sp>
      <p:sp>
        <p:nvSpPr>
          <p:cNvPr id="15" name="math-source-B06-details-1"/>
          <p:cNvSpPr txBox="1"/>
          <p:nvPr/>
        </p:nvSpPr>
        <p:spPr>
          <a:xfrm>
            <a:off x="1005840" y="3293751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F_m=Σ_k N_k </a:t>
            </a:r>
            <a:r>
              <a:rPr>
                <a:latin typeface="Cambria Math"/>
              </a:rPr>
              <a:t>I</a:t>
            </a:r>
            <a:r>
              <a:t>_k</a:t>
            </a:r>
          </a:p>
        </p:txBody>
      </p:sp>
      <p:pic>
        <p:nvPicPr>
          <p:cNvPr id="16" name="B06-details-1" descr="F_m=\sum_k N_k I_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93751"/>
            <a:ext cx="1107255" cy="44589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85851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B06-details-2"/>
          <p:cNvSpPr txBox="1"/>
          <p:nvPr/>
        </p:nvSpPr>
        <p:spPr>
          <a:xfrm>
            <a:off x="1005840" y="385851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Amperevinding er dimensionelt 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17855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B06-details-3"/>
          <p:cNvSpPr txBox="1"/>
          <p:nvPr/>
        </p:nvSpPr>
        <p:spPr>
          <a:xfrm>
            <a:off x="1005840" y="417855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Magnetomotorisk kraft er ikke mekanisk kraft målt i newton.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07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B07 · Søger: Reluktans Rm [A/Wb]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l [m], μ [H/m], A [m²]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magnetisk segment; lineær μ.</a:t>
            </a:r>
          </a:p>
        </p:txBody>
      </p:sp>
      <p:sp>
        <p:nvSpPr>
          <p:cNvPr id="25" name="math-source-B07-formula"/>
          <p:cNvSpPr txBox="1"/>
          <p:nvPr/>
        </p:nvSpPr>
        <p:spPr>
          <a:xfrm>
            <a:off x="5532120" y="2340864"/>
            <a:ext cx="48006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R_m=(l)/(μ A)</a:t>
            </a:r>
          </a:p>
        </p:txBody>
      </p:sp>
      <p:pic>
        <p:nvPicPr>
          <p:cNvPr id="26" name="B07-formula" descr="R_m=\frac{l}{\mu 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340864"/>
            <a:ext cx="1158461" cy="71323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32120" y="32004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8" name="B07-details-0"/>
          <p:cNvSpPr txBox="1"/>
          <p:nvPr/>
        </p:nvSpPr>
        <p:spPr>
          <a:xfrm>
            <a:off x="6126480" y="320040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Serielle magnetiske segmenter:</a:t>
            </a:r>
          </a:p>
        </p:txBody>
      </p:sp>
      <p:sp>
        <p:nvSpPr>
          <p:cNvPr id="29" name="math-source-B07-details-1"/>
          <p:cNvSpPr txBox="1"/>
          <p:nvPr/>
        </p:nvSpPr>
        <p:spPr>
          <a:xfrm>
            <a:off x="6126480" y="3442716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R_m,total=Σ_k R_m,k</a:t>
            </a:r>
          </a:p>
        </p:txBody>
      </p:sp>
      <p:pic>
        <p:nvPicPr>
          <p:cNvPr id="30" name="B07-details-1" descr="R_{m,\mathrm{total}}=\sum_k R_{m,k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442716"/>
            <a:ext cx="1463372" cy="44589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32120" y="400748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2" name="math-source-B07-details-2"/>
          <p:cNvSpPr txBox="1"/>
          <p:nvPr/>
        </p:nvSpPr>
        <p:spPr>
          <a:xfrm>
            <a:off x="6126480" y="4007482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(A)/(Wb)=(1)/(H)</a:t>
            </a:r>
          </a:p>
        </p:txBody>
      </p:sp>
      <p:pic>
        <p:nvPicPr>
          <p:cNvPr id="33" name="B07-details-2" descr="1\,\dfrac{\mathrm{A}}{\mathrm{Wb}}=\dfrac{1}{\mathrm{H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007482"/>
            <a:ext cx="939670" cy="44589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457224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5" name="B07-details-3"/>
          <p:cNvSpPr txBox="1"/>
          <p:nvPr/>
        </p:nvSpPr>
        <p:spPr>
          <a:xfrm>
            <a:off x="6126480" y="457224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Reluktans måles ikke i Ω eller H. Enheden er:</a:t>
            </a:r>
          </a:p>
        </p:txBody>
      </p:sp>
      <p:sp>
        <p:nvSpPr>
          <p:cNvPr id="36" name="math-source-B07-details-4"/>
          <p:cNvSpPr txBox="1"/>
          <p:nvPr/>
        </p:nvSpPr>
        <p:spPr>
          <a:xfrm>
            <a:off x="6126480" y="481456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H^-1</a:t>
            </a:r>
          </a:p>
        </p:txBody>
      </p:sp>
      <p:pic>
        <p:nvPicPr>
          <p:cNvPr id="37" name="B07-details-4" descr="\mathrm{H}^{-1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814565"/>
            <a:ext cx="392028" cy="251376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0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B08, B09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45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8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B08 · Søger: Flux Φ [Wb]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N, </a:t>
            </a:r>
            <a:r>
              <a:rPr>
                <a:latin typeface="Cambria Math"/>
              </a:rPr>
              <a:t>I</a:t>
            </a:r>
            <a:r>
              <a:t> [A], Rm [A/Wb]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Lukket lineær magnetkreds; lækage negligeres.</a:t>
            </a:r>
          </a:p>
        </p:txBody>
      </p:sp>
      <p:sp>
        <p:nvSpPr>
          <p:cNvPr id="11" name="math-source-B08-formula"/>
          <p:cNvSpPr txBox="1"/>
          <p:nvPr/>
        </p:nvSpPr>
        <p:spPr>
          <a:xfrm>
            <a:off x="411480" y="2340864"/>
            <a:ext cx="4800600" cy="682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Φ=(NI)/(R_m)</a:t>
            </a:r>
          </a:p>
        </p:txBody>
      </p:sp>
      <p:pic>
        <p:nvPicPr>
          <p:cNvPr id="12" name="B08-formula" descr="\Phi=\frac{NI}{R_m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028783" cy="6829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7014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B08-details-0"/>
          <p:cNvSpPr txBox="1"/>
          <p:nvPr/>
        </p:nvSpPr>
        <p:spPr>
          <a:xfrm>
            <a:off x="1005840" y="317014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Find permeabilitet, reluktans og derpå flux. Eventuelt:</a:t>
            </a:r>
          </a:p>
        </p:txBody>
      </p:sp>
      <p:sp>
        <p:nvSpPr>
          <p:cNvPr id="15" name="math-source-B08-details-1"/>
          <p:cNvSpPr txBox="1"/>
          <p:nvPr/>
        </p:nvSpPr>
        <p:spPr>
          <a:xfrm>
            <a:off x="1005840" y="3412457"/>
            <a:ext cx="4206240" cy="430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B=(Φ)/(A)</a:t>
            </a:r>
          </a:p>
        </p:txBody>
      </p:sp>
      <p:pic>
        <p:nvPicPr>
          <p:cNvPr id="16" name="B08-details-1" descr="B=\dfrac{\Phi}{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12457"/>
            <a:ext cx="589538" cy="4309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96226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B08-details-2"/>
          <p:cNvSpPr txBox="1"/>
          <p:nvPr/>
        </p:nvSpPr>
        <p:spPr>
          <a:xfrm>
            <a:off x="1005840" y="396226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Kerneareal i m² ved beregning af reluktansen.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8230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B08-details-3"/>
          <p:cNvSpPr txBox="1"/>
          <p:nvPr/>
        </p:nvSpPr>
        <p:spPr>
          <a:xfrm>
            <a:off x="1005840" y="4282301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Luftgab kan dominere den magnetiske reluktans. Elektrisk</a:t>
            </a:r>
            <a:br/>
            <a:r>
              <a:t>modstand er en anden størrelse.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09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B09 · Søger: Permeabilitet μ [H/m]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μr [1], μ0 [H/m] eller B [T], H [A/m]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Lineært medium eller sekantværdi ved givet driftspunkt.</a:t>
            </a:r>
          </a:p>
        </p:txBody>
      </p:sp>
      <p:sp>
        <p:nvSpPr>
          <p:cNvPr id="25" name="math-source-B09-formula"/>
          <p:cNvSpPr txBox="1"/>
          <p:nvPr/>
        </p:nvSpPr>
        <p:spPr>
          <a:xfrm>
            <a:off x="5532120" y="2340864"/>
            <a:ext cx="4800600" cy="6224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μ=μ_0μ_r=(B)/(H)</a:t>
            </a:r>
          </a:p>
        </p:txBody>
      </p:sp>
      <p:pic>
        <p:nvPicPr>
          <p:cNvPr id="26" name="B09-formula" descr="\mu=\mu_0\mu_r=\frac{B}{H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340864"/>
            <a:ext cx="1737692" cy="62245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32120" y="310962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8" name="math-source-B09-details-0"/>
          <p:cNvSpPr txBox="1"/>
          <p:nvPr/>
        </p:nvSpPr>
        <p:spPr>
          <a:xfrm>
            <a:off x="6126480" y="3109625"/>
            <a:ext cx="4206240" cy="4219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μ_r=(μ)/(μ_0)</a:t>
            </a:r>
          </a:p>
        </p:txBody>
      </p:sp>
      <p:pic>
        <p:nvPicPr>
          <p:cNvPr id="29" name="B09-details-0" descr="\mu_r=\dfrac{\mu}{\mu_0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109625"/>
            <a:ext cx="682308" cy="421954"/>
          </a:xfrm>
          <a:prstGeom prst="rect">
            <a:avLst/>
          </a:prstGeom>
        </p:spPr>
      </p:pic>
      <p:sp>
        <p:nvSpPr>
          <p:cNvPr id="30" name="B09-details-1"/>
          <p:cNvSpPr txBox="1"/>
          <p:nvPr/>
        </p:nvSpPr>
        <p:spPr>
          <a:xfrm>
            <a:off x="6126480" y="357272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beregning fra B og H:</a:t>
            </a:r>
          </a:p>
        </p:txBody>
      </p:sp>
      <p:sp>
        <p:nvSpPr>
          <p:cNvPr id="31" name="math-source-B09-details-2"/>
          <p:cNvSpPr txBox="1"/>
          <p:nvPr/>
        </p:nvSpPr>
        <p:spPr>
          <a:xfrm>
            <a:off x="6126480" y="381504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H≠0</a:t>
            </a:r>
          </a:p>
        </p:txBody>
      </p:sp>
      <p:pic>
        <p:nvPicPr>
          <p:cNvPr id="32" name="B09-details-2" descr="H\ne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815043"/>
            <a:ext cx="547642" cy="2513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418529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4" name="B09-details-3"/>
          <p:cNvSpPr txBox="1"/>
          <p:nvPr/>
        </p:nvSpPr>
        <p:spPr>
          <a:xfrm>
            <a:off x="6126480" y="418529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Relativ permeabilitet er dimensionsløs.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450533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6" name="B09-details-4"/>
          <p:cNvSpPr txBox="1"/>
          <p:nvPr/>
        </p:nvSpPr>
        <p:spPr>
          <a:xfrm>
            <a:off x="6126480" y="4505331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Elektrisk ledningsevne afgør ikke, om materialet er</a:t>
            </a:r>
            <a:br/>
            <a:r>
              <a:t>ferromagnetisk.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9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B11, B12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46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1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B11 · Søger: Magnetkredsens areal A [m²]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Φ [Wb], B [T]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 normalt på kernens tværsnit.</a:t>
            </a:r>
          </a:p>
        </p:txBody>
      </p:sp>
      <p:sp>
        <p:nvSpPr>
          <p:cNvPr id="11" name="math-source-B11-formula"/>
          <p:cNvSpPr txBox="1"/>
          <p:nvPr/>
        </p:nvSpPr>
        <p:spPr>
          <a:xfrm>
            <a:off x="411480" y="2340864"/>
            <a:ext cx="4800600" cy="6224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A=(Φ)/(B)</a:t>
            </a:r>
          </a:p>
        </p:txBody>
      </p:sp>
      <p:pic>
        <p:nvPicPr>
          <p:cNvPr id="12" name="B11-formula" descr="A=\frac{\Phi}{B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864523" cy="6224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0962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B11-details-0"/>
          <p:cNvSpPr txBox="1"/>
          <p:nvPr/>
        </p:nvSpPr>
        <p:spPr>
          <a:xfrm>
            <a:off x="1005840" y="310962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Konvertér til cm² eller mm² efter beregningen.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2966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B11-details-1"/>
          <p:cNvSpPr txBox="1"/>
          <p:nvPr/>
        </p:nvSpPr>
        <p:spPr>
          <a:xfrm>
            <a:off x="1005840" y="3429665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m^2=10^4 cm^2</a:t>
            </a:r>
          </a:p>
        </p:txBody>
      </p:sp>
      <p:pic>
        <p:nvPicPr>
          <p:cNvPr id="17" name="B11-details-1" descr="1\,\mathrm{m}^2=10^4\,\mathrm{cm}^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29665"/>
            <a:ext cx="1394543" cy="254369"/>
          </a:xfrm>
          <a:prstGeom prst="rect">
            <a:avLst/>
          </a:prstGeom>
        </p:spPr>
      </p:pic>
      <p:sp>
        <p:nvSpPr>
          <p:cNvPr id="18" name="math-source-B11-details-2"/>
          <p:cNvSpPr txBox="1"/>
          <p:nvPr/>
        </p:nvSpPr>
        <p:spPr>
          <a:xfrm>
            <a:off x="1005840" y="3725182"/>
            <a:ext cx="4206240" cy="257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m^2=10^6 mm^2</a:t>
            </a:r>
          </a:p>
        </p:txBody>
      </p:sp>
      <p:pic>
        <p:nvPicPr>
          <p:cNvPr id="19" name="B11-details-2" descr="1\,\mathrm{m}^2=10^6\,\mathrm{mm}^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25182"/>
            <a:ext cx="1472350" cy="25736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10141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B11-details-3"/>
          <p:cNvSpPr txBox="1"/>
          <p:nvPr/>
        </p:nvSpPr>
        <p:spPr>
          <a:xfrm>
            <a:off x="1005840" y="410141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Effektivt kerneareal kan afvige fra ydre geometri.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1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B12 · Søger: Feltstyrke H [A/m]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μ [H/m]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materiale-model ved kendt μ.</a:t>
            </a:r>
          </a:p>
        </p:txBody>
      </p:sp>
      <p:sp>
        <p:nvSpPr>
          <p:cNvPr id="26" name="math-source-B12-formula"/>
          <p:cNvSpPr txBox="1"/>
          <p:nvPr/>
        </p:nvSpPr>
        <p:spPr>
          <a:xfrm>
            <a:off x="5532120" y="2340864"/>
            <a:ext cx="4800600" cy="6181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H=(B)/(μ)</a:t>
            </a:r>
          </a:p>
        </p:txBody>
      </p:sp>
      <p:pic>
        <p:nvPicPr>
          <p:cNvPr id="27" name="B12-formula" descr="H=\frac{B}{\mu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838587" cy="61813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32120" y="310530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9" name="B12-details-0"/>
          <p:cNvSpPr txBox="1"/>
          <p:nvPr/>
        </p:nvSpPr>
        <p:spPr>
          <a:xfrm>
            <a:off x="6126480" y="310530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Jern: find H fra B(H)-kurven ved det ønskede B.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342534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1" name="math-source-B12-details-1"/>
          <p:cNvSpPr txBox="1"/>
          <p:nvPr/>
        </p:nvSpPr>
        <p:spPr>
          <a:xfrm>
            <a:off x="6126480" y="3425342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μ=μ_0μ_r</a:t>
            </a:r>
          </a:p>
        </p:txBody>
      </p:sp>
      <p:pic>
        <p:nvPicPr>
          <p:cNvPr id="32" name="B12-details-1" descr="\mu=\mu_0\mu_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425342"/>
            <a:ext cx="796026" cy="2513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379559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4" name="B12-details-2"/>
          <p:cNvSpPr txBox="1"/>
          <p:nvPr/>
        </p:nvSpPr>
        <p:spPr>
          <a:xfrm>
            <a:off x="6126480" y="379559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hysterese afhænger B også af forhistorien.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7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B13, K01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47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1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B13 · Søger: Relativ permeabilitet μr 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μ [H/m], μ0 [H/m]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enhed for absolutte permeabiliteter.</a:t>
            </a:r>
          </a:p>
        </p:txBody>
      </p:sp>
      <p:sp>
        <p:nvSpPr>
          <p:cNvPr id="11" name="math-source-B13-formula"/>
          <p:cNvSpPr txBox="1"/>
          <p:nvPr/>
        </p:nvSpPr>
        <p:spPr>
          <a:xfrm>
            <a:off x="411480" y="2340864"/>
            <a:ext cx="4800600" cy="6094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μ_r=(μ)/(μ_0)</a:t>
            </a:r>
          </a:p>
        </p:txBody>
      </p:sp>
      <p:pic>
        <p:nvPicPr>
          <p:cNvPr id="12" name="B13-formula" descr="\mu_r=\frac{\mu}{\mu_0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985556" cy="60948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09665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B13-details-0"/>
          <p:cNvSpPr txBox="1"/>
          <p:nvPr/>
        </p:nvSpPr>
        <p:spPr>
          <a:xfrm>
            <a:off x="1005840" y="309665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Luft i undervisningsmodellen:</a:t>
            </a:r>
          </a:p>
        </p:txBody>
      </p:sp>
      <p:sp>
        <p:nvSpPr>
          <p:cNvPr id="15" name="math-source-B13-details-1"/>
          <p:cNvSpPr txBox="1"/>
          <p:nvPr/>
        </p:nvSpPr>
        <p:spPr>
          <a:xfrm>
            <a:off x="1005840" y="3338973"/>
            <a:ext cx="4206240" cy="2603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μ_r≈1</a:t>
            </a:r>
          </a:p>
        </p:txBody>
      </p:sp>
      <p:pic>
        <p:nvPicPr>
          <p:cNvPr id="16" name="B13-details-1" descr="\mu_r\approx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38973"/>
            <a:ext cx="562605" cy="2603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71819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B13-details-2"/>
          <p:cNvSpPr txBox="1"/>
          <p:nvPr/>
        </p:nvSpPr>
        <p:spPr>
          <a:xfrm>
            <a:off x="1005840" y="371819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Relativ permeabilitet har ingen enhed.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03823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B13-details-3"/>
          <p:cNvSpPr txBox="1"/>
          <p:nvPr/>
        </p:nvSpPr>
        <p:spPr>
          <a:xfrm>
            <a:off x="1005840" y="403823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Kildens eksempel:</a:t>
            </a:r>
          </a:p>
        </p:txBody>
      </p:sp>
      <p:sp>
        <p:nvSpPr>
          <p:cNvPr id="21" name="math-source-B13-details-4"/>
          <p:cNvSpPr txBox="1"/>
          <p:nvPr/>
        </p:nvSpPr>
        <p:spPr>
          <a:xfrm>
            <a:off x="1005840" y="4280555"/>
            <a:ext cx="4206240" cy="2603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μ_r=600</a:t>
            </a:r>
          </a:p>
        </p:txBody>
      </p:sp>
      <p:pic>
        <p:nvPicPr>
          <p:cNvPr id="22" name="B13-details-4" descr="\mu_r=6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80555"/>
            <a:ext cx="810989" cy="260354"/>
          </a:xfrm>
          <a:prstGeom prst="rect">
            <a:avLst/>
          </a:prstGeom>
        </p:spPr>
      </p:pic>
      <p:sp>
        <p:nvSpPr>
          <p:cNvPr id="23" name="B13-details-5"/>
          <p:cNvSpPr txBox="1"/>
          <p:nvPr/>
        </p:nvSpPr>
        <p:spPr>
          <a:xfrm>
            <a:off x="1005840" y="458205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Dette er ikke en universel jerneegenskab.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K01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K01 · Søger: Kraft på leder |F| [N]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</a:t>
            </a:r>
            <a:r>
              <a:rPr>
                <a:latin typeface="Cambria Math"/>
              </a:rPr>
              <a:t>I</a:t>
            </a:r>
            <a:r>
              <a:t> [A], l [m]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ensartet magnetfelt.</a:t>
            </a:r>
          </a:p>
        </p:txBody>
      </p:sp>
      <p:sp>
        <p:nvSpPr>
          <p:cNvPr id="28" name="math-source-K01-formula"/>
          <p:cNvSpPr txBox="1"/>
          <p:nvPr/>
        </p:nvSpPr>
        <p:spPr>
          <a:xfrm>
            <a:off x="553212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|F|=B|</a:t>
            </a:r>
            <a:r>
              <a:rPr>
                <a:latin typeface="Cambria Math"/>
              </a:rPr>
              <a:t>I</a:t>
            </a:r>
            <a:r>
              <a:t>|l</a:t>
            </a:r>
          </a:p>
        </p:txBody>
      </p:sp>
      <p:pic>
        <p:nvPicPr>
          <p:cNvPr id="29" name="K01-formula" descr="|F|=B|I|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262204" cy="36309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1" name="K01-details-0"/>
          <p:cNvSpPr txBox="1"/>
          <p:nvPr/>
        </p:nvSpPr>
        <p:spPr>
          <a:xfrm>
            <a:off x="612648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Vinkel mellem leder og felt:</a:t>
            </a:r>
          </a:p>
        </p:txBody>
      </p:sp>
      <p:sp>
        <p:nvSpPr>
          <p:cNvPr id="32" name="math-source-K01-details-1"/>
          <p:cNvSpPr txBox="1"/>
          <p:nvPr/>
        </p:nvSpPr>
        <p:spPr>
          <a:xfrm>
            <a:off x="6126480" y="30925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|F|=B|</a:t>
            </a:r>
            <a:r>
              <a:rPr>
                <a:latin typeface="Cambria Math"/>
              </a:rPr>
              <a:t>I</a:t>
            </a:r>
            <a:r>
              <a:t>|lsinθ</a:t>
            </a:r>
          </a:p>
        </p:txBody>
      </p:sp>
      <p:pic>
        <p:nvPicPr>
          <p:cNvPr id="33" name="K01-details-1" descr="|F|=B|I|l\sin\thet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092583"/>
            <a:ext cx="1280825" cy="2513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34628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5" name="math-source-K01-details-2"/>
          <p:cNvSpPr txBox="1"/>
          <p:nvPr/>
        </p:nvSpPr>
        <p:spPr>
          <a:xfrm>
            <a:off x="6126480" y="3462832"/>
            <a:ext cx="4206240" cy="47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B[T]=(B[mT])/(1000)</a:t>
            </a:r>
          </a:p>
        </p:txBody>
      </p:sp>
      <p:pic>
        <p:nvPicPr>
          <p:cNvPr id="36" name="K01-details-2" descr="B[\mathrm{T}]=\dfrac{B[\mathrm{mT}]}{1000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462832"/>
            <a:ext cx="1316736" cy="4758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32120" y="405752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8" name="K01-details-3"/>
          <p:cNvSpPr txBox="1"/>
          <p:nvPr/>
        </p:nvSpPr>
        <p:spPr>
          <a:xfrm>
            <a:off x="6126480" y="405752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Kun lederlængden i feltet tæller med. Retning fra:</a:t>
            </a:r>
          </a:p>
        </p:txBody>
      </p:sp>
      <p:sp>
        <p:nvSpPr>
          <p:cNvPr id="39" name="math-source-K01-details-4"/>
          <p:cNvSpPr txBox="1"/>
          <p:nvPr/>
        </p:nvSpPr>
        <p:spPr>
          <a:xfrm>
            <a:off x="6126480" y="4299841"/>
            <a:ext cx="4206240" cy="2932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vec </a:t>
            </a:r>
            <a:r>
              <a:rPr>
                <a:latin typeface="Cambria Math"/>
              </a:rPr>
              <a:t>I</a:t>
            </a:r>
            <a:r>
              <a:t>×vec B</a:t>
            </a:r>
          </a:p>
        </p:txBody>
      </p:sp>
      <p:pic>
        <p:nvPicPr>
          <p:cNvPr id="40" name="K01-details-4" descr="\vec I\times\vec B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299841"/>
            <a:ext cx="475820" cy="293273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532120" y="471198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2" name="math-source-K01-details-5"/>
          <p:cNvSpPr txBox="1"/>
          <p:nvPr/>
        </p:nvSpPr>
        <p:spPr>
          <a:xfrm>
            <a:off x="6126480" y="471198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|F|=20 mT·3 A·6 m</a:t>
            </a:r>
          </a:p>
        </p:txBody>
      </p:sp>
      <p:pic>
        <p:nvPicPr>
          <p:cNvPr id="43" name="K01-details-5" descr="|F|=20\,\mathrm{mT}\cdot3\,\mathrm{A}\cdot6\,\mathrm{m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4711986"/>
            <a:ext cx="1966126" cy="251376"/>
          </a:xfrm>
          <a:prstGeom prst="rect">
            <a:avLst/>
          </a:prstGeom>
        </p:spPr>
      </p:pic>
      <p:sp>
        <p:nvSpPr>
          <p:cNvPr id="44" name="math-source-K01-details-6"/>
          <p:cNvSpPr txBox="1"/>
          <p:nvPr/>
        </p:nvSpPr>
        <p:spPr>
          <a:xfrm>
            <a:off x="6126480" y="500451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|F|=0,36 N</a:t>
            </a:r>
          </a:p>
        </p:txBody>
      </p:sp>
      <p:pic>
        <p:nvPicPr>
          <p:cNvPr id="45" name="K01-details-6" descr="|F|=0{,}36\,\mathrm{N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5004511"/>
            <a:ext cx="1092292" cy="251376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nav-back-index" descr="Til indeks">
            <a:hlinkClick action="ppaction://hlinksldjump" r:id="rId12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8" name="nav-back-start" descr="Til start">
            <a:hlinkClick action="ppaction://hlinksldjump" r:id="rId13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K02, K03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48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K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K02 · Søger: Aktiv lederlængde l [m]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B [T], |</a:t>
            </a:r>
            <a:r>
              <a:rPr>
                <a:latin typeface="Cambria Math"/>
              </a:rPr>
              <a:t>I</a:t>
            </a:r>
            <a:r>
              <a:t>|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B.</a:t>
            </a:r>
          </a:p>
        </p:txBody>
      </p:sp>
      <p:sp>
        <p:nvSpPr>
          <p:cNvPr id="11" name="math-source-K02-formula"/>
          <p:cNvSpPr txBox="1"/>
          <p:nvPr/>
        </p:nvSpPr>
        <p:spPr>
          <a:xfrm>
            <a:off x="41148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l=(|F|)/(B|</a:t>
            </a:r>
            <a:r>
              <a:rPr>
                <a:latin typeface="Cambria Math"/>
              </a:rPr>
              <a:t>I</a:t>
            </a:r>
            <a:r>
              <a:t>|)</a:t>
            </a:r>
          </a:p>
        </p:txBody>
      </p:sp>
      <p:pic>
        <p:nvPicPr>
          <p:cNvPr id="12" name="K02-formula" descr="l=\frac{|F|}{B|I|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929362" cy="6440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K02-details-0"/>
          <p:cNvSpPr txBox="1"/>
          <p:nvPr/>
        </p:nvSpPr>
        <p:spPr>
          <a:xfrm>
            <a:off x="1005840" y="3131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For skrå leder indgår</a:t>
            </a:r>
          </a:p>
        </p:txBody>
      </p:sp>
      <p:sp>
        <p:nvSpPr>
          <p:cNvPr id="15" name="math-source-K02-details-1"/>
          <p:cNvSpPr txBox="1"/>
          <p:nvPr/>
        </p:nvSpPr>
        <p:spPr>
          <a:xfrm>
            <a:off x="1005840" y="337355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sinθ</a:t>
            </a:r>
          </a:p>
        </p:txBody>
      </p:sp>
      <p:pic>
        <p:nvPicPr>
          <p:cNvPr id="16" name="K02-details-1" descr="\sin\th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73554"/>
            <a:ext cx="457865" cy="251376"/>
          </a:xfrm>
          <a:prstGeom prst="rect">
            <a:avLst/>
          </a:prstGeom>
        </p:spPr>
      </p:pic>
      <p:sp>
        <p:nvSpPr>
          <p:cNvPr id="17" name="K02-details-2"/>
          <p:cNvSpPr txBox="1"/>
          <p:nvPr/>
        </p:nvSpPr>
        <p:spPr>
          <a:xfrm>
            <a:off x="1005840" y="366607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i nævneren.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98611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9" name="math-source-K02-details-3"/>
          <p:cNvSpPr txBox="1"/>
          <p:nvPr/>
        </p:nvSpPr>
        <p:spPr>
          <a:xfrm>
            <a:off x="1005840" y="398611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50 mT=0,050 T</a:t>
            </a:r>
          </a:p>
        </p:txBody>
      </p:sp>
      <p:pic>
        <p:nvPicPr>
          <p:cNvPr id="20" name="K02-details-3" descr="50\,\mathrm{mT}=0{,}050\,\mathrm{T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86118"/>
            <a:ext cx="1523224" cy="25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11480" y="43563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2" name="K02-details-4"/>
          <p:cNvSpPr txBox="1"/>
          <p:nvPr/>
        </p:nvSpPr>
        <p:spPr>
          <a:xfrm>
            <a:off x="1005840" y="43563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ikke hele kablets længde, hvis feltet kun dækker en del.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67640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4" name="math-source-K02-details-5"/>
          <p:cNvSpPr txBox="1"/>
          <p:nvPr/>
        </p:nvSpPr>
        <p:spPr>
          <a:xfrm>
            <a:off x="1005840" y="4676407"/>
            <a:ext cx="4206240" cy="472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l=(1 N)/(0,050 T·10 A)=2 m</a:t>
            </a:r>
          </a:p>
        </p:txBody>
      </p:sp>
      <p:pic>
        <p:nvPicPr>
          <p:cNvPr id="25" name="K02-details-5" descr="l=\dfrac{1\,\mathrm{N}}{0{,}050\,\mathrm{T}\cdot10\,\mathrm{A}}=2\,\mathrm{m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676407"/>
            <a:ext cx="2139696" cy="472827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K03 · Søger: Fluxtæthed B [T]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|</a:t>
            </a:r>
            <a:r>
              <a:rPr>
                <a:latin typeface="Cambria Math"/>
              </a:rPr>
              <a:t>I</a:t>
            </a:r>
            <a:r>
              <a:t>| [A], l [m]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feltet.</a:t>
            </a:r>
          </a:p>
        </p:txBody>
      </p:sp>
      <p:sp>
        <p:nvSpPr>
          <p:cNvPr id="30" name="math-source-K03-formula"/>
          <p:cNvSpPr txBox="1"/>
          <p:nvPr/>
        </p:nvSpPr>
        <p:spPr>
          <a:xfrm>
            <a:off x="5532120" y="2340864"/>
            <a:ext cx="4800600" cy="648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B=(|F|)/(|</a:t>
            </a:r>
            <a:r>
              <a:rPr>
                <a:latin typeface="Cambria Math"/>
              </a:rPr>
              <a:t>I</a:t>
            </a:r>
            <a:r>
              <a:t>|l)</a:t>
            </a:r>
          </a:p>
        </p:txBody>
      </p:sp>
      <p:pic>
        <p:nvPicPr>
          <p:cNvPr id="31" name="K03-formula" descr="B=\frac{|F|}{|I|l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933685" cy="64839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32120" y="313556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3" name="K03-details-0"/>
          <p:cNvSpPr txBox="1"/>
          <p:nvPr/>
        </p:nvSpPr>
        <p:spPr>
          <a:xfrm>
            <a:off x="6126480" y="313556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Kontrollér at kraften er den magnetiske kraft.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34556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5" name="math-source-K03-details-1"/>
          <p:cNvSpPr txBox="1"/>
          <p:nvPr/>
        </p:nvSpPr>
        <p:spPr>
          <a:xfrm>
            <a:off x="6126480" y="345560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B[mT]=1000B[T]</a:t>
            </a:r>
          </a:p>
        </p:txBody>
      </p:sp>
      <p:pic>
        <p:nvPicPr>
          <p:cNvPr id="36" name="K03-details-1" descr="B[\mathrm{mT}]=1000B[\mathrm{T}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455600"/>
            <a:ext cx="1753652" cy="25137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32120" y="382584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8" name="K03-details-2"/>
          <p:cNvSpPr txBox="1"/>
          <p:nvPr/>
        </p:nvSpPr>
        <p:spPr>
          <a:xfrm>
            <a:off x="6126480" y="382584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Andre mekaniske kræfter må ikke medregnes i F.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414588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0" name="math-source-K03-details-3"/>
          <p:cNvSpPr txBox="1"/>
          <p:nvPr/>
        </p:nvSpPr>
        <p:spPr>
          <a:xfrm>
            <a:off x="6126480" y="4145889"/>
            <a:ext cx="4206240" cy="448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B=(75 N)/(15 A·200 m)</a:t>
            </a:r>
          </a:p>
        </p:txBody>
      </p:sp>
      <p:pic>
        <p:nvPicPr>
          <p:cNvPr id="41" name="K03-details-3" descr="B=\dfrac{75\,\mathrm{N}}{15\,\mathrm{A}\cdot200\,\mathrm{m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145889"/>
            <a:ext cx="1514246" cy="448887"/>
          </a:xfrm>
          <a:prstGeom prst="rect">
            <a:avLst/>
          </a:prstGeom>
        </p:spPr>
      </p:pic>
      <p:sp>
        <p:nvSpPr>
          <p:cNvPr id="42" name="math-source-K03-details-4"/>
          <p:cNvSpPr txBox="1"/>
          <p:nvPr/>
        </p:nvSpPr>
        <p:spPr>
          <a:xfrm>
            <a:off x="6126480" y="463592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B=0,025 T=25 mT</a:t>
            </a:r>
          </a:p>
        </p:txBody>
      </p:sp>
      <p:pic>
        <p:nvPicPr>
          <p:cNvPr id="43" name="K03-details-4" descr="B=0{,}025\,\mathrm{T}=25\,\mathrm{mT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4635924"/>
            <a:ext cx="1888319" cy="25137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nav-back-index" descr="Til indeks">
            <a:hlinkClick action="ppaction://hlinksldjump" r:id="rId11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6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K04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49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K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K04 · Søger: Kraft mellem ledere |F| [N]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</a:t>
            </a:r>
            <a:r>
              <a:rPr>
                <a:latin typeface="Cambria Math"/>
              </a:rPr>
              <a:t>I</a:t>
            </a:r>
            <a:r>
              <a:t>1, </a:t>
            </a:r>
            <a:r>
              <a:rPr>
                <a:latin typeface="Cambria Math"/>
              </a:rPr>
              <a:t>I</a:t>
            </a:r>
            <a:r>
              <a:t>2 [A], l, a [m], μ [H/m]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Lange parallelle ledere; a er centerafstand.</a:t>
            </a:r>
          </a:p>
        </p:txBody>
      </p:sp>
      <p:sp>
        <p:nvSpPr>
          <p:cNvPr id="11" name="math-source-K04-formula"/>
          <p:cNvSpPr txBox="1"/>
          <p:nvPr/>
        </p:nvSpPr>
        <p:spPr>
          <a:xfrm>
            <a:off x="411480" y="2340864"/>
            <a:ext cx="48006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|F|=(μ|</a:t>
            </a:r>
            <a:r>
              <a:rPr>
                <a:latin typeface="Cambria Math"/>
              </a:rPr>
              <a:t>I</a:t>
            </a:r>
            <a:r>
              <a:t>_1</a:t>
            </a:r>
            <a:r>
              <a:rPr>
                <a:latin typeface="Cambria Math"/>
              </a:rPr>
              <a:t>I</a:t>
            </a:r>
            <a:r>
              <a:t>_2|l)/(2π a)</a:t>
            </a:r>
          </a:p>
        </p:txBody>
      </p:sp>
      <p:pic>
        <p:nvPicPr>
          <p:cNvPr id="12" name="K04-formula" descr="|F|=\frac{\mu|I_1I_2|l}{2\pi 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616659" cy="7132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004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K04-details-0"/>
          <p:cNvSpPr txBox="1"/>
          <p:nvPr/>
        </p:nvSpPr>
        <p:spPr>
          <a:xfrm>
            <a:off x="1005840" y="320040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Luftens SI-tilnærmelse:</a:t>
            </a:r>
          </a:p>
        </p:txBody>
      </p:sp>
      <p:sp>
        <p:nvSpPr>
          <p:cNvPr id="15" name="math-source-K04-details-1"/>
          <p:cNvSpPr txBox="1"/>
          <p:nvPr/>
        </p:nvSpPr>
        <p:spPr>
          <a:xfrm>
            <a:off x="1005840" y="3442716"/>
            <a:ext cx="4206240" cy="4279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|F|≈2·10^-7 (H)/(m)(|</a:t>
            </a:r>
            <a:r>
              <a:rPr>
                <a:latin typeface="Cambria Math"/>
              </a:rPr>
              <a:t>I</a:t>
            </a:r>
            <a:r>
              <a:t>_1</a:t>
            </a:r>
            <a:r>
              <a:rPr>
                <a:latin typeface="Cambria Math"/>
              </a:rPr>
              <a:t>I</a:t>
            </a:r>
            <a:r>
              <a:t>_2|l)/(a)</a:t>
            </a:r>
          </a:p>
        </p:txBody>
      </p:sp>
      <p:pic>
        <p:nvPicPr>
          <p:cNvPr id="16" name="K04-details-1" descr="|F|\approx2\cdot10^{-7}\,\dfrac{\mathrm{H}}{\mathrm{m}}\dfrac{|I_1I_2|l}{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42716"/>
            <a:ext cx="1909267" cy="4279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98952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K04-details-2"/>
          <p:cNvSpPr txBox="1"/>
          <p:nvPr/>
        </p:nvSpPr>
        <p:spPr>
          <a:xfrm>
            <a:off x="1005840" y="398952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Kraft pr. meter:</a:t>
            </a:r>
          </a:p>
        </p:txBody>
      </p:sp>
      <p:sp>
        <p:nvSpPr>
          <p:cNvPr id="19" name="math-source-K04-details-3"/>
          <p:cNvSpPr txBox="1"/>
          <p:nvPr/>
        </p:nvSpPr>
        <p:spPr>
          <a:xfrm>
            <a:off x="1005840" y="4231843"/>
            <a:ext cx="4206240" cy="448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(|F|)/(l)[N/m]</a:t>
            </a:r>
          </a:p>
        </p:txBody>
      </p:sp>
      <p:pic>
        <p:nvPicPr>
          <p:cNvPr id="20" name="K04-details-3" descr="\dfrac{|F|}{l}\quad[\mathrm{N/m}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31843"/>
            <a:ext cx="1014485" cy="44888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11480" y="479960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2" name="K04-details-4"/>
          <p:cNvSpPr txBox="1"/>
          <p:nvPr/>
        </p:nvSpPr>
        <p:spPr>
          <a:xfrm>
            <a:off x="1005840" y="479960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Samme strømretning tiltrækker; modsat frastøder.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back-index" descr="Til indeks">
            <a:hlinkClick action="ppaction://hlinksldjump" r:id="rId6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25" name="nav-back-start" descr="Til start">
            <a:hlinkClick action="ppaction://hlinksldjump" r:id="rId7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Induktion · E01, E02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50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E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E01 · Søger: Induceret spænding e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ΔΦ [Wb],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Middel-EMK over interval; samme flux gennem hver vinding.</a:t>
            </a:r>
          </a:p>
        </p:txBody>
      </p:sp>
      <p:sp>
        <p:nvSpPr>
          <p:cNvPr id="11" name="math-source-E01-formula"/>
          <p:cNvSpPr txBox="1"/>
          <p:nvPr/>
        </p:nvSpPr>
        <p:spPr>
          <a:xfrm>
            <a:off x="411480" y="2340864"/>
            <a:ext cx="4800600" cy="6397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e_middel=-N(ΔΦ)/(Δ t)</a:t>
            </a:r>
          </a:p>
        </p:txBody>
      </p:sp>
      <p:pic>
        <p:nvPicPr>
          <p:cNvPr id="12" name="E01-formula" descr="e_{\mathrm{middel}}=-N\frac{\Delta\Phi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135373" cy="6397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2691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E01-details-0"/>
          <p:cNvSpPr txBox="1"/>
          <p:nvPr/>
        </p:nvSpPr>
        <p:spPr>
          <a:xfrm>
            <a:off x="1005840" y="312691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ΔΦ=Φ_slut-Φ_start</a:t>
            </a:r>
          </a:p>
        </p:txBody>
      </p:sp>
      <p:pic>
        <p:nvPicPr>
          <p:cNvPr id="15" name="E01-details-0" descr="\Delta\Phi=\Phi_{\mathrm{slut}}-\Phi_{\mathrm{start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26915"/>
            <a:ext cx="1708764" cy="251376"/>
          </a:xfrm>
          <a:prstGeom prst="rect">
            <a:avLst/>
          </a:prstGeom>
        </p:spPr>
      </p:pic>
      <p:sp>
        <p:nvSpPr>
          <p:cNvPr id="16" name="E01-details-1"/>
          <p:cNvSpPr txBox="1"/>
          <p:nvPr/>
        </p:nvSpPr>
        <p:spPr>
          <a:xfrm>
            <a:off x="1005840" y="341944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Størrelse:</a:t>
            </a:r>
          </a:p>
        </p:txBody>
      </p:sp>
      <p:sp>
        <p:nvSpPr>
          <p:cNvPr id="17" name="math-source-E01-details-2"/>
          <p:cNvSpPr txBox="1"/>
          <p:nvPr/>
        </p:nvSpPr>
        <p:spPr>
          <a:xfrm>
            <a:off x="1005840" y="3661756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|e_middel|=N(|ΔΦ|)/(Δ t)</a:t>
            </a:r>
          </a:p>
        </p:txBody>
      </p:sp>
      <p:pic>
        <p:nvPicPr>
          <p:cNvPr id="18" name="E01-details-2" descr="|e_{\mathrm{middel}}|=N\dfrac{|\Delta\Phi|}{\Delta t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61756"/>
            <a:ext cx="1505268" cy="4458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422652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20" name="math-source-E01-details-3"/>
          <p:cNvSpPr txBox="1"/>
          <p:nvPr/>
        </p:nvSpPr>
        <p:spPr>
          <a:xfrm>
            <a:off x="1005840" y="4226523"/>
            <a:ext cx="4206240" cy="4788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Φ[Wb]=(Φ[mWb])/(1000)</a:t>
            </a:r>
          </a:p>
        </p:txBody>
      </p:sp>
      <p:pic>
        <p:nvPicPr>
          <p:cNvPr id="21" name="E01-details-3" descr="\Phi[\mathrm{Wb}]=\dfrac{\Phi[\mathrm{mWb}]}{1000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26523"/>
            <a:ext cx="1765623" cy="478813"/>
          </a:xfrm>
          <a:prstGeom prst="rect">
            <a:avLst/>
          </a:prstGeom>
        </p:spPr>
      </p:pic>
      <p:sp>
        <p:nvSpPr>
          <p:cNvPr id="22" name="math-source-E01-details-4"/>
          <p:cNvSpPr txBox="1"/>
          <p:nvPr/>
        </p:nvSpPr>
        <p:spPr>
          <a:xfrm>
            <a:off x="1005840" y="4746484"/>
            <a:ext cx="4206240" cy="47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t[s]=(t[ms])/(1000)</a:t>
            </a:r>
          </a:p>
        </p:txBody>
      </p:sp>
      <p:pic>
        <p:nvPicPr>
          <p:cNvPr id="23" name="E01-details-4" descr="t[\mathrm{s}]=\dfrac{t[\mathrm{ms}]}{1000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746484"/>
            <a:ext cx="1059373" cy="4758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534117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5" name="E01-details-5"/>
          <p:cNvSpPr txBox="1"/>
          <p:nvPr/>
        </p:nvSpPr>
        <p:spPr>
          <a:xfrm>
            <a:off x="1005840" y="534117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Minus er Lenz-retningen ift. valgt fluxnormal og omløbsretning.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66121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7" name="math-source-E01-details-6"/>
          <p:cNvSpPr txBox="1"/>
          <p:nvPr/>
        </p:nvSpPr>
        <p:spPr>
          <a:xfrm>
            <a:off x="1005840" y="566121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N=100,ΔΦ=2 mWb</a:t>
            </a:r>
          </a:p>
        </p:txBody>
      </p:sp>
      <p:pic>
        <p:nvPicPr>
          <p:cNvPr id="28" name="E01-details-6" descr="N=100,\quad\Delta\Phi=2\,\mathrm{mWb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5661216"/>
            <a:ext cx="2232466" cy="251376"/>
          </a:xfrm>
          <a:prstGeom prst="rect">
            <a:avLst/>
          </a:prstGeom>
        </p:spPr>
      </p:pic>
      <p:sp>
        <p:nvSpPr>
          <p:cNvPr id="29" name="math-source-E01-details-7"/>
          <p:cNvSpPr txBox="1"/>
          <p:nvPr/>
        </p:nvSpPr>
        <p:spPr>
          <a:xfrm>
            <a:off x="1005840" y="595374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t=0,1 s</a:t>
            </a:r>
          </a:p>
        </p:txBody>
      </p:sp>
      <p:pic>
        <p:nvPicPr>
          <p:cNvPr id="30" name="E01-details-7" descr="\Delta t=0{,}1\,\mathrm{s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5953741"/>
            <a:ext cx="894781" cy="251376"/>
          </a:xfrm>
          <a:prstGeom prst="rect">
            <a:avLst/>
          </a:prstGeom>
        </p:spPr>
      </p:pic>
      <p:sp>
        <p:nvSpPr>
          <p:cNvPr id="31" name="math-source-E01-details-8"/>
          <p:cNvSpPr txBox="1"/>
          <p:nvPr/>
        </p:nvSpPr>
        <p:spPr>
          <a:xfrm>
            <a:off x="1005840" y="624626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e_middel=-2 V</a:t>
            </a:r>
          </a:p>
        </p:txBody>
      </p:sp>
      <p:pic>
        <p:nvPicPr>
          <p:cNvPr id="32" name="E01-details-8" descr="e_{\mathrm{middel}}=-2\,\mathrm{V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840" y="6246266"/>
            <a:ext cx="1286810" cy="251376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E02 · Søger: Øjebliks-EMK e(t) [V]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Φ(t) [Wb]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Valgt positiv fluxnormal og konsistent omløbsretning.</a:t>
            </a:r>
          </a:p>
        </p:txBody>
      </p:sp>
      <p:sp>
        <p:nvSpPr>
          <p:cNvPr id="37" name="math-source-E02-formula"/>
          <p:cNvSpPr txBox="1"/>
          <p:nvPr/>
        </p:nvSpPr>
        <p:spPr>
          <a:xfrm>
            <a:off x="553212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e(t)=-N(dΦ)/(dt)</a:t>
            </a:r>
          </a:p>
        </p:txBody>
      </p:sp>
      <p:pic>
        <p:nvPicPr>
          <p:cNvPr id="38" name="E02-formula" descr="e(t)=-N\frac{\mathrm{d}\Phi}{\mathrm{d}t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2120" y="2340864"/>
            <a:ext cx="1716079" cy="64407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53212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40" name="E02-details-0"/>
          <p:cNvSpPr txBox="1"/>
          <p:nvPr/>
        </p:nvSpPr>
        <p:spPr>
          <a:xfrm>
            <a:off x="6126480" y="3131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Differentier fluxfunktionen; eller aflæs dens lokale hældning.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2120" y="345127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42" name="math-source-E02-details-1"/>
          <p:cNvSpPr txBox="1"/>
          <p:nvPr/>
        </p:nvSpPr>
        <p:spPr>
          <a:xfrm>
            <a:off x="6126480" y="3451278"/>
            <a:ext cx="4206240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(Wb)/(s)=V</a:t>
            </a:r>
          </a:p>
        </p:txBody>
      </p:sp>
      <p:pic>
        <p:nvPicPr>
          <p:cNvPr id="43" name="E02-details-1" descr="\dfrac{\mathrm{Wb}}{\mathrm{s}}=\mathrm{V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6480" y="3451278"/>
            <a:ext cx="790041" cy="3950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532120" y="39651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45" name="E02-details-2"/>
          <p:cNvSpPr txBox="1"/>
          <p:nvPr/>
        </p:nvSpPr>
        <p:spPr>
          <a:xfrm>
            <a:off x="6126480" y="39651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Middelhældning:</a:t>
            </a:r>
          </a:p>
        </p:txBody>
      </p:sp>
      <p:sp>
        <p:nvSpPr>
          <p:cNvPr id="46" name="math-source-E02-details-3"/>
          <p:cNvSpPr txBox="1"/>
          <p:nvPr/>
        </p:nvSpPr>
        <p:spPr>
          <a:xfrm>
            <a:off x="6126480" y="4207486"/>
            <a:ext cx="4206240" cy="4429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(ΔΦ)/(Δ t)</a:t>
            </a:r>
          </a:p>
        </p:txBody>
      </p:sp>
      <p:pic>
        <p:nvPicPr>
          <p:cNvPr id="47" name="E02-details-3" descr="\dfrac{\Delta\Phi}{\Delta t}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0" y="4207486"/>
            <a:ext cx="389035" cy="442902"/>
          </a:xfrm>
          <a:prstGeom prst="rect">
            <a:avLst/>
          </a:prstGeom>
        </p:spPr>
      </p:pic>
      <p:sp>
        <p:nvSpPr>
          <p:cNvPr id="48" name="E02-details-4"/>
          <p:cNvSpPr txBox="1"/>
          <p:nvPr/>
        </p:nvSpPr>
        <p:spPr>
          <a:xfrm>
            <a:off x="6126480" y="469153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Øjeblikshældning:</a:t>
            </a:r>
          </a:p>
        </p:txBody>
      </p:sp>
      <p:sp>
        <p:nvSpPr>
          <p:cNvPr id="49" name="math-source-E02-details-5"/>
          <p:cNvSpPr txBox="1"/>
          <p:nvPr/>
        </p:nvSpPr>
        <p:spPr>
          <a:xfrm>
            <a:off x="6126480" y="4933853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(dΦ)/(dt)</a:t>
            </a:r>
          </a:p>
        </p:txBody>
      </p:sp>
      <p:pic>
        <p:nvPicPr>
          <p:cNvPr id="50" name="E02-details-5" descr="\dfrac{\mathrm{d}\Phi}{\mathrm{d}t}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26480" y="4933853"/>
            <a:ext cx="338161" cy="445894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nav-back-index" descr="Til indeks">
            <a:hlinkClick action="ppaction://hlinksldjump" r:id="rId15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53" name="nav-back-start" descr="Til start">
            <a:hlinkClick action="ppaction://hlinksldjump" r:id="rId16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Induktion · E03, E05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51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E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E03 · Søger: Bevægelses-EMK |E|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l [m], v [m/s]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Lige leder; l, v og B står indbyrdes vinkelret.</a:t>
            </a:r>
          </a:p>
        </p:txBody>
      </p:sp>
      <p:sp>
        <p:nvSpPr>
          <p:cNvPr id="11" name="math-source-E03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|E|=Blv</a:t>
            </a:r>
          </a:p>
        </p:txBody>
      </p:sp>
      <p:pic>
        <p:nvPicPr>
          <p:cNvPr id="12" name="E03-formula" descr="|E|=Blv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162784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E03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længden i feltet. Polaritet findes med generatorreglen og:</a:t>
            </a:r>
          </a:p>
        </p:txBody>
      </p:sp>
      <p:sp>
        <p:nvSpPr>
          <p:cNvPr id="15" name="math-source-E03-details-1"/>
          <p:cNvSpPr txBox="1"/>
          <p:nvPr/>
        </p:nvSpPr>
        <p:spPr>
          <a:xfrm>
            <a:off x="1005840" y="3092583"/>
            <a:ext cx="4206240" cy="29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vec v×vec B</a:t>
            </a:r>
          </a:p>
        </p:txBody>
      </p:sp>
      <p:pic>
        <p:nvPicPr>
          <p:cNvPr id="16" name="E03-details-1" descr="\vec v\times\vec 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92583"/>
            <a:ext cx="499761" cy="290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50173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E03-details-2"/>
          <p:cNvSpPr txBox="1"/>
          <p:nvPr/>
        </p:nvSpPr>
        <p:spPr>
          <a:xfrm>
            <a:off x="1005840" y="3501736"/>
            <a:ext cx="4206240" cy="5027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v[m/s]=(v[km/h])/(3,6)</a:t>
            </a:r>
          </a:p>
        </p:txBody>
      </p:sp>
      <p:pic>
        <p:nvPicPr>
          <p:cNvPr id="19" name="E03-details-2" descr="v[\mathrm{m/s}]=\dfrac{v[\mathrm{km/h}]}{3{,}6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501736"/>
            <a:ext cx="1580083" cy="50275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12336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E03-details-3"/>
          <p:cNvSpPr txBox="1"/>
          <p:nvPr/>
        </p:nvSpPr>
        <p:spPr>
          <a:xfrm>
            <a:off x="1005840" y="412336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Kun størrelse; vilkårlig bevægelsesretning kræver projektion.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05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E05 · Søger: Selvinduktions-EMK es [V]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L [H], di/dt [A/s]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induktans; induceret modspænding.</a:t>
            </a:r>
          </a:p>
        </p:txBody>
      </p:sp>
      <p:sp>
        <p:nvSpPr>
          <p:cNvPr id="26" name="math-source-E05-formula"/>
          <p:cNvSpPr txBox="1"/>
          <p:nvPr/>
        </p:nvSpPr>
        <p:spPr>
          <a:xfrm>
            <a:off x="553212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e_s=-L(di)/(dt)</a:t>
            </a:r>
          </a:p>
        </p:txBody>
      </p:sp>
      <p:pic>
        <p:nvPicPr>
          <p:cNvPr id="27" name="E05-formula" descr="e_s=-L\frac{\mathrm{d}i}{\mathrm{d}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318398" cy="64407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3212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9" name="E05-details-0"/>
          <p:cNvSpPr txBox="1"/>
          <p:nvPr/>
        </p:nvSpPr>
        <p:spPr>
          <a:xfrm>
            <a:off x="6126480" y="3131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For lineær rampe:</a:t>
            </a:r>
          </a:p>
        </p:txBody>
      </p:sp>
      <p:sp>
        <p:nvSpPr>
          <p:cNvPr id="30" name="math-source-E05-details-1"/>
          <p:cNvSpPr txBox="1"/>
          <p:nvPr/>
        </p:nvSpPr>
        <p:spPr>
          <a:xfrm>
            <a:off x="6126480" y="3373554"/>
            <a:ext cx="4206240" cy="4429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e_s,middel=-L(Δ </a:t>
            </a:r>
            <a:r>
              <a:rPr>
                <a:latin typeface="Cambria Math"/>
              </a:rPr>
              <a:t>I</a:t>
            </a:r>
            <a:r>
              <a:t>)/(Δ t)</a:t>
            </a:r>
          </a:p>
        </p:txBody>
      </p:sp>
      <p:pic>
        <p:nvPicPr>
          <p:cNvPr id="31" name="E05-details-1" descr="e_{s,\mathrm{middel}}=-L\dfrac{\Delta I}{\Delta t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373554"/>
            <a:ext cx="1478335" cy="44290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32120" y="393532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3" name="math-source-E05-details-2"/>
          <p:cNvSpPr txBox="1"/>
          <p:nvPr/>
        </p:nvSpPr>
        <p:spPr>
          <a:xfrm>
            <a:off x="6126480" y="3935328"/>
            <a:ext cx="4206240" cy="47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L[H]=(L[mH])/(1000)</a:t>
            </a:r>
          </a:p>
        </p:txBody>
      </p:sp>
      <p:pic>
        <p:nvPicPr>
          <p:cNvPr id="34" name="E05-details-2" descr="L[\mathrm{H}]=\dfrac{L[\mathrm{mH}]}{1000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935328"/>
            <a:ext cx="1340676" cy="4758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453002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6" name="E05-details-3"/>
          <p:cNvSpPr txBox="1"/>
          <p:nvPr/>
        </p:nvSpPr>
        <p:spPr>
          <a:xfrm>
            <a:off x="6126480" y="453002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Passiv klemspænding:</a:t>
            </a:r>
          </a:p>
        </p:txBody>
      </p:sp>
      <p:sp>
        <p:nvSpPr>
          <p:cNvPr id="37" name="math-source-E05-details-4"/>
          <p:cNvSpPr txBox="1"/>
          <p:nvPr/>
        </p:nvSpPr>
        <p:spPr>
          <a:xfrm>
            <a:off x="6126480" y="4772336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u_L=+L(di)/(dt)</a:t>
            </a:r>
          </a:p>
        </p:txBody>
      </p:sp>
      <p:pic>
        <p:nvPicPr>
          <p:cNvPr id="38" name="E05-details-4" descr="u_L=+L\dfrac{\mathrm{d}i}{\mathrm{d}t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772336"/>
            <a:ext cx="951641" cy="445894"/>
          </a:xfrm>
          <a:prstGeom prst="rect">
            <a:avLst/>
          </a:prstGeom>
        </p:spPr>
      </p:pic>
      <p:sp>
        <p:nvSpPr>
          <p:cNvPr id="39" name="E05-details-5"/>
          <p:cNvSpPr txBox="1"/>
          <p:nvPr/>
        </p:nvSpPr>
        <p:spPr>
          <a:xfrm>
            <a:off x="6126480" y="525937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EMK er modsatrettet.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557941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1" name="math-source-E05-details-6"/>
          <p:cNvSpPr txBox="1"/>
          <p:nvPr/>
        </p:nvSpPr>
        <p:spPr>
          <a:xfrm>
            <a:off x="6126480" y="5579419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L=20 mH</a:t>
            </a:r>
          </a:p>
        </p:txBody>
      </p:sp>
      <p:pic>
        <p:nvPicPr>
          <p:cNvPr id="42" name="E05-details-6" descr="L=20\,\mathrm{mH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5579419"/>
            <a:ext cx="996529" cy="251376"/>
          </a:xfrm>
          <a:prstGeom prst="rect">
            <a:avLst/>
          </a:prstGeom>
        </p:spPr>
      </p:pic>
      <p:sp>
        <p:nvSpPr>
          <p:cNvPr id="43" name="math-source-E05-details-7"/>
          <p:cNvSpPr txBox="1"/>
          <p:nvPr/>
        </p:nvSpPr>
        <p:spPr>
          <a:xfrm>
            <a:off x="6126480" y="5871944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(Δ </a:t>
            </a:r>
            <a:r>
              <a:rPr>
                <a:latin typeface="Cambria Math"/>
              </a:rPr>
              <a:t>I</a:t>
            </a:r>
            <a:r>
              <a:t>)/(Δ t)=(2 A)/(10 ms)</a:t>
            </a:r>
          </a:p>
        </p:txBody>
      </p:sp>
      <p:pic>
        <p:nvPicPr>
          <p:cNvPr id="44" name="E05-details-7" descr="\dfrac{\Delta I}{\Delta t}=\dfrac{2\,\mathrm{A}}{10\,\mathrm{ms}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5871944"/>
            <a:ext cx="1065359" cy="445894"/>
          </a:xfrm>
          <a:prstGeom prst="rect">
            <a:avLst/>
          </a:prstGeom>
        </p:spPr>
      </p:pic>
      <p:sp>
        <p:nvSpPr>
          <p:cNvPr id="45" name="math-source-E05-details-8"/>
          <p:cNvSpPr txBox="1"/>
          <p:nvPr/>
        </p:nvSpPr>
        <p:spPr>
          <a:xfrm>
            <a:off x="6126480" y="6358986"/>
            <a:ext cx="4206240" cy="266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e_s,middel=-4 V</a:t>
            </a:r>
          </a:p>
        </p:txBody>
      </p:sp>
      <p:pic>
        <p:nvPicPr>
          <p:cNvPr id="46" name="E05-details-8" descr="e_{s,\mathrm{middel}}=-4\,\mathrm{V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6480" y="6358986"/>
            <a:ext cx="1412498" cy="266339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av-back-index" descr="Til indeks">
            <a:hlinkClick action="ppaction://hlinksldjump" r:id="rId13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9" name="nav-back-start" descr="Til start">
            <a:hlinkClick action="ppaction://hlinksldjump" r:id="rId14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Induktion · E04, E06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52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E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E04 · Søger: Induktans L [H]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μ [H/m], A [m²], l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ensartet spole/magnetkreds; lækage negligeres.</a:t>
            </a:r>
          </a:p>
        </p:txBody>
      </p:sp>
      <p:sp>
        <p:nvSpPr>
          <p:cNvPr id="11" name="math-source-E04-formula"/>
          <p:cNvSpPr txBox="1"/>
          <p:nvPr/>
        </p:nvSpPr>
        <p:spPr>
          <a:xfrm>
            <a:off x="411480" y="2340864"/>
            <a:ext cx="4800600" cy="7694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L=(N^2μ A)/(l)</a:t>
            </a:r>
          </a:p>
        </p:txBody>
      </p:sp>
      <p:pic>
        <p:nvPicPr>
          <p:cNvPr id="12" name="E04-formula" descr="L=\frac{N^2\mu A}{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344334" cy="76942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5659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E04-details-0"/>
          <p:cNvSpPr txBox="1"/>
          <p:nvPr/>
        </p:nvSpPr>
        <p:spPr>
          <a:xfrm>
            <a:off x="1005840" y="325659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μ=μ_0μ_r</a:t>
            </a:r>
          </a:p>
        </p:txBody>
      </p:sp>
      <p:pic>
        <p:nvPicPr>
          <p:cNvPr id="15" name="E04-details-0" descr="\mu=\mu_0\mu_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56594"/>
            <a:ext cx="796026" cy="251376"/>
          </a:xfrm>
          <a:prstGeom prst="rect">
            <a:avLst/>
          </a:prstGeom>
        </p:spPr>
      </p:pic>
      <p:sp>
        <p:nvSpPr>
          <p:cNvPr id="16" name="E04-details-1"/>
          <p:cNvSpPr txBox="1"/>
          <p:nvPr/>
        </p:nvSpPr>
        <p:spPr>
          <a:xfrm>
            <a:off x="1005840" y="354911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Alternativt:</a:t>
            </a:r>
          </a:p>
        </p:txBody>
      </p:sp>
      <p:sp>
        <p:nvSpPr>
          <p:cNvPr id="17" name="math-source-E04-details-2"/>
          <p:cNvSpPr txBox="1"/>
          <p:nvPr/>
        </p:nvSpPr>
        <p:spPr>
          <a:xfrm>
            <a:off x="1005840" y="3791434"/>
            <a:ext cx="4206240" cy="5117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L=(N^2)/(R_m)</a:t>
            </a:r>
          </a:p>
        </p:txBody>
      </p:sp>
      <p:pic>
        <p:nvPicPr>
          <p:cNvPr id="18" name="E04-details-2" descr="L=\dfrac{N^2}{R_m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91434"/>
            <a:ext cx="670338" cy="51173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44220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20" name="E04-details-3"/>
          <p:cNvSpPr txBox="1"/>
          <p:nvPr/>
        </p:nvSpPr>
        <p:spPr>
          <a:xfrm>
            <a:off x="1005840" y="44220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 skal være m².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74207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2" name="E04-details-4"/>
          <p:cNvSpPr txBox="1"/>
          <p:nvPr/>
        </p:nvSpPr>
        <p:spPr>
          <a:xfrm>
            <a:off x="1005840" y="4742078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Mætning, luftgab og geometri kan gøre denne model</a:t>
            </a:r>
            <a:br/>
            <a:r>
              <a:t>utilstrækkelig.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E06 · Søger: Induktans L [H]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es [V], Δ</a:t>
            </a:r>
            <a:r>
              <a:rPr>
                <a:latin typeface="Cambria Math"/>
              </a:rPr>
              <a:t>I</a:t>
            </a:r>
            <a:r>
              <a:t> [A], Δt [s]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strømrampe; tab adskilt fra selvinduktion.</a:t>
            </a:r>
          </a:p>
        </p:txBody>
      </p:sp>
      <p:sp>
        <p:nvSpPr>
          <p:cNvPr id="27" name="math-source-E06-formula"/>
          <p:cNvSpPr txBox="1"/>
          <p:nvPr/>
        </p:nvSpPr>
        <p:spPr>
          <a:xfrm>
            <a:off x="5532120" y="2340864"/>
            <a:ext cx="4800600" cy="682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L=-(e_sΔ t)/(Δ </a:t>
            </a:r>
            <a:r>
              <a:rPr>
                <a:latin typeface="Cambria Math"/>
              </a:rPr>
              <a:t>I</a:t>
            </a:r>
            <a:r>
              <a:t>)</a:t>
            </a:r>
          </a:p>
        </p:txBody>
      </p:sp>
      <p:pic>
        <p:nvPicPr>
          <p:cNvPr id="28" name="E06-formula" descr="L=-\frac{e_s\Delta t}{\Delta I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396205" cy="68297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317014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0" name="E06-details-0"/>
          <p:cNvSpPr txBox="1"/>
          <p:nvPr/>
        </p:nvSpPr>
        <p:spPr>
          <a:xfrm>
            <a:off x="6126480" y="317014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 er positiv med konsistente fortegn.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49018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2" name="E06-details-1"/>
          <p:cNvSpPr txBox="1"/>
          <p:nvPr/>
        </p:nvSpPr>
        <p:spPr>
          <a:xfrm>
            <a:off x="6126480" y="349018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 og 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381022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4" name="E06-details-2"/>
          <p:cNvSpPr txBox="1"/>
          <p:nvPr/>
        </p:nvSpPr>
        <p:spPr>
          <a:xfrm>
            <a:off x="6126480" y="381022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Målt spolespænding omfatter ofte også resistivt spændingsfald:</a:t>
            </a:r>
          </a:p>
        </p:txBody>
      </p:sp>
      <p:sp>
        <p:nvSpPr>
          <p:cNvPr id="35" name="math-source-E06-details-3"/>
          <p:cNvSpPr txBox="1"/>
          <p:nvPr/>
        </p:nvSpPr>
        <p:spPr>
          <a:xfrm>
            <a:off x="6126480" y="4052537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U_R=IR</a:t>
            </a:r>
          </a:p>
        </p:txBody>
      </p:sp>
      <p:pic>
        <p:nvPicPr>
          <p:cNvPr id="36" name="E06-details-3" descr="\Delta U_R=I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052537"/>
            <a:ext cx="921715" cy="251376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9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Kredsløbsmetoder · N02, U07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53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N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N02 · Søger: Ukendt grenstrøm </a:t>
            </a:r>
            <a:r>
              <a:rPr>
                <a:latin typeface="Cambria Math"/>
              </a:rPr>
              <a:t>I</a:t>
            </a:r>
            <a:r>
              <a:t>x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Alle øvrige ind- og udstrømme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KCL i én knude; stationær kreds.</a:t>
            </a:r>
          </a:p>
        </p:txBody>
      </p:sp>
      <p:sp>
        <p:nvSpPr>
          <p:cNvPr id="11" name="math-source-N02-formula"/>
          <p:cNvSpPr txBox="1"/>
          <p:nvPr/>
        </p:nvSpPr>
        <p:spPr>
          <a:xfrm>
            <a:off x="411480" y="2340864"/>
            <a:ext cx="4800600" cy="4192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_x=Σ </a:t>
            </a:r>
            <a:r>
              <a:rPr>
                <a:latin typeface="Cambria Math"/>
              </a:rPr>
              <a:t>I</a:t>
            </a:r>
            <a:r>
              <a:t>_ind-Σ </a:t>
            </a:r>
            <a:r>
              <a:rPr>
                <a:latin typeface="Cambria Math"/>
              </a:rPr>
              <a:t>I</a:t>
            </a:r>
            <a:r>
              <a:t>_andre,ud</a:t>
            </a:r>
          </a:p>
        </p:txBody>
      </p:sp>
      <p:pic>
        <p:nvPicPr>
          <p:cNvPr id="12" name="N02-formula" descr="I_x=\sum I_{\mathrm{ind}}-\sum I_{\mathrm{andre,u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926412" cy="4192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90646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N02-details-0"/>
          <p:cNvSpPr txBox="1"/>
          <p:nvPr/>
        </p:nvSpPr>
        <p:spPr>
          <a:xfrm>
            <a:off x="1005840" y="290646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grenstrømmens pil ud af knuden.</a:t>
            </a:r>
          </a:p>
        </p:txBody>
      </p:sp>
      <p:sp>
        <p:nvSpPr>
          <p:cNvPr id="15" name="math-source-N02-details-1"/>
          <p:cNvSpPr txBox="1"/>
          <p:nvPr/>
        </p:nvSpPr>
        <p:spPr>
          <a:xfrm>
            <a:off x="1005840" y="3148777"/>
            <a:ext cx="4206240" cy="29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Σ </a:t>
            </a:r>
            <a:r>
              <a:rPr>
                <a:latin typeface="Cambria Math"/>
              </a:rPr>
              <a:t>I</a:t>
            </a:r>
            <a:r>
              <a:t>_ind=Σ </a:t>
            </a:r>
            <a:r>
              <a:rPr>
                <a:latin typeface="Cambria Math"/>
              </a:rPr>
              <a:t>I</a:t>
            </a:r>
            <a:r>
              <a:t>_ud</a:t>
            </a:r>
          </a:p>
        </p:txBody>
      </p:sp>
      <p:pic>
        <p:nvPicPr>
          <p:cNvPr id="16" name="N02-details-1" descr="\sum I_{\mathrm{ind}}=\sum I_{\mathrm{ud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48777"/>
            <a:ext cx="1223965" cy="290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55793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N02-details-2"/>
          <p:cNvSpPr txBox="1"/>
          <p:nvPr/>
        </p:nvSpPr>
        <p:spPr>
          <a:xfrm>
            <a:off x="1005840" y="355793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Omregn alle strømme til A eller alle til mA.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8779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math-source-N02-details-3"/>
          <p:cNvSpPr txBox="1"/>
          <p:nvPr/>
        </p:nvSpPr>
        <p:spPr>
          <a:xfrm>
            <a:off x="1005840" y="387797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_x&lt;0</a:t>
            </a:r>
          </a:p>
        </p:txBody>
      </p:sp>
      <p:pic>
        <p:nvPicPr>
          <p:cNvPr id="21" name="N02-details-3" descr="I_x&lt;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877970"/>
            <a:ext cx="541657" cy="251376"/>
          </a:xfrm>
          <a:prstGeom prst="rect">
            <a:avLst/>
          </a:prstGeom>
        </p:spPr>
      </p:pic>
      <p:sp>
        <p:nvSpPr>
          <p:cNvPr id="22" name="N02-details-4"/>
          <p:cNvSpPr txBox="1"/>
          <p:nvPr/>
        </p:nvSpPr>
        <p:spPr>
          <a:xfrm>
            <a:off x="1005840" y="417049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betyder modsat den valgte pil; ikke en fejl i sig selv.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U07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U07 · Søger: Knudespænding Va [V]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Grenkilder Ek [V], Rk [Ω]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Fælles knude a og reference 0; kilder + mod a.</a:t>
            </a:r>
          </a:p>
        </p:txBody>
      </p:sp>
      <p:sp>
        <p:nvSpPr>
          <p:cNvPr id="27" name="math-source-U07-formula"/>
          <p:cNvSpPr txBox="1"/>
          <p:nvPr/>
        </p:nvSpPr>
        <p:spPr>
          <a:xfrm>
            <a:off x="5532120" y="2340864"/>
            <a:ext cx="4800600" cy="15518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V_a=(Σ_k(E_k)/(R_k))/(Σ_k(1)/(R_k))</a:t>
            </a:r>
          </a:p>
        </p:txBody>
      </p:sp>
      <p:pic>
        <p:nvPicPr>
          <p:cNvPr id="28" name="U07-formula" descr="V_a=\dfrac{\sum_k\dfrac{E_k}{R_k}}{\sum_k\dfrac{1}{R_k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352979" cy="155181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403898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0" name="U07-details-0"/>
          <p:cNvSpPr txBox="1"/>
          <p:nvPr/>
        </p:nvSpPr>
        <p:spPr>
          <a:xfrm>
            <a:off x="6126480" y="403898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Ren modstandsgren:</a:t>
            </a:r>
          </a:p>
        </p:txBody>
      </p:sp>
      <p:sp>
        <p:nvSpPr>
          <p:cNvPr id="31" name="math-source-U07-details-1"/>
          <p:cNvSpPr txBox="1"/>
          <p:nvPr/>
        </p:nvSpPr>
        <p:spPr>
          <a:xfrm>
            <a:off x="6126480" y="428130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E_k=0</a:t>
            </a:r>
          </a:p>
        </p:txBody>
      </p:sp>
      <p:pic>
        <p:nvPicPr>
          <p:cNvPr id="32" name="U07-details-1" descr="E_k=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281303"/>
            <a:ext cx="604501" cy="251376"/>
          </a:xfrm>
          <a:prstGeom prst="rect">
            <a:avLst/>
          </a:prstGeom>
        </p:spPr>
      </p:pic>
      <p:sp>
        <p:nvSpPr>
          <p:cNvPr id="33" name="U07-details-2"/>
          <p:cNvSpPr txBox="1"/>
          <p:nvPr/>
        </p:nvSpPr>
        <p:spPr>
          <a:xfrm>
            <a:off x="6126480" y="457382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Find derpå grenstrømmene:</a:t>
            </a:r>
          </a:p>
        </p:txBody>
      </p:sp>
      <p:sp>
        <p:nvSpPr>
          <p:cNvPr id="34" name="math-source-U07-details-3"/>
          <p:cNvSpPr txBox="1"/>
          <p:nvPr/>
        </p:nvSpPr>
        <p:spPr>
          <a:xfrm>
            <a:off x="6126480" y="4816144"/>
            <a:ext cx="4206240" cy="496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_k=(V_a-E_k)/(R_k)</a:t>
            </a:r>
          </a:p>
        </p:txBody>
      </p:sp>
      <p:pic>
        <p:nvPicPr>
          <p:cNvPr id="35" name="U07-details-3" descr="I_k=\dfrac{V_a-E_k}{R_k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816144"/>
            <a:ext cx="1107255" cy="4967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532120" y="543178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7" name="U07-details-4"/>
          <p:cNvSpPr txBox="1"/>
          <p:nvPr/>
        </p:nvSpPr>
        <p:spPr>
          <a:xfrm>
            <a:off x="6126480" y="543178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 og Ω.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575182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9" name="U07-details-5"/>
          <p:cNvSpPr txBox="1"/>
          <p:nvPr/>
        </p:nvSpPr>
        <p:spPr>
          <a:xfrm>
            <a:off x="6126480" y="575182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Gælder denne to-knude-topologi; ellers løs KCL-ligninger.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2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Kredsløbsmetoder · N01, N03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54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N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N01 · Søger: Knudespændinger Va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Topologi, R [Ω], kilder og 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DC-net; strømmene ud af hver ukendt knude.</a:t>
            </a:r>
          </a:p>
        </p:txBody>
      </p:sp>
      <p:sp>
        <p:nvSpPr>
          <p:cNvPr id="11" name="math-source-N01-formula"/>
          <p:cNvSpPr txBox="1"/>
          <p:nvPr/>
        </p:nvSpPr>
        <p:spPr>
          <a:xfrm>
            <a:off x="411480" y="2340864"/>
            <a:ext cx="4800600" cy="782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Σ_bfracV_a-V_bR_ab=</a:t>
            </a:r>
            <a:r>
              <a:rPr>
                <a:latin typeface="Cambria Math"/>
              </a:rPr>
              <a:t>I</a:t>
            </a:r>
            <a:r>
              <a:t>_ind,a</a:t>
            </a:r>
          </a:p>
        </p:txBody>
      </p:sp>
      <p:pic>
        <p:nvPicPr>
          <p:cNvPr id="12" name="N01-formula" descr="\sum_b\frac{V_a-V_b}{R_{ab}}=I_{\mathrm{ind},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295310" cy="7823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6956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N01-details-0"/>
          <p:cNvSpPr txBox="1"/>
          <p:nvPr/>
        </p:nvSpPr>
        <p:spPr>
          <a:xfrm>
            <a:off x="1005840" y="326956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reference 0. Skriv KCL; løs samtidige ligninger.</a:t>
            </a:r>
          </a:p>
        </p:txBody>
      </p:sp>
      <p:sp>
        <p:nvSpPr>
          <p:cNvPr id="15" name="math-source-N01-details-1"/>
          <p:cNvSpPr txBox="1"/>
          <p:nvPr/>
        </p:nvSpPr>
        <p:spPr>
          <a:xfrm>
            <a:off x="1005840" y="3511877"/>
            <a:ext cx="4206240" cy="496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_k=(V_a-V_b)/(R_k)</a:t>
            </a:r>
          </a:p>
        </p:txBody>
      </p:sp>
      <p:pic>
        <p:nvPicPr>
          <p:cNvPr id="16" name="N01-details-1" descr="I_k=\dfrac{V_a-V_b}{R_k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11877"/>
            <a:ext cx="1116233" cy="4967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412751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N01-details-2"/>
          <p:cNvSpPr txBox="1"/>
          <p:nvPr/>
        </p:nvSpPr>
        <p:spPr>
          <a:xfrm>
            <a:off x="1005840" y="412751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 og Ω.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44755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N01-details-3"/>
          <p:cNvSpPr txBox="1"/>
          <p:nvPr/>
        </p:nvSpPr>
        <p:spPr>
          <a:xfrm>
            <a:off x="1005840" y="444755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Ideel kilde mellem ukendte knuder kræver superknude og:</a:t>
            </a:r>
          </a:p>
        </p:txBody>
      </p:sp>
      <p:sp>
        <p:nvSpPr>
          <p:cNvPr id="21" name="math-source-N01-details-4"/>
          <p:cNvSpPr txBox="1"/>
          <p:nvPr/>
        </p:nvSpPr>
        <p:spPr>
          <a:xfrm>
            <a:off x="1005840" y="468987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V_a-V_b=E</a:t>
            </a:r>
          </a:p>
        </p:txBody>
      </p:sp>
      <p:pic>
        <p:nvPicPr>
          <p:cNvPr id="22" name="N01-details-4" descr="V_a-V_b=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689874"/>
            <a:ext cx="1101270" cy="2513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N03 · Søger: Kontrol af spændinger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Kilders polaritet, </a:t>
            </a:r>
            <a:r>
              <a:rPr>
                <a:latin typeface="Cambria Math"/>
              </a:rPr>
              <a:t>I</a:t>
            </a:r>
            <a:r>
              <a:t> [A], R [Ω]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KVL i lukket DC-sløjfe; kontrol efter KCL-løsning.</a:t>
            </a:r>
          </a:p>
        </p:txBody>
      </p:sp>
      <p:sp>
        <p:nvSpPr>
          <p:cNvPr id="27" name="math-source-N03-formula"/>
          <p:cNvSpPr txBox="1"/>
          <p:nvPr/>
        </p:nvSpPr>
        <p:spPr>
          <a:xfrm>
            <a:off x="553212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Σ_kΔ V_k=0</a:t>
            </a:r>
          </a:p>
        </p:txBody>
      </p:sp>
      <p:pic>
        <p:nvPicPr>
          <p:cNvPr id="28" name="N03-formula" descr="\sum_k\Delta V_k=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374592" cy="64407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0" name="N03-details-0"/>
          <p:cNvSpPr txBox="1"/>
          <p:nvPr/>
        </p:nvSpPr>
        <p:spPr>
          <a:xfrm>
            <a:off x="6126480" y="3131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Fra minus til plus over kilde:</a:t>
            </a:r>
          </a:p>
        </p:txBody>
      </p:sp>
      <p:sp>
        <p:nvSpPr>
          <p:cNvPr id="31" name="math-source-N03-details-1"/>
          <p:cNvSpPr txBox="1"/>
          <p:nvPr/>
        </p:nvSpPr>
        <p:spPr>
          <a:xfrm>
            <a:off x="6126480" y="337355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V=+E</a:t>
            </a:r>
          </a:p>
        </p:txBody>
      </p:sp>
      <p:pic>
        <p:nvPicPr>
          <p:cNvPr id="32" name="N03-details-1" descr="\Delta V=+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373554"/>
            <a:ext cx="879819" cy="251376"/>
          </a:xfrm>
          <a:prstGeom prst="rect">
            <a:avLst/>
          </a:prstGeom>
        </p:spPr>
      </p:pic>
      <p:sp>
        <p:nvSpPr>
          <p:cNvPr id="33" name="N03-details-2"/>
          <p:cNvSpPr txBox="1"/>
          <p:nvPr/>
        </p:nvSpPr>
        <p:spPr>
          <a:xfrm>
            <a:off x="6126480" y="366607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Med strøm gennem modstand:</a:t>
            </a:r>
          </a:p>
        </p:txBody>
      </p:sp>
      <p:sp>
        <p:nvSpPr>
          <p:cNvPr id="34" name="math-source-N03-details-3"/>
          <p:cNvSpPr txBox="1"/>
          <p:nvPr/>
        </p:nvSpPr>
        <p:spPr>
          <a:xfrm>
            <a:off x="6126480" y="390839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V=-IR</a:t>
            </a:r>
          </a:p>
        </p:txBody>
      </p:sp>
      <p:pic>
        <p:nvPicPr>
          <p:cNvPr id="35" name="N03-details-3" descr="\Delta V=-I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908394"/>
            <a:ext cx="945655" cy="2513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532120" y="427864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7" name="N03-details-4"/>
          <p:cNvSpPr txBox="1"/>
          <p:nvPr/>
        </p:nvSpPr>
        <p:spPr>
          <a:xfrm>
            <a:off x="6126480" y="427864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led i V.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59868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9" name="N03-details-5"/>
          <p:cNvSpPr txBox="1"/>
          <p:nvPr/>
        </p:nvSpPr>
        <p:spPr>
          <a:xfrm>
            <a:off x="6126480" y="459868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Kun</a:t>
            </a:r>
          </a:p>
        </p:txBody>
      </p:sp>
      <p:sp>
        <p:nvSpPr>
          <p:cNvPr id="40" name="math-source-N03-details-6"/>
          <p:cNvSpPr txBox="1"/>
          <p:nvPr/>
        </p:nvSpPr>
        <p:spPr>
          <a:xfrm>
            <a:off x="6126480" y="4840999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n-1</a:t>
            </a:r>
          </a:p>
        </p:txBody>
      </p:sp>
      <p:pic>
        <p:nvPicPr>
          <p:cNvPr id="41" name="N03-details-6" descr="n-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840999"/>
            <a:ext cx="478813" cy="251376"/>
          </a:xfrm>
          <a:prstGeom prst="rect">
            <a:avLst/>
          </a:prstGeom>
        </p:spPr>
      </p:pic>
      <p:sp>
        <p:nvSpPr>
          <p:cNvPr id="42" name="N03-details-7"/>
          <p:cNvSpPr txBox="1"/>
          <p:nvPr/>
        </p:nvSpPr>
        <p:spPr>
          <a:xfrm>
            <a:off x="6126480" y="513352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knudeligninger er uafhængige i et net med n knuder.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5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Knudepunktsmetoden · to kilder og ét referencepunkt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55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pSp>
        <p:nvGrpSpPr>
          <p:cNvPr id="41" name="nodal-circuit"/>
          <p:cNvGrpSpPr/>
          <p:nvPr/>
        </p:nvGrpSpPr>
        <p:grpSpPr>
          <a:xfrm>
            <a:off x="502920" y="1051560"/>
            <a:ext cx="4846320" cy="4818888"/>
            <a:chOff x="502920" y="1051560"/>
            <a:chExt cx="4846320" cy="4818888"/>
          </a:xfrm>
        </p:grpSpPr>
        <p:cxnSp>
          <p:nvCxnSpPr>
            <p:cNvPr id="8" name="Connector 7"/>
            <p:cNvCxnSpPr/>
            <p:nvPr/>
          </p:nvCxnSpPr>
          <p:spPr>
            <a:xfrm>
              <a:off x="822960" y="1572768"/>
              <a:ext cx="3108960" cy="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822960" y="5349240"/>
              <a:ext cx="3108960" cy="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548640" y="1051560"/>
              <a:ext cx="160020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a: Va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48640" y="5504688"/>
              <a:ext cx="406908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400" b="1">
                  <a:solidFill>
                    <a:srgbClr val="075B70"/>
                  </a:solidFill>
                  <a:latin typeface="Calibri"/>
                </a:defRPr>
              </a:pPr>
              <a:r>
                <a:t>0: reference = 0 V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82296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143000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math-source-nodal-label-I1"/>
            <p:cNvSpPr txBox="1"/>
            <p:nvPr/>
          </p:nvSpPr>
          <p:spPr>
            <a:xfrm>
              <a:off x="1234440" y="1920240"/>
              <a:ext cx="594360" cy="25137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750" b="0">
                  <a:solidFill>
                    <a:srgbClr val="FFFFFF"/>
                  </a:solidFill>
                  <a:latin typeface="Calibri"/>
                </a:defRPr>
              </a:pPr>
              <a:r>
                <a:rPr>
                  <a:latin typeface="Cambria Math"/>
                </a:rPr>
                <a:t>I</a:t>
              </a:r>
              <a:r>
                <a:t>_1</a:t>
              </a:r>
            </a:p>
          </p:txBody>
        </p:sp>
        <p:pic>
          <p:nvPicPr>
            <p:cNvPr id="15" name="nodal-label-I1" descr="I_{1}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4440" y="1920240"/>
              <a:ext cx="194517" cy="251376"/>
            </a:xfrm>
            <a:prstGeom prst="rect">
              <a:avLst/>
            </a:prstGeom>
          </p:spPr>
        </p:pic>
        <p:sp>
          <p:nvSpPr>
            <p:cNvPr id="16" name="Rectangle 15"/>
            <p:cNvSpPr/>
            <p:nvPr/>
          </p:nvSpPr>
          <p:spPr>
            <a:xfrm>
              <a:off x="70408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5156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R1</a:t>
              </a:r>
              <a:br/>
              <a:r>
                <a:t>1 Ω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822960" y="3154680"/>
              <a:ext cx="0" cy="704088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822960" y="4498848"/>
              <a:ext cx="0" cy="85039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/>
            <p:nvPr/>
          </p:nvSpPr>
          <p:spPr>
            <a:xfrm>
              <a:off x="502920" y="3858768"/>
              <a:ext cx="640080" cy="64008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22376" y="3867912"/>
              <a:ext cx="256032" cy="6126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+</a:t>
              </a:r>
              <a:br/>
              <a:r>
                <a:t>−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188720" y="3913632"/>
              <a:ext cx="105156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E1</a:t>
              </a:r>
              <a:br/>
              <a:r>
                <a:t>27 V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237744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2697480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math-source-nodal-label-I2"/>
            <p:cNvSpPr txBox="1"/>
            <p:nvPr/>
          </p:nvSpPr>
          <p:spPr>
            <a:xfrm>
              <a:off x="2788920" y="1920240"/>
              <a:ext cx="594360" cy="25137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750" b="0">
                  <a:solidFill>
                    <a:srgbClr val="FFFFFF"/>
                  </a:solidFill>
                  <a:latin typeface="Calibri"/>
                </a:defRPr>
              </a:pPr>
              <a:r>
                <a:rPr>
                  <a:latin typeface="Cambria Math"/>
                </a:rPr>
                <a:t>I</a:t>
              </a:r>
              <a:r>
                <a:t>_2</a:t>
              </a:r>
            </a:p>
          </p:txBody>
        </p:sp>
        <p:pic>
          <p:nvPicPr>
            <p:cNvPr id="26" name="nodal-label-I2" descr="I_{2}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88920" y="1920240"/>
              <a:ext cx="206488" cy="251376"/>
            </a:xfrm>
            <a:prstGeom prst="rect">
              <a:avLst/>
            </a:prstGeom>
          </p:spPr>
        </p:pic>
        <p:sp>
          <p:nvSpPr>
            <p:cNvPr id="27" name="Rectangle 26"/>
            <p:cNvSpPr/>
            <p:nvPr/>
          </p:nvSpPr>
          <p:spPr>
            <a:xfrm>
              <a:off x="225856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60604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R2</a:t>
              </a:r>
              <a:br/>
              <a:r>
                <a:t>2 Ω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>
              <a:off x="2377440" y="3154680"/>
              <a:ext cx="0" cy="704088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2377440" y="4498848"/>
              <a:ext cx="0" cy="85039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/>
            <p:cNvSpPr/>
            <p:nvPr/>
          </p:nvSpPr>
          <p:spPr>
            <a:xfrm>
              <a:off x="2057400" y="3858768"/>
              <a:ext cx="640080" cy="64008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276856" y="3867912"/>
              <a:ext cx="256032" cy="6126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+</a:t>
              </a:r>
              <a:br/>
              <a:r>
                <a:t>−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743200" y="3913632"/>
              <a:ext cx="105156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E2</a:t>
              </a:r>
              <a:br/>
              <a:r>
                <a:t>24 V</a:t>
              </a:r>
            </a:p>
          </p:txBody>
        </p:sp>
        <p:cxnSp>
          <p:nvCxnSpPr>
            <p:cNvPr id="34" name="Connector 33"/>
            <p:cNvCxnSpPr/>
            <p:nvPr/>
          </p:nvCxnSpPr>
          <p:spPr>
            <a:xfrm>
              <a:off x="393192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>
              <a:off x="4251959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math-source-nodal-label-I3"/>
            <p:cNvSpPr txBox="1"/>
            <p:nvPr/>
          </p:nvSpPr>
          <p:spPr>
            <a:xfrm>
              <a:off x="4343400" y="1920240"/>
              <a:ext cx="594360" cy="25137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750" b="0">
                  <a:solidFill>
                    <a:srgbClr val="FFFFFF"/>
                  </a:solidFill>
                  <a:latin typeface="Calibri"/>
                </a:defRPr>
              </a:pPr>
              <a:r>
                <a:rPr>
                  <a:latin typeface="Cambria Math"/>
                </a:rPr>
                <a:t>I</a:t>
              </a:r>
              <a:r>
                <a:t>_3</a:t>
              </a:r>
            </a:p>
          </p:txBody>
        </p:sp>
        <p:pic>
          <p:nvPicPr>
            <p:cNvPr id="37" name="nodal-label-I3" descr="I_{3}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43400" y="1920240"/>
              <a:ext cx="200502" cy="251376"/>
            </a:xfrm>
            <a:prstGeom prst="rect">
              <a:avLst/>
            </a:prstGeom>
          </p:spPr>
        </p:pic>
        <p:sp>
          <p:nvSpPr>
            <p:cNvPr id="38" name="Rectangle 37"/>
            <p:cNvSpPr/>
            <p:nvPr/>
          </p:nvSpPr>
          <p:spPr>
            <a:xfrm>
              <a:off x="381304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16052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R3</a:t>
              </a:r>
              <a:br/>
              <a:r>
                <a:t>8 Ω</a:t>
              </a:r>
            </a:p>
          </p:txBody>
        </p:sp>
        <p:cxnSp>
          <p:nvCxnSpPr>
            <p:cNvPr id="40" name="Connector 39"/>
            <p:cNvCxnSpPr/>
            <p:nvPr/>
          </p:nvCxnSpPr>
          <p:spPr>
            <a:xfrm>
              <a:off x="3931920" y="3154680"/>
              <a:ext cx="0" cy="219456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nodal-model"/>
          <p:cNvSpPr txBox="1"/>
          <p:nvPr/>
        </p:nvSpPr>
        <p:spPr>
          <a:xfrm>
            <a:off x="5486400" y="1078992"/>
            <a:ext cx="478231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nederste knude som 0 V. Alle tre strømpile går ud af a. Skriv KCL med</a:t>
            </a:r>
            <a:br/>
            <a:r>
              <a:t>spændinger; kilders pluspoler er øverst.</a:t>
            </a:r>
          </a:p>
        </p:txBody>
      </p:sp>
      <p:sp>
        <p:nvSpPr>
          <p:cNvPr id="43" name="math-source-nodal-kcl"/>
          <p:cNvSpPr txBox="1"/>
          <p:nvPr/>
        </p:nvSpPr>
        <p:spPr>
          <a:xfrm>
            <a:off x="5486400" y="1591056"/>
            <a:ext cx="4782312" cy="5286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(V_a-27)/(1)+(V_a-24)/(2)+(V_a)/(8)=0</a:t>
            </a:r>
          </a:p>
        </p:txBody>
      </p:sp>
      <p:pic>
        <p:nvPicPr>
          <p:cNvPr id="44" name="nodal-kcl" descr="\frac{V_a-27}{1}+\frac{V_a-24}{2}+\frac{V_a}{8}=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591056"/>
            <a:ext cx="2783101" cy="528689"/>
          </a:xfrm>
          <a:prstGeom prst="rect">
            <a:avLst/>
          </a:prstGeom>
        </p:spPr>
      </p:pic>
      <p:sp>
        <p:nvSpPr>
          <p:cNvPr id="45" name="math-source-nodal-voltage"/>
          <p:cNvSpPr txBox="1"/>
          <p:nvPr/>
        </p:nvSpPr>
        <p:spPr>
          <a:xfrm>
            <a:off x="5486400" y="2266049"/>
            <a:ext cx="4782312" cy="10075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V_a=((27)/(1)+(24)/(2))/((1)/(1)+(1)/(2)+(1)/(8))=24 V</a:t>
            </a:r>
          </a:p>
        </p:txBody>
      </p:sp>
      <p:pic>
        <p:nvPicPr>
          <p:cNvPr id="46" name="nodal-voltage" descr="V_a=\dfrac{\dfrac{27}{1}+\dfrac{24}{2}}{\dfrac{1}{1}+\dfrac{1}{2}+\dfrac{1}{8}}=24\,\mathrm{V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2266049"/>
            <a:ext cx="2271037" cy="1007502"/>
          </a:xfrm>
          <a:prstGeom prst="rect">
            <a:avLst/>
          </a:prstGeom>
        </p:spPr>
      </p:pic>
      <p:sp>
        <p:nvSpPr>
          <p:cNvPr id="47" name="math-source-nodal-currents"/>
          <p:cNvSpPr txBox="1"/>
          <p:nvPr/>
        </p:nvSpPr>
        <p:spPr>
          <a:xfrm>
            <a:off x="5486400" y="3419856"/>
            <a:ext cx="4782312" cy="2793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_1=-3 A, </a:t>
            </a:r>
            <a:r>
              <a:rPr>
                <a:latin typeface="Cambria Math"/>
              </a:rPr>
              <a:t>I</a:t>
            </a:r>
            <a:r>
              <a:t>_2=0, </a:t>
            </a:r>
            <a:r>
              <a:rPr>
                <a:latin typeface="Cambria Math"/>
              </a:rPr>
              <a:t>I</a:t>
            </a:r>
            <a:r>
              <a:t>_3=3 A</a:t>
            </a:r>
          </a:p>
        </p:txBody>
      </p:sp>
      <p:pic>
        <p:nvPicPr>
          <p:cNvPr id="48" name="nodal-currents" descr="I_1=-3\,\mathrm{A},\quad I_2=0,\quad I_3=3\,\mathrm{A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3419856"/>
            <a:ext cx="2909454" cy="2793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486400" y="38454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50" name="math-source-nodal-check-0"/>
          <p:cNvSpPr txBox="1"/>
          <p:nvPr/>
        </p:nvSpPr>
        <p:spPr>
          <a:xfrm>
            <a:off x="6080760" y="3845467"/>
            <a:ext cx="4187951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(-3+0+3) A=0 A</a:t>
            </a:r>
          </a:p>
        </p:txBody>
      </p:sp>
      <p:pic>
        <p:nvPicPr>
          <p:cNvPr id="51" name="nodal-check-0" descr="(-3+0+3)\,\mathrm{A}=0\,\mathrm{A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3845467"/>
            <a:ext cx="1864378" cy="25137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486400" y="421571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53" name="nodal-check-1"/>
          <p:cNvSpPr txBox="1"/>
          <p:nvPr/>
        </p:nvSpPr>
        <p:spPr>
          <a:xfrm>
            <a:off x="6080760" y="4215716"/>
            <a:ext cx="41879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Den faktiske første grenstrøm løber opad.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0" y="453575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55" name="math-source-nodal-check-2"/>
          <p:cNvSpPr txBox="1"/>
          <p:nvPr/>
        </p:nvSpPr>
        <p:spPr>
          <a:xfrm>
            <a:off x="6080760" y="4535756"/>
            <a:ext cx="4187951" cy="3052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P_R_3=(3 A)^2·8 Ω=72 W</a:t>
            </a:r>
          </a:p>
        </p:txBody>
      </p:sp>
      <p:pic>
        <p:nvPicPr>
          <p:cNvPr id="56" name="nodal-check-2" descr="P_{R_3}=(3\,\mathrm{A})^2\cdot8\,\Omega=72\,\mathrm{W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60" y="4535756"/>
            <a:ext cx="2271369" cy="305243"/>
          </a:xfrm>
          <a:prstGeom prst="rect">
            <a:avLst/>
          </a:prstGeom>
        </p:spPr>
      </p:pic>
      <p:sp>
        <p:nvSpPr>
          <p:cNvPr id="57" name="math-source-nodal-check-3"/>
          <p:cNvSpPr txBox="1"/>
          <p:nvPr/>
        </p:nvSpPr>
        <p:spPr>
          <a:xfrm>
            <a:off x="6080760" y="4882147"/>
            <a:ext cx="4187951" cy="263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P_E_1=27 V·3 A=81 W</a:t>
            </a:r>
          </a:p>
        </p:txBody>
      </p:sp>
      <p:pic>
        <p:nvPicPr>
          <p:cNvPr id="58" name="nodal-check-3" descr="P_{E_1}=27\,\mathrm{V}\cdot3\,\mathrm{A}=81\,\mathrm{W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0760" y="4882147"/>
            <a:ext cx="2133710" cy="263347"/>
          </a:xfrm>
          <a:prstGeom prst="rect">
            <a:avLst/>
          </a:prstGeom>
        </p:spPr>
      </p:pic>
      <p:sp>
        <p:nvSpPr>
          <p:cNvPr id="59" name="math-source-nodal-check-4"/>
          <p:cNvSpPr txBox="1"/>
          <p:nvPr/>
        </p:nvSpPr>
        <p:spPr>
          <a:xfrm>
            <a:off x="6080760" y="5186643"/>
            <a:ext cx="4187951" cy="263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P_R_1=9 W</a:t>
            </a:r>
          </a:p>
        </p:txBody>
      </p:sp>
      <p:pic>
        <p:nvPicPr>
          <p:cNvPr id="60" name="nodal-check-4" descr="P_{R_1}=9\,\mathrm{W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760" y="5186643"/>
            <a:ext cx="939670" cy="263347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48640" y="6126480"/>
            <a:ext cx="9646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pile går ud af a. Minus betyder strøm mod pilen. + og − angiver kildernes faste polaritet.</a:t>
            </a:r>
          </a:p>
        </p:txBody>
      </p:sp>
      <p:sp>
        <p:nvSpPr>
          <p:cNvPr id="62" name="nav-back-index" descr="Til indeks">
            <a:hlinkClick action="ppaction://hlinksldjump" r:id="rId13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63" name="nav-back-start" descr="Til start">
            <a:hlinkClick action="ppaction://hlinksldjump" r:id="rId14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56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1930"/>
                <a:gridCol w="3424428"/>
                <a:gridCol w="1663293"/>
                <a:gridCol w="342442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, 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Strøm; i(t) ved tidsvariation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Konventionel retning; elektroner modsat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Q, Ne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Ladning; antal elementarladninger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C; 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Ne er et antal, ikke en ladningsmængde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U, Ukl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Potentialforskel; klemspænding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+ og − angiver refereret polaritet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E, e, 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Kilde-EMK; induceret og selvinduktions-EMK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 i originalen kan også betyde felt; her Ef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Ef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feltstyrke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V/m = N/C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originalens feltkapitel bruges 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R, ri, Rs, Rp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Resistans, indre, serie, parallel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Ω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Afhænger af komponent og 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ρ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resistivitet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Ω·m eller Ω·mm²/m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materialets massefylde; samme græske bogstav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Konduktans for komponent/leder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S = 1/Ω; ikke ledertværsnittet 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57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2"/>
          <p:cNvGraphicFramePr>
            <a:graphicFrameLocks noGrp="1"/>
          </p:cNvGraphicFramePr>
          <p:nvPr/>
        </p:nvGraphicFramePr>
        <p:xfrm>
          <a:off x="411480" y="1042415"/>
          <a:ext cx="9784080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173736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Specifik ledningsevne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S/m eller m/(Ω·mm²)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γ = 1/ρ; også kaldet σ i andre bøger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S, A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Ledertværsnit; felt-/kerneareal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mm² eller m²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 fra lederkapitlet; A fra magnetkapitlet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l, s, h, a, 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Længde, strækning, højde, afstand, radius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 i magnetkredsen er feltvejens middellængde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Δt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Tid, tidsinterval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 eller 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 i tidsenhed er time, ikke løftehøjde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t, ΔT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Temperatur, reference, ændring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°C; K for ændring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Temperatur t er ikke tidsvariablen 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αt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Resistansens temperaturkoefficient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K⁻¹ = °C⁻¹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Hører til angivet referencetemperatur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P, Pind, Pud, Ptab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Effekt, tilført, afgivet, tab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 er energi pr. tid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Arbejde/energi, som i kilderne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J, Wh, kWh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Størrelsen W må ikke forveksles med enheden W (watt)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58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3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699"/>
                <a:gridCol w="3292719"/>
                <a:gridCol w="2351942"/>
                <a:gridCol w="3292719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η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Virkningsgrad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eller %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0,85 = 85 %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m, 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Masse; tyngdeacceleration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kg; 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Undervisningens g = 9,82 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F, 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Mekanisk kraft; moment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N; N·m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N·m som moment og J som arbejde holdes adskilt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ω, θ, 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Vinkelhastighed, vinkel, omdrejningsfrekvens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rad/s; rad; s⁻¹ eller rpm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aldrig rad/s; rpm kræver faktor 1/60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Φ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flux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magnetisk feltstyrke 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fluxtæthed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 = Wb/m²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 som enhed er tesla, ikke 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feltstyrke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 som enhedssymbol er henry, ikke feltstyrken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μ, μ0, μr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Absolut, vakuum, relativ permeabilitet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H/m; H/m; 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μr er ikke altid konstant for 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59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4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668"/>
                <a:gridCol w="3530338"/>
                <a:gridCol w="1714735"/>
                <a:gridCol w="35303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Magnetomotorisk kraft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 (amperevinding)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mekanisk kraft i newton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Reluktans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A/Wb = H⁻¹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resistans i ohm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N, 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Antal vindinger; induktans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1; 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også SI-enheden newton i kraftformler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Hastighed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m/s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Ved bevægelsesinduktion skal retningen kendes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ε, ε0, εr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Absolut, vakuum, relativ permittivitet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F/m; F/m; 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den magnetiske permeabilitet μ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Ψ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feltflux i kildens notation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V·m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et fysisk antal linjer; ikke Φ [Wb]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Coulombkonstant i mediet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N·m²/C²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 = 1/(4πε); ikke kilo-præfikset 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Va, Vb,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Knudespændinger og grenstrøm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V; A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Relativt til samme reference;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k følger valgt pil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Præfikser og omregninger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60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units-table-1"/>
          <p:cNvGraphicFramePr>
            <a:graphicFrameLocks noGrp="1"/>
          </p:cNvGraphicFramePr>
          <p:nvPr/>
        </p:nvGraphicFramePr>
        <p:xfrm>
          <a:off x="411480" y="1042415"/>
          <a:ext cx="9784080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0622"/>
                <a:gridCol w="2812923"/>
                <a:gridCol w="4280535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 / 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Omregning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Husk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G, M, 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10¹², 10⁹, 10⁶, 10³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Store præfikser; k er lille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m, µ, n, p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10⁻³, 10⁻⁶, 10⁻⁹, 10⁻¹²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milli, mikro, nano, pico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mA → A; mV → 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Omregn før kvadrering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mm → m; cm → 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1000; ÷ 100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Længde omregnes én gang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mm² → m²; cm² → m²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10⁻⁶; × 10⁻⁴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Areal: længdefaktoren kvadreres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ρ: Ω·mm²/m → Ω·m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10⁻⁶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Cu: 0,0175 → 1,75·10⁻⁸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γ: m/(Ω·mm²) → S/m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10⁶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Konduktivitet omregnes modsat resistivitet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ms → s; min → s; h → 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1000; × 60; × 3600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Sekunder i SI-formler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Præfikser og omregninger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61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units-table-2"/>
          <p:cNvGraphicFramePr>
            <a:graphicFrameLocks noGrp="1"/>
          </p:cNvGraphicFramePr>
          <p:nvPr/>
        </p:nvGraphicFramePr>
        <p:xfrm>
          <a:off x="411480" y="1042415"/>
          <a:ext cx="9784078" cy="5513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8536"/>
                <a:gridCol w="3517871"/>
                <a:gridCol w="3847671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 / 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Omregning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Husk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Ah; 1 Wh; 1 kWh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3600 C; 3600 J; 3,6 MJ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Ah er ladning; Wh og kWh er energi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kW; 1 kJ; 1 mT; 1 mH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1000 W; 1000 J; 0,001 T; 0,001 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W, J, T og H i SI-beregninger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rpm → s⁻¹ → rad/s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n/60 → 2π·n/60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Rotationshastighed; ikke dokumentation for AC-pensum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grader → radianer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θrad = θ°·π/180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45° = π/4; 360° = 2π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ΔT [°C] → ΔT [K]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talværdi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 temperatur: TK = T°C + 273,15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% → forholdstal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85 % = 0,85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V; 1 W; 1 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J/C; 1 J/s; 1 Wb/m²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Størrelse og enhedssymbol er forskellige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Konstanter og undervisningsværdier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62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nstants-table-1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607"/>
                <a:gridCol w="1680094"/>
                <a:gridCol w="790632"/>
                <a:gridCol w="3459018"/>
                <a:gridCol w="2470727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 / værdi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Gyldighed / type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1,602176634·10⁻¹⁹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Fysisk konstant; eksakt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BIPM; ampere-definition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4π·10⁻⁷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H/m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Undervisningsafrunding; ikke længere eksakt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EL01:11; NIST CODATA 2022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ε0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8,85·10⁻¹²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EL03:7; NIST CODATA 2022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9,82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Undervisningsmæssig tilnærmelse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EL13:14,18; facit 17676 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μr, luft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Materialetilnærmelse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EL06:10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μr, 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Kun kildens regneeksempel; ikke fast jerntal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EL06:11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stants-note-1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CODATA 2022: μ0 = 1,25663706127(20)·10⁻⁶ H/m; ε0 = 8,8541878188(14)·10⁻¹² F/m. Værdierne er målebestemte, ikke eksakte.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Konstanter og undervisningsværdier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63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nstants-table-2"/>
          <p:cNvGraphicFramePr>
            <a:graphicFrameLocks noGrp="1"/>
          </p:cNvGraphicFramePr>
          <p:nvPr/>
        </p:nvGraphicFramePr>
        <p:xfrm>
          <a:off x="411480" y="1042415"/>
          <a:ext cx="9784078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259"/>
                <a:gridCol w="1057738"/>
                <a:gridCol w="1057738"/>
                <a:gridCol w="4627605"/>
                <a:gridCol w="10577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 / værdi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Gyldighed / type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HK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736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 af metrisk hestekraft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EL13:7-8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kcal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4187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omregning; definition/afrunding varierer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EL13:8-9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naturgas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38,9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MJ/m³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brændselsmodel; volumens reference er ikke oplyst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fuelolie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40,6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MJ/kg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tilnærmelse; kvalitet afhænger af brændsel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fyringsolie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36,2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tilnærmelse; volumen afhænger af temperatur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constants-note-2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CODATA 2022: μ0 = 1,25663706127(20)·10⁻⁶ H/m; ε0 = 8,8541878188(14)·10⁻¹² F/m. Værdierne er målebestemte, ikke eksakte.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Materialeværdier ved 20 °C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64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material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316"/>
                <a:gridCol w="1764342"/>
                <a:gridCol w="1924737"/>
                <a:gridCol w="3528684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Materiale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 [Ω·mm²/m]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α20 [K⁻¹]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 / 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Aluminium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0,029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3,7·10⁻³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Bly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0,210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4,1·10⁻³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Guld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3,4·10⁻³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0,140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6,4·10⁻³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Kanthal A1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1,45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angivet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Kobber (ledning)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0,0175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Konstantan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0,488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5·10⁻⁶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Kromnikkel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1,05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0,13·10⁻³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material-note-1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Kildens tabelværdier, ikke universelle naturkonstanter. Renhed/legering og temperatur ændrer værdierne. Med ρ i Ω·m: gang tabellens ρ med 10⁻⁶.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Materialeværdier ved 20 °C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65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material-table-2"/>
          <p:cNvGraphicFramePr>
            <a:graphicFrameLocks noGrp="1"/>
          </p:cNvGraphicFramePr>
          <p:nvPr/>
        </p:nvGraphicFramePr>
        <p:xfrm>
          <a:off x="411480" y="1042415"/>
          <a:ext cx="9784077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4757"/>
                <a:gridCol w="1888155"/>
                <a:gridCol w="1544854"/>
                <a:gridCol w="3776311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Materiale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 [Ω·mm²/m]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α20 [K⁻¹]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 / 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Kviksølv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0,960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0,9·10⁻³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Manganin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0,420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30·10⁻⁶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Platin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0,090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Sølv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0,0158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Tin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0,200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4,6·10⁻³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Wolfram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0,055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Kul (glødetråd)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−0,4·10⁻³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Zink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0,0625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3,9·10⁻³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material-note-2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Kildens tabelværdier, ikke universelle naturkonstanter. Renhed/legering og temperatur ændrer værdierne. Med ρ i Ω·m: gang tabellens ρ med 10⁻⁶.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Kilder og dækningskontrol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66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ource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949"/>
                <a:gridCol w="5188527"/>
                <a:gridCol w="1185949"/>
                <a:gridCol w="2223654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præsentation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Slides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Opslagsfamilier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1 -  4.1 + 4.2 Det magnetiske felt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1 - STA Definition af elektriske basisenheder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, R,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Elektrisk felt Coulombs lov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, 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Jævnstrømskredsløb og kredsløbsberegninger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, R,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2 - 4.3  for den magnetiske kreds formler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2 - 4.3 Den magnetiske Kreds+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STA Specifik resistans og ledningsevne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G, 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Kredsløbsberegninger (Kirchoff) - Lånt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Kilder og dækningskontrol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67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ource-table-2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248"/>
                <a:gridCol w="5111086"/>
                <a:gridCol w="1168248"/>
                <a:gridCol w="2336496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præsentation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Slides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Opslagsfamilier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Kredsløbsberegninger med kirchhoff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, N, U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3 - STA resistansers temperaturafhængighed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G, 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4.4 magnetisering af jern og permanente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4.7 Induktion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B, 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4 - for elektrisk energi og effekt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, M, P, R, U, 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 Faraday lenz hvirvelstrøm selvinduktion induktans bifilar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B, 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 Kraftpåvirkning ledere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 Leder i magnetfelt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Faglige præciseringer i forhold til kilderne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68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rrections-table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289"/>
                <a:gridCol w="3891395"/>
                <a:gridCol w="3891395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 / tvetydighed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Præcisering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EL02:6; EL15:4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Historisk ampere via kraft mellem ledere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SI baseres nu på eksakt elementarladning e; kraftformlen bevares som fysik.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EL01:11; EL06:9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μ0 = 4π·10⁻⁷ som eksakt naturkonstant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Bevares som afrunding; efter SI-revisionen er μ0 målebestemt.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EL02:9-10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 lov gælder kun DC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 = RI gælder også øjebliksværdier for en ideal ohmsk R; ikke hele vilkårlige AC-belastninger.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EL01:10; EL03:9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Flux som felt / antal feltlinjer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Φ [Wb], B [T], H [A/m] og Ψ [V·m] holdes adskilt. Feltlinjer er en tegne-model.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EL06:10,13; EL11:3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Ledende materialer og Rm-enhed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Ferromagnetisme er ikke elektrisk ledningsevne. μ er H/m; Rm er A/Wb = H⁻¹.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EL13:10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har [rad/s]; antal omdrejninger/frekvens blandes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s⁻¹ eller rpm; ω er rad/s. Rotationsarbejde bruger vinkel eller et antal omdrejninger.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EL13:17, opg. 8b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Moment fra elektrisk motor-effekt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Der mangler η eller Pmek. En ideal antagelse η = 1 skal angives; ikke bruges skjult.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EL10:3,5,9-10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α og referencetemperatur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αt følger referencen t. α20 kan ikke ubetinget bruges med en anden reference.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EL08:9-14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Alle knudepunkter som uafhængige ligninger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Vælg reference. Brug n−1 uafhængige KCL-ligninger; superknude ved relevant spændingskilde.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Afgrænsning · vælg ikke formel ud fra enheder alene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69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cope-table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02"/>
                <a:gridCol w="4028738"/>
                <a:gridCol w="40287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 / opslag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Fundet / 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Afgrænsning / nødvendige oplysninger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Dokumenteret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DC, ledermodstand, temperatur, energi/moment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Elektriske og magnetiske felter, induktion, selvinduktion og magnetiske kræfter.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Beregningsvej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Knudepunktsmetoden er primær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KCL med reference/pile → ligninger → grenstrømme. KVL og effektbalance er kontroller.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AC-omtale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Induktans nævnes som grundlag for AC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Ingen systematisk dokumentation af sinus, RMS, fase eller effektfaktor i de fundne slides.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AC: har P og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Oplysningerne er utilstrækkelige uden model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Afklar aktiv/tilsyneladende effekt, RMS/kurveform og effektfaktor. DC-opslag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= P/U vælges ikke alene på enheder.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Ikke fundet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Kapacitans, reaktans, impedans, fasorer, RLC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Ingen formeldækning påstås for disse emner; kræver relevante undervisningsfiler.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Ikke fundet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Resonans, transformerforhold, trefase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Transformerprincippet omtales, men beregningsformler/pensum er ikke dokumenteret.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AC-skelnen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Spidsværdi/RMS; fase/linje; effektfaktor/cos φ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Kan ikke sidestilles uden kurveform, topologi og betingelser. Disse emner er ikke udfyldt generisk.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Kilder mangler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Henviste bøger, Word-øvelser og Teams-opgaver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Deres indhold er ikke verificeret. Cheatsheetet dækker de faktiske lokale kilder, ikke hele BM4-pensum.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Redigerbarhed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Tekst, tabeller, strøm-/kredsløbsfigur er native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Brøkformler er højopløste billeder fra LaTeX. Formeltekst og data bevares i database og slideplan.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PowerPoint-app basisskabelon</dc:title>
  <dc:subject>Fast 16:9-skabelon til lokal undervisningspræsentation</dc:subject>
  <dc:creator>PowerPoint App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