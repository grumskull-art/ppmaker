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2" r:id="rId4"/>
    <p:sldMasterId id="2147483648" r:id="rId5"/>
  </p:sldMasterIdLst>
  <p:notesMasterIdLst>
    <p:notesMasterId r:id="rId21"/>
  </p:notesMasterIdLst>
  <p:sldIdLst>
    <p:sldId id="278" r:id="rId6"/>
    <p:sldId id="299" r:id="rId7"/>
    <p:sldId id="280" r:id="rId8"/>
    <p:sldId id="279" r:id="rId9"/>
    <p:sldId id="281" r:id="rId10"/>
    <p:sldId id="282" r:id="rId11"/>
    <p:sldId id="283" r:id="rId12"/>
    <p:sldId id="287" r:id="rId13"/>
    <p:sldId id="288" r:id="rId14"/>
    <p:sldId id="286" r:id="rId15"/>
    <p:sldId id="290" r:id="rId16"/>
    <p:sldId id="289" r:id="rId17"/>
    <p:sldId id="292" r:id="rId18"/>
    <p:sldId id="296" r:id="rId19"/>
    <p:sldId id="298" r:id="rId20"/>
  </p:sldIdLst>
  <p:sldSz cx="12192000" cy="6858000"/>
  <p:notesSz cx="9874250" cy="6724650"/>
  <p:embeddedFontLst>
    <p:embeddedFont>
      <p:font typeface="Cambria Math" panose="02040503050406030204" pitchFamily="18" charset="0"/>
      <p:regular r:id="rId22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72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98" autoAdjust="0"/>
    <p:restoredTop sz="94660"/>
  </p:normalViewPr>
  <p:slideViewPr>
    <p:cSldViewPr snapToGrid="0">
      <p:cViewPr varScale="1">
        <p:scale>
          <a:sx n="95" d="100"/>
          <a:sy n="95" d="100"/>
        </p:scale>
        <p:origin x="52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AA89E-B700-433C-B68D-7EF2BF1C2549}" type="datetimeFigureOut">
              <a:rPr lang="da-DK" smtClean="0"/>
              <a:t>28-09-2026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1375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87425" y="3236913"/>
            <a:ext cx="7899400" cy="2647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38810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592763" y="638810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89999-87B2-4258-A9D1-5E39FDAD60B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5607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12192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12192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10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89" y="5739932"/>
            <a:ext cx="189221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5499100"/>
            <a:ext cx="8862646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335486" y="6129338"/>
            <a:ext cx="6979138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202" y="2828921"/>
            <a:ext cx="115216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335204" y="1388729"/>
            <a:ext cx="11522364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4433" y="3789051"/>
            <a:ext cx="11523134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C3BA5FF-0C59-45E9-93F0-E2666D6B226B}" type="datetime1">
              <a:rPr lang="da-DK" smtClean="0"/>
              <a:t>28-09-2026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41" y="258166"/>
            <a:ext cx="189221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0" y="6312002"/>
            <a:ext cx="142464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987C7557-C275-44F4-82F6-61AFD763E939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2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E91FAC77-D8CE-4E84-A108-3D0C33992797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1D2AD4B-DD4D-44D4-96F0-6E71AB102DA4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E7A8ABF1-89A2-4C12-8108-7F34942B8B0A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441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>
          <a:xfrm>
            <a:off x="0" y="2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>
              <a:solidFill>
                <a:schemeClr val="bg1"/>
              </a:solidFill>
            </a:endParaRPr>
          </a:p>
        </p:txBody>
      </p:sp>
      <p:sp>
        <p:nvSpPr>
          <p:cNvPr id="6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1" y="1863145"/>
            <a:ext cx="10959922" cy="4370231"/>
          </a:xfrm>
        </p:spPr>
        <p:txBody>
          <a:bodyPr>
            <a:noAutofit/>
          </a:bodyPr>
          <a:lstStyle>
            <a:lvl1pPr marL="0" indent="0">
              <a:buNone/>
              <a:defRPr sz="1625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971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D49ACB-3184-4C4C-A861-D273BA1504AC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sp>
        <p:nvSpPr>
          <p:cNvPr id="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‹#›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8"/>
            <a:ext cx="1581854" cy="78958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3" cy="575212"/>
          </a:xfrm>
        </p:spPr>
        <p:txBody>
          <a:bodyPr anchor="b">
            <a:noAutofit/>
          </a:bodyPr>
          <a:lstStyle>
            <a:lvl1pPr>
              <a:defRPr sz="2763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2678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29" y="127383"/>
            <a:ext cx="3979570" cy="6602674"/>
          </a:xfrm>
          <a:prstGeom prst="rect">
            <a:avLst/>
          </a:prstGeom>
        </p:spPr>
      </p:pic>
      <p:sp>
        <p:nvSpPr>
          <p:cNvPr id="4" name="Rektangel 3"/>
          <p:cNvSpPr/>
          <p:nvPr userDrawn="1"/>
        </p:nvSpPr>
        <p:spPr>
          <a:xfrm>
            <a:off x="0" y="2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>
              <a:solidFill>
                <a:schemeClr val="bg1"/>
              </a:solidFill>
            </a:endParaRPr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971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DB0464-1C93-4768-A6CE-F19A241FAE15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sp>
        <p:nvSpPr>
          <p:cNvPr id="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‹#›</a:t>
            </a:fld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8"/>
            <a:ext cx="1581854" cy="789589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3" cy="575212"/>
          </a:xfrm>
        </p:spPr>
        <p:txBody>
          <a:bodyPr anchor="b">
            <a:noAutofit/>
          </a:bodyPr>
          <a:lstStyle>
            <a:lvl1pPr>
              <a:defRPr sz="2763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1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55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106" y="127383"/>
            <a:ext cx="3978217" cy="6602674"/>
          </a:xfrm>
          <a:prstGeom prst="rect">
            <a:avLst/>
          </a:prstGeom>
        </p:spPr>
      </p:pic>
      <p:sp>
        <p:nvSpPr>
          <p:cNvPr id="19" name="Rektangel 18"/>
          <p:cNvSpPr/>
          <p:nvPr userDrawn="1"/>
        </p:nvSpPr>
        <p:spPr>
          <a:xfrm>
            <a:off x="0" y="2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>
              <a:solidFill>
                <a:schemeClr val="bg1"/>
              </a:solidFill>
            </a:endParaRPr>
          </a:p>
        </p:txBody>
      </p:sp>
      <p:sp>
        <p:nvSpPr>
          <p:cNvPr id="20" name="Rektangel 1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>
              <a:solidFill>
                <a:schemeClr val="bg1"/>
              </a:solidFill>
            </a:endParaRPr>
          </a:p>
        </p:txBody>
      </p:sp>
      <p:sp>
        <p:nvSpPr>
          <p:cNvPr id="21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971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2977AB-4CEF-414C-9D60-540DE82466D0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2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sp>
        <p:nvSpPr>
          <p:cNvPr id="2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‹#›</a:t>
            </a:fld>
            <a:endParaRPr lang="da-DK" dirty="0"/>
          </a:p>
        </p:txBody>
      </p:sp>
      <p:pic>
        <p:nvPicPr>
          <p:cNvPr id="24" name="Billed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8"/>
            <a:ext cx="1581854" cy="789589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3" cy="575212"/>
          </a:xfrm>
        </p:spPr>
        <p:txBody>
          <a:bodyPr anchor="b">
            <a:noAutofit/>
          </a:bodyPr>
          <a:lstStyle>
            <a:lvl1pPr>
              <a:defRPr sz="2763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26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2189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575266" y="275167"/>
            <a:ext cx="11041472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456467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B705DC3-0620-4870-A06B-FEF2E13761E3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© Peter Novrup Kristensen</a:t>
            </a:r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8616339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575266" y="1600203"/>
            <a:ext cx="11041472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titel 1"/>
          <p:cNvSpPr>
            <a:spLocks noGrp="1"/>
          </p:cNvSpPr>
          <p:nvPr>
            <p:ph type="title"/>
          </p:nvPr>
        </p:nvSpPr>
        <p:spPr>
          <a:xfrm>
            <a:off x="459347" y="1064657"/>
            <a:ext cx="10894454" cy="823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12" name="Pladsholder til tekst 2"/>
          <p:cNvSpPr>
            <a:spLocks noGrp="1"/>
          </p:cNvSpPr>
          <p:nvPr>
            <p:ph type="body" idx="1"/>
          </p:nvPr>
        </p:nvSpPr>
        <p:spPr>
          <a:xfrm>
            <a:off x="510862" y="2369713"/>
            <a:ext cx="10842938" cy="380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88549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1" r:id="rId2"/>
    <p:sldLayoutId id="2147483652" r:id="rId3"/>
    <p:sldLayoutId id="214748366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3b7mjukhTyQ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_S-kbHdduB4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51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05C0B42D-11F2-55AF-5A72-FEDCC46B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B0464-1C93-4768-A6CE-F19A241FAE15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993E5B2-EAB3-A949-126B-60789B510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565875A-D38B-3129-A3E6-430FD8539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84BD44E-E5CD-CEB9-1A4C-10990DF1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CFFE90C7-FBD2-E413-5277-D7767CE68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4.2 + 4.3 + 4.4 + 4.6 + 4.7 + 4.8 </a:t>
            </a:r>
            <a:r>
              <a:rPr lang="da-DK"/>
              <a:t>+ 4.9 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465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B38A1B8-0DC6-B742-A18A-A1A2050D0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Kondensator </a:t>
            </a:r>
            <a:r>
              <a:rPr lang="da-DK" dirty="0"/>
              <a:t>typer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1016F9A8-183D-8C68-D467-3069DFBEF3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12498"/>
          <a:stretch/>
        </p:blipFill>
        <p:spPr>
          <a:xfrm>
            <a:off x="1638300" y="1966485"/>
            <a:ext cx="6250546" cy="3650697"/>
          </a:xfrm>
          <a:prstGeom prst="rect">
            <a:avLst/>
          </a:prstGeom>
          <a:noFill/>
        </p:spPr>
      </p:pic>
      <p:sp>
        <p:nvSpPr>
          <p:cNvPr id="9" name="Pladsholder til dato 8">
            <a:extLst>
              <a:ext uri="{FF2B5EF4-FFF2-40B4-BE49-F238E27FC236}">
                <a16:creationId xmlns:a16="http://schemas.microsoft.com/office/drawing/2014/main" id="{180CD8E8-C9C6-5751-4821-996E43F5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F8A4-794E-45B6-A623-C57F95114233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8DE503C-23DD-69A9-666C-686C43D4F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1519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BC04FD54-8490-419B-5E25-EDB95A06A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303DFF6-F32D-4176-ADF8-039909B6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5E323-D847-44F4-B7D7-950177688A7F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FA13512-8904-2A81-ABB3-EC3150939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6C54B96-46C2-EB2F-8815-EEB2DD99B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Kondensator </a:t>
            </a:r>
            <a:r>
              <a:rPr lang="da-DK" dirty="0"/>
              <a:t>symboler</a:t>
            </a:r>
          </a:p>
        </p:txBody>
      </p:sp>
      <p:pic>
        <p:nvPicPr>
          <p:cNvPr id="1026" name="Picture 2" descr="Capacitor types and performance | Farnell Danmark">
            <a:extLst>
              <a:ext uri="{FF2B5EF4-FFF2-40B4-BE49-F238E27FC236}">
                <a16:creationId xmlns:a16="http://schemas.microsoft.com/office/drawing/2014/main" id="{4D59FAA7-C6B1-3F8D-BE2E-874A1C4525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" t="2043" r="3289" b="8042"/>
          <a:stretch/>
        </p:blipFill>
        <p:spPr bwMode="auto">
          <a:xfrm>
            <a:off x="1781578" y="2112735"/>
            <a:ext cx="5923191" cy="3217536"/>
          </a:xfrm>
          <a:prstGeom prst="rect">
            <a:avLst/>
          </a:prstGeom>
          <a:solidFill>
            <a:srgbClr val="FFFFFF"/>
          </a:solidFill>
        </p:spPr>
      </p:pic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CE428980-E5AC-7569-215F-A497EEF9D862}"/>
              </a:ext>
            </a:extLst>
          </p:cNvPr>
          <p:cNvCxnSpPr>
            <a:cxnSpLocks/>
          </p:cNvCxnSpPr>
          <p:nvPr/>
        </p:nvCxnSpPr>
        <p:spPr>
          <a:xfrm flipV="1">
            <a:off x="4048478" y="2258987"/>
            <a:ext cx="804384" cy="7312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78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BEDDBAC4-FAA5-47BC-87BA-487AE2C40415}"/>
              </a:ext>
            </a:extLst>
          </p:cNvPr>
          <p:cNvCxnSpPr>
            <a:cxnSpLocks/>
          </p:cNvCxnSpPr>
          <p:nvPr/>
        </p:nvCxnSpPr>
        <p:spPr>
          <a:xfrm>
            <a:off x="1775259" y="3177757"/>
            <a:ext cx="108817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Kondensator i et </a:t>
            </a:r>
            <a:r>
              <a:rPr lang="da-DK" dirty="0"/>
              <a:t>kredsløb</a:t>
            </a:r>
          </a:p>
        </p:txBody>
      </p:sp>
      <p:sp>
        <p:nvSpPr>
          <p:cNvPr id="3" name="Rutediagram: Data 2">
            <a:extLst>
              <a:ext uri="{FF2B5EF4-FFF2-40B4-BE49-F238E27FC236}">
                <a16:creationId xmlns:a16="http://schemas.microsoft.com/office/drawing/2014/main" id="{E382E80C-1439-0F55-EE5D-2FE67EF6DDBE}"/>
              </a:ext>
            </a:extLst>
          </p:cNvPr>
          <p:cNvSpPr/>
          <p:nvPr/>
        </p:nvSpPr>
        <p:spPr>
          <a:xfrm rot="20963003">
            <a:off x="2445254" y="2617967"/>
            <a:ext cx="1101640" cy="1119581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/>
          </a:p>
        </p:txBody>
      </p:sp>
      <p:sp>
        <p:nvSpPr>
          <p:cNvPr id="27" name="Rutediagram: Data 26">
            <a:extLst>
              <a:ext uri="{FF2B5EF4-FFF2-40B4-BE49-F238E27FC236}">
                <a16:creationId xmlns:a16="http://schemas.microsoft.com/office/drawing/2014/main" id="{58B079BA-7982-F46D-80A2-041DA4E16B56}"/>
              </a:ext>
            </a:extLst>
          </p:cNvPr>
          <p:cNvSpPr/>
          <p:nvPr/>
        </p:nvSpPr>
        <p:spPr>
          <a:xfrm rot="20963003">
            <a:off x="2965850" y="2623022"/>
            <a:ext cx="1101640" cy="1119581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/>
          </a:p>
        </p:txBody>
      </p: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EEEFEFD6-DE4C-4956-5EAA-6185BC7EA690}"/>
              </a:ext>
            </a:extLst>
          </p:cNvPr>
          <p:cNvCxnSpPr>
            <a:cxnSpLocks/>
          </p:cNvCxnSpPr>
          <p:nvPr/>
        </p:nvCxnSpPr>
        <p:spPr>
          <a:xfrm>
            <a:off x="3511527" y="3177757"/>
            <a:ext cx="11800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4653BF4E-CBA9-3159-E08B-91C221F2E862}"/>
              </a:ext>
            </a:extLst>
          </p:cNvPr>
          <p:cNvCxnSpPr/>
          <p:nvPr/>
        </p:nvCxnSpPr>
        <p:spPr>
          <a:xfrm>
            <a:off x="1775258" y="3168361"/>
            <a:ext cx="0" cy="24195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2D483509-5F7E-E7D4-BE94-145FFAF1D261}"/>
              </a:ext>
            </a:extLst>
          </p:cNvPr>
          <p:cNvCxnSpPr>
            <a:cxnSpLocks/>
          </p:cNvCxnSpPr>
          <p:nvPr/>
        </p:nvCxnSpPr>
        <p:spPr>
          <a:xfrm>
            <a:off x="4691575" y="3177757"/>
            <a:ext cx="0" cy="24101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ge forbindelse 38">
            <a:extLst>
              <a:ext uri="{FF2B5EF4-FFF2-40B4-BE49-F238E27FC236}">
                <a16:creationId xmlns:a16="http://schemas.microsoft.com/office/drawing/2014/main" id="{792C998A-1CFF-4139-F1E4-7FB383AD64B0}"/>
              </a:ext>
            </a:extLst>
          </p:cNvPr>
          <p:cNvCxnSpPr>
            <a:cxnSpLocks/>
          </p:cNvCxnSpPr>
          <p:nvPr/>
        </p:nvCxnSpPr>
        <p:spPr>
          <a:xfrm>
            <a:off x="2560746" y="5587955"/>
            <a:ext cx="603902" cy="156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ge forbindelse 40">
            <a:extLst>
              <a:ext uri="{FF2B5EF4-FFF2-40B4-BE49-F238E27FC236}">
                <a16:creationId xmlns:a16="http://schemas.microsoft.com/office/drawing/2014/main" id="{8EF5C18A-49F5-3D2C-83AD-5CF18666F98C}"/>
              </a:ext>
            </a:extLst>
          </p:cNvPr>
          <p:cNvCxnSpPr>
            <a:cxnSpLocks/>
          </p:cNvCxnSpPr>
          <p:nvPr/>
        </p:nvCxnSpPr>
        <p:spPr>
          <a:xfrm flipH="1">
            <a:off x="3313085" y="5587955"/>
            <a:ext cx="1378491" cy="15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ge forbindelse 43">
            <a:extLst>
              <a:ext uri="{FF2B5EF4-FFF2-40B4-BE49-F238E27FC236}">
                <a16:creationId xmlns:a16="http://schemas.microsoft.com/office/drawing/2014/main" id="{9B97D6DB-EECA-0B58-4AE2-09B9D528E48E}"/>
              </a:ext>
            </a:extLst>
          </p:cNvPr>
          <p:cNvCxnSpPr>
            <a:cxnSpLocks/>
          </p:cNvCxnSpPr>
          <p:nvPr/>
        </p:nvCxnSpPr>
        <p:spPr>
          <a:xfrm>
            <a:off x="3168268" y="5362658"/>
            <a:ext cx="0" cy="4387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Lige forbindelse 51">
            <a:extLst>
              <a:ext uri="{FF2B5EF4-FFF2-40B4-BE49-F238E27FC236}">
                <a16:creationId xmlns:a16="http://schemas.microsoft.com/office/drawing/2014/main" id="{E32449BC-28AB-4015-622F-319E19C54DDF}"/>
              </a:ext>
            </a:extLst>
          </p:cNvPr>
          <p:cNvCxnSpPr/>
          <p:nvPr/>
        </p:nvCxnSpPr>
        <p:spPr>
          <a:xfrm>
            <a:off x="3313084" y="5478267"/>
            <a:ext cx="0" cy="2193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kstfelt 52">
            <a:extLst>
              <a:ext uri="{FF2B5EF4-FFF2-40B4-BE49-F238E27FC236}">
                <a16:creationId xmlns:a16="http://schemas.microsoft.com/office/drawing/2014/main" id="{DB3644F6-A4E4-8FDB-4739-1C3EB3A24803}"/>
              </a:ext>
            </a:extLst>
          </p:cNvPr>
          <p:cNvSpPr txBox="1"/>
          <p:nvPr/>
        </p:nvSpPr>
        <p:spPr>
          <a:xfrm>
            <a:off x="2924452" y="5554195"/>
            <a:ext cx="24381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+</a:t>
            </a:r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85BB19EE-A43A-C6BE-25FA-E66C40EC9234}"/>
              </a:ext>
            </a:extLst>
          </p:cNvPr>
          <p:cNvSpPr txBox="1"/>
          <p:nvPr/>
        </p:nvSpPr>
        <p:spPr>
          <a:xfrm>
            <a:off x="3317639" y="5542485"/>
            <a:ext cx="207348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-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B7707787-8BD6-22B7-B20C-E0ACF1F813DD}"/>
              </a:ext>
            </a:extLst>
          </p:cNvPr>
          <p:cNvSpPr txBox="1"/>
          <p:nvPr/>
        </p:nvSpPr>
        <p:spPr>
          <a:xfrm>
            <a:off x="2985355" y="4832074"/>
            <a:ext cx="603902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950" dirty="0"/>
              <a:t>U</a:t>
            </a:r>
            <a:r>
              <a:rPr lang="da-DK" sz="1950" baseline="-25000" dirty="0"/>
              <a:t>DC</a:t>
            </a:r>
          </a:p>
        </p:txBody>
      </p:sp>
      <p:cxnSp>
        <p:nvCxnSpPr>
          <p:cNvPr id="71" name="Lige pilforbindelse 70">
            <a:extLst>
              <a:ext uri="{FF2B5EF4-FFF2-40B4-BE49-F238E27FC236}">
                <a16:creationId xmlns:a16="http://schemas.microsoft.com/office/drawing/2014/main" id="{B751E2DE-EFE5-2E24-D796-C272F3225DC6}"/>
              </a:ext>
            </a:extLst>
          </p:cNvPr>
          <p:cNvCxnSpPr>
            <a:cxnSpLocks/>
          </p:cNvCxnSpPr>
          <p:nvPr/>
        </p:nvCxnSpPr>
        <p:spPr>
          <a:xfrm flipH="1">
            <a:off x="2984399" y="5262350"/>
            <a:ext cx="474593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ige forbindelse 92">
            <a:extLst>
              <a:ext uri="{FF2B5EF4-FFF2-40B4-BE49-F238E27FC236}">
                <a16:creationId xmlns:a16="http://schemas.microsoft.com/office/drawing/2014/main" id="{0699FCC6-8CB9-DD13-DE62-B2817A57EF66}"/>
              </a:ext>
            </a:extLst>
          </p:cNvPr>
          <p:cNvCxnSpPr>
            <a:cxnSpLocks/>
          </p:cNvCxnSpPr>
          <p:nvPr/>
        </p:nvCxnSpPr>
        <p:spPr>
          <a:xfrm flipH="1" flipV="1">
            <a:off x="2069947" y="5368578"/>
            <a:ext cx="490801" cy="2193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ige forbindelse 94">
            <a:extLst>
              <a:ext uri="{FF2B5EF4-FFF2-40B4-BE49-F238E27FC236}">
                <a16:creationId xmlns:a16="http://schemas.microsoft.com/office/drawing/2014/main" id="{E5AE5FED-7C99-0FD2-A624-8BA337C38C7F}"/>
              </a:ext>
            </a:extLst>
          </p:cNvPr>
          <p:cNvCxnSpPr>
            <a:cxnSpLocks/>
          </p:cNvCxnSpPr>
          <p:nvPr/>
        </p:nvCxnSpPr>
        <p:spPr>
          <a:xfrm>
            <a:off x="1775259" y="5582034"/>
            <a:ext cx="2946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ige forbindelse 97">
            <a:extLst>
              <a:ext uri="{FF2B5EF4-FFF2-40B4-BE49-F238E27FC236}">
                <a16:creationId xmlns:a16="http://schemas.microsoft.com/office/drawing/2014/main" id="{3A94B0D3-2E6B-798C-5A09-86367D1AD277}"/>
              </a:ext>
            </a:extLst>
          </p:cNvPr>
          <p:cNvCxnSpPr>
            <a:cxnSpLocks/>
          </p:cNvCxnSpPr>
          <p:nvPr/>
        </p:nvCxnSpPr>
        <p:spPr>
          <a:xfrm>
            <a:off x="2179635" y="5262350"/>
            <a:ext cx="2193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ige forbindelse 99">
            <a:extLst>
              <a:ext uri="{FF2B5EF4-FFF2-40B4-BE49-F238E27FC236}">
                <a16:creationId xmlns:a16="http://schemas.microsoft.com/office/drawing/2014/main" id="{EA2988D9-FFA0-472D-694C-C1D4B9315D79}"/>
              </a:ext>
            </a:extLst>
          </p:cNvPr>
          <p:cNvCxnSpPr/>
          <p:nvPr/>
        </p:nvCxnSpPr>
        <p:spPr>
          <a:xfrm flipV="1">
            <a:off x="2289323" y="5264797"/>
            <a:ext cx="0" cy="1828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kstfelt 108">
            <a:extLst>
              <a:ext uri="{FF2B5EF4-FFF2-40B4-BE49-F238E27FC236}">
                <a16:creationId xmlns:a16="http://schemas.microsoft.com/office/drawing/2014/main" id="{A5708485-4CB5-CD4B-03B9-43CD71970122}"/>
              </a:ext>
            </a:extLst>
          </p:cNvPr>
          <p:cNvSpPr txBox="1"/>
          <p:nvPr/>
        </p:nvSpPr>
        <p:spPr>
          <a:xfrm>
            <a:off x="5085166" y="2650752"/>
            <a:ext cx="5045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Kondensatorens elektriske størrelse hedder kapacitans </a:t>
            </a:r>
          </a:p>
          <a:p>
            <a:r>
              <a:rPr lang="da-DK" sz="1600" b="1" dirty="0"/>
              <a:t>og defineres med C</a:t>
            </a:r>
          </a:p>
        </p:txBody>
      </p:sp>
      <p:sp>
        <p:nvSpPr>
          <p:cNvPr id="111" name="Tekstfelt 110">
            <a:extLst>
              <a:ext uri="{FF2B5EF4-FFF2-40B4-BE49-F238E27FC236}">
                <a16:creationId xmlns:a16="http://schemas.microsoft.com/office/drawing/2014/main" id="{9A52B97C-5563-BDC0-58F9-E4F167A8FD20}"/>
              </a:ext>
            </a:extLst>
          </p:cNvPr>
          <p:cNvSpPr txBox="1"/>
          <p:nvPr/>
        </p:nvSpPr>
        <p:spPr>
          <a:xfrm>
            <a:off x="4131872" y="2443366"/>
            <a:ext cx="282890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950" dirty="0"/>
              <a:t>C</a:t>
            </a:r>
          </a:p>
        </p:txBody>
      </p:sp>
      <p:sp>
        <p:nvSpPr>
          <p:cNvPr id="112" name="Tekstfelt 111">
            <a:extLst>
              <a:ext uri="{FF2B5EF4-FFF2-40B4-BE49-F238E27FC236}">
                <a16:creationId xmlns:a16="http://schemas.microsoft.com/office/drawing/2014/main" id="{7CBE8748-5F52-A7F4-9CD0-8737014071C1}"/>
              </a:ext>
            </a:extLst>
          </p:cNvPr>
          <p:cNvSpPr txBox="1"/>
          <p:nvPr/>
        </p:nvSpPr>
        <p:spPr>
          <a:xfrm>
            <a:off x="5070414" y="3365235"/>
            <a:ext cx="5600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En simpel kondensator som vist på skitsen, består af 2 plader </a:t>
            </a:r>
          </a:p>
          <a:p>
            <a:r>
              <a:rPr lang="da-DK" sz="1600" b="1" dirty="0"/>
              <a:t>af et ledende materiale. </a:t>
            </a:r>
          </a:p>
        </p:txBody>
      </p:sp>
      <p:sp>
        <p:nvSpPr>
          <p:cNvPr id="113" name="Tekstfelt 112">
            <a:extLst>
              <a:ext uri="{FF2B5EF4-FFF2-40B4-BE49-F238E27FC236}">
                <a16:creationId xmlns:a16="http://schemas.microsoft.com/office/drawing/2014/main" id="{898CD2E1-D30F-BAE2-887E-6F412576D865}"/>
              </a:ext>
            </a:extLst>
          </p:cNvPr>
          <p:cNvSpPr txBox="1"/>
          <p:nvPr/>
        </p:nvSpPr>
        <p:spPr>
          <a:xfrm>
            <a:off x="5085166" y="4013862"/>
            <a:ext cx="5984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Materialet mellem pladerne kaldes dielektrikum, og her skal man </a:t>
            </a:r>
          </a:p>
          <a:p>
            <a:r>
              <a:rPr lang="da-DK" sz="1600" b="1" dirty="0"/>
              <a:t>være opmærksom på, at det kan også være vakuum eller </a:t>
            </a:r>
          </a:p>
          <a:p>
            <a:r>
              <a:rPr lang="da-DK" sz="1600" b="1" dirty="0"/>
              <a:t>atmosfærisk luft. </a:t>
            </a:r>
          </a:p>
        </p:txBody>
      </p:sp>
      <p:sp>
        <p:nvSpPr>
          <p:cNvPr id="116" name="Tekstfelt 115">
            <a:extLst>
              <a:ext uri="{FF2B5EF4-FFF2-40B4-BE49-F238E27FC236}">
                <a16:creationId xmlns:a16="http://schemas.microsoft.com/office/drawing/2014/main" id="{E1FAA389-C104-E6E4-52B0-104CCCF34C0C}"/>
              </a:ext>
            </a:extLst>
          </p:cNvPr>
          <p:cNvSpPr txBox="1"/>
          <p:nvPr/>
        </p:nvSpPr>
        <p:spPr>
          <a:xfrm>
            <a:off x="2166059" y="4909155"/>
            <a:ext cx="236002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S</a:t>
            </a:r>
          </a:p>
        </p:txBody>
      </p:sp>
      <p:cxnSp>
        <p:nvCxnSpPr>
          <p:cNvPr id="118" name="Lige pilforbindelse 117">
            <a:extLst>
              <a:ext uri="{FF2B5EF4-FFF2-40B4-BE49-F238E27FC236}">
                <a16:creationId xmlns:a16="http://schemas.microsoft.com/office/drawing/2014/main" id="{394CAFA5-18AD-A15C-FD61-9213DE91401A}"/>
              </a:ext>
            </a:extLst>
          </p:cNvPr>
          <p:cNvCxnSpPr/>
          <p:nvPr/>
        </p:nvCxnSpPr>
        <p:spPr>
          <a:xfrm>
            <a:off x="2560748" y="3979187"/>
            <a:ext cx="485613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kstfelt 118">
            <a:extLst>
              <a:ext uri="{FF2B5EF4-FFF2-40B4-BE49-F238E27FC236}">
                <a16:creationId xmlns:a16="http://schemas.microsoft.com/office/drawing/2014/main" id="{FB858300-87C6-631D-82A1-307F5286641A}"/>
              </a:ext>
            </a:extLst>
          </p:cNvPr>
          <p:cNvSpPr txBox="1"/>
          <p:nvPr/>
        </p:nvSpPr>
        <p:spPr>
          <a:xfrm>
            <a:off x="2683598" y="3929774"/>
            <a:ext cx="23991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a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EFDFB171-C715-A847-DD33-882BC10F079E}"/>
              </a:ext>
            </a:extLst>
          </p:cNvPr>
          <p:cNvSpPr/>
          <p:nvPr/>
        </p:nvSpPr>
        <p:spPr>
          <a:xfrm>
            <a:off x="1669274" y="3448373"/>
            <a:ext cx="220408" cy="48139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70EDD48-4030-1E27-CA49-5E9A7C910BB5}"/>
              </a:ext>
            </a:extLst>
          </p:cNvPr>
          <p:cNvSpPr txBox="1"/>
          <p:nvPr/>
        </p:nvSpPr>
        <p:spPr>
          <a:xfrm>
            <a:off x="1624806" y="3484531"/>
            <a:ext cx="33054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FD8445B1-2B78-232E-4A27-71B923ABDF29}"/>
              </a:ext>
            </a:extLst>
          </p:cNvPr>
          <p:cNvSpPr txBox="1"/>
          <p:nvPr/>
        </p:nvSpPr>
        <p:spPr>
          <a:xfrm>
            <a:off x="5085166" y="4887910"/>
            <a:ext cx="5600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/>
              <a:t>Afstanden mellem pladerne defineres med et a</a:t>
            </a:r>
          </a:p>
          <a:p>
            <a:r>
              <a:rPr lang="da-DK" sz="1600" b="1" dirty="0"/>
              <a:t>Arealet af pladerne defineres med et A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90E6DAE-2132-6FC3-24FB-E9F5EB09DEBF}"/>
              </a:ext>
            </a:extLst>
          </p:cNvPr>
          <p:cNvSpPr txBox="1"/>
          <p:nvPr/>
        </p:nvSpPr>
        <p:spPr>
          <a:xfrm>
            <a:off x="3366129" y="325764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800" dirty="0"/>
              <a:t>A</a:t>
            </a:r>
          </a:p>
        </p:txBody>
      </p:sp>
      <p:sp>
        <p:nvSpPr>
          <p:cNvPr id="17" name="Pladsholder til dato 16">
            <a:extLst>
              <a:ext uri="{FF2B5EF4-FFF2-40B4-BE49-F238E27FC236}">
                <a16:creationId xmlns:a16="http://schemas.microsoft.com/office/drawing/2014/main" id="{A38677A9-9355-F2EC-D72A-03CEE66E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F9B3-8990-4C63-BF21-ED80DD927074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19" name="Pladsholder til slidenummer 18">
            <a:extLst>
              <a:ext uri="{FF2B5EF4-FFF2-40B4-BE49-F238E27FC236}">
                <a16:creationId xmlns:a16="http://schemas.microsoft.com/office/drawing/2014/main" id="{40F9FBC0-7465-E2B3-C2F6-0013259F2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7" name="Pladsholder til sidefod 6">
            <a:extLst>
              <a:ext uri="{FF2B5EF4-FFF2-40B4-BE49-F238E27FC236}">
                <a16:creationId xmlns:a16="http://schemas.microsoft.com/office/drawing/2014/main" id="{434C10E1-23F8-BD7A-2653-C57671170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77D79135-FA1D-9167-0DB9-A542FA88AA93}"/>
                  </a:ext>
                </a:extLst>
              </p:cNvPr>
              <p:cNvSpPr txBox="1"/>
              <p:nvPr/>
            </p:nvSpPr>
            <p:spPr>
              <a:xfrm>
                <a:off x="5176918" y="1841647"/>
                <a:ext cx="4953698" cy="554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b="1" i="1">
                          <a:latin typeface="Cambria Math" panose="02040503050406030204" pitchFamily="18" charset="0"/>
                        </a:rPr>
                        <m:t>𝑪𝒐𝒖𝒍𝒐𝒎𝒃𝒔</m:t>
                      </m:r>
                      <m:r>
                        <a:rPr lang="da-DK" sz="16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600" b="1" i="1">
                          <a:latin typeface="Cambria Math" panose="02040503050406030204" pitchFamily="18" charset="0"/>
                        </a:rPr>
                        <m:t>𝒍𝒐𝒗</m:t>
                      </m:r>
                      <m:r>
                        <a:rPr lang="da-DK" sz="16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1600" b="1" i="1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da-DK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600" b="1" i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da-DK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a-DK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r>
                            <a:rPr lang="da-DK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da-DK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da-DK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r>
                            <a:rPr lang="da-DK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da-DK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da-DK" sz="1600" b="1" i="1" baseline="3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da-DK" sz="1600" b="1" dirty="0"/>
              </a:p>
            </p:txBody>
          </p:sp>
        </mc:Choice>
        <mc:Fallback xmlns="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77D79135-FA1D-9167-0DB9-A542FA88A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918" y="1841647"/>
                <a:ext cx="4953698" cy="554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58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BEDDBAC4-FAA5-47BC-87BA-487AE2C40415}"/>
              </a:ext>
            </a:extLst>
          </p:cNvPr>
          <p:cNvCxnSpPr>
            <a:cxnSpLocks/>
          </p:cNvCxnSpPr>
          <p:nvPr/>
        </p:nvCxnSpPr>
        <p:spPr>
          <a:xfrm>
            <a:off x="1736604" y="3181612"/>
            <a:ext cx="108817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Kondensator i et kredsløb</a:t>
            </a:r>
          </a:p>
        </p:txBody>
      </p:sp>
      <p:sp>
        <p:nvSpPr>
          <p:cNvPr id="3" name="Rutediagram: Data 2">
            <a:extLst>
              <a:ext uri="{FF2B5EF4-FFF2-40B4-BE49-F238E27FC236}">
                <a16:creationId xmlns:a16="http://schemas.microsoft.com/office/drawing/2014/main" id="{E382E80C-1439-0F55-EE5D-2FE67EF6DDBE}"/>
              </a:ext>
            </a:extLst>
          </p:cNvPr>
          <p:cNvSpPr/>
          <p:nvPr/>
        </p:nvSpPr>
        <p:spPr>
          <a:xfrm rot="20963003">
            <a:off x="2406599" y="2621823"/>
            <a:ext cx="1101640" cy="1119581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/>
          </a:p>
        </p:txBody>
      </p:sp>
      <p:sp>
        <p:nvSpPr>
          <p:cNvPr id="27" name="Rutediagram: Data 26">
            <a:extLst>
              <a:ext uri="{FF2B5EF4-FFF2-40B4-BE49-F238E27FC236}">
                <a16:creationId xmlns:a16="http://schemas.microsoft.com/office/drawing/2014/main" id="{58B079BA-7982-F46D-80A2-041DA4E16B56}"/>
              </a:ext>
            </a:extLst>
          </p:cNvPr>
          <p:cNvSpPr/>
          <p:nvPr/>
        </p:nvSpPr>
        <p:spPr>
          <a:xfrm rot="20963003">
            <a:off x="2927195" y="2626878"/>
            <a:ext cx="1101640" cy="1119581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/>
          </a:p>
        </p:txBody>
      </p: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EEEFEFD6-DE4C-4956-5EAA-6185BC7EA690}"/>
              </a:ext>
            </a:extLst>
          </p:cNvPr>
          <p:cNvCxnSpPr>
            <a:cxnSpLocks/>
          </p:cNvCxnSpPr>
          <p:nvPr/>
        </p:nvCxnSpPr>
        <p:spPr>
          <a:xfrm>
            <a:off x="3472872" y="3181612"/>
            <a:ext cx="11800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4653BF4E-CBA9-3159-E08B-91C221F2E862}"/>
              </a:ext>
            </a:extLst>
          </p:cNvPr>
          <p:cNvCxnSpPr/>
          <p:nvPr/>
        </p:nvCxnSpPr>
        <p:spPr>
          <a:xfrm>
            <a:off x="1736603" y="3172216"/>
            <a:ext cx="0" cy="24195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2D483509-5F7E-E7D4-BE94-145FFAF1D261}"/>
              </a:ext>
            </a:extLst>
          </p:cNvPr>
          <p:cNvCxnSpPr>
            <a:cxnSpLocks/>
          </p:cNvCxnSpPr>
          <p:nvPr/>
        </p:nvCxnSpPr>
        <p:spPr>
          <a:xfrm>
            <a:off x="4652920" y="3181612"/>
            <a:ext cx="0" cy="24101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ge forbindelse 38">
            <a:extLst>
              <a:ext uri="{FF2B5EF4-FFF2-40B4-BE49-F238E27FC236}">
                <a16:creationId xmlns:a16="http://schemas.microsoft.com/office/drawing/2014/main" id="{792C998A-1CFF-4139-F1E4-7FB383AD64B0}"/>
              </a:ext>
            </a:extLst>
          </p:cNvPr>
          <p:cNvCxnSpPr>
            <a:cxnSpLocks/>
          </p:cNvCxnSpPr>
          <p:nvPr/>
        </p:nvCxnSpPr>
        <p:spPr>
          <a:xfrm>
            <a:off x="1736604" y="5591811"/>
            <a:ext cx="1389390" cy="15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ge forbindelse 40">
            <a:extLst>
              <a:ext uri="{FF2B5EF4-FFF2-40B4-BE49-F238E27FC236}">
                <a16:creationId xmlns:a16="http://schemas.microsoft.com/office/drawing/2014/main" id="{8EF5C18A-49F5-3D2C-83AD-5CF18666F98C}"/>
              </a:ext>
            </a:extLst>
          </p:cNvPr>
          <p:cNvCxnSpPr>
            <a:cxnSpLocks/>
          </p:cNvCxnSpPr>
          <p:nvPr/>
        </p:nvCxnSpPr>
        <p:spPr>
          <a:xfrm flipH="1">
            <a:off x="3274430" y="5591811"/>
            <a:ext cx="1378491" cy="15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ge forbindelse 43">
            <a:extLst>
              <a:ext uri="{FF2B5EF4-FFF2-40B4-BE49-F238E27FC236}">
                <a16:creationId xmlns:a16="http://schemas.microsoft.com/office/drawing/2014/main" id="{9B97D6DB-EECA-0B58-4AE2-09B9D528E48E}"/>
              </a:ext>
            </a:extLst>
          </p:cNvPr>
          <p:cNvCxnSpPr>
            <a:cxnSpLocks/>
          </p:cNvCxnSpPr>
          <p:nvPr/>
        </p:nvCxnSpPr>
        <p:spPr>
          <a:xfrm>
            <a:off x="3129613" y="5366513"/>
            <a:ext cx="0" cy="4387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Lige forbindelse 51">
            <a:extLst>
              <a:ext uri="{FF2B5EF4-FFF2-40B4-BE49-F238E27FC236}">
                <a16:creationId xmlns:a16="http://schemas.microsoft.com/office/drawing/2014/main" id="{E32449BC-28AB-4015-622F-319E19C54DDF}"/>
              </a:ext>
            </a:extLst>
          </p:cNvPr>
          <p:cNvCxnSpPr/>
          <p:nvPr/>
        </p:nvCxnSpPr>
        <p:spPr>
          <a:xfrm>
            <a:off x="3274429" y="5482123"/>
            <a:ext cx="0" cy="2193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kstfelt 52">
            <a:extLst>
              <a:ext uri="{FF2B5EF4-FFF2-40B4-BE49-F238E27FC236}">
                <a16:creationId xmlns:a16="http://schemas.microsoft.com/office/drawing/2014/main" id="{DB3644F6-A4E4-8FDB-4739-1C3EB3A24803}"/>
              </a:ext>
            </a:extLst>
          </p:cNvPr>
          <p:cNvSpPr txBox="1"/>
          <p:nvPr/>
        </p:nvSpPr>
        <p:spPr>
          <a:xfrm>
            <a:off x="2885797" y="5558051"/>
            <a:ext cx="24381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+</a:t>
            </a:r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85BB19EE-A43A-C6BE-25FA-E66C40EC9234}"/>
              </a:ext>
            </a:extLst>
          </p:cNvPr>
          <p:cNvSpPr txBox="1"/>
          <p:nvPr/>
        </p:nvSpPr>
        <p:spPr>
          <a:xfrm>
            <a:off x="3278984" y="5546341"/>
            <a:ext cx="207348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-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B7707787-8BD6-22B7-B20C-E0ACF1F813DD}"/>
              </a:ext>
            </a:extLst>
          </p:cNvPr>
          <p:cNvSpPr txBox="1"/>
          <p:nvPr/>
        </p:nvSpPr>
        <p:spPr>
          <a:xfrm>
            <a:off x="2979718" y="4860698"/>
            <a:ext cx="688314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950" dirty="0"/>
              <a:t>U</a:t>
            </a:r>
            <a:r>
              <a:rPr lang="da-DK" sz="1950" baseline="-25000" dirty="0"/>
              <a:t>DC</a:t>
            </a:r>
          </a:p>
        </p:txBody>
      </p:sp>
      <p:cxnSp>
        <p:nvCxnSpPr>
          <p:cNvPr id="66" name="Lige pilforbindelse 65">
            <a:extLst>
              <a:ext uri="{FF2B5EF4-FFF2-40B4-BE49-F238E27FC236}">
                <a16:creationId xmlns:a16="http://schemas.microsoft.com/office/drawing/2014/main" id="{D382A3AC-44B5-9C20-A806-D309CE47182A}"/>
              </a:ext>
            </a:extLst>
          </p:cNvPr>
          <p:cNvCxnSpPr>
            <a:cxnSpLocks/>
          </p:cNvCxnSpPr>
          <p:nvPr/>
        </p:nvCxnSpPr>
        <p:spPr>
          <a:xfrm flipV="1">
            <a:off x="4515384" y="4203987"/>
            <a:ext cx="0" cy="438755"/>
          </a:xfrm>
          <a:prstGeom prst="straightConnector1">
            <a:avLst/>
          </a:prstGeom>
          <a:ln w="254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ige pilforbindelse 69">
            <a:extLst>
              <a:ext uri="{FF2B5EF4-FFF2-40B4-BE49-F238E27FC236}">
                <a16:creationId xmlns:a16="http://schemas.microsoft.com/office/drawing/2014/main" id="{C8361199-BFF9-AD91-F2DF-99C9EED15A4F}"/>
              </a:ext>
            </a:extLst>
          </p:cNvPr>
          <p:cNvCxnSpPr>
            <a:cxnSpLocks/>
          </p:cNvCxnSpPr>
          <p:nvPr/>
        </p:nvCxnSpPr>
        <p:spPr>
          <a:xfrm flipV="1">
            <a:off x="1856058" y="4222372"/>
            <a:ext cx="0" cy="475282"/>
          </a:xfrm>
          <a:prstGeom prst="straightConnector1">
            <a:avLst/>
          </a:prstGeom>
          <a:ln w="2540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Lige pilforbindelse 70">
            <a:extLst>
              <a:ext uri="{FF2B5EF4-FFF2-40B4-BE49-F238E27FC236}">
                <a16:creationId xmlns:a16="http://schemas.microsoft.com/office/drawing/2014/main" id="{B751E2DE-EFE5-2E24-D796-C272F3225DC6}"/>
              </a:ext>
            </a:extLst>
          </p:cNvPr>
          <p:cNvCxnSpPr>
            <a:cxnSpLocks/>
          </p:cNvCxnSpPr>
          <p:nvPr/>
        </p:nvCxnSpPr>
        <p:spPr>
          <a:xfrm flipH="1">
            <a:off x="2945744" y="5266205"/>
            <a:ext cx="474593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kstfelt 73">
            <a:extLst>
              <a:ext uri="{FF2B5EF4-FFF2-40B4-BE49-F238E27FC236}">
                <a16:creationId xmlns:a16="http://schemas.microsoft.com/office/drawing/2014/main" id="{8487BA8C-CA5E-725D-06E0-0C2852FED2C4}"/>
              </a:ext>
            </a:extLst>
          </p:cNvPr>
          <p:cNvSpPr txBox="1"/>
          <p:nvPr/>
        </p:nvSpPr>
        <p:spPr>
          <a:xfrm>
            <a:off x="1878076" y="4381533"/>
            <a:ext cx="19692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I</a:t>
            </a:r>
          </a:p>
        </p:txBody>
      </p:sp>
      <p:sp>
        <p:nvSpPr>
          <p:cNvPr id="75" name="Tekstfelt 74">
            <a:extLst>
              <a:ext uri="{FF2B5EF4-FFF2-40B4-BE49-F238E27FC236}">
                <a16:creationId xmlns:a16="http://schemas.microsoft.com/office/drawing/2014/main" id="{9B063B50-8801-4CB9-6877-B09B1A61DF31}"/>
              </a:ext>
            </a:extLst>
          </p:cNvPr>
          <p:cNvSpPr txBox="1"/>
          <p:nvPr/>
        </p:nvSpPr>
        <p:spPr>
          <a:xfrm>
            <a:off x="4246936" y="4309972"/>
            <a:ext cx="281588" cy="467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e</a:t>
            </a:r>
            <a:r>
              <a:rPr lang="da-DK" sz="1463" baseline="30000" dirty="0"/>
              <a:t>-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BEC61F8E-F822-9007-9E0B-5487F1FA1CFD}"/>
              </a:ext>
            </a:extLst>
          </p:cNvPr>
          <p:cNvSpPr txBox="1"/>
          <p:nvPr/>
        </p:nvSpPr>
        <p:spPr>
          <a:xfrm>
            <a:off x="5253910" y="2585716"/>
            <a:ext cx="55532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600" b="1" dirty="0"/>
              <a:t>Sluttes kontakten vil ladningerne begynde at l flyde til den ene kondensatorplade, og det stigende felt på denne plade, vil få elektronerne på den anden kondensatorplade til at flyde mod spændingskilden.</a:t>
            </a:r>
          </a:p>
        </p:txBody>
      </p:sp>
      <p:grpSp>
        <p:nvGrpSpPr>
          <p:cNvPr id="11" name="Gruppe 10">
            <a:extLst>
              <a:ext uri="{FF2B5EF4-FFF2-40B4-BE49-F238E27FC236}">
                <a16:creationId xmlns:a16="http://schemas.microsoft.com/office/drawing/2014/main" id="{876D5692-5C23-0DB1-9830-60B95E4CAAAF}"/>
              </a:ext>
            </a:extLst>
          </p:cNvPr>
          <p:cNvGrpSpPr/>
          <p:nvPr/>
        </p:nvGrpSpPr>
        <p:grpSpPr>
          <a:xfrm>
            <a:off x="3483255" y="2581957"/>
            <a:ext cx="497250" cy="497250"/>
            <a:chOff x="8486354" y="4346878"/>
            <a:chExt cx="1216819" cy="1252538"/>
          </a:xfrm>
        </p:grpSpPr>
        <p:pic>
          <p:nvPicPr>
            <p:cNvPr id="12" name="Billede 11">
              <a:extLst>
                <a:ext uri="{FF2B5EF4-FFF2-40B4-BE49-F238E27FC236}">
                  <a16:creationId xmlns:a16="http://schemas.microsoft.com/office/drawing/2014/main" id="{51C93EF1-CD7A-CC5B-4B92-79893DA3C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13" name="Lige pilforbindelse 12">
              <a:extLst>
                <a:ext uri="{FF2B5EF4-FFF2-40B4-BE49-F238E27FC236}">
                  <a16:creationId xmlns:a16="http://schemas.microsoft.com/office/drawing/2014/main" id="{0BC16738-8E96-1A86-865D-F6EB6CF56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pilforbindelse 13">
              <a:extLst>
                <a:ext uri="{FF2B5EF4-FFF2-40B4-BE49-F238E27FC236}">
                  <a16:creationId xmlns:a16="http://schemas.microsoft.com/office/drawing/2014/main" id="{D8984EB2-E9B2-1B58-89BC-CD12046073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ge pilforbindelse 14">
              <a:extLst>
                <a:ext uri="{FF2B5EF4-FFF2-40B4-BE49-F238E27FC236}">
                  <a16:creationId xmlns:a16="http://schemas.microsoft.com/office/drawing/2014/main" id="{AF0C8FA9-8BF9-B982-64B9-A9A41048F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FC299603-BC98-78A5-39F5-961D64F5226D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pilforbindelse 16">
              <a:extLst>
                <a:ext uri="{FF2B5EF4-FFF2-40B4-BE49-F238E27FC236}">
                  <a16:creationId xmlns:a16="http://schemas.microsoft.com/office/drawing/2014/main" id="{6FC589D2-2C7F-3210-6834-96B761F1F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ge pilforbindelse 17">
              <a:extLst>
                <a:ext uri="{FF2B5EF4-FFF2-40B4-BE49-F238E27FC236}">
                  <a16:creationId xmlns:a16="http://schemas.microsoft.com/office/drawing/2014/main" id="{949B9600-E410-4620-297D-A1F697B78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Lige pilforbindelse 18">
              <a:extLst>
                <a:ext uri="{FF2B5EF4-FFF2-40B4-BE49-F238E27FC236}">
                  <a16:creationId xmlns:a16="http://schemas.microsoft.com/office/drawing/2014/main" id="{C9569A1E-B726-1F4C-96E4-BF8B5379AA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Lige pilforbindelse 19">
              <a:extLst>
                <a:ext uri="{FF2B5EF4-FFF2-40B4-BE49-F238E27FC236}">
                  <a16:creationId xmlns:a16="http://schemas.microsoft.com/office/drawing/2014/main" id="{5CC36CE1-643D-5C92-9EB7-0B90B4E4B6DD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e 21">
            <a:extLst>
              <a:ext uri="{FF2B5EF4-FFF2-40B4-BE49-F238E27FC236}">
                <a16:creationId xmlns:a16="http://schemas.microsoft.com/office/drawing/2014/main" id="{10B1C4FD-43D4-20AD-0A00-8A5D29044BC0}"/>
              </a:ext>
            </a:extLst>
          </p:cNvPr>
          <p:cNvGrpSpPr/>
          <p:nvPr/>
        </p:nvGrpSpPr>
        <p:grpSpPr>
          <a:xfrm>
            <a:off x="3084203" y="2650894"/>
            <a:ext cx="497250" cy="497250"/>
            <a:chOff x="8486354" y="4346878"/>
            <a:chExt cx="1216819" cy="1252538"/>
          </a:xfrm>
        </p:grpSpPr>
        <p:pic>
          <p:nvPicPr>
            <p:cNvPr id="23" name="Billede 22">
              <a:extLst>
                <a:ext uri="{FF2B5EF4-FFF2-40B4-BE49-F238E27FC236}">
                  <a16:creationId xmlns:a16="http://schemas.microsoft.com/office/drawing/2014/main" id="{F5853163-B45C-5D4F-A635-C6EF11687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24" name="Lige pilforbindelse 23">
              <a:extLst>
                <a:ext uri="{FF2B5EF4-FFF2-40B4-BE49-F238E27FC236}">
                  <a16:creationId xmlns:a16="http://schemas.microsoft.com/office/drawing/2014/main" id="{468BE896-F54F-2082-035D-CCCE69AAF1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Lige pilforbindelse 25">
              <a:extLst>
                <a:ext uri="{FF2B5EF4-FFF2-40B4-BE49-F238E27FC236}">
                  <a16:creationId xmlns:a16="http://schemas.microsoft.com/office/drawing/2014/main" id="{8087A335-A4BD-E2B0-3B2C-A8457F72A8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Lige pilforbindelse 27">
              <a:extLst>
                <a:ext uri="{FF2B5EF4-FFF2-40B4-BE49-F238E27FC236}">
                  <a16:creationId xmlns:a16="http://schemas.microsoft.com/office/drawing/2014/main" id="{54DC8278-B13E-A9D6-13E1-52FFDDD520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Lige pilforbindelse 28">
              <a:extLst>
                <a:ext uri="{FF2B5EF4-FFF2-40B4-BE49-F238E27FC236}">
                  <a16:creationId xmlns:a16="http://schemas.microsoft.com/office/drawing/2014/main" id="{18F03CC9-15F8-02AD-EE76-91F92268871C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Lige pilforbindelse 29">
              <a:extLst>
                <a:ext uri="{FF2B5EF4-FFF2-40B4-BE49-F238E27FC236}">
                  <a16:creationId xmlns:a16="http://schemas.microsoft.com/office/drawing/2014/main" id="{BC8ABE3D-2A21-1651-A225-F02E65C1D8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Lige pilforbindelse 30">
              <a:extLst>
                <a:ext uri="{FF2B5EF4-FFF2-40B4-BE49-F238E27FC236}">
                  <a16:creationId xmlns:a16="http://schemas.microsoft.com/office/drawing/2014/main" id="{339D154F-FD3C-166C-263C-551F9DB98C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Lige pilforbindelse 31">
              <a:extLst>
                <a:ext uri="{FF2B5EF4-FFF2-40B4-BE49-F238E27FC236}">
                  <a16:creationId xmlns:a16="http://schemas.microsoft.com/office/drawing/2014/main" id="{54E90BAC-20E9-D39C-9C9C-91D39E9C67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Lige pilforbindelse 33">
              <a:extLst>
                <a:ext uri="{FF2B5EF4-FFF2-40B4-BE49-F238E27FC236}">
                  <a16:creationId xmlns:a16="http://schemas.microsoft.com/office/drawing/2014/main" id="{A83BFCEC-5D9D-C91C-8CB2-991F36B7F42C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9764DBC6-726F-6862-BA3D-A51DD331FEBA}"/>
              </a:ext>
            </a:extLst>
          </p:cNvPr>
          <p:cNvGrpSpPr/>
          <p:nvPr/>
        </p:nvGrpSpPr>
        <p:grpSpPr>
          <a:xfrm>
            <a:off x="3472870" y="3166829"/>
            <a:ext cx="497250" cy="497250"/>
            <a:chOff x="8486354" y="4346878"/>
            <a:chExt cx="1216819" cy="1252538"/>
          </a:xfrm>
        </p:grpSpPr>
        <p:pic>
          <p:nvPicPr>
            <p:cNvPr id="36" name="Billede 35">
              <a:extLst>
                <a:ext uri="{FF2B5EF4-FFF2-40B4-BE49-F238E27FC236}">
                  <a16:creationId xmlns:a16="http://schemas.microsoft.com/office/drawing/2014/main" id="{30C81F5B-5743-EE54-1FD7-38E54D7B7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38" name="Lige pilforbindelse 37">
              <a:extLst>
                <a:ext uri="{FF2B5EF4-FFF2-40B4-BE49-F238E27FC236}">
                  <a16:creationId xmlns:a16="http://schemas.microsoft.com/office/drawing/2014/main" id="{EA45D569-29CA-21FC-7A80-BE91BE8EB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Lige pilforbindelse 39">
              <a:extLst>
                <a:ext uri="{FF2B5EF4-FFF2-40B4-BE49-F238E27FC236}">
                  <a16:creationId xmlns:a16="http://schemas.microsoft.com/office/drawing/2014/main" id="{C3493D71-F19F-127E-0404-98AAC9FA09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Lige pilforbindelse 41">
              <a:extLst>
                <a:ext uri="{FF2B5EF4-FFF2-40B4-BE49-F238E27FC236}">
                  <a16:creationId xmlns:a16="http://schemas.microsoft.com/office/drawing/2014/main" id="{557E7FF0-D576-4C45-BC99-85FA31A337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Lige pilforbindelse 42">
              <a:extLst>
                <a:ext uri="{FF2B5EF4-FFF2-40B4-BE49-F238E27FC236}">
                  <a16:creationId xmlns:a16="http://schemas.microsoft.com/office/drawing/2014/main" id="{5EF7E79D-5D8F-81F5-417C-C3D5EDC03291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Lige pilforbindelse 44">
              <a:extLst>
                <a:ext uri="{FF2B5EF4-FFF2-40B4-BE49-F238E27FC236}">
                  <a16:creationId xmlns:a16="http://schemas.microsoft.com/office/drawing/2014/main" id="{A8880BB7-32C9-1B14-E26D-23A05633C5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Lige pilforbindelse 45">
              <a:extLst>
                <a:ext uri="{FF2B5EF4-FFF2-40B4-BE49-F238E27FC236}">
                  <a16:creationId xmlns:a16="http://schemas.microsoft.com/office/drawing/2014/main" id="{70E0E03D-9301-B310-CD71-132C399CE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Lige pilforbindelse 46">
              <a:extLst>
                <a:ext uri="{FF2B5EF4-FFF2-40B4-BE49-F238E27FC236}">
                  <a16:creationId xmlns:a16="http://schemas.microsoft.com/office/drawing/2014/main" id="{1D259ADA-42EE-0173-FEA8-A0F290B6C6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Lige pilforbindelse 47">
              <a:extLst>
                <a:ext uri="{FF2B5EF4-FFF2-40B4-BE49-F238E27FC236}">
                  <a16:creationId xmlns:a16="http://schemas.microsoft.com/office/drawing/2014/main" id="{5FCB57F5-C308-0A12-3A9E-2F1CE6EB98D7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e 48">
            <a:extLst>
              <a:ext uri="{FF2B5EF4-FFF2-40B4-BE49-F238E27FC236}">
                <a16:creationId xmlns:a16="http://schemas.microsoft.com/office/drawing/2014/main" id="{B6E76B17-870D-A2EA-E039-8551D8B11C10}"/>
              </a:ext>
            </a:extLst>
          </p:cNvPr>
          <p:cNvGrpSpPr/>
          <p:nvPr/>
        </p:nvGrpSpPr>
        <p:grpSpPr>
          <a:xfrm>
            <a:off x="3207681" y="3280396"/>
            <a:ext cx="497250" cy="497250"/>
            <a:chOff x="8486354" y="4346878"/>
            <a:chExt cx="1216819" cy="1252538"/>
          </a:xfrm>
        </p:grpSpPr>
        <p:pic>
          <p:nvPicPr>
            <p:cNvPr id="50" name="Billede 49">
              <a:extLst>
                <a:ext uri="{FF2B5EF4-FFF2-40B4-BE49-F238E27FC236}">
                  <a16:creationId xmlns:a16="http://schemas.microsoft.com/office/drawing/2014/main" id="{E556356D-DB9F-5F62-1826-1EF9CE35A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51" name="Lige pilforbindelse 50">
              <a:extLst>
                <a:ext uri="{FF2B5EF4-FFF2-40B4-BE49-F238E27FC236}">
                  <a16:creationId xmlns:a16="http://schemas.microsoft.com/office/drawing/2014/main" id="{01113B5D-6AB6-DBDA-59D2-759B9DE12B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Lige pilforbindelse 55">
              <a:extLst>
                <a:ext uri="{FF2B5EF4-FFF2-40B4-BE49-F238E27FC236}">
                  <a16:creationId xmlns:a16="http://schemas.microsoft.com/office/drawing/2014/main" id="{A8F568D1-1034-61B8-D0B5-34A5FFBB48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Lige pilforbindelse 56">
              <a:extLst>
                <a:ext uri="{FF2B5EF4-FFF2-40B4-BE49-F238E27FC236}">
                  <a16:creationId xmlns:a16="http://schemas.microsoft.com/office/drawing/2014/main" id="{1CC94DE8-87C2-1B25-7F79-8159E4F63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Lige pilforbindelse 57">
              <a:extLst>
                <a:ext uri="{FF2B5EF4-FFF2-40B4-BE49-F238E27FC236}">
                  <a16:creationId xmlns:a16="http://schemas.microsoft.com/office/drawing/2014/main" id="{0ADC6579-5498-DF0D-C026-3527B2393041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Lige pilforbindelse 58">
              <a:extLst>
                <a:ext uri="{FF2B5EF4-FFF2-40B4-BE49-F238E27FC236}">
                  <a16:creationId xmlns:a16="http://schemas.microsoft.com/office/drawing/2014/main" id="{6A79A49A-AE0B-A468-25EC-F3EF4B007F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Lige pilforbindelse 59">
              <a:extLst>
                <a:ext uri="{FF2B5EF4-FFF2-40B4-BE49-F238E27FC236}">
                  <a16:creationId xmlns:a16="http://schemas.microsoft.com/office/drawing/2014/main" id="{2EC32320-6B0A-0423-9399-7D95809E6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Lige pilforbindelse 60">
              <a:extLst>
                <a:ext uri="{FF2B5EF4-FFF2-40B4-BE49-F238E27FC236}">
                  <a16:creationId xmlns:a16="http://schemas.microsoft.com/office/drawing/2014/main" id="{A6EC594F-8D04-E9B8-F535-67FFF2592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Lige pilforbindelse 61">
              <a:extLst>
                <a:ext uri="{FF2B5EF4-FFF2-40B4-BE49-F238E27FC236}">
                  <a16:creationId xmlns:a16="http://schemas.microsoft.com/office/drawing/2014/main" id="{210D5C7B-D082-099C-AF0C-ECEAF6A6DF67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pe 62">
            <a:extLst>
              <a:ext uri="{FF2B5EF4-FFF2-40B4-BE49-F238E27FC236}">
                <a16:creationId xmlns:a16="http://schemas.microsoft.com/office/drawing/2014/main" id="{92690F46-7DF9-5560-B88C-62FD3C874A42}"/>
              </a:ext>
            </a:extLst>
          </p:cNvPr>
          <p:cNvGrpSpPr/>
          <p:nvPr/>
        </p:nvGrpSpPr>
        <p:grpSpPr>
          <a:xfrm>
            <a:off x="3580938" y="2752817"/>
            <a:ext cx="497250" cy="497250"/>
            <a:chOff x="8486354" y="4346878"/>
            <a:chExt cx="1216819" cy="1252538"/>
          </a:xfrm>
        </p:grpSpPr>
        <p:pic>
          <p:nvPicPr>
            <p:cNvPr id="64" name="Billede 63">
              <a:extLst>
                <a:ext uri="{FF2B5EF4-FFF2-40B4-BE49-F238E27FC236}">
                  <a16:creationId xmlns:a16="http://schemas.microsoft.com/office/drawing/2014/main" id="{91B53D72-2750-7E6D-DAAA-65D14FF29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65" name="Lige pilforbindelse 64">
              <a:extLst>
                <a:ext uri="{FF2B5EF4-FFF2-40B4-BE49-F238E27FC236}">
                  <a16:creationId xmlns:a16="http://schemas.microsoft.com/office/drawing/2014/main" id="{585C0BA9-A36E-79E9-C3F6-E14DA1B95B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Lige pilforbindelse 66">
              <a:extLst>
                <a:ext uri="{FF2B5EF4-FFF2-40B4-BE49-F238E27FC236}">
                  <a16:creationId xmlns:a16="http://schemas.microsoft.com/office/drawing/2014/main" id="{0D82EACE-D5BA-DE90-3035-745640E87A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Lige pilforbindelse 67">
              <a:extLst>
                <a:ext uri="{FF2B5EF4-FFF2-40B4-BE49-F238E27FC236}">
                  <a16:creationId xmlns:a16="http://schemas.microsoft.com/office/drawing/2014/main" id="{77D7507C-A774-77D7-4C9C-27BFC0A44F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Lige pilforbindelse 68">
              <a:extLst>
                <a:ext uri="{FF2B5EF4-FFF2-40B4-BE49-F238E27FC236}">
                  <a16:creationId xmlns:a16="http://schemas.microsoft.com/office/drawing/2014/main" id="{27CB74C7-238D-025E-2522-8E0927089654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Lige pilforbindelse 71">
              <a:extLst>
                <a:ext uri="{FF2B5EF4-FFF2-40B4-BE49-F238E27FC236}">
                  <a16:creationId xmlns:a16="http://schemas.microsoft.com/office/drawing/2014/main" id="{A02B514B-3961-8C1D-8835-20E8F39D5C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Lige pilforbindelse 72">
              <a:extLst>
                <a:ext uri="{FF2B5EF4-FFF2-40B4-BE49-F238E27FC236}">
                  <a16:creationId xmlns:a16="http://schemas.microsoft.com/office/drawing/2014/main" id="{239D18BB-B783-AD2F-F1D0-DE68A71F1E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Lige pilforbindelse 75">
              <a:extLst>
                <a:ext uri="{FF2B5EF4-FFF2-40B4-BE49-F238E27FC236}">
                  <a16:creationId xmlns:a16="http://schemas.microsoft.com/office/drawing/2014/main" id="{6421F789-51ED-8B35-8BF4-B243EFA12A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Lige pilforbindelse 76">
              <a:extLst>
                <a:ext uri="{FF2B5EF4-FFF2-40B4-BE49-F238E27FC236}">
                  <a16:creationId xmlns:a16="http://schemas.microsoft.com/office/drawing/2014/main" id="{BD8BEEE5-C0BC-74B4-5680-89D9BB2261B7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uppe 77">
            <a:extLst>
              <a:ext uri="{FF2B5EF4-FFF2-40B4-BE49-F238E27FC236}">
                <a16:creationId xmlns:a16="http://schemas.microsoft.com/office/drawing/2014/main" id="{1B64E5EE-9C7C-84B3-1FC1-A24547CE1CA8}"/>
              </a:ext>
            </a:extLst>
          </p:cNvPr>
          <p:cNvGrpSpPr/>
          <p:nvPr/>
        </p:nvGrpSpPr>
        <p:grpSpPr>
          <a:xfrm>
            <a:off x="2827724" y="2932071"/>
            <a:ext cx="497250" cy="497250"/>
            <a:chOff x="8486354" y="4346878"/>
            <a:chExt cx="1216819" cy="1252538"/>
          </a:xfrm>
        </p:grpSpPr>
        <p:pic>
          <p:nvPicPr>
            <p:cNvPr id="79" name="Billede 78">
              <a:extLst>
                <a:ext uri="{FF2B5EF4-FFF2-40B4-BE49-F238E27FC236}">
                  <a16:creationId xmlns:a16="http://schemas.microsoft.com/office/drawing/2014/main" id="{5E070CA8-133B-C34B-844C-D3826C82E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80" name="Lige pilforbindelse 79">
              <a:extLst>
                <a:ext uri="{FF2B5EF4-FFF2-40B4-BE49-F238E27FC236}">
                  <a16:creationId xmlns:a16="http://schemas.microsoft.com/office/drawing/2014/main" id="{8DF05248-A8C7-D540-2E35-F45EB52FB3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Lige pilforbindelse 80">
              <a:extLst>
                <a:ext uri="{FF2B5EF4-FFF2-40B4-BE49-F238E27FC236}">
                  <a16:creationId xmlns:a16="http://schemas.microsoft.com/office/drawing/2014/main" id="{C19C7AE3-C428-57B5-F07D-915425329E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Lige pilforbindelse 81">
              <a:extLst>
                <a:ext uri="{FF2B5EF4-FFF2-40B4-BE49-F238E27FC236}">
                  <a16:creationId xmlns:a16="http://schemas.microsoft.com/office/drawing/2014/main" id="{DA7471DB-7260-7E30-F4C9-A9C7AEE54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Lige pilforbindelse 82">
              <a:extLst>
                <a:ext uri="{FF2B5EF4-FFF2-40B4-BE49-F238E27FC236}">
                  <a16:creationId xmlns:a16="http://schemas.microsoft.com/office/drawing/2014/main" id="{1FC214FF-B670-7BD6-9430-1D203BA40FDF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Lige pilforbindelse 83">
              <a:extLst>
                <a:ext uri="{FF2B5EF4-FFF2-40B4-BE49-F238E27FC236}">
                  <a16:creationId xmlns:a16="http://schemas.microsoft.com/office/drawing/2014/main" id="{BE5361A9-6029-1A0E-1992-7706B025BF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Lige pilforbindelse 84">
              <a:extLst>
                <a:ext uri="{FF2B5EF4-FFF2-40B4-BE49-F238E27FC236}">
                  <a16:creationId xmlns:a16="http://schemas.microsoft.com/office/drawing/2014/main" id="{9EE826F9-6127-116D-A96B-5EF7772DA1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Lige pilforbindelse 85">
              <a:extLst>
                <a:ext uri="{FF2B5EF4-FFF2-40B4-BE49-F238E27FC236}">
                  <a16:creationId xmlns:a16="http://schemas.microsoft.com/office/drawing/2014/main" id="{7B49F904-89F8-EBCF-C7A8-C355E95067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Lige pilforbindelse 86">
              <a:extLst>
                <a:ext uri="{FF2B5EF4-FFF2-40B4-BE49-F238E27FC236}">
                  <a16:creationId xmlns:a16="http://schemas.microsoft.com/office/drawing/2014/main" id="{51468EA2-BEB6-1B54-87B3-D6453C0224D1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uppe 87">
            <a:extLst>
              <a:ext uri="{FF2B5EF4-FFF2-40B4-BE49-F238E27FC236}">
                <a16:creationId xmlns:a16="http://schemas.microsoft.com/office/drawing/2014/main" id="{F1786AF1-5C05-F3DA-4DC6-C62F25B4A2C0}"/>
              </a:ext>
            </a:extLst>
          </p:cNvPr>
          <p:cNvGrpSpPr/>
          <p:nvPr/>
        </p:nvGrpSpPr>
        <p:grpSpPr>
          <a:xfrm>
            <a:off x="3165290" y="2937486"/>
            <a:ext cx="497250" cy="497250"/>
            <a:chOff x="8486354" y="4346878"/>
            <a:chExt cx="1216819" cy="1252538"/>
          </a:xfrm>
        </p:grpSpPr>
        <p:pic>
          <p:nvPicPr>
            <p:cNvPr id="89" name="Billede 88">
              <a:extLst>
                <a:ext uri="{FF2B5EF4-FFF2-40B4-BE49-F238E27FC236}">
                  <a16:creationId xmlns:a16="http://schemas.microsoft.com/office/drawing/2014/main" id="{2A6F6D79-8245-A310-28B1-C88ED89AF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90" name="Lige pilforbindelse 89">
              <a:extLst>
                <a:ext uri="{FF2B5EF4-FFF2-40B4-BE49-F238E27FC236}">
                  <a16:creationId xmlns:a16="http://schemas.microsoft.com/office/drawing/2014/main" id="{BF0C46DF-F851-14D1-DF5B-C789AA1C3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Lige pilforbindelse 90">
              <a:extLst>
                <a:ext uri="{FF2B5EF4-FFF2-40B4-BE49-F238E27FC236}">
                  <a16:creationId xmlns:a16="http://schemas.microsoft.com/office/drawing/2014/main" id="{19847908-EE8F-EF01-908E-6C834C4806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Lige pilforbindelse 91">
              <a:extLst>
                <a:ext uri="{FF2B5EF4-FFF2-40B4-BE49-F238E27FC236}">
                  <a16:creationId xmlns:a16="http://schemas.microsoft.com/office/drawing/2014/main" id="{AF6CCEE9-4D99-D536-EA6D-13490B09E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Lige pilforbindelse 92">
              <a:extLst>
                <a:ext uri="{FF2B5EF4-FFF2-40B4-BE49-F238E27FC236}">
                  <a16:creationId xmlns:a16="http://schemas.microsoft.com/office/drawing/2014/main" id="{CD07722F-C4D2-4088-08F9-47CAB57C712F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Lige pilforbindelse 93">
              <a:extLst>
                <a:ext uri="{FF2B5EF4-FFF2-40B4-BE49-F238E27FC236}">
                  <a16:creationId xmlns:a16="http://schemas.microsoft.com/office/drawing/2014/main" id="{82444FC3-64C5-DD7A-51B7-C7CA66C36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Lige pilforbindelse 94">
              <a:extLst>
                <a:ext uri="{FF2B5EF4-FFF2-40B4-BE49-F238E27FC236}">
                  <a16:creationId xmlns:a16="http://schemas.microsoft.com/office/drawing/2014/main" id="{AD7A19E6-3F2F-6E6C-25EC-56F4C97BDF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Lige pilforbindelse 95">
              <a:extLst>
                <a:ext uri="{FF2B5EF4-FFF2-40B4-BE49-F238E27FC236}">
                  <a16:creationId xmlns:a16="http://schemas.microsoft.com/office/drawing/2014/main" id="{CDCCF41A-444F-5111-E1F7-7772DD5ECD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Lige pilforbindelse 96">
              <a:extLst>
                <a:ext uri="{FF2B5EF4-FFF2-40B4-BE49-F238E27FC236}">
                  <a16:creationId xmlns:a16="http://schemas.microsoft.com/office/drawing/2014/main" id="{65B6E151-2B76-BD91-80B7-3FF9EB6332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kstfelt 97">
            <a:extLst>
              <a:ext uri="{FF2B5EF4-FFF2-40B4-BE49-F238E27FC236}">
                <a16:creationId xmlns:a16="http://schemas.microsoft.com/office/drawing/2014/main" id="{6106E74C-4860-8A89-3161-5B96118861A7}"/>
              </a:ext>
            </a:extLst>
          </p:cNvPr>
          <p:cNvSpPr txBox="1"/>
          <p:nvPr/>
        </p:nvSpPr>
        <p:spPr>
          <a:xfrm>
            <a:off x="3244821" y="1787806"/>
            <a:ext cx="540666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950" dirty="0"/>
              <a:t>U</a:t>
            </a:r>
            <a:r>
              <a:rPr lang="da-DK" sz="1950" baseline="-25000" dirty="0"/>
              <a:t>C</a:t>
            </a:r>
          </a:p>
        </p:txBody>
      </p:sp>
      <p:cxnSp>
        <p:nvCxnSpPr>
          <p:cNvPr id="99" name="Lige pilforbindelse 98">
            <a:extLst>
              <a:ext uri="{FF2B5EF4-FFF2-40B4-BE49-F238E27FC236}">
                <a16:creationId xmlns:a16="http://schemas.microsoft.com/office/drawing/2014/main" id="{F433AAA7-48F8-8348-FD33-3DFC04BB23D2}"/>
              </a:ext>
            </a:extLst>
          </p:cNvPr>
          <p:cNvCxnSpPr>
            <a:cxnSpLocks/>
          </p:cNvCxnSpPr>
          <p:nvPr/>
        </p:nvCxnSpPr>
        <p:spPr>
          <a:xfrm flipH="1">
            <a:off x="3210847" y="2193313"/>
            <a:ext cx="474593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uppe 99">
            <a:extLst>
              <a:ext uri="{FF2B5EF4-FFF2-40B4-BE49-F238E27FC236}">
                <a16:creationId xmlns:a16="http://schemas.microsoft.com/office/drawing/2014/main" id="{7E3EF4E1-7A8A-3354-9170-FA15D7E89CBE}"/>
              </a:ext>
            </a:extLst>
          </p:cNvPr>
          <p:cNvGrpSpPr/>
          <p:nvPr/>
        </p:nvGrpSpPr>
        <p:grpSpPr>
          <a:xfrm>
            <a:off x="2904084" y="3427655"/>
            <a:ext cx="497250" cy="497250"/>
            <a:chOff x="8486354" y="4346878"/>
            <a:chExt cx="1216819" cy="1252538"/>
          </a:xfrm>
        </p:grpSpPr>
        <p:pic>
          <p:nvPicPr>
            <p:cNvPr id="101" name="Billede 100">
              <a:extLst>
                <a:ext uri="{FF2B5EF4-FFF2-40B4-BE49-F238E27FC236}">
                  <a16:creationId xmlns:a16="http://schemas.microsoft.com/office/drawing/2014/main" id="{B01CE100-FF89-BD28-7DF1-4070D6541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102" name="Lige pilforbindelse 101">
              <a:extLst>
                <a:ext uri="{FF2B5EF4-FFF2-40B4-BE49-F238E27FC236}">
                  <a16:creationId xmlns:a16="http://schemas.microsoft.com/office/drawing/2014/main" id="{EBD3B376-DFC9-BB35-FCDB-BD3543C0B1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Lige pilforbindelse 102">
              <a:extLst>
                <a:ext uri="{FF2B5EF4-FFF2-40B4-BE49-F238E27FC236}">
                  <a16:creationId xmlns:a16="http://schemas.microsoft.com/office/drawing/2014/main" id="{08634ECC-13DF-9595-CB4C-5B3BC0D0E9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Lige pilforbindelse 103">
              <a:extLst>
                <a:ext uri="{FF2B5EF4-FFF2-40B4-BE49-F238E27FC236}">
                  <a16:creationId xmlns:a16="http://schemas.microsoft.com/office/drawing/2014/main" id="{22FDD3AB-ECA1-690D-B960-2085443A9B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Lige pilforbindelse 104">
              <a:extLst>
                <a:ext uri="{FF2B5EF4-FFF2-40B4-BE49-F238E27FC236}">
                  <a16:creationId xmlns:a16="http://schemas.microsoft.com/office/drawing/2014/main" id="{24325BF8-BA4D-7132-5F34-B9BC45D5983B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Lige pilforbindelse 105">
              <a:extLst>
                <a:ext uri="{FF2B5EF4-FFF2-40B4-BE49-F238E27FC236}">
                  <a16:creationId xmlns:a16="http://schemas.microsoft.com/office/drawing/2014/main" id="{764B52D0-9A1C-EDC3-3ACD-C4BA15BAE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Lige pilforbindelse 106">
              <a:extLst>
                <a:ext uri="{FF2B5EF4-FFF2-40B4-BE49-F238E27FC236}">
                  <a16:creationId xmlns:a16="http://schemas.microsoft.com/office/drawing/2014/main" id="{AE63130A-14F1-6337-8753-2DA9DADCEC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Lige pilforbindelse 107">
              <a:extLst>
                <a:ext uri="{FF2B5EF4-FFF2-40B4-BE49-F238E27FC236}">
                  <a16:creationId xmlns:a16="http://schemas.microsoft.com/office/drawing/2014/main" id="{25D47BF6-62CB-8D8D-FF3B-DBA7AEB1B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Lige pilforbindelse 108">
              <a:extLst>
                <a:ext uri="{FF2B5EF4-FFF2-40B4-BE49-F238E27FC236}">
                  <a16:creationId xmlns:a16="http://schemas.microsoft.com/office/drawing/2014/main" id="{B27A302A-AFFF-7AFF-BEF9-4D5D0FAA5CAD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uppe 109">
            <a:extLst>
              <a:ext uri="{FF2B5EF4-FFF2-40B4-BE49-F238E27FC236}">
                <a16:creationId xmlns:a16="http://schemas.microsoft.com/office/drawing/2014/main" id="{B297B092-F615-79F7-FFBE-04D4E8BBCCDF}"/>
              </a:ext>
            </a:extLst>
          </p:cNvPr>
          <p:cNvGrpSpPr/>
          <p:nvPr/>
        </p:nvGrpSpPr>
        <p:grpSpPr>
          <a:xfrm>
            <a:off x="2859871" y="2553912"/>
            <a:ext cx="497250" cy="497250"/>
            <a:chOff x="8486354" y="4346878"/>
            <a:chExt cx="1216819" cy="1252538"/>
          </a:xfrm>
        </p:grpSpPr>
        <p:pic>
          <p:nvPicPr>
            <p:cNvPr id="111" name="Billede 110">
              <a:extLst>
                <a:ext uri="{FF2B5EF4-FFF2-40B4-BE49-F238E27FC236}">
                  <a16:creationId xmlns:a16="http://schemas.microsoft.com/office/drawing/2014/main" id="{9069FAF2-FB83-7A35-CC12-96B2B4A95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112" name="Lige pilforbindelse 111">
              <a:extLst>
                <a:ext uri="{FF2B5EF4-FFF2-40B4-BE49-F238E27FC236}">
                  <a16:creationId xmlns:a16="http://schemas.microsoft.com/office/drawing/2014/main" id="{1FCD374D-25B2-890A-2F85-532D73CDB8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Lige pilforbindelse 112">
              <a:extLst>
                <a:ext uri="{FF2B5EF4-FFF2-40B4-BE49-F238E27FC236}">
                  <a16:creationId xmlns:a16="http://schemas.microsoft.com/office/drawing/2014/main" id="{D1C34190-A07A-F000-C026-35E1B6621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Lige pilforbindelse 113">
              <a:extLst>
                <a:ext uri="{FF2B5EF4-FFF2-40B4-BE49-F238E27FC236}">
                  <a16:creationId xmlns:a16="http://schemas.microsoft.com/office/drawing/2014/main" id="{85C87534-AF69-A995-FDD1-FB767AA70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Lige pilforbindelse 114">
              <a:extLst>
                <a:ext uri="{FF2B5EF4-FFF2-40B4-BE49-F238E27FC236}">
                  <a16:creationId xmlns:a16="http://schemas.microsoft.com/office/drawing/2014/main" id="{DB548391-5F54-FDE6-F9FC-E4FCA94776F8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Lige pilforbindelse 115">
              <a:extLst>
                <a:ext uri="{FF2B5EF4-FFF2-40B4-BE49-F238E27FC236}">
                  <a16:creationId xmlns:a16="http://schemas.microsoft.com/office/drawing/2014/main" id="{77B79304-BB6F-F301-3F0F-3BB9B84941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Lige pilforbindelse 116">
              <a:extLst>
                <a:ext uri="{FF2B5EF4-FFF2-40B4-BE49-F238E27FC236}">
                  <a16:creationId xmlns:a16="http://schemas.microsoft.com/office/drawing/2014/main" id="{C03D9B47-66BD-8B32-C7CB-A021E1008A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Lige pilforbindelse 117">
              <a:extLst>
                <a:ext uri="{FF2B5EF4-FFF2-40B4-BE49-F238E27FC236}">
                  <a16:creationId xmlns:a16="http://schemas.microsoft.com/office/drawing/2014/main" id="{873FD2F3-D057-69C7-C614-A0FD72D9F4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Lige pilforbindelse 118">
              <a:extLst>
                <a:ext uri="{FF2B5EF4-FFF2-40B4-BE49-F238E27FC236}">
                  <a16:creationId xmlns:a16="http://schemas.microsoft.com/office/drawing/2014/main" id="{73000C28-1CEE-6892-BEF9-C4969E7E3010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uppe 119">
            <a:extLst>
              <a:ext uri="{FF2B5EF4-FFF2-40B4-BE49-F238E27FC236}">
                <a16:creationId xmlns:a16="http://schemas.microsoft.com/office/drawing/2014/main" id="{DD1BE80A-FCA6-B4EF-175E-CB6FBDE7A6CB}"/>
              </a:ext>
            </a:extLst>
          </p:cNvPr>
          <p:cNvGrpSpPr/>
          <p:nvPr/>
        </p:nvGrpSpPr>
        <p:grpSpPr>
          <a:xfrm>
            <a:off x="2864973" y="3123477"/>
            <a:ext cx="497250" cy="497250"/>
            <a:chOff x="8486354" y="4346878"/>
            <a:chExt cx="1216819" cy="1252538"/>
          </a:xfrm>
        </p:grpSpPr>
        <p:pic>
          <p:nvPicPr>
            <p:cNvPr id="121" name="Billede 120">
              <a:extLst>
                <a:ext uri="{FF2B5EF4-FFF2-40B4-BE49-F238E27FC236}">
                  <a16:creationId xmlns:a16="http://schemas.microsoft.com/office/drawing/2014/main" id="{88D02E75-19E7-6A11-B330-2B5A6ACC3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122" name="Lige pilforbindelse 121">
              <a:extLst>
                <a:ext uri="{FF2B5EF4-FFF2-40B4-BE49-F238E27FC236}">
                  <a16:creationId xmlns:a16="http://schemas.microsoft.com/office/drawing/2014/main" id="{E428D939-1E76-58C2-48AF-EF5418D061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Lige pilforbindelse 122">
              <a:extLst>
                <a:ext uri="{FF2B5EF4-FFF2-40B4-BE49-F238E27FC236}">
                  <a16:creationId xmlns:a16="http://schemas.microsoft.com/office/drawing/2014/main" id="{603A6870-E891-99DF-9A97-DFE9F7BD28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Lige pilforbindelse 123">
              <a:extLst>
                <a:ext uri="{FF2B5EF4-FFF2-40B4-BE49-F238E27FC236}">
                  <a16:creationId xmlns:a16="http://schemas.microsoft.com/office/drawing/2014/main" id="{C71185B5-7880-E2A2-7DA9-E4D02960A5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Lige pilforbindelse 124">
              <a:extLst>
                <a:ext uri="{FF2B5EF4-FFF2-40B4-BE49-F238E27FC236}">
                  <a16:creationId xmlns:a16="http://schemas.microsoft.com/office/drawing/2014/main" id="{26881D89-8813-E99D-4D16-AF15028D3E05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Lige pilforbindelse 125">
              <a:extLst>
                <a:ext uri="{FF2B5EF4-FFF2-40B4-BE49-F238E27FC236}">
                  <a16:creationId xmlns:a16="http://schemas.microsoft.com/office/drawing/2014/main" id="{EDBDE57C-60FD-286F-61F8-28DE4B6AFC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Lige pilforbindelse 126">
              <a:extLst>
                <a:ext uri="{FF2B5EF4-FFF2-40B4-BE49-F238E27FC236}">
                  <a16:creationId xmlns:a16="http://schemas.microsoft.com/office/drawing/2014/main" id="{94D31B25-3E47-B42F-A089-168B788ADB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Lige pilforbindelse 2047">
              <a:extLst>
                <a:ext uri="{FF2B5EF4-FFF2-40B4-BE49-F238E27FC236}">
                  <a16:creationId xmlns:a16="http://schemas.microsoft.com/office/drawing/2014/main" id="{664E1C1F-FCFD-1C3F-7850-6A7B52C7C7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Lige pilforbindelse 2048">
              <a:extLst>
                <a:ext uri="{FF2B5EF4-FFF2-40B4-BE49-F238E27FC236}">
                  <a16:creationId xmlns:a16="http://schemas.microsoft.com/office/drawing/2014/main" id="{520F06B2-3091-F388-8C24-8543CE2A3EA2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1" name="Gruppe 2050">
            <a:extLst>
              <a:ext uri="{FF2B5EF4-FFF2-40B4-BE49-F238E27FC236}">
                <a16:creationId xmlns:a16="http://schemas.microsoft.com/office/drawing/2014/main" id="{9E3DED38-64C0-ED21-C003-E5534E77275B}"/>
              </a:ext>
            </a:extLst>
          </p:cNvPr>
          <p:cNvGrpSpPr/>
          <p:nvPr/>
        </p:nvGrpSpPr>
        <p:grpSpPr>
          <a:xfrm>
            <a:off x="3596695" y="3290654"/>
            <a:ext cx="497250" cy="497250"/>
            <a:chOff x="8486354" y="4346878"/>
            <a:chExt cx="1216819" cy="1252538"/>
          </a:xfrm>
        </p:grpSpPr>
        <p:pic>
          <p:nvPicPr>
            <p:cNvPr id="2052" name="Billede 2051">
              <a:extLst>
                <a:ext uri="{FF2B5EF4-FFF2-40B4-BE49-F238E27FC236}">
                  <a16:creationId xmlns:a16="http://schemas.microsoft.com/office/drawing/2014/main" id="{F74B8B62-62DB-D31A-B1E0-6EAAB5BC4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2053" name="Lige pilforbindelse 2052">
              <a:extLst>
                <a:ext uri="{FF2B5EF4-FFF2-40B4-BE49-F238E27FC236}">
                  <a16:creationId xmlns:a16="http://schemas.microsoft.com/office/drawing/2014/main" id="{B8D372AE-3769-8D1F-A26A-9BA44C6099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Lige pilforbindelse 2053">
              <a:extLst>
                <a:ext uri="{FF2B5EF4-FFF2-40B4-BE49-F238E27FC236}">
                  <a16:creationId xmlns:a16="http://schemas.microsoft.com/office/drawing/2014/main" id="{5DDD910C-403A-4580-FCD7-A41B27CD1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Lige pilforbindelse 2054">
              <a:extLst>
                <a:ext uri="{FF2B5EF4-FFF2-40B4-BE49-F238E27FC236}">
                  <a16:creationId xmlns:a16="http://schemas.microsoft.com/office/drawing/2014/main" id="{67D4EDDB-16C6-7333-32AD-89ABBE91BA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Lige pilforbindelse 2055">
              <a:extLst>
                <a:ext uri="{FF2B5EF4-FFF2-40B4-BE49-F238E27FC236}">
                  <a16:creationId xmlns:a16="http://schemas.microsoft.com/office/drawing/2014/main" id="{69FB0051-67A0-F7E5-8170-91167117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Lige pilforbindelse 2056">
              <a:extLst>
                <a:ext uri="{FF2B5EF4-FFF2-40B4-BE49-F238E27FC236}">
                  <a16:creationId xmlns:a16="http://schemas.microsoft.com/office/drawing/2014/main" id="{DA535BB6-CEB9-58B7-D207-F3F7775468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Lige pilforbindelse 2057">
              <a:extLst>
                <a:ext uri="{FF2B5EF4-FFF2-40B4-BE49-F238E27FC236}">
                  <a16:creationId xmlns:a16="http://schemas.microsoft.com/office/drawing/2014/main" id="{F7EB8A79-649B-0FC0-10DD-B88AB48488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Lige pilforbindelse 2058">
              <a:extLst>
                <a:ext uri="{FF2B5EF4-FFF2-40B4-BE49-F238E27FC236}">
                  <a16:creationId xmlns:a16="http://schemas.microsoft.com/office/drawing/2014/main" id="{F43A5DAE-6609-D1A5-03FF-E269E6094A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Lige pilforbindelse 2059">
              <a:extLst>
                <a:ext uri="{FF2B5EF4-FFF2-40B4-BE49-F238E27FC236}">
                  <a16:creationId xmlns:a16="http://schemas.microsoft.com/office/drawing/2014/main" id="{CB09E1BB-D67C-F740-5DC5-233077225CF7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1" name="Gruppe 2060">
            <a:extLst>
              <a:ext uri="{FF2B5EF4-FFF2-40B4-BE49-F238E27FC236}">
                <a16:creationId xmlns:a16="http://schemas.microsoft.com/office/drawing/2014/main" id="{A0993057-B558-F63A-95AD-849E1CDFE7E0}"/>
              </a:ext>
            </a:extLst>
          </p:cNvPr>
          <p:cNvGrpSpPr/>
          <p:nvPr/>
        </p:nvGrpSpPr>
        <p:grpSpPr>
          <a:xfrm>
            <a:off x="3331012" y="2529125"/>
            <a:ext cx="497250" cy="497250"/>
            <a:chOff x="8486354" y="4346878"/>
            <a:chExt cx="1216819" cy="1252538"/>
          </a:xfrm>
        </p:grpSpPr>
        <p:pic>
          <p:nvPicPr>
            <p:cNvPr id="2062" name="Billede 2061">
              <a:extLst>
                <a:ext uri="{FF2B5EF4-FFF2-40B4-BE49-F238E27FC236}">
                  <a16:creationId xmlns:a16="http://schemas.microsoft.com/office/drawing/2014/main" id="{C977EA2A-6E1E-5909-0395-DE2E64B53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63934" y="4835951"/>
              <a:ext cx="255292" cy="270534"/>
            </a:xfrm>
            <a:prstGeom prst="rect">
              <a:avLst/>
            </a:prstGeom>
          </p:spPr>
        </p:pic>
        <p:cxnSp>
          <p:nvCxnSpPr>
            <p:cNvPr id="2063" name="Lige pilforbindelse 2062">
              <a:extLst>
                <a:ext uri="{FF2B5EF4-FFF2-40B4-BE49-F238E27FC236}">
                  <a16:creationId xmlns:a16="http://schemas.microsoft.com/office/drawing/2014/main" id="{44C4AC74-C95C-7E77-A3D1-7FEBC81D74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4553" y="4530308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Lige pilforbindelse 2063">
              <a:extLst>
                <a:ext uri="{FF2B5EF4-FFF2-40B4-BE49-F238E27FC236}">
                  <a16:creationId xmlns:a16="http://schemas.microsoft.com/office/drawing/2014/main" id="{CD279AE3-1D57-46A6-40B9-16233DF9E0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4764" y="4346878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Lige pilforbindelse 2064">
              <a:extLst>
                <a:ext uri="{FF2B5EF4-FFF2-40B4-BE49-F238E27FC236}">
                  <a16:creationId xmlns:a16="http://schemas.microsoft.com/office/drawing/2014/main" id="{4FD83D8C-9699-6238-5CBE-C51F0B708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359" y="4530308"/>
              <a:ext cx="273615" cy="29870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Lige pilforbindelse 2065">
              <a:extLst>
                <a:ext uri="{FF2B5EF4-FFF2-40B4-BE49-F238E27FC236}">
                  <a16:creationId xmlns:a16="http://schemas.microsoft.com/office/drawing/2014/main" id="{66B3566C-BF68-0F4E-D749-78B771AA5C54}"/>
                </a:ext>
              </a:extLst>
            </p:cNvPr>
            <p:cNvCxnSpPr>
              <a:cxnSpLocks/>
            </p:cNvCxnSpPr>
            <p:nvPr/>
          </p:nvCxnSpPr>
          <p:spPr>
            <a:xfrm>
              <a:off x="9293491" y="4973147"/>
              <a:ext cx="409682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Lige pilforbindelse 2066">
              <a:extLst>
                <a:ext uri="{FF2B5EF4-FFF2-40B4-BE49-F238E27FC236}">
                  <a16:creationId xmlns:a16="http://schemas.microsoft.com/office/drawing/2014/main" id="{11404262-ABE5-DD2E-1E99-D2DCBB5728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54" y="4973147"/>
              <a:ext cx="409684" cy="0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Lige pilforbindelse 2067">
              <a:extLst>
                <a:ext uri="{FF2B5EF4-FFF2-40B4-BE49-F238E27FC236}">
                  <a16:creationId xmlns:a16="http://schemas.microsoft.com/office/drawing/2014/main" id="{5859D2C4-C4AF-F005-2CA5-1861D664E4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4553" y="5113154"/>
              <a:ext cx="289691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Lige pilforbindelse 2068">
              <a:extLst>
                <a:ext uri="{FF2B5EF4-FFF2-40B4-BE49-F238E27FC236}">
                  <a16:creationId xmlns:a16="http://schemas.microsoft.com/office/drawing/2014/main" id="{29D88370-E257-5588-D3BD-2D586EF5DB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4764" y="5171147"/>
              <a:ext cx="1" cy="428269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Lige pilforbindelse 2069">
              <a:extLst>
                <a:ext uri="{FF2B5EF4-FFF2-40B4-BE49-F238E27FC236}">
                  <a16:creationId xmlns:a16="http://schemas.microsoft.com/office/drawing/2014/main" id="{979F6BA5-B077-1D77-4B40-632E01CDFD9B}"/>
                </a:ext>
              </a:extLst>
            </p:cNvPr>
            <p:cNvCxnSpPr>
              <a:cxnSpLocks/>
            </p:cNvCxnSpPr>
            <p:nvPr/>
          </p:nvCxnSpPr>
          <p:spPr>
            <a:xfrm>
              <a:off x="9235285" y="5113154"/>
              <a:ext cx="289689" cy="302832"/>
            </a:xfrm>
            <a:prstGeom prst="straightConnector1">
              <a:avLst/>
            </a:prstGeom>
            <a:ln>
              <a:headEnd type="triangl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2" name="Tekstfelt 2071">
            <a:extLst>
              <a:ext uri="{FF2B5EF4-FFF2-40B4-BE49-F238E27FC236}">
                <a16:creationId xmlns:a16="http://schemas.microsoft.com/office/drawing/2014/main" id="{3790D19A-1AFB-A2CE-26B6-E3EBF0DB0342}"/>
              </a:ext>
            </a:extLst>
          </p:cNvPr>
          <p:cNvSpPr txBox="1"/>
          <p:nvPr/>
        </p:nvSpPr>
        <p:spPr>
          <a:xfrm>
            <a:off x="5224448" y="3777647"/>
            <a:ext cx="58463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600" b="1" dirty="0"/>
              <a:t>Dette fortsætter indtil den kraft som den opladede kondensatorplade påvirker de tilflydende ladninger med, er lige så stor og modsatrettet spændingskildens elektromotoriske kraft.</a:t>
            </a:r>
          </a:p>
        </p:txBody>
      </p:sp>
      <p:cxnSp>
        <p:nvCxnSpPr>
          <p:cNvPr id="2074" name="Lige forbindelse 2073">
            <a:extLst>
              <a:ext uri="{FF2B5EF4-FFF2-40B4-BE49-F238E27FC236}">
                <a16:creationId xmlns:a16="http://schemas.microsoft.com/office/drawing/2014/main" id="{76978A56-9C56-54A4-82D9-7D602E87702D}"/>
              </a:ext>
            </a:extLst>
          </p:cNvPr>
          <p:cNvCxnSpPr>
            <a:cxnSpLocks/>
          </p:cNvCxnSpPr>
          <p:nvPr/>
        </p:nvCxnSpPr>
        <p:spPr>
          <a:xfrm flipV="1">
            <a:off x="2104416" y="5366512"/>
            <a:ext cx="0" cy="2252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7" name="Lige forbindelse 2076">
            <a:extLst>
              <a:ext uri="{FF2B5EF4-FFF2-40B4-BE49-F238E27FC236}">
                <a16:creationId xmlns:a16="http://schemas.microsoft.com/office/drawing/2014/main" id="{3A00D630-7081-AFF6-1BA0-48B4ECCE1EC3}"/>
              </a:ext>
            </a:extLst>
          </p:cNvPr>
          <p:cNvCxnSpPr/>
          <p:nvPr/>
        </p:nvCxnSpPr>
        <p:spPr>
          <a:xfrm>
            <a:off x="1994729" y="5353165"/>
            <a:ext cx="2193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8" name="Tekstfelt 2077">
            <a:extLst>
              <a:ext uri="{FF2B5EF4-FFF2-40B4-BE49-F238E27FC236}">
                <a16:creationId xmlns:a16="http://schemas.microsoft.com/office/drawing/2014/main" id="{D0C9BF1B-2D9E-F0EF-EFFF-DA9D3D58FDFA}"/>
              </a:ext>
            </a:extLst>
          </p:cNvPr>
          <p:cNvSpPr txBox="1"/>
          <p:nvPr/>
        </p:nvSpPr>
        <p:spPr>
          <a:xfrm>
            <a:off x="2002751" y="4953782"/>
            <a:ext cx="236002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S</a:t>
            </a:r>
          </a:p>
        </p:txBody>
      </p:sp>
      <p:sp>
        <p:nvSpPr>
          <p:cNvPr id="2079" name="Tekstfelt 2078">
            <a:extLst>
              <a:ext uri="{FF2B5EF4-FFF2-40B4-BE49-F238E27FC236}">
                <a16:creationId xmlns:a16="http://schemas.microsoft.com/office/drawing/2014/main" id="{B25260E2-E7E4-2F9F-C5A9-D336C9381C97}"/>
              </a:ext>
            </a:extLst>
          </p:cNvPr>
          <p:cNvSpPr txBox="1"/>
          <p:nvPr/>
        </p:nvSpPr>
        <p:spPr>
          <a:xfrm>
            <a:off x="5220587" y="4748338"/>
            <a:ext cx="5846316" cy="1067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600" b="1" dirty="0"/>
              <a:t>Når elektronerne stopper med at flyde i kredsløbet er kondensatoren fuldt opladet. </a:t>
            </a:r>
          </a:p>
          <a:p>
            <a:endParaRPr lang="da-DK" sz="1600" b="1" dirty="0"/>
          </a:p>
          <a:p>
            <a:r>
              <a:rPr lang="da-DK" sz="1600" b="1" dirty="0"/>
              <a:t>U</a:t>
            </a:r>
            <a:r>
              <a:rPr lang="da-DK" sz="1600" b="1" baseline="-25000" dirty="0"/>
              <a:t>DC</a:t>
            </a:r>
            <a:r>
              <a:rPr lang="da-DK" sz="1600" b="1" dirty="0"/>
              <a:t> = U</a:t>
            </a:r>
            <a:r>
              <a:rPr lang="da-DK" sz="1600" b="1" baseline="-25000" dirty="0"/>
              <a:t>C  </a:t>
            </a:r>
            <a:r>
              <a:rPr lang="da-DK" sz="1600" b="1" dirty="0"/>
              <a:t>Kirchhoffs 2. lov er altså opfyldt</a:t>
            </a:r>
            <a:endParaRPr lang="da-DK" sz="1600" b="1" baseline="-25000" dirty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206EC136-2CE5-1AE3-6C20-DE9B96484BE8}"/>
              </a:ext>
            </a:extLst>
          </p:cNvPr>
          <p:cNvSpPr/>
          <p:nvPr/>
        </p:nvSpPr>
        <p:spPr>
          <a:xfrm>
            <a:off x="1630619" y="3431595"/>
            <a:ext cx="220408" cy="48139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9FDB1116-A2A0-CD2B-F96C-1FE2FE0F3488}"/>
              </a:ext>
            </a:extLst>
          </p:cNvPr>
          <p:cNvSpPr txBox="1"/>
          <p:nvPr/>
        </p:nvSpPr>
        <p:spPr>
          <a:xfrm>
            <a:off x="1586151" y="3467753"/>
            <a:ext cx="33054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</a:p>
        </p:txBody>
      </p:sp>
      <p:sp>
        <p:nvSpPr>
          <p:cNvPr id="9" name="Pladsholder til dato 8">
            <a:extLst>
              <a:ext uri="{FF2B5EF4-FFF2-40B4-BE49-F238E27FC236}">
                <a16:creationId xmlns:a16="http://schemas.microsoft.com/office/drawing/2014/main" id="{93DE2D3A-E458-57B8-0CAA-60358FC2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0335-6872-4C7C-A824-7DC020E762FC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2071" name="Pladsholder til slidenummer 2070">
            <a:extLst>
              <a:ext uri="{FF2B5EF4-FFF2-40B4-BE49-F238E27FC236}">
                <a16:creationId xmlns:a16="http://schemas.microsoft.com/office/drawing/2014/main" id="{7E76BF96-53DE-C003-A4D1-14C32DB85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45572DC-CA0A-99A7-82A8-DE22B3389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9107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207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BEDDBAC4-FAA5-47BC-87BA-487AE2C40415}"/>
              </a:ext>
            </a:extLst>
          </p:cNvPr>
          <p:cNvCxnSpPr>
            <a:cxnSpLocks/>
          </p:cNvCxnSpPr>
          <p:nvPr/>
        </p:nvCxnSpPr>
        <p:spPr>
          <a:xfrm>
            <a:off x="1736604" y="3181612"/>
            <a:ext cx="108817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Kondensator i et kredsløb</a:t>
            </a:r>
          </a:p>
        </p:txBody>
      </p:sp>
      <p:sp>
        <p:nvSpPr>
          <p:cNvPr id="3" name="Rutediagram: Data 2">
            <a:extLst>
              <a:ext uri="{FF2B5EF4-FFF2-40B4-BE49-F238E27FC236}">
                <a16:creationId xmlns:a16="http://schemas.microsoft.com/office/drawing/2014/main" id="{E382E80C-1439-0F55-EE5D-2FE67EF6DDBE}"/>
              </a:ext>
            </a:extLst>
          </p:cNvPr>
          <p:cNvSpPr/>
          <p:nvPr/>
        </p:nvSpPr>
        <p:spPr>
          <a:xfrm rot="20963003">
            <a:off x="2406599" y="2621823"/>
            <a:ext cx="1101640" cy="1119581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/>
          </a:p>
        </p:txBody>
      </p:sp>
      <p:sp>
        <p:nvSpPr>
          <p:cNvPr id="27" name="Rutediagram: Data 26">
            <a:extLst>
              <a:ext uri="{FF2B5EF4-FFF2-40B4-BE49-F238E27FC236}">
                <a16:creationId xmlns:a16="http://schemas.microsoft.com/office/drawing/2014/main" id="{58B079BA-7982-F46D-80A2-041DA4E16B56}"/>
              </a:ext>
            </a:extLst>
          </p:cNvPr>
          <p:cNvSpPr/>
          <p:nvPr/>
        </p:nvSpPr>
        <p:spPr>
          <a:xfrm rot="20963003">
            <a:off x="2927195" y="2626878"/>
            <a:ext cx="1101640" cy="1119581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63" dirty="0"/>
          </a:p>
        </p:txBody>
      </p: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EEEFEFD6-DE4C-4956-5EAA-6185BC7EA690}"/>
              </a:ext>
            </a:extLst>
          </p:cNvPr>
          <p:cNvCxnSpPr>
            <a:cxnSpLocks/>
          </p:cNvCxnSpPr>
          <p:nvPr/>
        </p:nvCxnSpPr>
        <p:spPr>
          <a:xfrm>
            <a:off x="3472872" y="3181612"/>
            <a:ext cx="11800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forbindelse 32">
            <a:extLst>
              <a:ext uri="{FF2B5EF4-FFF2-40B4-BE49-F238E27FC236}">
                <a16:creationId xmlns:a16="http://schemas.microsoft.com/office/drawing/2014/main" id="{4653BF4E-CBA9-3159-E08B-91C221F2E862}"/>
              </a:ext>
            </a:extLst>
          </p:cNvPr>
          <p:cNvCxnSpPr/>
          <p:nvPr/>
        </p:nvCxnSpPr>
        <p:spPr>
          <a:xfrm>
            <a:off x="1736603" y="3172216"/>
            <a:ext cx="0" cy="24195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2D483509-5F7E-E7D4-BE94-145FFAF1D261}"/>
              </a:ext>
            </a:extLst>
          </p:cNvPr>
          <p:cNvCxnSpPr>
            <a:cxnSpLocks/>
          </p:cNvCxnSpPr>
          <p:nvPr/>
        </p:nvCxnSpPr>
        <p:spPr>
          <a:xfrm>
            <a:off x="4652920" y="3181612"/>
            <a:ext cx="0" cy="24101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ge forbindelse 38">
            <a:extLst>
              <a:ext uri="{FF2B5EF4-FFF2-40B4-BE49-F238E27FC236}">
                <a16:creationId xmlns:a16="http://schemas.microsoft.com/office/drawing/2014/main" id="{792C998A-1CFF-4139-F1E4-7FB383AD64B0}"/>
              </a:ext>
            </a:extLst>
          </p:cNvPr>
          <p:cNvCxnSpPr>
            <a:cxnSpLocks/>
          </p:cNvCxnSpPr>
          <p:nvPr/>
        </p:nvCxnSpPr>
        <p:spPr>
          <a:xfrm>
            <a:off x="1736604" y="5591811"/>
            <a:ext cx="1389390" cy="15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ge forbindelse 40">
            <a:extLst>
              <a:ext uri="{FF2B5EF4-FFF2-40B4-BE49-F238E27FC236}">
                <a16:creationId xmlns:a16="http://schemas.microsoft.com/office/drawing/2014/main" id="{8EF5C18A-49F5-3D2C-83AD-5CF18666F98C}"/>
              </a:ext>
            </a:extLst>
          </p:cNvPr>
          <p:cNvCxnSpPr>
            <a:cxnSpLocks/>
          </p:cNvCxnSpPr>
          <p:nvPr/>
        </p:nvCxnSpPr>
        <p:spPr>
          <a:xfrm flipH="1">
            <a:off x="3274430" y="5591811"/>
            <a:ext cx="1378491" cy="15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ge forbindelse 43">
            <a:extLst>
              <a:ext uri="{FF2B5EF4-FFF2-40B4-BE49-F238E27FC236}">
                <a16:creationId xmlns:a16="http://schemas.microsoft.com/office/drawing/2014/main" id="{9B97D6DB-EECA-0B58-4AE2-09B9D528E48E}"/>
              </a:ext>
            </a:extLst>
          </p:cNvPr>
          <p:cNvCxnSpPr>
            <a:cxnSpLocks/>
          </p:cNvCxnSpPr>
          <p:nvPr/>
        </p:nvCxnSpPr>
        <p:spPr>
          <a:xfrm>
            <a:off x="3129613" y="5366513"/>
            <a:ext cx="0" cy="4387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Lige forbindelse 51">
            <a:extLst>
              <a:ext uri="{FF2B5EF4-FFF2-40B4-BE49-F238E27FC236}">
                <a16:creationId xmlns:a16="http://schemas.microsoft.com/office/drawing/2014/main" id="{E32449BC-28AB-4015-622F-319E19C54DDF}"/>
              </a:ext>
            </a:extLst>
          </p:cNvPr>
          <p:cNvCxnSpPr/>
          <p:nvPr/>
        </p:nvCxnSpPr>
        <p:spPr>
          <a:xfrm>
            <a:off x="3274429" y="5482123"/>
            <a:ext cx="0" cy="2193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kstfelt 52">
            <a:extLst>
              <a:ext uri="{FF2B5EF4-FFF2-40B4-BE49-F238E27FC236}">
                <a16:creationId xmlns:a16="http://schemas.microsoft.com/office/drawing/2014/main" id="{DB3644F6-A4E4-8FDB-4739-1C3EB3A24803}"/>
              </a:ext>
            </a:extLst>
          </p:cNvPr>
          <p:cNvSpPr txBox="1"/>
          <p:nvPr/>
        </p:nvSpPr>
        <p:spPr>
          <a:xfrm>
            <a:off x="2885797" y="5558051"/>
            <a:ext cx="24381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+</a:t>
            </a:r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85BB19EE-A43A-C6BE-25FA-E66C40EC9234}"/>
              </a:ext>
            </a:extLst>
          </p:cNvPr>
          <p:cNvSpPr txBox="1"/>
          <p:nvPr/>
        </p:nvSpPr>
        <p:spPr>
          <a:xfrm>
            <a:off x="3278984" y="5546341"/>
            <a:ext cx="207348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-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B7707787-8BD6-22B7-B20C-E0ACF1F813DD}"/>
              </a:ext>
            </a:extLst>
          </p:cNvPr>
          <p:cNvSpPr txBox="1"/>
          <p:nvPr/>
        </p:nvSpPr>
        <p:spPr>
          <a:xfrm>
            <a:off x="2979718" y="4860698"/>
            <a:ext cx="688314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950" dirty="0"/>
              <a:t>U</a:t>
            </a:r>
            <a:r>
              <a:rPr lang="da-DK" sz="1950" baseline="-25000" dirty="0"/>
              <a:t>DC</a:t>
            </a:r>
          </a:p>
        </p:txBody>
      </p:sp>
      <p:cxnSp>
        <p:nvCxnSpPr>
          <p:cNvPr id="66" name="Lige pilforbindelse 65">
            <a:extLst>
              <a:ext uri="{FF2B5EF4-FFF2-40B4-BE49-F238E27FC236}">
                <a16:creationId xmlns:a16="http://schemas.microsoft.com/office/drawing/2014/main" id="{D382A3AC-44B5-9C20-A806-D309CE47182A}"/>
              </a:ext>
            </a:extLst>
          </p:cNvPr>
          <p:cNvCxnSpPr>
            <a:cxnSpLocks/>
          </p:cNvCxnSpPr>
          <p:nvPr/>
        </p:nvCxnSpPr>
        <p:spPr>
          <a:xfrm flipV="1">
            <a:off x="4515384" y="4203987"/>
            <a:ext cx="0" cy="438755"/>
          </a:xfrm>
          <a:prstGeom prst="straightConnector1">
            <a:avLst/>
          </a:prstGeom>
          <a:ln w="2540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ige pilforbindelse 69">
            <a:extLst>
              <a:ext uri="{FF2B5EF4-FFF2-40B4-BE49-F238E27FC236}">
                <a16:creationId xmlns:a16="http://schemas.microsoft.com/office/drawing/2014/main" id="{C8361199-BFF9-AD91-F2DF-99C9EED15A4F}"/>
              </a:ext>
            </a:extLst>
          </p:cNvPr>
          <p:cNvCxnSpPr>
            <a:cxnSpLocks/>
          </p:cNvCxnSpPr>
          <p:nvPr/>
        </p:nvCxnSpPr>
        <p:spPr>
          <a:xfrm flipV="1">
            <a:off x="1856058" y="4222372"/>
            <a:ext cx="0" cy="475282"/>
          </a:xfrm>
          <a:prstGeom prst="straightConnector1">
            <a:avLst/>
          </a:prstGeom>
          <a:ln w="2540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Lige pilforbindelse 70">
            <a:extLst>
              <a:ext uri="{FF2B5EF4-FFF2-40B4-BE49-F238E27FC236}">
                <a16:creationId xmlns:a16="http://schemas.microsoft.com/office/drawing/2014/main" id="{B751E2DE-EFE5-2E24-D796-C272F3225DC6}"/>
              </a:ext>
            </a:extLst>
          </p:cNvPr>
          <p:cNvCxnSpPr>
            <a:cxnSpLocks/>
          </p:cNvCxnSpPr>
          <p:nvPr/>
        </p:nvCxnSpPr>
        <p:spPr>
          <a:xfrm flipH="1">
            <a:off x="2945744" y="5266205"/>
            <a:ext cx="474593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kstfelt 73">
            <a:extLst>
              <a:ext uri="{FF2B5EF4-FFF2-40B4-BE49-F238E27FC236}">
                <a16:creationId xmlns:a16="http://schemas.microsoft.com/office/drawing/2014/main" id="{8487BA8C-CA5E-725D-06E0-0C2852FED2C4}"/>
              </a:ext>
            </a:extLst>
          </p:cNvPr>
          <p:cNvSpPr txBox="1"/>
          <p:nvPr/>
        </p:nvSpPr>
        <p:spPr>
          <a:xfrm>
            <a:off x="1878076" y="4381533"/>
            <a:ext cx="19692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I</a:t>
            </a:r>
          </a:p>
        </p:txBody>
      </p:sp>
      <p:sp>
        <p:nvSpPr>
          <p:cNvPr id="75" name="Tekstfelt 74">
            <a:extLst>
              <a:ext uri="{FF2B5EF4-FFF2-40B4-BE49-F238E27FC236}">
                <a16:creationId xmlns:a16="http://schemas.microsoft.com/office/drawing/2014/main" id="{9B063B50-8801-4CB9-6877-B09B1A61DF31}"/>
              </a:ext>
            </a:extLst>
          </p:cNvPr>
          <p:cNvSpPr txBox="1"/>
          <p:nvPr/>
        </p:nvSpPr>
        <p:spPr>
          <a:xfrm>
            <a:off x="4246936" y="4309972"/>
            <a:ext cx="281588" cy="467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e</a:t>
            </a:r>
            <a:r>
              <a:rPr lang="da-DK" sz="1463" baseline="30000" dirty="0"/>
              <a:t>-</a:t>
            </a:r>
          </a:p>
        </p:txBody>
      </p:sp>
      <p:sp>
        <p:nvSpPr>
          <p:cNvPr id="98" name="Tekstfelt 97">
            <a:extLst>
              <a:ext uri="{FF2B5EF4-FFF2-40B4-BE49-F238E27FC236}">
                <a16:creationId xmlns:a16="http://schemas.microsoft.com/office/drawing/2014/main" id="{6106E74C-4860-8A89-3161-5B96118861A7}"/>
              </a:ext>
            </a:extLst>
          </p:cNvPr>
          <p:cNvSpPr txBox="1"/>
          <p:nvPr/>
        </p:nvSpPr>
        <p:spPr>
          <a:xfrm>
            <a:off x="3244821" y="1787806"/>
            <a:ext cx="540666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950" dirty="0"/>
              <a:t>U</a:t>
            </a:r>
            <a:r>
              <a:rPr lang="da-DK" sz="1950" baseline="-25000" dirty="0"/>
              <a:t>C</a:t>
            </a:r>
          </a:p>
        </p:txBody>
      </p:sp>
      <p:cxnSp>
        <p:nvCxnSpPr>
          <p:cNvPr id="99" name="Lige pilforbindelse 98">
            <a:extLst>
              <a:ext uri="{FF2B5EF4-FFF2-40B4-BE49-F238E27FC236}">
                <a16:creationId xmlns:a16="http://schemas.microsoft.com/office/drawing/2014/main" id="{F433AAA7-48F8-8348-FD33-3DFC04BB23D2}"/>
              </a:ext>
            </a:extLst>
          </p:cNvPr>
          <p:cNvCxnSpPr>
            <a:cxnSpLocks/>
          </p:cNvCxnSpPr>
          <p:nvPr/>
        </p:nvCxnSpPr>
        <p:spPr>
          <a:xfrm flipH="1">
            <a:off x="3210847" y="2193313"/>
            <a:ext cx="474593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Lige forbindelse 2073">
            <a:extLst>
              <a:ext uri="{FF2B5EF4-FFF2-40B4-BE49-F238E27FC236}">
                <a16:creationId xmlns:a16="http://schemas.microsoft.com/office/drawing/2014/main" id="{76978A56-9C56-54A4-82D9-7D602E87702D}"/>
              </a:ext>
            </a:extLst>
          </p:cNvPr>
          <p:cNvCxnSpPr>
            <a:cxnSpLocks/>
          </p:cNvCxnSpPr>
          <p:nvPr/>
        </p:nvCxnSpPr>
        <p:spPr>
          <a:xfrm flipV="1">
            <a:off x="2104416" y="5366512"/>
            <a:ext cx="0" cy="2252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7" name="Lige forbindelse 2076">
            <a:extLst>
              <a:ext uri="{FF2B5EF4-FFF2-40B4-BE49-F238E27FC236}">
                <a16:creationId xmlns:a16="http://schemas.microsoft.com/office/drawing/2014/main" id="{3A00D630-7081-AFF6-1BA0-48B4ECCE1EC3}"/>
              </a:ext>
            </a:extLst>
          </p:cNvPr>
          <p:cNvCxnSpPr/>
          <p:nvPr/>
        </p:nvCxnSpPr>
        <p:spPr>
          <a:xfrm>
            <a:off x="1994729" y="5353165"/>
            <a:ext cx="2193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8" name="Tekstfelt 2077">
            <a:extLst>
              <a:ext uri="{FF2B5EF4-FFF2-40B4-BE49-F238E27FC236}">
                <a16:creationId xmlns:a16="http://schemas.microsoft.com/office/drawing/2014/main" id="{D0C9BF1B-2D9E-F0EF-EFFF-DA9D3D58FDFA}"/>
              </a:ext>
            </a:extLst>
          </p:cNvPr>
          <p:cNvSpPr txBox="1"/>
          <p:nvPr/>
        </p:nvSpPr>
        <p:spPr>
          <a:xfrm>
            <a:off x="2002751" y="4953782"/>
            <a:ext cx="236002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63" dirty="0"/>
              <a:t>S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206EC136-2CE5-1AE3-6C20-DE9B96484BE8}"/>
              </a:ext>
            </a:extLst>
          </p:cNvPr>
          <p:cNvSpPr/>
          <p:nvPr/>
        </p:nvSpPr>
        <p:spPr>
          <a:xfrm>
            <a:off x="1630619" y="3431595"/>
            <a:ext cx="220408" cy="48139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9FDB1116-A2A0-CD2B-F96C-1FE2FE0F3488}"/>
              </a:ext>
            </a:extLst>
          </p:cNvPr>
          <p:cNvSpPr txBox="1"/>
          <p:nvPr/>
        </p:nvSpPr>
        <p:spPr>
          <a:xfrm>
            <a:off x="1586151" y="3467753"/>
            <a:ext cx="33054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</a:p>
        </p:txBody>
      </p:sp>
      <p:sp>
        <p:nvSpPr>
          <p:cNvPr id="2073" name="Tekstfelt 2072">
            <a:extLst>
              <a:ext uri="{FF2B5EF4-FFF2-40B4-BE49-F238E27FC236}">
                <a16:creationId xmlns:a16="http://schemas.microsoft.com/office/drawing/2014/main" id="{FB9AFB4E-A2B7-B7C6-BFD6-E03DE6418030}"/>
              </a:ext>
            </a:extLst>
          </p:cNvPr>
          <p:cNvSpPr txBox="1"/>
          <p:nvPr/>
        </p:nvSpPr>
        <p:spPr>
          <a:xfrm>
            <a:off x="5218329" y="1698607"/>
            <a:ext cx="4953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/>
              <a:t>En kondensators kapacitans defineres som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3" name="Tekstfelt 2082">
                <a:extLst>
                  <a:ext uri="{FF2B5EF4-FFF2-40B4-BE49-F238E27FC236}">
                    <a16:creationId xmlns:a16="http://schemas.microsoft.com/office/drawing/2014/main" id="{68BE4AC0-A3A6-2280-E91D-24B904A7838E}"/>
                  </a:ext>
                </a:extLst>
              </p:cNvPr>
              <p:cNvSpPr txBox="1"/>
              <p:nvPr/>
            </p:nvSpPr>
            <p:spPr>
              <a:xfrm>
                <a:off x="5039339" y="2228134"/>
                <a:ext cx="4953000" cy="62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8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a-DK" sz="1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a-DK" sz="1800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da-DK" sz="1800" i="1" dirty="0"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1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8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da-DK" sz="1800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e>
                      </m:d>
                      <m:r>
                        <a:rPr lang="da-DK" sz="1800" i="1" dirty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da-DK" sz="1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a-DK" sz="1800" i="1" dirty="0"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da-DK" sz="1800" i="1" dirty="0">
                          <a:latin typeface="Cambria Math" panose="02040503050406030204" pitchFamily="18" charset="0"/>
                        </a:rPr>
                        <m:t>𝐹𝑎𝑟𝑎𝑑</m:t>
                      </m:r>
                    </m:oMath>
                  </m:oMathPara>
                </a14:m>
                <a:endParaRPr lang="da-DK" sz="1800" dirty="0"/>
              </a:p>
            </p:txBody>
          </p:sp>
        </mc:Choice>
        <mc:Fallback xmlns="">
          <p:sp>
            <p:nvSpPr>
              <p:cNvPr id="2083" name="Tekstfelt 2082">
                <a:extLst>
                  <a:ext uri="{FF2B5EF4-FFF2-40B4-BE49-F238E27FC236}">
                    <a16:creationId xmlns:a16="http://schemas.microsoft.com/office/drawing/2014/main" id="{68BE4AC0-A3A6-2280-E91D-24B904A78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339" y="2228134"/>
                <a:ext cx="4953000" cy="6202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5" name="Tekstfelt 2084">
            <a:extLst>
              <a:ext uri="{FF2B5EF4-FFF2-40B4-BE49-F238E27FC236}">
                <a16:creationId xmlns:a16="http://schemas.microsoft.com/office/drawing/2014/main" id="{AA9C673C-D899-F15F-51C7-45B5040BF639}"/>
              </a:ext>
            </a:extLst>
          </p:cNvPr>
          <p:cNvSpPr txBox="1"/>
          <p:nvPr/>
        </p:nvSpPr>
        <p:spPr>
          <a:xfrm>
            <a:off x="5221994" y="3405067"/>
            <a:ext cx="52334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/>
              <a:t>Spændingen over kondensatoren vil efter endt opladning, være den samme som den påtrykte spænding (Kirchhoffs 2. lov). </a:t>
            </a:r>
          </a:p>
        </p:txBody>
      </p:sp>
      <p:sp>
        <p:nvSpPr>
          <p:cNvPr id="2087" name="Tekstfelt 2086">
            <a:extLst>
              <a:ext uri="{FF2B5EF4-FFF2-40B4-BE49-F238E27FC236}">
                <a16:creationId xmlns:a16="http://schemas.microsoft.com/office/drawing/2014/main" id="{F35FD26C-1B43-C32B-7EE9-C9FE96272071}"/>
              </a:ext>
            </a:extLst>
          </p:cNvPr>
          <p:cNvSpPr txBox="1"/>
          <p:nvPr/>
        </p:nvSpPr>
        <p:spPr>
          <a:xfrm>
            <a:off x="5235509" y="4374563"/>
            <a:ext cx="49537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dirty="0"/>
              <a:t>Kondensatorens kapacitans er derfor alene et udtryk for hvor stor en ladningsmængde (Q) man kan tilføre en given kondensator pr. Volt.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E5B06F5E-2C3E-EF17-B73E-1C96B2851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810E7-AB30-4128-B57F-909F8091F008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10" name="Pladsholder til slidenummer 9">
            <a:extLst>
              <a:ext uri="{FF2B5EF4-FFF2-40B4-BE49-F238E27FC236}">
                <a16:creationId xmlns:a16="http://schemas.microsoft.com/office/drawing/2014/main" id="{6C864A60-EB94-BE76-CF09-0850B2270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4A814D9-1921-E32C-465B-4F679D271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0833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Repetition strøm i en leder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55483BA4-56B9-3AD4-836D-F7229B5314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2890" y="1727137"/>
                <a:ext cx="8970890" cy="4737441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a-DK" sz="1800" dirty="0"/>
                  <a:t>Sammenhæng mellem ampere og coulomb:</a:t>
                </a:r>
              </a:p>
              <a:p>
                <a:pPr marL="0" indent="0">
                  <a:buNone/>
                </a:pPr>
                <a:r>
                  <a:rPr lang="da-DK" sz="1800" dirty="0"/>
                  <a:t>Hvis en leder fører 1 A, vil der hvert sekund passerer ladningsmængden 1 C</a:t>
                </a:r>
              </a:p>
              <a:p>
                <a:pPr marL="0" indent="0">
                  <a:buNone/>
                </a:pPr>
                <a:endParaRPr lang="da-DK" sz="1800" i="1" kern="15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800" i="1" kern="15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800" i="1" kern="15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 kern="15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sz="1800" i="1" kern="15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a-DK" sz="1800" i="1" kern="15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a-DK" sz="1800" kern="15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da-DK" sz="1800" kern="15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I er strømmen [A]</a:t>
                </a:r>
              </a:p>
              <a:p>
                <a:pPr marL="0" indent="0">
                  <a:buNone/>
                </a:pPr>
                <a:r>
                  <a:rPr lang="da-DK" sz="1800" kern="15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Q er elektrisk ladning [C]	</a:t>
                </a:r>
                <a:r>
                  <a:rPr lang="da-DK" sz="1800" dirty="0"/>
                  <a:t>1 C svarer til 6,2*</a:t>
                </a:r>
                <a:r>
                  <a:rPr lang="da-DK" sz="1800" kern="150" dirty="0">
                    <a:ea typeface="Calibri" panose="020F0502020204030204" pitchFamily="34" charset="0"/>
                  </a:rPr>
                  <a:t>10</a:t>
                </a:r>
                <a:r>
                  <a:rPr lang="da-DK" sz="1800" kern="150" baseline="30000" dirty="0">
                    <a:ea typeface="Calibri" panose="020F0502020204030204" pitchFamily="34" charset="0"/>
                  </a:rPr>
                  <a:t>18</a:t>
                </a:r>
                <a:r>
                  <a:rPr lang="da-DK" sz="1800" kern="150" dirty="0">
                    <a:ea typeface="Calibri" panose="020F0502020204030204" pitchFamily="34" charset="0"/>
                  </a:rPr>
                  <a:t> elektroner</a:t>
                </a:r>
              </a:p>
              <a:p>
                <a:pPr marL="0" indent="0">
                  <a:buNone/>
                </a:pPr>
                <a:r>
                  <a:rPr lang="da-DK" sz="1800" kern="15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t er tiden [s]</a:t>
                </a:r>
              </a:p>
              <a:p>
                <a:endParaRPr lang="da-DK" sz="1800" kern="15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800" kern="15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800" kern="15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800" kern="15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da-DK" sz="1800" kern="15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Strøm er strømmen af elektroner.</a:t>
                </a:r>
              </a:p>
            </p:txBody>
          </p:sp>
        </mc:Choice>
        <mc:Fallback xmlns="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55483BA4-56B9-3AD4-836D-F7229B531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890" y="1727137"/>
                <a:ext cx="8970890" cy="4737441"/>
              </a:xfrm>
              <a:prstGeom prst="rect">
                <a:avLst/>
              </a:prstGeom>
              <a:blipFill>
                <a:blip r:embed="rId2"/>
                <a:stretch>
                  <a:fillRect l="-612" t="-115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Billede 2">
            <a:extLst>
              <a:ext uri="{FF2B5EF4-FFF2-40B4-BE49-F238E27FC236}">
                <a16:creationId xmlns:a16="http://schemas.microsoft.com/office/drawing/2014/main" id="{BBE1059F-8F30-05F6-39B9-66C44AE5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204" y="4095857"/>
            <a:ext cx="5419411" cy="1896163"/>
          </a:xfrm>
          <a:prstGeom prst="rect">
            <a:avLst/>
          </a:prstGeom>
        </p:spPr>
      </p:pic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4B29380D-F667-92AE-9EE5-2ECCEEF1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0A63-E524-43FF-A83C-D2BAF8A7B4D7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5850CA91-2104-99A5-542A-C11399631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F8EB41A-450A-89CD-66EE-114F86A51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5109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Kondensators spændingsforskel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5E142C1F-8BFA-806C-6077-A035B06718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7084" y="1754375"/>
                <a:ext cx="9031043" cy="455501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a-DK" sz="1800" i="1" kern="1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Fra bogen: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da-DK" sz="1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𝐻𝑣𝑖𝑠</m:t>
                    </m:r>
                    <m:r>
                      <a:rPr lang="da-DK" sz="18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da-DK" sz="1800" dirty="0"/>
                  <a:t>to legemer med modsat polaritet forbindes med elektrisk</a:t>
                </a:r>
                <a:br>
                  <a:rPr lang="da-DK" sz="1800" dirty="0"/>
                </a:br>
                <a:r>
                  <a:rPr lang="da-DK" sz="1800" dirty="0"/>
                  <a:t>ledende materiale, vil der strømme ladninger gennem materialet</a:t>
                </a:r>
                <a:br>
                  <a:rPr lang="da-DK" sz="1800" dirty="0"/>
                </a:br>
                <a:r>
                  <a:rPr lang="da-DK" sz="1800" dirty="0"/>
                  <a:t>indtil forskellen i polaritet er udlignet.</a:t>
                </a:r>
                <a:br>
                  <a:rPr lang="da-DK" sz="1800" dirty="0"/>
                </a:br>
                <a:r>
                  <a:rPr lang="da-DK" sz="1800" dirty="0"/>
                  <a:t>Dette kunne være strømmen i en ledning.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da-DK" sz="18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a-DK" sz="1800" dirty="0"/>
                  <a:t>Hvis de to legemer er adskilt af isolerende materiale,</a:t>
                </a:r>
                <a:br>
                  <a:rPr lang="da-DK" sz="1800" dirty="0"/>
                </a:br>
                <a:r>
                  <a:rPr lang="da-DK" sz="1800" dirty="0"/>
                  <a:t>vil der opstå en spændingsforskel mellem dem.</a:t>
                </a:r>
                <a:br>
                  <a:rPr lang="da-DK" sz="1800" dirty="0"/>
                </a:br>
                <a:r>
                  <a:rPr lang="da-DK" sz="1800" dirty="0"/>
                  <a:t>I rummet mellem dem(</a:t>
                </a:r>
                <a:r>
                  <a:rPr lang="da-DK" sz="1800" dirty="0" err="1"/>
                  <a:t>dielektrum</a:t>
                </a:r>
                <a:r>
                  <a:rPr lang="da-DK" sz="1800" dirty="0"/>
                  <a:t>) er der et elektrisk felt.</a:t>
                </a:r>
                <a:br>
                  <a:rPr lang="da-DK" sz="1800" dirty="0"/>
                </a:br>
                <a:r>
                  <a:rPr lang="da-DK" sz="1800" dirty="0"/>
                  <a:t>Dette er en kondensator.</a:t>
                </a:r>
              </a:p>
              <a:p>
                <a:endParaRPr lang="da-DK" sz="1800" dirty="0"/>
              </a:p>
              <a:p>
                <a:endParaRPr lang="da-DK" sz="1800" dirty="0"/>
              </a:p>
              <a:p>
                <a:endParaRPr lang="da-DK" sz="1800" dirty="0"/>
              </a:p>
              <a:p>
                <a:endParaRPr lang="da-DK" sz="1800" dirty="0"/>
              </a:p>
            </p:txBody>
          </p:sp>
        </mc:Choice>
        <mc:Fallback xmlns="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5E142C1F-8BFA-806C-6077-A035B0671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084" y="1754375"/>
                <a:ext cx="9031043" cy="4555010"/>
              </a:xfrm>
              <a:prstGeom prst="rect">
                <a:avLst/>
              </a:prstGeom>
              <a:blipFill>
                <a:blip r:embed="rId2"/>
                <a:stretch>
                  <a:fillRect l="-405" t="-66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Billede 2">
            <a:extLst>
              <a:ext uri="{FF2B5EF4-FFF2-40B4-BE49-F238E27FC236}">
                <a16:creationId xmlns:a16="http://schemas.microsoft.com/office/drawing/2014/main" id="{00F4177A-B75E-4662-4C8D-60E020333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729" y="3023435"/>
            <a:ext cx="3640976" cy="2997392"/>
          </a:xfrm>
          <a:prstGeom prst="rect">
            <a:avLst/>
          </a:prstGeom>
        </p:spPr>
      </p:pic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957AE401-C5D4-B6BE-4F42-0C2A0418B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F1902-7D85-477E-B81D-DB974F30C6D4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EAC8ACC-163A-75B0-85A3-189D6A06F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D4C60EF-B9DD-B089-6AF5-051842C5E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© Peter Novrup Kristensen</a:t>
            </a:r>
          </a:p>
        </p:txBody>
      </p:sp>
    </p:spTree>
    <p:extLst>
      <p:ext uri="{BB962C8B-B14F-4D97-AF65-F5344CB8AC3E}">
        <p14:creationId xmlns:p14="http://schemas.microsoft.com/office/powerpoint/2010/main" val="2764767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Kondensator opbygning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4C6AB9F1-7F7C-7CB6-E705-5540E590E6FB}"/>
              </a:ext>
            </a:extLst>
          </p:cNvPr>
          <p:cNvSpPr txBox="1">
            <a:spLocks/>
          </p:cNvSpPr>
          <p:nvPr/>
        </p:nvSpPr>
        <p:spPr>
          <a:xfrm>
            <a:off x="1752166" y="1634360"/>
            <a:ext cx="7753463" cy="4555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sz="1800" dirty="0"/>
          </a:p>
          <a:p>
            <a:pPr marL="0" indent="0">
              <a:buNone/>
            </a:pPr>
            <a:r>
              <a:rPr lang="da-DK" sz="1800" dirty="0"/>
              <a:t>En kondensator består af to metalplader.</a:t>
            </a:r>
          </a:p>
          <a:p>
            <a:pPr marL="0" indent="0">
              <a:buNone/>
            </a:pPr>
            <a:r>
              <a:rPr lang="da-DK" sz="1800" dirty="0"/>
              <a:t>Pladerne har et areal A og en indbydes afstand a.</a:t>
            </a:r>
          </a:p>
          <a:p>
            <a:pPr marL="0" indent="0">
              <a:buNone/>
            </a:pPr>
            <a:r>
              <a:rPr lang="da-DK" sz="1800" dirty="0"/>
              <a:t>Mellem pladerne er der et elektrisk felt.</a:t>
            </a:r>
          </a:p>
          <a:p>
            <a:endParaRPr lang="da-DK" sz="1800" dirty="0"/>
          </a:p>
          <a:p>
            <a:endParaRPr lang="da-DK" sz="1800" dirty="0">
              <a:solidFill>
                <a:srgbClr val="00B0F0"/>
              </a:solidFill>
            </a:endParaRPr>
          </a:p>
          <a:p>
            <a:endParaRPr lang="da-DK" sz="1800" dirty="0">
              <a:solidFill>
                <a:srgbClr val="00B0F0"/>
              </a:solidFill>
            </a:endParaRP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4C6B09B7-7210-CEDC-4C41-9A42A3940D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515"/>
          <a:stretch/>
        </p:blipFill>
        <p:spPr>
          <a:xfrm>
            <a:off x="7127116" y="1958944"/>
            <a:ext cx="2186940" cy="2609851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0C680A11-6704-84EC-CA9C-1A294F6FF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654" y="3429000"/>
            <a:ext cx="2847975" cy="2609850"/>
          </a:xfrm>
          <a:prstGeom prst="rect">
            <a:avLst/>
          </a:prstGeo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06A7D89-2E9B-70A9-7E4D-1CA61022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BA6F-0A81-45F7-AC6C-2887774D91A3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130420B-1B84-E993-C911-695BC22F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2" name="Pladsholder til sidefod 1">
            <a:extLst>
              <a:ext uri="{FF2B5EF4-FFF2-40B4-BE49-F238E27FC236}">
                <a16:creationId xmlns:a16="http://schemas.microsoft.com/office/drawing/2014/main" id="{C059FB57-EA07-3313-EA93-7CAEB1F7B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56644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Kondensator opbygning</a:t>
            </a:r>
          </a:p>
        </p:txBody>
      </p:sp>
      <p:sp>
        <p:nvSpPr>
          <p:cNvPr id="2" name="Pladsholder til indhold 2">
            <a:extLst>
              <a:ext uri="{FF2B5EF4-FFF2-40B4-BE49-F238E27FC236}">
                <a16:creationId xmlns:a16="http://schemas.microsoft.com/office/drawing/2014/main" id="{480A7555-459C-A13C-6FE7-59EBB78073E7}"/>
              </a:ext>
            </a:extLst>
          </p:cNvPr>
          <p:cNvSpPr txBox="1">
            <a:spLocks/>
          </p:cNvSpPr>
          <p:nvPr/>
        </p:nvSpPr>
        <p:spPr>
          <a:xfrm>
            <a:off x="1883138" y="1526960"/>
            <a:ext cx="8425725" cy="43960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8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Dielektrikum er et isolerende stof, som ikke leder elektrisk strøm.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800" kern="100" dirty="0">
                <a:cs typeface="Times New Roman" panose="02020603050405020304" pitchFamily="18" charset="0"/>
              </a:rPr>
              <a:t>Stort overflade areal.</a:t>
            </a:r>
            <a:endParaRPr lang="da-DK" sz="1800" dirty="0"/>
          </a:p>
          <a:p>
            <a:endParaRPr lang="da-DK" sz="1800" dirty="0"/>
          </a:p>
          <a:p>
            <a:endParaRPr lang="da-DK" sz="1800" dirty="0"/>
          </a:p>
          <a:p>
            <a:endParaRPr lang="da-DK" sz="1800" dirty="0"/>
          </a:p>
          <a:p>
            <a:endParaRPr lang="da-DK" sz="1800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45D8684F-CD2F-C096-0009-3DA3F0921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16" y="2699038"/>
            <a:ext cx="2093354" cy="1918324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E99FE8DB-FE60-0560-A419-916DBFB15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65" y="3116527"/>
            <a:ext cx="2825472" cy="1590676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86B492FD-435C-4859-EA85-DC74E9ADB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558" y="2163112"/>
            <a:ext cx="2812460" cy="4026259"/>
          </a:xfrm>
          <a:prstGeom prst="rect">
            <a:avLst/>
          </a:prstGeom>
        </p:spPr>
      </p:pic>
      <p:sp>
        <p:nvSpPr>
          <p:cNvPr id="9" name="Pladsholder til dato 8">
            <a:extLst>
              <a:ext uri="{FF2B5EF4-FFF2-40B4-BE49-F238E27FC236}">
                <a16:creationId xmlns:a16="http://schemas.microsoft.com/office/drawing/2014/main" id="{4E53776D-24E4-63CB-2FA4-FCAD9801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D9CC3-E587-42F6-B2CF-3E51407ED5DF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74BB94A6-B057-9F0F-873B-5AFA0DD5C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11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7E86E66-63AA-C18B-2A93-7023C896D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76783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Kondensator test</a:t>
            </a:r>
            <a:endParaRPr lang="da-DK" dirty="0"/>
          </a:p>
        </p:txBody>
      </p:sp>
      <p:sp>
        <p:nvSpPr>
          <p:cNvPr id="2" name="Pladsholder til indhold 2">
            <a:extLst>
              <a:ext uri="{FF2B5EF4-FFF2-40B4-BE49-F238E27FC236}">
                <a16:creationId xmlns:a16="http://schemas.microsoft.com/office/drawing/2014/main" id="{26026E54-316B-8FC7-2199-F416E0989629}"/>
              </a:ext>
            </a:extLst>
          </p:cNvPr>
          <p:cNvSpPr txBox="1">
            <a:spLocks/>
          </p:cNvSpPr>
          <p:nvPr/>
        </p:nvSpPr>
        <p:spPr>
          <a:xfrm>
            <a:off x="1752166" y="1668841"/>
            <a:ext cx="6839063" cy="4555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800" b="1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Hvad sker der, hvis kondensatoren tilsluttes for stor en spænding?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1800" dirty="0">
                <a:solidFill>
                  <a:srgbClr val="00B0F0"/>
                </a:solidFill>
                <a:hlinkClick r:id="rId2"/>
              </a:rPr>
              <a:t>https://www.youtube.com/watch?v=3b7mjukhTyQ</a:t>
            </a:r>
            <a:endParaRPr lang="da-DK" sz="1800" kern="100" dirty="0">
              <a:solidFill>
                <a:srgbClr val="00B0F0"/>
              </a:solidFill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1800" dirty="0">
              <a:solidFill>
                <a:srgbClr val="00B0F0"/>
              </a:solidFill>
            </a:endParaRPr>
          </a:p>
          <a:p>
            <a:endParaRPr lang="da-DK" sz="1800" dirty="0">
              <a:solidFill>
                <a:srgbClr val="00B0F0"/>
              </a:solidFill>
            </a:endParaRPr>
          </a:p>
          <a:p>
            <a:endParaRPr lang="da-DK" sz="1800" dirty="0">
              <a:solidFill>
                <a:srgbClr val="00B0F0"/>
              </a:solidFill>
            </a:endParaRPr>
          </a:p>
          <a:p>
            <a:endParaRPr lang="da-DK" sz="1800" dirty="0">
              <a:solidFill>
                <a:srgbClr val="00B0F0"/>
              </a:solidFill>
            </a:endParaRPr>
          </a:p>
        </p:txBody>
      </p:sp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023A1AD5-3D56-3B63-DA5D-B073C66A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277EA-00D1-4B70-BE0B-9FB849ADFB04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D73B75D-A155-8859-A2E3-F83CCAAAE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12</a:t>
            </a:fld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C804504-34EB-A398-A3A7-20C6D7E7B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94960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Kondensator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dsholder til indhold 2">
                <a:extLst>
                  <a:ext uri="{FF2B5EF4-FFF2-40B4-BE49-F238E27FC236}">
                    <a16:creationId xmlns:a16="http://schemas.microsoft.com/office/drawing/2014/main" id="{4F887A5C-AC22-2F30-38E9-AED289E775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0479" y="1533726"/>
                <a:ext cx="9031043" cy="4555010"/>
              </a:xfrm>
              <a:prstGeom prst="rect">
                <a:avLst/>
              </a:prstGeom>
            </p:spPr>
            <p:txBody>
              <a:bodyPr vert="horz" lIns="107287" tIns="53643" rIns="107287" bIns="53643" numCol="2" rtlCol="0">
                <a:noAutofit/>
              </a:bodyPr>
              <a:lstStyle>
                <a:lvl1pPr marL="0" indent="0" algn="l" defTabSz="1072866" rtl="0" eaLnBrk="1" latinLnBrk="0" hangingPunct="1">
                  <a:spcBef>
                    <a:spcPct val="20000"/>
                  </a:spcBef>
                  <a:buSzPct val="100000"/>
                  <a:buFont typeface="Arial" panose="020B0604020202020204" pitchFamily="34" charset="0"/>
                  <a:buNone/>
                  <a:defRPr sz="1800" b="1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312919" indent="-281255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52898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735733" indent="-206751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944346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1152958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tabLst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6pPr>
                <a:lvl7pPr marL="136902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7pPr>
                <a:lvl8pPr marL="4023246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559678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da-DK" sz="1600" b="0" dirty="0">
                  <a:solidFill>
                    <a:sysClr val="windowText" lastClr="000000"/>
                  </a:solidFill>
                  <a:latin typeface="Calibri"/>
                </a:endParaRP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sz="1600" b="0" kern="15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Elektrisk</m:t>
                      </m:r>
                      <m:r>
                        <a:rPr lang="da-DK" sz="1600" b="0" kern="15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1600" b="0" kern="15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fluxt</m:t>
                      </m:r>
                      <m:r>
                        <a:rPr lang="da-DK" sz="1600" b="0" kern="15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æ</m:t>
                      </m:r>
                      <m:r>
                        <m:rPr>
                          <m:sty m:val="p"/>
                        </m:rPr>
                        <a:rPr lang="da-DK" sz="1600" b="0" kern="15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thed</m:t>
                      </m:r>
                      <m:r>
                        <a:rPr lang="da-DK" sz="1600" b="0" kern="15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da-DK" sz="1600" b="0" i="1" kern="15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a-DK" sz="1600" b="0" kern="15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kraftlinjet</m:t>
                          </m:r>
                          <m:r>
                            <a:rPr lang="da-DK" sz="1600" b="0" kern="15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æ</m:t>
                          </m:r>
                          <m:r>
                            <m:rPr>
                              <m:sty m:val="p"/>
                            </m:rPr>
                            <a:rPr lang="da-DK" sz="1600" b="0" kern="15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theden</m:t>
                          </m:r>
                        </m:e>
                      </m:d>
                      <m:r>
                        <a:rPr lang="da-DK" sz="1600" b="0" kern="15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</m:oMath>
                  </m:oMathPara>
                </a14:m>
                <a:endParaRPr lang="da-DK" sz="1600" b="0" kern="150" dirty="0">
                  <a:solidFill>
                    <a:sysClr val="windowText" lastClr="000000"/>
                  </a:solidFill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D</m:t>
                    </m:r>
                    <m: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			D = Elektrisk fluxtæthed [C/m</a:t>
                </a:r>
                <a:r>
                  <a:rPr lang="da-DK" sz="1600" b="0" kern="150" baseline="3000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]</a:t>
                </a: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Feltstyrken</m:t>
                    </m:r>
                    <m: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E</m:t>
                    </m:r>
                    <m: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D</m:t>
                        </m:r>
                      </m:num>
                      <m:den>
                        <m: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ɛ</m:t>
                        </m:r>
                      </m:den>
                    </m:f>
                    <m: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·ɛ</m:t>
                        </m:r>
                      </m:den>
                    </m:f>
                    <m:r>
                      <a:rPr lang="da-DK" sz="1600" b="0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b="0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da-DK" sz="1600" b="0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600" b="0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r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	Q = Elektrisk ladning [C]</a:t>
                </a: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Feltstyrken er også: </a:t>
                </a:r>
                <a14:m>
                  <m:oMath xmlns:m="http://schemas.openxmlformats.org/officeDocument/2006/math"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𝑈</m:t>
                        </m:r>
                      </m:num>
                      <m:den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	E = Elektrisk feltstyrke [N/C] [V/m]</a:t>
                </a: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Formlerne sat lig hinanden: </a:t>
                </a:r>
                <a14:m>
                  <m:oMath xmlns:m="http://schemas.openxmlformats.org/officeDocument/2006/math"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𝑈</m:t>
                        </m:r>
                      </m:num>
                      <m:den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num>
                      <m:den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ɛ = </a:t>
                </a:r>
                <a:r>
                  <a:rPr lang="da-DK" sz="1600" b="0" dirty="0">
                    <a:solidFill>
                      <a:sysClr val="windowText" lastClr="000000"/>
                    </a:solidFill>
                    <a:latin typeface="Calibri"/>
                  </a:rPr>
                  <a:t> </a:t>
                </a:r>
                <a:r>
                  <a:rPr lang="da-DK" sz="1600" b="0" dirty="0" err="1">
                    <a:solidFill>
                      <a:sysClr val="windowText" lastClr="000000"/>
                    </a:solidFill>
                    <a:latin typeface="Calibri"/>
                  </a:rPr>
                  <a:t>Dielektricitetskonstanten</a:t>
                </a:r>
                <a:r>
                  <a:rPr lang="da-DK" sz="1600" b="0" dirty="0">
                    <a:solidFill>
                      <a:sysClr val="windowText" lastClr="000000"/>
                    </a:solidFill>
                    <a:latin typeface="Calibri"/>
                  </a:rPr>
                  <a:t> </a:t>
                </a: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[F/m]</a:t>
                </a:r>
                <a:b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ɛ</m:t>
                        </m:r>
                      </m:e>
                      <m:sub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= 8,85 </a:t>
                </a:r>
                <a14:m>
                  <m:oMath xmlns:m="http://schemas.openxmlformats.org/officeDocument/2006/math"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sSup>
                      <m:sSup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F/m,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ɛ</m:t>
                        </m:r>
                      </m:e>
                      <m:sub>
                        <m:r>
                          <a:rPr lang="da-DK" sz="1600" b="0" i="1" kern="15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i luft = 1 tabel A11 s 362</a:t>
                </a: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Der byttes rundt: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num>
                      <m:den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	U = Spændingen [V]</a:t>
                </a: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Kondensatorens </a:t>
                </a:r>
                <a:r>
                  <a:rPr lang="da-DK" sz="1600" b="0" kern="150" dirty="0" err="1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kapacitans</a:t>
                </a: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b="0" i="1" kern="15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C = </a:t>
                </a:r>
                <a:r>
                  <a:rPr lang="da-DK" sz="1600" b="0" kern="150" dirty="0" err="1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Kapacitansen</a:t>
                </a: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[F]	farad</a:t>
                </a: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Kondensatorens </a:t>
                </a:r>
                <a:r>
                  <a:rPr lang="da-DK" sz="1600" b="0" kern="150" dirty="0" err="1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kapacitans</a:t>
                </a:r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er også: </a:t>
                </a:r>
                <a14:m>
                  <m:oMath xmlns:m="http://schemas.openxmlformats.org/officeDocument/2006/math"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da-DK" sz="1600" b="0" i="1" kern="15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num>
                      <m:den>
                        <m:r>
                          <a:rPr lang="da-DK" sz="1600" b="0" i="1" kern="15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da-DK" sz="1600" b="0" kern="15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endParaRPr lang="da-DK" sz="1600" b="0" kern="150" dirty="0">
                  <a:solidFill>
                    <a:sysClr val="windowText" lastClr="000000"/>
                  </a:solidFill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endParaRPr lang="da-DK" sz="1600" b="0" kern="150" dirty="0">
                  <a:solidFill>
                    <a:sysClr val="windowText" lastClr="000000"/>
                  </a:solidFill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2000"/>
                  </a:lnSpc>
                  <a:spcAft>
                    <a:spcPts val="800"/>
                  </a:spcAft>
                  <a:defRPr/>
                </a:pPr>
                <a:endParaRPr lang="da-DK" sz="1600" b="0" kern="150" dirty="0">
                  <a:solidFill>
                    <a:sysClr val="windowText" lastClr="000000"/>
                  </a:solidFill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endParaRPr lang="da-DK" sz="1600" b="0" dirty="0">
                  <a:solidFill>
                    <a:sysClr val="windowText" lastClr="000000"/>
                  </a:solidFill>
                  <a:latin typeface="Calibri"/>
                </a:endParaRPr>
              </a:p>
              <a:p>
                <a:pPr>
                  <a:defRPr/>
                </a:pPr>
                <a:endParaRPr lang="da-DK" sz="1600" b="0" dirty="0">
                  <a:solidFill>
                    <a:sysClr val="windowText" lastClr="000000"/>
                  </a:solidFill>
                  <a:latin typeface="Calibri"/>
                </a:endParaRPr>
              </a:p>
              <a:p>
                <a:pPr>
                  <a:defRPr/>
                </a:pPr>
                <a:endParaRPr lang="da-DK" sz="1600" b="0" dirty="0">
                  <a:solidFill>
                    <a:sysClr val="windowText" lastClr="00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" name="Pladsholder til indhold 2">
                <a:extLst>
                  <a:ext uri="{FF2B5EF4-FFF2-40B4-BE49-F238E27FC236}">
                    <a16:creationId xmlns:a16="http://schemas.microsoft.com/office/drawing/2014/main" id="{4F887A5C-AC22-2F30-38E9-AED289E77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479" y="1533726"/>
                <a:ext cx="9031043" cy="4555010"/>
              </a:xfrm>
              <a:prstGeom prst="rect">
                <a:avLst/>
              </a:prstGeom>
              <a:blipFill>
                <a:blip r:embed="rId2"/>
                <a:stretch>
                  <a:fillRect l="-202" b="-174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AF598AF-03BE-C39B-0706-ACDD5683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100-D282-4BF7-A1E0-71BD941810E8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8143F23-1097-E108-196A-5DF8B7D69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13</a:t>
            </a:fld>
            <a:endParaRPr lang="da-DK" dirty="0"/>
          </a:p>
        </p:txBody>
      </p:sp>
      <p:sp>
        <p:nvSpPr>
          <p:cNvPr id="2" name="Pladsholder til sidefod 1">
            <a:extLst>
              <a:ext uri="{FF2B5EF4-FFF2-40B4-BE49-F238E27FC236}">
                <a16:creationId xmlns:a16="http://schemas.microsoft.com/office/drawing/2014/main" id="{0250B0CD-E928-16D1-6DE7-3725E7610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78022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Kondensator konklusion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F8C8EAD3-2FEB-A7AD-8A25-4B08135F27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8300" y="1538859"/>
                <a:ext cx="8987876" cy="4817493"/>
              </a:xfrm>
              <a:prstGeom prst="rect">
                <a:avLst/>
              </a:prstGeom>
            </p:spPr>
            <p:txBody>
              <a:bodyPr vert="horz" lIns="107287" tIns="53643" rIns="107287" bIns="53643" rtlCol="0">
                <a:noAutofit/>
              </a:bodyPr>
              <a:lstStyle>
                <a:lvl1pPr marL="0" indent="0" algn="l" defTabSz="1072866" rtl="0" eaLnBrk="1" latinLnBrk="0" hangingPunct="1">
                  <a:spcBef>
                    <a:spcPct val="20000"/>
                  </a:spcBef>
                  <a:buSzPct val="100000"/>
                  <a:buFont typeface="Arial" panose="020B0604020202020204" pitchFamily="34" charset="0"/>
                  <a:buNone/>
                  <a:defRPr sz="1800" b="1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312919" indent="-281255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52898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735733" indent="-206751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944346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1152958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tabLst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6pPr>
                <a:lvl7pPr marL="136902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7pPr>
                <a:lvl8pPr marL="4023246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559678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Kondensatorens 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kapacitans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𝑪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</m:t>
                        </m:r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sub>
                        </m:sSub>
                      </m:num>
                      <m:den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[F]</a:t>
                </a:r>
              </a:p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cs typeface="Times New Roman" panose="02020603050405020304" pitchFamily="18" charset="0"/>
                  </a:rPr>
                  <a:t>Faste værdier, derfor kan kondensatorens størrelse printes udenpå kondensatoren.</a:t>
                </a:r>
              </a:p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cs typeface="Times New Roman" panose="02020603050405020304" pitchFamily="18" charset="0"/>
                  </a:rPr>
                  <a:t>Bemærk: hvis permittiviteten bliver 3 gange så stor på grund af isolationsmaterialet, bliver 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cs typeface="Times New Roman" panose="02020603050405020304" pitchFamily="18" charset="0"/>
                  </a:rPr>
                  <a:t>kapacitansen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cs typeface="Times New Roman" panose="02020603050405020304" pitchFamily="18" charset="0"/>
                  </a:rPr>
                  <a:t> også 3 gange så stor. D bliver 3 gange så stor, da Q stiger med en faktor 3. Feltstyrken E er uændret. </a:t>
                </a:r>
              </a:p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Kondensatorens 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kapacitans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er også: </a:t>
                </a:r>
                <a14:m>
                  <m:oMath xmlns:m="http://schemas.openxmlformats.org/officeDocument/2006/math"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𝑪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𝑸</m:t>
                        </m:r>
                      </m:num>
                      <m:den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𝑼</m:t>
                        </m:r>
                      </m:den>
                    </m:f>
                  </m:oMath>
                </a14:m>
                <a:r>
                  <a:rPr lang="da-DK" sz="1600" dirty="0">
                    <a:solidFill>
                      <a:schemeClr val="tx1"/>
                    </a:solidFill>
                    <a:latin typeface="+mn-lt"/>
                  </a:rPr>
                  <a:t> =&gt; Q = C · U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da-DK" sz="1600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6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sz="1600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𝐐</m:t>
                          </m:r>
                        </m:num>
                        <m:den>
                          <m:r>
                            <a:rPr lang="da-DK" sz="1600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𝐀</m:t>
                          </m:r>
                        </m:den>
                      </m:f>
                    </m:oMath>
                  </m:oMathPara>
                </a14:m>
                <a:endParaRPr lang="da-DK" sz="1600" dirty="0">
                  <a:solidFill>
                    <a:schemeClr val="tx1"/>
                  </a:solidFill>
                  <a:latin typeface="+mn-lt"/>
                </a:endParaRPr>
              </a:p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Feltstyrken er : </a:t>
                </a:r>
                <a14:m>
                  <m:oMath xmlns:m="http://schemas.openxmlformats.org/officeDocument/2006/math"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𝑼</m:t>
                        </m:r>
                      </m:num>
                      <m:den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da-DK" sz="1600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endParaRPr lang="da-DK" sz="1600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Størrelsen på en kondensator er typisk:</a:t>
                </a:r>
              </a:p>
              <a:p>
                <a:pPr>
                  <a:lnSpc>
                    <a:spcPct val="101000"/>
                  </a:lnSpc>
                  <a:spcAft>
                    <a:spcPts val="800"/>
                  </a:spcAft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 = 10</a:t>
                </a:r>
                <a:r>
                  <a:rPr lang="da-DK" sz="1600" kern="150" baseline="3000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-12 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	læses 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pico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Farad</a:t>
                </a:r>
              </a:p>
              <a:p>
                <a:pPr>
                  <a:lnSpc>
                    <a:spcPct val="101000"/>
                  </a:lnSpc>
                  <a:spcAft>
                    <a:spcPts val="800"/>
                  </a:spcAft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 = 10</a:t>
                </a:r>
                <a:r>
                  <a:rPr lang="da-DK" sz="1600" kern="150" baseline="3000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-9 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	læses 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nano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Farad</a:t>
                </a:r>
              </a:p>
              <a:p>
                <a:pPr>
                  <a:lnSpc>
                    <a:spcPct val="101000"/>
                  </a:lnSpc>
                  <a:spcAft>
                    <a:spcPts val="800"/>
                  </a:spcAft>
                  <a:defRPr/>
                </a:pP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μ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= 10</a:t>
                </a:r>
                <a:r>
                  <a:rPr lang="da-DK" sz="1600" kern="150" baseline="3000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-6 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	læses 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micro</a:t>
                </a: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 Farad</a:t>
                </a:r>
              </a:p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endParaRPr lang="da-DK" sz="16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F8C8EAD3-2FEB-A7AD-8A25-4B08135F2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00" y="1538859"/>
                <a:ext cx="8987876" cy="4817493"/>
              </a:xfrm>
              <a:prstGeom prst="rect">
                <a:avLst/>
              </a:prstGeom>
              <a:blipFill>
                <a:blip r:embed="rId2"/>
                <a:stretch>
                  <a:fillRect l="-20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Billede 2">
            <a:extLst>
              <a:ext uri="{FF2B5EF4-FFF2-40B4-BE49-F238E27FC236}">
                <a16:creationId xmlns:a16="http://schemas.microsoft.com/office/drawing/2014/main" id="{6F769F5B-8E8F-9632-DFB2-0F839033D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770" y="3305316"/>
            <a:ext cx="2751716" cy="2521639"/>
          </a:xfrm>
          <a:prstGeom prst="rect">
            <a:avLst/>
          </a:prstGeom>
        </p:spPr>
      </p:pic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05E04247-E997-DCBA-A1E5-27B62C5B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0607-D28A-4FC0-AB7B-B1712315AE9C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1EF4B956-1170-C097-E9C1-CEF975CB5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14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4AF3499-EA07-3DA9-6C12-C77F85943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33027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47CDACF-4874-EC14-C3C7-8C15EB9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Variabel kondensator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4C37ED4C-2620-62E7-22C2-AFB60EF2FC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50558" y="1634360"/>
                <a:ext cx="9031043" cy="4555010"/>
              </a:xfrm>
              <a:prstGeom prst="rect">
                <a:avLst/>
              </a:prstGeom>
            </p:spPr>
            <p:txBody>
              <a:bodyPr vert="horz" lIns="107287" tIns="53643" rIns="107287" bIns="53643" rtlCol="0">
                <a:noAutofit/>
              </a:bodyPr>
              <a:lstStyle>
                <a:lvl1pPr marL="0" indent="0" algn="l" defTabSz="1072866" rtl="0" eaLnBrk="1" latinLnBrk="0" hangingPunct="1">
                  <a:spcBef>
                    <a:spcPct val="20000"/>
                  </a:spcBef>
                  <a:buSzPct val="100000"/>
                  <a:buFont typeface="Arial" panose="020B0604020202020204" pitchFamily="34" charset="0"/>
                  <a:buNone/>
                  <a:defRPr sz="1800" b="1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312919" indent="-281255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52898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735733" indent="-206751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944346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1152958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tabLst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6pPr>
                <a:lvl7pPr marL="136902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7pPr>
                <a:lvl8pPr marL="4023246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559678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da-DK" sz="1600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r>
                  <a:rPr lang="da-DK" sz="1600" dirty="0">
                    <a:solidFill>
                      <a:srgbClr val="0070C0"/>
                    </a:solidFill>
                  </a:rPr>
                  <a:t>Se: </a:t>
                </a:r>
                <a:r>
                  <a:rPr lang="da-DK" sz="1600" dirty="0">
                    <a:solidFill>
                      <a:srgbClr val="0070C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https://www.youtube.com/watch?v=_S-kbHdduB4</a:t>
                </a:r>
                <a:r>
                  <a:rPr lang="da-DK" sz="1600" dirty="0">
                    <a:solidFill>
                      <a:srgbClr val="0070C0"/>
                    </a:solidFill>
                  </a:rPr>
                  <a:t> (Fra 4:55) </a:t>
                </a:r>
              </a:p>
              <a:p>
                <a:pPr>
                  <a:defRPr/>
                </a:pPr>
                <a:endParaRPr lang="da-DK" sz="1600" dirty="0">
                  <a:solidFill>
                    <a:srgbClr val="0070C0"/>
                  </a:solidFill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ɛ</m:t>
                            </m:r>
                          </m:e>
                          <m:sub>
                            <m:r>
                              <a:rPr lang="da-DK" sz="16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sub>
                        </m:sSub>
                      </m:num>
                      <m:den>
                        <m: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·(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da-DK" sz="16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da-DK" sz="16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n er antallet af plader</a:t>
                </a:r>
              </a:p>
              <a:p>
                <a:pPr>
                  <a:defRPr/>
                </a:pPr>
                <a:r>
                  <a:rPr lang="da-DK" sz="16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	A er ”</a:t>
                </a:r>
                <a:r>
                  <a:rPr lang="da-DK" sz="1600" kern="15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fælles-arealet</a:t>
                </a:r>
                <a:r>
                  <a:rPr lang="da-DK" sz="16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”</a:t>
                </a:r>
              </a:p>
              <a:p>
                <a:pPr>
                  <a:defRPr/>
                </a:pPr>
                <a:endParaRPr lang="da-DK" sz="1600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endParaRPr lang="da-DK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Pladsholder til indhold 2">
                <a:extLst>
                  <a:ext uri="{FF2B5EF4-FFF2-40B4-BE49-F238E27FC236}">
                    <a16:creationId xmlns:a16="http://schemas.microsoft.com/office/drawing/2014/main" id="{4C37ED4C-2620-62E7-22C2-AFB60EF2F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558" y="1634360"/>
                <a:ext cx="9031043" cy="4555010"/>
              </a:xfrm>
              <a:prstGeom prst="rect">
                <a:avLst/>
              </a:prstGeom>
              <a:blipFill>
                <a:blip r:embed="rId3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Billede 2">
            <a:extLst>
              <a:ext uri="{FF2B5EF4-FFF2-40B4-BE49-F238E27FC236}">
                <a16:creationId xmlns:a16="http://schemas.microsoft.com/office/drawing/2014/main" id="{4E0083AD-3761-F19E-EB69-0D52228DD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777" y="3743011"/>
            <a:ext cx="4386223" cy="2430096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C73BA415-E500-BF66-A753-610335650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4949" y="3517176"/>
            <a:ext cx="4009826" cy="2430096"/>
          </a:xfrm>
          <a:prstGeom prst="rect">
            <a:avLst/>
          </a:prstGeom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6577910-F0BF-5D9F-F54B-059B8C76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76A1-5DDB-4AEA-B18E-CDEF1DF92235}" type="datetime1">
              <a:rPr lang="da-DK" smtClean="0"/>
              <a:t>28-09-2026</a:t>
            </a:fld>
            <a:endParaRPr lang="da-DK" dirty="0"/>
          </a:p>
        </p:txBody>
      </p:sp>
      <p:sp>
        <p:nvSpPr>
          <p:cNvPr id="10" name="Pladsholder til slidenummer 9">
            <a:extLst>
              <a:ext uri="{FF2B5EF4-FFF2-40B4-BE49-F238E27FC236}">
                <a16:creationId xmlns:a16="http://schemas.microsoft.com/office/drawing/2014/main" id="{AED97401-3FE8-3ADB-16D7-2002C69DC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15</a:t>
            </a:fld>
            <a:endParaRPr lang="da-DK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2972A7F-9CFB-D0E0-FD46-A82472EFF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© 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51907638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1-02 MARTEC_Powerpoint_master.potx" id="{706DAD8C-2ED0-45D8-BBB1-6C355189BD4F}" vid="{C48A9D34-A5E3-4D26-9936-D4D38ABE4CA2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76432-5f6f-4461-a773-af4277ea9cc4">
      <Terms xmlns="http://schemas.microsoft.com/office/infopath/2007/PartnerControls"/>
    </lcf76f155ced4ddcb4097134ff3c332f>
    <TaxCatchAll xmlns="b112c056-f141-4248-a46f-e5f0219ad1a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5" ma:contentTypeDescription="Opret et nyt dokument." ma:contentTypeScope="" ma:versionID="2d803815c31d0f655e471721038ed57e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04a138fe03453a3fddb840c60d107b87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510E7D-B5D5-47D4-BC4F-4FE3AB958F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9BAD7C-12E3-44E0-AA3A-BFBED0605361}">
  <ds:schemaRefs>
    <ds:schemaRef ds:uri="http://schemas.microsoft.com/office/2006/metadata/properties"/>
    <ds:schemaRef ds:uri="http://schemas.microsoft.com/office/infopath/2007/PartnerControls"/>
    <ds:schemaRef ds:uri="52776432-5f6f-4461-a773-af4277ea9cc4"/>
    <ds:schemaRef ds:uri="b112c056-f141-4248-a46f-e5f0219ad1a7"/>
  </ds:schemaRefs>
</ds:datastoreItem>
</file>

<file path=customXml/itemProps3.xml><?xml version="1.0" encoding="utf-8"?>
<ds:datastoreItem xmlns:ds="http://schemas.openxmlformats.org/officeDocument/2006/customXml" ds:itemID="{62DE5001-77A8-4C19-8085-317B008DD3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4360</TotalTime>
  <Words>869</Words>
  <Application>Microsoft Office PowerPoint</Application>
  <PresentationFormat>Widescreen</PresentationFormat>
  <Paragraphs>161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MARTEC</vt:lpstr>
      <vt:lpstr>Office-tema</vt:lpstr>
      <vt:lpstr>PowerPoint Presentation</vt:lpstr>
      <vt:lpstr>Opgaver</vt:lpstr>
      <vt:lpstr>Kondensator typer</vt:lpstr>
      <vt:lpstr>Kondensator symboler</vt:lpstr>
      <vt:lpstr>Kondensator i et kredsløb</vt:lpstr>
      <vt:lpstr>Kondensator i et kredsløb</vt:lpstr>
      <vt:lpstr>Kondensator i et kredsløb</vt:lpstr>
      <vt:lpstr>Repetition strøm i en leder</vt:lpstr>
      <vt:lpstr>Kondensators spændingsforskel</vt:lpstr>
      <vt:lpstr>Kondensator opbygning</vt:lpstr>
      <vt:lpstr>Kondensator opbygning</vt:lpstr>
      <vt:lpstr>Kondensator test</vt:lpstr>
      <vt:lpstr>Kondensator</vt:lpstr>
      <vt:lpstr>Kondensator konklusion</vt:lpstr>
      <vt:lpstr>Variabel kondensator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136</cp:revision>
  <dcterms:created xsi:type="dcterms:W3CDTF">2020-04-01T11:50:27Z</dcterms:created>
  <dcterms:modified xsi:type="dcterms:W3CDTF">2026-09-28T13:47:05Z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0x0101004A5C8CDECDFE604A9828CFDC608EFB56</vt:lpwstr>
  </property>
  <property fmtid="{D5CDD505-2E9C-101B-9397-08002B2CF9AE}" pid="3" name="MediaServiceImageTags">
    <vt:lpwstr/>
  </property>
</Properties>
</file>