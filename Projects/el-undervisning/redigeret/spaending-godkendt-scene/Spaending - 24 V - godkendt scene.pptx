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9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887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Model: ideel 24 V DC-kilde, ideelle ledninger, én ohmsk varmebelastning og stationær tilstand. Terminalen med rød ledning er positiv, og terminalen med sort ledning er negativ. U er potentialforskellen mellem de to markerede terminaler. 24 J pr. C er den elektriske energi, der overføres gennem belastningen; ladningen forbruges ikke. Illustrationen giver fysisk kontekst og er ikke en måling. Energioverførslen formidles af det elektromagnetiske felt. Kilde: BIPM SI Brochure, tabel 4: 1 V = 1 W/A = 1 J/C. https://www.bipm.org/utils/common/pdf/si-brochure/SI-Brochure-9.pdf . Brief: el_visuel_start/BRIEF_til_lokal_Codex.md, linje 12–20. Stilreference: Biogasanlaegets opbygning.pptx.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proved_workshop_scene" descr="24V_vaerknsted_godkendt_st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physical_question"/>
          <p:cNvSpPr txBox="1"/>
          <p:nvPr/>
        </p:nvSpPr>
        <p:spPr>
          <a:xfrm>
            <a:off x="510430" y="320671"/>
            <a:ext cx="6052248" cy="6704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300"/>
              </a:spcAft>
              <a:defRPr sz="4000" b="1">
                <a:solidFill>
                  <a:srgbClr val="063D3A"/>
                </a:solidFill>
                <a:latin typeface="Calibri"/>
              </a:defRPr>
            </a:pPr>
            <a:r>
              <a:t>Hvad betyder 24 V?</a:t>
            </a:r>
          </a:p>
        </p:txBody>
      </p:sp>
      <p:grpSp>
        <p:nvGrpSpPr>
          <p:cNvPr id="13" name="voltage_and_terminals"/>
          <p:cNvGrpSpPr/>
          <p:nvPr/>
        </p:nvGrpSpPr>
        <p:grpSpPr>
          <a:xfrm>
            <a:off x="1677129" y="1326414"/>
            <a:ext cx="9114831" cy="3082820"/>
            <a:chOff x="1677129" y="1326414"/>
            <a:chExt cx="9114831" cy="3082820"/>
          </a:xfrm>
        </p:grpSpPr>
        <p:sp>
          <p:nvSpPr>
            <p:cNvPr id="4" name="supply_voltage_value"/>
            <p:cNvSpPr txBox="1"/>
            <p:nvPr/>
          </p:nvSpPr>
          <p:spPr>
            <a:xfrm>
              <a:off x="1677129" y="2805876"/>
              <a:ext cx="1968803" cy="83811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>
                <a:spcAft>
                  <a:spcPts val="300"/>
                </a:spcAft>
                <a:defRPr sz="4800" b="1">
                  <a:solidFill>
                    <a:srgbClr val="063D3A"/>
                  </a:solidFill>
                  <a:latin typeface="Calibri"/>
                </a:defRPr>
              </a:pPr>
              <a:r>
                <a:t>24 V</a:t>
              </a:r>
            </a:p>
          </p:txBody>
        </p:sp>
        <p:sp>
          <p:nvSpPr>
            <p:cNvPr id="5" name="supply_positive"/>
            <p:cNvSpPr txBox="1"/>
            <p:nvPr/>
          </p:nvSpPr>
          <p:spPr>
            <a:xfrm>
              <a:off x="1983387" y="3862635"/>
              <a:ext cx="335425" cy="54659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spcAft>
                  <a:spcPts val="300"/>
                </a:spcAft>
                <a:defRPr sz="3000" b="1">
                  <a:solidFill>
                    <a:srgbClr val="FFFFFF"/>
                  </a:solidFill>
                  <a:latin typeface="Calibri"/>
                </a:defRPr>
              </a:pPr>
              <a:r>
                <a:t>+</a:t>
              </a:r>
            </a:p>
          </p:txBody>
        </p:sp>
        <p:sp>
          <p:nvSpPr>
            <p:cNvPr id="6" name="supply_negative"/>
            <p:cNvSpPr txBox="1"/>
            <p:nvPr/>
          </p:nvSpPr>
          <p:spPr>
            <a:xfrm>
              <a:off x="3675100" y="3833483"/>
              <a:ext cx="328133" cy="54659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spcAft>
                  <a:spcPts val="300"/>
                </a:spcAft>
                <a:defRPr sz="3000" b="1">
                  <a:solidFill>
                    <a:srgbClr val="FFFFFF"/>
                  </a:solidFill>
                  <a:latin typeface="Calibri"/>
                </a:defRPr>
              </a:pPr>
              <a:r>
                <a:t>−</a:t>
              </a:r>
            </a:p>
          </p:txBody>
        </p:sp>
        <p:sp>
          <p:nvSpPr>
            <p:cNvPr id="7" name="heater_terminal_positive_point"/>
            <p:cNvSpPr/>
            <p:nvPr/>
          </p:nvSpPr>
          <p:spPr>
            <a:xfrm>
              <a:off x="8823157" y="1836573"/>
              <a:ext cx="291674" cy="357111"/>
            </a:xfrm>
            <a:prstGeom prst="ellipse">
              <a:avLst/>
            </a:prstGeom>
            <a:noFill/>
            <a:ln w="25400">
              <a:solidFill>
                <a:srgbClr val="F3C6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heater_terminal_negative_point"/>
            <p:cNvSpPr/>
            <p:nvPr/>
          </p:nvSpPr>
          <p:spPr>
            <a:xfrm>
              <a:off x="10026315" y="1836573"/>
              <a:ext cx="291674" cy="357111"/>
            </a:xfrm>
            <a:prstGeom prst="ellipse">
              <a:avLst/>
            </a:prstGeom>
            <a:noFill/>
            <a:ln w="25400">
              <a:solidFill>
                <a:srgbClr val="F3C64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heater_positive_sign"/>
            <p:cNvSpPr txBox="1"/>
            <p:nvPr/>
          </p:nvSpPr>
          <p:spPr>
            <a:xfrm>
              <a:off x="9187750" y="1326414"/>
              <a:ext cx="393760" cy="59761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spcAft>
                  <a:spcPts val="300"/>
                </a:spcAft>
                <a:defRPr sz="3200" b="1">
                  <a:solidFill>
                    <a:srgbClr val="063D3A"/>
                  </a:solidFill>
                  <a:latin typeface="Calibri"/>
                </a:defRPr>
              </a:pPr>
              <a:r>
                <a:t>+</a:t>
              </a:r>
            </a:p>
          </p:txBody>
        </p:sp>
        <p:sp>
          <p:nvSpPr>
            <p:cNvPr id="10" name="heater_negative_sign"/>
            <p:cNvSpPr txBox="1"/>
            <p:nvPr/>
          </p:nvSpPr>
          <p:spPr>
            <a:xfrm>
              <a:off x="10354449" y="1326414"/>
              <a:ext cx="437511" cy="59761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spcAft>
                  <a:spcPts val="300"/>
                </a:spcAft>
                <a:defRPr sz="3200" b="1">
                  <a:solidFill>
                    <a:srgbClr val="063D3A"/>
                  </a:solidFill>
                  <a:latin typeface="Calibri"/>
                </a:defRPr>
              </a:pPr>
              <a:r>
                <a:t>−</a:t>
              </a:r>
            </a:p>
          </p:txBody>
        </p:sp>
        <p:cxnSp>
          <p:nvCxnSpPr>
            <p:cNvPr id="11" name="positive_terminal_callout"/>
            <p:cNvCxnSpPr/>
            <p:nvPr/>
          </p:nvCxnSpPr>
          <p:spPr>
            <a:xfrm flipH="1">
              <a:off x="9078372" y="1705390"/>
              <a:ext cx="255216" cy="189487"/>
            </a:xfrm>
            <a:prstGeom prst="line">
              <a:avLst/>
            </a:prstGeom>
            <a:ln w="19050">
              <a:solidFill>
                <a:srgbClr val="063D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negative_terminal_callout"/>
            <p:cNvCxnSpPr/>
            <p:nvPr/>
          </p:nvCxnSpPr>
          <p:spPr>
            <a:xfrm flipH="1">
              <a:off x="10281530" y="1705390"/>
              <a:ext cx="233340" cy="189487"/>
            </a:xfrm>
            <a:prstGeom prst="line">
              <a:avLst/>
            </a:prstGeom>
            <a:ln w="19050">
              <a:solidFill>
                <a:srgbClr val="063D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heat_highlight"/>
          <p:cNvSpPr/>
          <p:nvPr/>
        </p:nvSpPr>
        <p:spPr>
          <a:xfrm>
            <a:off x="8436688" y="3585691"/>
            <a:ext cx="2216727" cy="808967"/>
          </a:xfrm>
          <a:prstGeom prst="roundRect">
            <a:avLst/>
          </a:prstGeom>
          <a:noFill/>
          <a:ln w="38100">
            <a:solidFill>
              <a:srgbClr val="F3C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energy_per_charge"/>
          <p:cNvSpPr txBox="1"/>
          <p:nvPr/>
        </p:nvSpPr>
        <p:spPr>
          <a:xfrm>
            <a:off x="525014" y="1209806"/>
            <a:ext cx="5906411" cy="12389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300"/>
              </a:spcAft>
              <a:defRPr sz="3200" b="1">
                <a:solidFill>
                  <a:srgbClr val="063D3A"/>
                </a:solidFill>
                <a:latin typeface="Calibri"/>
              </a:defRPr>
            </a:pPr>
            <a:r>
              <a:t>24 J overføres pr. C</a:t>
            </a:r>
          </a:p>
          <a:p>
            <a:pPr algn="l">
              <a:spcAft>
                <a:spcPts val="300"/>
              </a:spcAft>
              <a:defRPr sz="3200" b="1">
                <a:solidFill>
                  <a:srgbClr val="063D3A"/>
                </a:solidFill>
                <a:latin typeface="Calibri"/>
              </a:defRPr>
            </a:pPr>
            <a:r>
              <a:t>gennem belastningen</a:t>
            </a:r>
          </a:p>
        </p:txBody>
      </p:sp>
      <p:sp>
        <p:nvSpPr>
          <p:cNvPr id="16" name="voltage_formula"/>
          <p:cNvSpPr txBox="1"/>
          <p:nvPr/>
        </p:nvSpPr>
        <p:spPr>
          <a:xfrm>
            <a:off x="525014" y="1209806"/>
            <a:ext cx="6125167" cy="7142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300"/>
              </a:spcAft>
              <a:defRPr sz="3400" b="1">
                <a:solidFill>
                  <a:srgbClr val="063D3A"/>
                </a:solidFill>
                <a:latin typeface="Calibri"/>
              </a:defRPr>
            </a:pPr>
            <a:r>
              <a:t>U = 24 J / 1 C = 24 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5" grpId="1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PowerPoint-præsentation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Spænding · 24 V i en fysisk varmebelastning</dc:title>
  <dc:subject>Én prøveslide · 4. semester på maskinmesteruddannelsen</dc:subject>
  <dc:creator>EL undervisningsmateriale</dc:creator>
  <cp:keywords/>
  <dc:description>generated using python-pptx</dc:description>
  <cp:lastModifiedBy>Thore Pedersen</cp:lastModifiedBy>
  <cp:revision>2</cp:revision>
  <dcterms:created xsi:type="dcterms:W3CDTF">2013-01-27T09:14:16Z</dcterms:created>
  <dcterms:modified xsi:type="dcterms:W3CDTF">2026-09-26T10:14:56Z</dcterms:modified>
  <cp:category/>
</cp:coreProperties>
</file>