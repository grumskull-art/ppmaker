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4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27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Målemodel: idealiseret stationær jævnstrømskreds med en 24 V-kilde, ideelle ledninger og ét ohmsk varmelegeme. 2 A svarer til 2 C nettoladning gennem et valgt tværsnit på 1 s. Ved konstant strøm er Q = I·t. Tælleren summerer ladningsmængde, ikke to diskrete partikler. Den gyldne tværmarkering er et matematisk tværsnit i den intakte røde leder, ikke et fysisk snit. Ladning bevares: i denne uforgrenede, stationære kreds passerer samme strøm den røde leder, varmelegemet og den sorte returleder. Belastningen omdanner elektrisk energi til varme; strømmen bruges ikke op. Elektronernes bevægelsesretning behandles særskilt; der vises ingen elektronbevægelse på denne slide. Tidsforløbet 0–0,5–1 s er en didaktisk målemodel. Baggrunden er den godkendte illustration og dokumenterer ikke faktiske målinger. Kilde for enheder: BIPM SI Brochure, tabel 4, 1 C = 1 A·s; https://www.bipm.org/utils/common/pdf/si-brochure/SI-Brochure-9.pdf. Byggebrief: el_visuel_start/BRIEF_til_lokal_Codex.md, principper om fysisk scene, præcise redigerbare markeringer og bevarelse af ladning.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pproved_scene_unchanged" descr="24V_vaerknsted_godkendt_st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question"/>
          <p:cNvSpPr txBox="1"/>
          <p:nvPr/>
        </p:nvSpPr>
        <p:spPr>
          <a:xfrm>
            <a:off x="510430" y="320671"/>
            <a:ext cx="6708516" cy="69235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defRPr sz="4000" b="1">
                <a:solidFill>
                  <a:srgbClr val="063D3A"/>
                </a:solidFill>
                <a:latin typeface="Calibri"/>
              </a:defRPr>
            </a:pPr>
            <a:r>
              <a:t>Hvad betyder 2 A?</a:t>
            </a:r>
          </a:p>
        </p:txBody>
      </p:sp>
      <p:sp>
        <p:nvSpPr>
          <p:cNvPr id="4" name="supply_24V"/>
          <p:cNvSpPr txBox="1"/>
          <p:nvPr/>
        </p:nvSpPr>
        <p:spPr>
          <a:xfrm>
            <a:off x="1677129" y="2805876"/>
            <a:ext cx="1968803" cy="8381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defRPr sz="4800" b="1">
                <a:solidFill>
                  <a:srgbClr val="063D3A"/>
                </a:solidFill>
                <a:latin typeface="Calibri"/>
              </a:defRPr>
            </a:pPr>
            <a:r>
              <a:t>24 V</a:t>
            </a:r>
          </a:p>
        </p:txBody>
      </p:sp>
      <p:grpSp>
        <p:nvGrpSpPr>
          <p:cNvPr id="8" name="cross_section"/>
          <p:cNvGrpSpPr/>
          <p:nvPr/>
        </p:nvGrpSpPr>
        <p:grpSpPr>
          <a:xfrm>
            <a:off x="4389703" y="1821997"/>
            <a:ext cx="2953205" cy="1224383"/>
            <a:chOff x="4389703" y="1821997"/>
            <a:chExt cx="2953205" cy="1224383"/>
          </a:xfrm>
        </p:grpSpPr>
        <p:cxnSp>
          <p:nvCxnSpPr>
            <p:cNvPr id="5" name="intact_red_section"/>
            <p:cNvCxnSpPr/>
            <p:nvPr/>
          </p:nvCxnSpPr>
          <p:spPr>
            <a:xfrm>
              <a:off x="7087693" y="2958924"/>
              <a:ext cx="255215" cy="87456"/>
            </a:xfrm>
            <a:prstGeom prst="line">
              <a:avLst/>
            </a:prstGeom>
            <a:ln w="41910">
              <a:solidFill>
                <a:srgbClr val="F3C64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ection_leader"/>
            <p:cNvCxnSpPr/>
            <p:nvPr/>
          </p:nvCxnSpPr>
          <p:spPr>
            <a:xfrm>
              <a:off x="5432440" y="2135381"/>
              <a:ext cx="1742755" cy="845407"/>
            </a:xfrm>
            <a:prstGeom prst="line">
              <a:avLst/>
            </a:prstGeom>
            <a:ln w="22860">
              <a:solidFill>
                <a:srgbClr val="F3C64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section_label"/>
            <p:cNvSpPr txBox="1"/>
            <p:nvPr/>
          </p:nvSpPr>
          <p:spPr>
            <a:xfrm>
              <a:off x="4389703" y="1821997"/>
              <a:ext cx="1932344" cy="466431"/>
            </a:xfrm>
            <a:prstGeom prst="rect">
              <a:avLst/>
            </a:prstGeom>
            <a:noFill/>
          </p:spPr>
          <p:txBody>
            <a:bodyPr wrap="none" lIns="0" tIns="0" rIns="0" bIns="0">
              <a:noAutofit/>
            </a:bodyPr>
            <a:lstStyle/>
            <a:p>
              <a:pPr algn="l">
                <a:defRPr sz="2400" b="1">
                  <a:solidFill>
                    <a:srgbClr val="063D3A"/>
                  </a:solidFill>
                  <a:latin typeface="Calibri"/>
                </a:defRPr>
              </a:pPr>
              <a:r>
                <a:t>Tværsnit</a:t>
              </a:r>
            </a:p>
          </p:txBody>
        </p:sp>
      </p:grpSp>
      <p:sp>
        <p:nvSpPr>
          <p:cNvPr id="9" name="counter_heading"/>
          <p:cNvSpPr txBox="1"/>
          <p:nvPr/>
        </p:nvSpPr>
        <p:spPr>
          <a:xfrm>
            <a:off x="525014" y="1129638"/>
            <a:ext cx="6198085" cy="47371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defRPr sz="2400" b="1">
                <a:solidFill>
                  <a:srgbClr val="063D3A"/>
                </a:solidFill>
                <a:latin typeface="Calibri"/>
              </a:defRPr>
            </a:pPr>
            <a:r>
              <a:t>Tællemodel ved tværsnittet</a:t>
            </a:r>
          </a:p>
        </p:txBody>
      </p:sp>
      <p:sp>
        <p:nvSpPr>
          <p:cNvPr id="10" name="counter_zero"/>
          <p:cNvSpPr txBox="1"/>
          <p:nvPr/>
        </p:nvSpPr>
        <p:spPr>
          <a:xfrm>
            <a:off x="525014" y="1537766"/>
            <a:ext cx="6708516" cy="72879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defRPr sz="3600" b="1">
                <a:solidFill>
                  <a:srgbClr val="063D3A"/>
                </a:solidFill>
                <a:latin typeface="Calibri"/>
              </a:defRPr>
            </a:pPr>
            <a:r>
              <a:t>Q = 0 C     t = 0 s</a:t>
            </a:r>
          </a:p>
        </p:txBody>
      </p:sp>
      <p:sp>
        <p:nvSpPr>
          <p:cNvPr id="11" name="counter_half"/>
          <p:cNvSpPr txBox="1"/>
          <p:nvPr/>
        </p:nvSpPr>
        <p:spPr>
          <a:xfrm>
            <a:off x="525014" y="1537766"/>
            <a:ext cx="6708516" cy="72879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defRPr sz="3600" b="1">
                <a:solidFill>
                  <a:srgbClr val="063D3A"/>
                </a:solidFill>
                <a:latin typeface="Calibri"/>
              </a:defRPr>
            </a:pPr>
            <a:r>
              <a:t>Q = 1 C     t = 0,5 s</a:t>
            </a:r>
          </a:p>
        </p:txBody>
      </p:sp>
      <p:sp>
        <p:nvSpPr>
          <p:cNvPr id="12" name="counter_final"/>
          <p:cNvSpPr txBox="1"/>
          <p:nvPr/>
        </p:nvSpPr>
        <p:spPr>
          <a:xfrm>
            <a:off x="525014" y="1537766"/>
            <a:ext cx="6708516" cy="72879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defRPr sz="3600" b="1">
                <a:solidFill>
                  <a:srgbClr val="063D3A"/>
                </a:solidFill>
                <a:latin typeface="Calibri"/>
              </a:defRPr>
            </a:pPr>
            <a:r>
              <a:t>Q = 2 C     t = 1 s</a:t>
            </a:r>
          </a:p>
        </p:txBody>
      </p:sp>
      <p:sp>
        <p:nvSpPr>
          <p:cNvPr id="13" name="current_formula"/>
          <p:cNvSpPr txBox="1"/>
          <p:nvPr/>
        </p:nvSpPr>
        <p:spPr>
          <a:xfrm>
            <a:off x="525014" y="1253534"/>
            <a:ext cx="6635597" cy="728799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defRPr sz="3200" b="1">
                <a:solidFill>
                  <a:srgbClr val="063D3A"/>
                </a:solidFill>
                <a:latin typeface="Calibri"/>
              </a:defRPr>
            </a:pPr>
            <a:r>
              <a:t>I = Q/t = 2 C/1 s = 2 A</a:t>
            </a:r>
          </a:p>
        </p:txBody>
      </p:sp>
      <p:grpSp>
        <p:nvGrpSpPr>
          <p:cNvPr id="21" name="same_current"/>
          <p:cNvGrpSpPr/>
          <p:nvPr/>
        </p:nvGrpSpPr>
        <p:grpSpPr>
          <a:xfrm>
            <a:off x="525014" y="1945893"/>
            <a:ext cx="9909645" cy="3964667"/>
            <a:chOff x="525014" y="1945893"/>
            <a:chExt cx="9909645" cy="3964667"/>
          </a:xfrm>
        </p:grpSpPr>
        <p:sp>
          <p:nvSpPr>
            <p:cNvPr id="14" name="same_current_caption"/>
            <p:cNvSpPr txBox="1"/>
            <p:nvPr/>
          </p:nvSpPr>
          <p:spPr>
            <a:xfrm>
              <a:off x="525014" y="1945893"/>
              <a:ext cx="6198085" cy="546599"/>
            </a:xfrm>
            <a:prstGeom prst="rect">
              <a:avLst/>
            </a:prstGeom>
            <a:noFill/>
          </p:spPr>
          <p:txBody>
            <a:bodyPr wrap="none" lIns="0" tIns="0" rIns="0" bIns="0">
              <a:noAutofit/>
            </a:bodyPr>
            <a:lstStyle/>
            <a:p>
              <a:pPr algn="l">
                <a:defRPr sz="2600" b="1">
                  <a:solidFill>
                    <a:srgbClr val="063D3A"/>
                  </a:solidFill>
                  <a:latin typeface="Calibri"/>
                </a:defRPr>
              </a:pPr>
              <a:r>
                <a:t>Samme strøm hele vejen</a:t>
              </a:r>
            </a:p>
          </p:txBody>
        </p:sp>
        <p:sp>
          <p:nvSpPr>
            <p:cNvPr id="15" name="current_at_red_section"/>
            <p:cNvSpPr txBox="1"/>
            <p:nvPr/>
          </p:nvSpPr>
          <p:spPr>
            <a:xfrm>
              <a:off x="5585569" y="3141124"/>
              <a:ext cx="1312535" cy="597615"/>
            </a:xfrm>
            <a:prstGeom prst="rect">
              <a:avLst/>
            </a:prstGeom>
            <a:noFill/>
          </p:spPr>
          <p:txBody>
            <a:bodyPr wrap="none" lIns="0" tIns="0" rIns="0" bIns="0">
              <a:noAutofit/>
            </a:bodyPr>
            <a:lstStyle/>
            <a:p>
              <a:pPr algn="l">
                <a:defRPr sz="3000" b="1">
                  <a:solidFill>
                    <a:srgbClr val="063D3A"/>
                  </a:solidFill>
                  <a:latin typeface="Calibri"/>
                </a:defRPr>
              </a:pPr>
              <a:r>
                <a:t>2 A</a:t>
              </a:r>
            </a:p>
          </p:txBody>
        </p:sp>
        <p:cxnSp>
          <p:nvCxnSpPr>
            <p:cNvPr id="16" name="red_current_leader"/>
            <p:cNvCxnSpPr/>
            <p:nvPr/>
          </p:nvCxnSpPr>
          <p:spPr>
            <a:xfrm flipV="1">
              <a:off x="6453301" y="3053668"/>
              <a:ext cx="743770" cy="349824"/>
            </a:xfrm>
            <a:prstGeom prst="line">
              <a:avLst/>
            </a:prstGeom>
            <a:ln w="25400">
              <a:solidFill>
                <a:srgbClr val="F3C64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current_at_heater"/>
            <p:cNvSpPr txBox="1"/>
            <p:nvPr/>
          </p:nvSpPr>
          <p:spPr>
            <a:xfrm>
              <a:off x="8830449" y="2528933"/>
              <a:ext cx="1604210" cy="583039"/>
            </a:xfrm>
            <a:prstGeom prst="rect">
              <a:avLst/>
            </a:prstGeom>
            <a:noFill/>
          </p:spPr>
          <p:txBody>
            <a:bodyPr wrap="none" lIns="0" tIns="0" rIns="0" bIns="0">
              <a:noAutofit/>
            </a:bodyPr>
            <a:lstStyle/>
            <a:p>
              <a:pPr algn="ctr">
                <a:defRPr sz="3000" b="1">
                  <a:solidFill>
                    <a:srgbClr val="063D3A"/>
                  </a:solidFill>
                  <a:latin typeface="Calibri"/>
                </a:defRPr>
              </a:pPr>
              <a:r>
                <a:t>2 A</a:t>
              </a:r>
            </a:p>
          </p:txBody>
        </p:sp>
        <p:cxnSp>
          <p:nvCxnSpPr>
            <p:cNvPr id="18" name="heater_current_leader"/>
            <p:cNvCxnSpPr/>
            <p:nvPr/>
          </p:nvCxnSpPr>
          <p:spPr>
            <a:xfrm>
              <a:off x="9581511" y="2988076"/>
              <a:ext cx="0" cy="787103"/>
            </a:xfrm>
            <a:prstGeom prst="line">
              <a:avLst/>
            </a:prstGeom>
            <a:ln w="31750">
              <a:solidFill>
                <a:srgbClr val="F3C64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urrent_at_return"/>
            <p:cNvSpPr txBox="1"/>
            <p:nvPr/>
          </p:nvSpPr>
          <p:spPr>
            <a:xfrm>
              <a:off x="5738698" y="5291081"/>
              <a:ext cx="1822966" cy="619479"/>
            </a:xfrm>
            <a:prstGeom prst="rect">
              <a:avLst/>
            </a:prstGeom>
            <a:noFill/>
          </p:spPr>
          <p:txBody>
            <a:bodyPr wrap="none" lIns="0" tIns="0" rIns="0" bIns="0">
              <a:noAutofit/>
            </a:bodyPr>
            <a:lstStyle/>
            <a:p>
              <a:pPr algn="ctr">
                <a:defRPr sz="3000" b="1">
                  <a:solidFill>
                    <a:srgbClr val="063D3A"/>
                  </a:solidFill>
                  <a:latin typeface="Calibri"/>
                </a:defRPr>
              </a:pPr>
              <a:r>
                <a:t>2 A</a:t>
              </a:r>
            </a:p>
          </p:txBody>
        </p:sp>
        <p:cxnSp>
          <p:nvCxnSpPr>
            <p:cNvPr id="20" name="return_current_leader"/>
            <p:cNvCxnSpPr/>
            <p:nvPr/>
          </p:nvCxnSpPr>
          <p:spPr>
            <a:xfrm flipV="1">
              <a:off x="6628306" y="4970410"/>
              <a:ext cx="0" cy="349823"/>
            </a:xfrm>
            <a:prstGeom prst="line">
              <a:avLst/>
            </a:prstGeom>
            <a:ln w="31750">
              <a:solidFill>
                <a:srgbClr val="F3C64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"/>
                            </p:stCondLst>
                            <p:childTnLst>
                              <p:par>
                                <p:cTn id="12" presetID="1" presetClass="exit" presetSubtype="0" fill="hold" grpId="1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10"/>
                            </p:stCondLst>
                            <p:childTnLst>
                              <p:par>
                                <p:cTn id="18" presetID="1" presetClass="exit" presetSubtype="0" fill="hold" grpId="1" nodeType="after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PowerPoint-præsentation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Strøm · 2 C på 1 s</dc:title>
  <dc:subject>Én strømslide · godkendt 24 V-scene</dc:subject>
  <dc:creator>EL undervisningsmateriale</dc:creator>
  <cp:keywords/>
  <dc:description>generated using python-pptx</dc:description>
  <cp:lastModifiedBy>Thore Pedersen</cp:lastModifiedBy>
  <cp:revision>2</cp:revision>
  <dcterms:created xsi:type="dcterms:W3CDTF">2013-01-27T09:14:16Z</dcterms:created>
  <dcterms:modified xsi:type="dcterms:W3CDTF">2026-09-26T10:39:21Z</dcterms:modified>
  <cp:category/>
</cp:coreProperties>
</file>