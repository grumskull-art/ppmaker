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 = ΔE/Q er energiændring pr. ladning. De orange mærker viser overført energi; grønne 1 C-symboler er tænkte tællepakker, ikke enkelte partikler. 0 J henviser til kildens negative terminal som valgt reference. Ladning bevares gennem modstanden. I en stationær kreds formidles energi via det elektromagnetiske felt; figuren viser en energibalance, ikke energi som fysisk bagage på elektroner. Her er R = 12 Ω. Kilde: BIPM SI Brochure, tabel 4: 1 V = 1 W/A = 1 J/C. https://www.bipm.org/utils/common/pdf/si-brochure/SI-Brochure-9.pdf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= ΔQ/Δt er middelstrøm, og I = Q/t bruges her ved konstant strøm. Hvert 1 C-symbol er en positiv ladningsmængde som tællemodel i konventionel strømretning; symbolerne er ikke enkelte elektroner. To sådanne mængder passerer et fast tværsnit på 1 s. Samme ladning pr. tid passerer før og efter R i stationær tilstand; der ophobes ikke ladning i modstanden. Elektroners drift i metallet er modsat konventionel strøm, vist særskilt. Bevægelsen af ladningsbærere skal ikke forveksles med feltets energioverførsel. R = 12 Ω. Kilder: BIPM, 1 C = 1 A·s og https://www.bipm.org/en/si-base-units/ampere 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Ohmsk belastning med omtrent konstant temperatur: I = U/R. Ved konstant U = 24 V giver R = 12 Ω strømmen 2 A, og R = 24 Ω giver 1 A. Der vises to stationære tilstande; transienten under ændringen er udeladt. Pr. sekund passerer samme ladning før og efter modstanden. Strømmen er ikke brugt op; ved større R er strømmen mindre overalt i denne simple seriekreds. Energien pr. coulomb er fortsat 24 J. Den samlede effekt ændres fra 48 W til 24 W. Grønne 1 C-symboler er en tællemodel, ikke enkelte elektroner. Kilde: OpenStax University Physics Volume 2, 9.4 Ohm’s Law. https://openstax.org/books/university-physics-volume-2/pages/9-4-ohms-law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789920" cy="347472"/>
          </a:xfrm>
          <a:prstGeom prst="rect">
            <a:avLst/>
          </a:prstGeom>
          <a:noFill/>
        </p:spPr>
        <p:txBody>
          <a:bodyPr wrap="square" lIns="9144" rIns="9144" tIns="9144" bIns="9144">
            <a:no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667985"/>
                </a:solidFill>
                <a:latin typeface="DejaVu Sans"/>
              </a:defRPr>
            </a:pPr>
            <a:r>
              <a:t>EL · MASKINMESTER · 4. SEMESTER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32104"/>
            <a:ext cx="11064240" cy="658368"/>
          </a:xfrm>
          <a:prstGeom prst="rect">
            <a:avLst/>
          </a:prstGeom>
          <a:noFill/>
        </p:spPr>
        <p:txBody>
          <a:bodyPr wrap="square" lIns="9144" rIns="9144" tIns="9144" bIns="9144">
            <a:noAutofit/>
          </a:bodyPr>
          <a:lstStyle/>
          <a:p>
            <a:pPr algn="l">
              <a:spcAft>
                <a:spcPts val="600"/>
              </a:spcAft>
              <a:defRPr sz="3400" b="1">
                <a:solidFill>
                  <a:srgbClr val="173246"/>
                </a:solidFill>
                <a:latin typeface="DejaVu Sans"/>
              </a:defRPr>
            </a:pPr>
            <a:r>
              <a:t>Spænding: 24 J for hver coulomb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74320"/>
            <a:ext cx="502920" cy="365760"/>
          </a:xfrm>
          <a:prstGeom prst="rect">
            <a:avLst/>
          </a:prstGeom>
          <a:noFill/>
        </p:spPr>
        <p:txBody>
          <a:bodyPr wrap="square" lIns="9144" rIns="9144" tIns="9144" bIns="9144">
            <a:no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667985"/>
                </a:solidFill>
                <a:latin typeface="DejaVu Sans"/>
              </a:defRPr>
            </a:pPr>
            <a:r>
              <a:t>01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645920" y="2788920"/>
            <a:ext cx="4315968" cy="0"/>
          </a:xfrm>
          <a:prstGeom prst="line">
            <a:avLst/>
          </a:prstGeom>
          <a:ln w="38100">
            <a:solidFill>
              <a:srgbClr val="85939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635240" y="2788920"/>
            <a:ext cx="1554480" cy="0"/>
          </a:xfrm>
          <a:prstGeom prst="line">
            <a:avLst/>
          </a:prstGeom>
          <a:ln w="38100">
            <a:solidFill>
              <a:srgbClr val="85939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189720" y="2788920"/>
            <a:ext cx="0" cy="2496312"/>
          </a:xfrm>
          <a:prstGeom prst="line">
            <a:avLst/>
          </a:prstGeom>
          <a:ln w="38100">
            <a:solidFill>
              <a:srgbClr val="85939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1645920" y="5285232"/>
            <a:ext cx="7543800" cy="0"/>
          </a:xfrm>
          <a:prstGeom prst="line">
            <a:avLst/>
          </a:prstGeom>
          <a:ln w="38100">
            <a:solidFill>
              <a:srgbClr val="85939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645920" y="2788920"/>
            <a:ext cx="0" cy="809244"/>
          </a:xfrm>
          <a:prstGeom prst="line">
            <a:avLst/>
          </a:prstGeom>
          <a:ln w="38100">
            <a:solidFill>
              <a:srgbClr val="85939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645920" y="4475988"/>
            <a:ext cx="0" cy="809244"/>
          </a:xfrm>
          <a:prstGeom prst="line">
            <a:avLst/>
          </a:prstGeom>
          <a:ln w="38100">
            <a:solidFill>
              <a:srgbClr val="85939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1207008" y="3598164"/>
            <a:ext cx="877824" cy="877824"/>
          </a:xfrm>
          <a:prstGeom prst="ellipse">
            <a:avLst/>
          </a:prstGeom>
          <a:solidFill>
            <a:srgbClr val="FFFFFF"/>
          </a:solidFill>
          <a:ln w="30480">
            <a:solidFill>
              <a:srgbClr val="17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27048" y="3707891"/>
            <a:ext cx="320040" cy="365760"/>
          </a:xfrm>
          <a:prstGeom prst="rect">
            <a:avLst/>
          </a:prstGeom>
          <a:noFill/>
        </p:spPr>
        <p:txBody>
          <a:bodyPr wrap="square" lIns="9144" rIns="9144" tIns="9144" bIns="9144">
            <a:noAutofit/>
          </a:bodyPr>
          <a:lstStyle/>
          <a:p>
            <a:pPr algn="l">
              <a:spcAft>
                <a:spcPts val="600"/>
              </a:spcAft>
              <a:defRPr sz="2600" b="1">
                <a:solidFill>
                  <a:srgbClr val="007E83"/>
                </a:solidFill>
                <a:latin typeface="DejaVu Sans"/>
              </a:defRPr>
            </a:pPr>
            <a:r>
              <a:t>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27048" y="4101084"/>
            <a:ext cx="320040" cy="365760"/>
          </a:xfrm>
          <a:prstGeom prst="rect">
            <a:avLst/>
          </a:prstGeom>
          <a:noFill/>
        </p:spPr>
        <p:txBody>
          <a:bodyPr wrap="square" lIns="9144" rIns="9144" tIns="9144" bIns="9144">
            <a:noAutofit/>
          </a:bodyPr>
          <a:lstStyle/>
          <a:p>
            <a:pPr algn="l">
              <a:spcAft>
                <a:spcPts val="600"/>
              </a:spcAft>
              <a:defRPr sz="2600" b="1">
                <a:solidFill>
                  <a:srgbClr val="007E83"/>
                </a:solidFill>
                <a:latin typeface="DejaVu Sans"/>
              </a:defRPr>
            </a:pPr>
            <a:r>
              <a:t>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3735324"/>
            <a:ext cx="932688" cy="1005840"/>
          </a:xfrm>
          <a:prstGeom prst="rect">
            <a:avLst/>
          </a:prstGeom>
          <a:noFill/>
        </p:spPr>
        <p:txBody>
          <a:bodyPr wrap="square" lIns="9144" rIns="9144" tIns="9144" bIns="9144">
            <a:noAutofit/>
          </a:bodyPr>
          <a:lstStyle/>
          <a:p>
            <a:pPr algn="l">
              <a:spcAft>
                <a:spcPts val="600"/>
              </a:spcAft>
              <a:defRPr sz="2400" b="1">
                <a:solidFill>
                  <a:srgbClr val="007E83"/>
                </a:solidFill>
                <a:latin typeface="DejaVu Sans"/>
              </a:defRPr>
            </a:pPr>
            <a:r>
              <a:t>24 V</a:t>
            </a:r>
          </a:p>
          <a:p>
            <a:pPr algn="l">
              <a:spcAft>
                <a:spcPts val="600"/>
              </a:spcAft>
              <a:defRPr sz="2400" b="1">
                <a:solidFill>
                  <a:srgbClr val="007E83"/>
                </a:solidFill>
                <a:latin typeface="DejaVu Sans"/>
              </a:defRPr>
            </a:pPr>
            <a:r>
              <a:t>DC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61888" y="2560320"/>
            <a:ext cx="1673352" cy="457200"/>
          </a:xfrm>
          <a:prstGeom prst="rect">
            <a:avLst/>
          </a:prstGeom>
          <a:solidFill>
            <a:srgbClr val="FFFFFF"/>
          </a:solidFill>
          <a:ln w="30480">
            <a:solidFill>
              <a:srgbClr val="17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0136" y="2103120"/>
            <a:ext cx="457200" cy="402336"/>
          </a:xfrm>
          <a:prstGeom prst="rect">
            <a:avLst/>
          </a:prstGeom>
          <a:noFill/>
        </p:spPr>
        <p:txBody>
          <a:bodyPr wrap="square" lIns="9144" rIns="9144" tIns="9144" bIns="9144">
            <a:noAutofit/>
          </a:bodyPr>
          <a:lstStyle/>
          <a:p>
            <a:pPr algn="l">
              <a:spcAft>
                <a:spcPts val="600"/>
              </a:spcAft>
              <a:defRPr sz="2600" b="1">
                <a:solidFill>
                  <a:srgbClr val="007E83"/>
                </a:solidFill>
                <a:latin typeface="DejaVu Sans"/>
              </a:defRPr>
            </a:pPr>
            <a:r>
              <a:t>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3800" y="2103120"/>
            <a:ext cx="457200" cy="402336"/>
          </a:xfrm>
          <a:prstGeom prst="rect">
            <a:avLst/>
          </a:prstGeom>
          <a:noFill/>
        </p:spPr>
        <p:txBody>
          <a:bodyPr wrap="square" lIns="9144" rIns="9144" tIns="9144" bIns="9144">
            <a:noAutofit/>
          </a:bodyPr>
          <a:lstStyle/>
          <a:p>
            <a:pPr algn="l">
              <a:spcAft>
                <a:spcPts val="600"/>
              </a:spcAft>
              <a:defRPr sz="2600" b="1">
                <a:solidFill>
                  <a:srgbClr val="007E83"/>
                </a:solidFill>
                <a:latin typeface="DejaVu Sans"/>
              </a:defRPr>
            </a:pPr>
            <a:r>
              <a:t>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2048255"/>
            <a:ext cx="1691640" cy="384048"/>
          </a:xfrm>
          <a:prstGeom prst="rect">
            <a:avLst/>
          </a:prstGeom>
          <a:noFill/>
        </p:spPr>
        <p:txBody>
          <a:bodyPr wrap="square" lIns="9144" rIns="9144" tIns="9144" bIns="9144">
            <a:noAutofit/>
          </a:bodyPr>
          <a:lstStyle/>
          <a:p>
            <a:pPr algn="l">
              <a:spcAft>
                <a:spcPts val="600"/>
              </a:spcAft>
              <a:defRPr sz="2400" b="1">
                <a:solidFill>
                  <a:srgbClr val="007E83"/>
                </a:solidFill>
                <a:latin typeface="DejaVu Sans"/>
              </a:defRPr>
            </a:pPr>
            <a:r>
              <a:t>U = 24 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47104"/>
            <a:ext cx="10972800" cy="237744"/>
          </a:xfrm>
          <a:prstGeom prst="rect">
            <a:avLst/>
          </a:prstGeom>
          <a:noFill/>
        </p:spPr>
        <p:txBody>
          <a:bodyPr wrap="square" lIns="9144" rIns="9144" tIns="9144" bIns="9144">
            <a:no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667985"/>
                </a:solidFill>
                <a:latin typeface="DejaVu Sans"/>
              </a:defRPr>
            </a:pPr>
            <a:r>
              <a:t>Ideel DC-kilde · ohmsk R · stationær tilstand · ladningspakker er en tællemodel</a:t>
            </a:r>
          </a:p>
        </p:txBody>
      </p:sp>
      <p:grpSp>
        <p:nvGrpSpPr>
          <p:cNvPr id="29" name="U-1-ladning-og-energi"/>
          <p:cNvGrpSpPr/>
          <p:nvPr/>
        </p:nvGrpSpPr>
        <p:grpSpPr>
          <a:xfrm>
            <a:off x="3008376" y="1828800"/>
            <a:ext cx="5367528" cy="2395728"/>
            <a:chOff x="3008376" y="1828800"/>
            <a:chExt cx="5367528" cy="2395728"/>
          </a:xfrm>
        </p:grpSpPr>
        <p:sp>
          <p:nvSpPr>
            <p:cNvPr id="20" name="TextBox 19"/>
            <p:cNvSpPr txBox="1"/>
            <p:nvPr/>
          </p:nvSpPr>
          <p:spPr>
            <a:xfrm>
              <a:off x="6227064" y="3246120"/>
              <a:ext cx="2148840" cy="438912"/>
            </a:xfrm>
            <a:prstGeom prst="rect">
              <a:avLst/>
            </a:prstGeom>
            <a:noFill/>
          </p:spPr>
          <p:txBody>
            <a:bodyPr wrap="square" lIns="9144" rIns="9144" tIns="9144" bIns="9144">
              <a:noAutofit/>
            </a:bodyPr>
            <a:lstStyle/>
            <a:p>
              <a:pPr algn="l">
                <a:spcAft>
                  <a:spcPts val="600"/>
                </a:spcAft>
                <a:defRPr sz="2400" b="0">
                  <a:solidFill>
                    <a:srgbClr val="173246"/>
                  </a:solidFill>
                  <a:latin typeface="DejaVu Sans"/>
                </a:defRPr>
              </a:pPr>
              <a:r>
                <a:t>R = 12 Ω</a:t>
              </a:r>
            </a:p>
          </p:txBody>
        </p:sp>
        <p:sp>
          <p:nvSpPr>
            <p:cNvPr id="21" name="Oval 20"/>
            <p:cNvSpPr/>
            <p:nvPr/>
          </p:nvSpPr>
          <p:spPr>
            <a:xfrm>
              <a:off x="3529584" y="2441448"/>
              <a:ext cx="694944" cy="694944"/>
            </a:xfrm>
            <a:prstGeom prst="ellipse">
              <a:avLst/>
            </a:prstGeom>
            <a:solidFill>
              <a:srgbClr val="FFFFFF"/>
            </a:solidFill>
            <a:ln w="30480">
              <a:solidFill>
                <a:srgbClr val="007E8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602736" y="2615184"/>
              <a:ext cx="594360" cy="411480"/>
            </a:xfrm>
            <a:prstGeom prst="rect">
              <a:avLst/>
            </a:prstGeom>
            <a:noFill/>
          </p:spPr>
          <p:txBody>
            <a:bodyPr wrap="square" lIns="9144" rIns="9144" tIns="9144" bIns="9144">
              <a:noAutofit/>
            </a:bodyPr>
            <a:lstStyle/>
            <a:p>
              <a:pPr algn="l">
                <a:spcAft>
                  <a:spcPts val="600"/>
                </a:spcAft>
                <a:defRPr sz="2400" b="1">
                  <a:solidFill>
                    <a:srgbClr val="007E83"/>
                  </a:solidFill>
                  <a:latin typeface="DejaVu Sans"/>
                </a:defRPr>
              </a:pPr>
              <a:r>
                <a:t>1 C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3621024" y="3337560"/>
              <a:ext cx="118872" cy="320040"/>
            </a:xfrm>
            <a:prstGeom prst="rect">
              <a:avLst/>
            </a:prstGeom>
            <a:solidFill>
              <a:srgbClr val="C76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3794760" y="3337560"/>
              <a:ext cx="118872" cy="320040"/>
            </a:xfrm>
            <a:prstGeom prst="rect">
              <a:avLst/>
            </a:prstGeom>
            <a:solidFill>
              <a:srgbClr val="C76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3968496" y="3337560"/>
              <a:ext cx="118872" cy="320040"/>
            </a:xfrm>
            <a:prstGeom prst="rect">
              <a:avLst/>
            </a:prstGeom>
            <a:solidFill>
              <a:srgbClr val="C76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3474720" y="3813048"/>
              <a:ext cx="1508760" cy="411480"/>
            </a:xfrm>
            <a:prstGeom prst="rect">
              <a:avLst/>
            </a:prstGeom>
            <a:noFill/>
          </p:spPr>
          <p:txBody>
            <a:bodyPr wrap="square" lIns="9144" rIns="9144" tIns="9144" bIns="9144">
              <a:noAutofit/>
            </a:bodyPr>
            <a:lstStyle/>
            <a:p>
              <a:pPr algn="l">
                <a:spcAft>
                  <a:spcPts val="600"/>
                </a:spcAft>
                <a:defRPr sz="2400" b="1">
                  <a:solidFill>
                    <a:srgbClr val="C76515"/>
                  </a:solidFill>
                  <a:latin typeface="DejaVu Sans"/>
                </a:defRPr>
              </a:pPr>
              <a:r>
                <a:t>24 J</a:t>
              </a:r>
            </a:p>
          </p:txBody>
        </p:sp>
        <p:sp>
          <p:nvSpPr>
            <p:cNvPr id="27" name="Right Arrow 26"/>
            <p:cNvSpPr/>
            <p:nvPr/>
          </p:nvSpPr>
          <p:spPr>
            <a:xfrm>
              <a:off x="4416552" y="2688336"/>
              <a:ext cx="777240" cy="201168"/>
            </a:xfrm>
            <a:prstGeom prst="rightArrow">
              <a:avLst/>
            </a:prstGeom>
            <a:solidFill>
              <a:srgbClr val="007E8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3008376" y="1828800"/>
              <a:ext cx="2606040" cy="420624"/>
            </a:xfrm>
            <a:prstGeom prst="rect">
              <a:avLst/>
            </a:prstGeom>
            <a:noFill/>
          </p:spPr>
          <p:txBody>
            <a:bodyPr wrap="square" lIns="9144" rIns="9144" tIns="9144" bIns="9144">
              <a:noAutofit/>
            </a:bodyPr>
            <a:lstStyle/>
            <a:p>
              <a:pPr algn="l">
                <a:spcAft>
                  <a:spcPts val="600"/>
                </a:spcAft>
                <a:defRPr sz="2400" b="0">
                  <a:solidFill>
                    <a:srgbClr val="007E83"/>
                  </a:solidFill>
                  <a:latin typeface="DejaVu Sans"/>
                </a:defRPr>
              </a:pPr>
              <a:r>
                <a:t>Fra kildens +</a:t>
              </a:r>
            </a:p>
          </p:txBody>
        </p:sp>
      </p:grpSp>
      <p:grpSp>
        <p:nvGrpSpPr>
          <p:cNvPr id="43" name="U-2-energioverfoersel"/>
          <p:cNvGrpSpPr/>
          <p:nvPr/>
        </p:nvGrpSpPr>
        <p:grpSpPr>
          <a:xfrm>
            <a:off x="7406640" y="1847088"/>
            <a:ext cx="4663440" cy="3383280"/>
            <a:chOff x="7406640" y="1847088"/>
            <a:chExt cx="4663440" cy="3383280"/>
          </a:xfrm>
        </p:grpSpPr>
        <p:sp>
          <p:nvSpPr>
            <p:cNvPr id="30" name="Oval 29"/>
            <p:cNvSpPr/>
            <p:nvPr/>
          </p:nvSpPr>
          <p:spPr>
            <a:xfrm>
              <a:off x="8842248" y="3566160"/>
              <a:ext cx="694944" cy="694944"/>
            </a:xfrm>
            <a:prstGeom prst="ellipse">
              <a:avLst/>
            </a:prstGeom>
            <a:solidFill>
              <a:srgbClr val="FFFFFF"/>
            </a:solidFill>
            <a:ln w="30480">
              <a:solidFill>
                <a:srgbClr val="007E8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8915400" y="3739896"/>
              <a:ext cx="594360" cy="411480"/>
            </a:xfrm>
            <a:prstGeom prst="rect">
              <a:avLst/>
            </a:prstGeom>
            <a:noFill/>
          </p:spPr>
          <p:txBody>
            <a:bodyPr wrap="square" lIns="9144" rIns="9144" tIns="9144" bIns="9144">
              <a:noAutofit/>
            </a:bodyPr>
            <a:lstStyle/>
            <a:p>
              <a:pPr algn="l">
                <a:spcAft>
                  <a:spcPts val="600"/>
                </a:spcAft>
                <a:defRPr sz="2400" b="1">
                  <a:solidFill>
                    <a:srgbClr val="007E83"/>
                  </a:solidFill>
                  <a:latin typeface="DejaVu Sans"/>
                </a:defRPr>
              </a:pPr>
              <a:r>
                <a:t>1 C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9500616" y="4279392"/>
              <a:ext cx="1508760" cy="411480"/>
            </a:xfrm>
            <a:prstGeom prst="rect">
              <a:avLst/>
            </a:prstGeom>
            <a:noFill/>
          </p:spPr>
          <p:txBody>
            <a:bodyPr wrap="square" lIns="9144" rIns="9144" tIns="9144" bIns="9144">
              <a:noAutofit/>
            </a:bodyPr>
            <a:lstStyle/>
            <a:p>
              <a:pPr algn="l">
                <a:spcAft>
                  <a:spcPts val="600"/>
                </a:spcAft>
                <a:defRPr sz="2400" b="1">
                  <a:solidFill>
                    <a:srgbClr val="C76515"/>
                  </a:solidFill>
                  <a:latin typeface="DejaVu Sans"/>
                </a:defRPr>
              </a:pPr>
              <a:r>
                <a:t>0 J</a:t>
              </a:r>
            </a:p>
          </p:txBody>
        </p:sp>
        <p:cxnSp>
          <p:nvCxnSpPr>
            <p:cNvPr id="33" name="Connector 32"/>
            <p:cNvCxnSpPr/>
            <p:nvPr/>
          </p:nvCxnSpPr>
          <p:spPr>
            <a:xfrm>
              <a:off x="7406640" y="2560320"/>
              <a:ext cx="2148840" cy="0"/>
            </a:xfrm>
            <a:prstGeom prst="line">
              <a:avLst/>
            </a:prstGeom>
            <a:ln w="31750">
              <a:solidFill>
                <a:srgbClr val="C7651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Right Arrow 33"/>
            <p:cNvSpPr/>
            <p:nvPr/>
          </p:nvSpPr>
          <p:spPr>
            <a:xfrm>
              <a:off x="9555480" y="2459736"/>
              <a:ext cx="685800" cy="201168"/>
            </a:xfrm>
            <a:prstGeom prst="rightArrow">
              <a:avLst/>
            </a:prstGeom>
            <a:solidFill>
              <a:srgbClr val="C76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8412480" y="1847088"/>
              <a:ext cx="3035808" cy="411480"/>
            </a:xfrm>
            <a:prstGeom prst="rect">
              <a:avLst/>
            </a:prstGeom>
            <a:noFill/>
          </p:spPr>
          <p:txBody>
            <a:bodyPr wrap="square" lIns="9144" rIns="9144" tIns="9144" bIns="9144">
              <a:noAutofit/>
            </a:bodyPr>
            <a:lstStyle/>
            <a:p>
              <a:pPr algn="l">
                <a:spcAft>
                  <a:spcPts val="600"/>
                </a:spcAft>
                <a:defRPr sz="2400" b="1">
                  <a:solidFill>
                    <a:srgbClr val="C76515"/>
                  </a:solidFill>
                  <a:latin typeface="DejaVu Sans"/>
                </a:defRPr>
              </a:pPr>
              <a:r>
                <a:t>24 J → varme</a:t>
              </a:r>
            </a:p>
          </p:txBody>
        </p:sp>
        <p:cxnSp>
          <p:nvCxnSpPr>
            <p:cNvPr id="36" name="Connector 35"/>
            <p:cNvCxnSpPr/>
            <p:nvPr/>
          </p:nvCxnSpPr>
          <p:spPr>
            <a:xfrm flipV="1">
              <a:off x="10469880" y="2606040"/>
              <a:ext cx="128016" cy="265176"/>
            </a:xfrm>
            <a:prstGeom prst="line">
              <a:avLst/>
            </a:prstGeom>
            <a:ln w="31750">
              <a:solidFill>
                <a:srgbClr val="C7651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nector 36"/>
            <p:cNvCxnSpPr/>
            <p:nvPr/>
          </p:nvCxnSpPr>
          <p:spPr>
            <a:xfrm flipH="1" flipV="1">
              <a:off x="10469880" y="2340864"/>
              <a:ext cx="128016" cy="265176"/>
            </a:xfrm>
            <a:prstGeom prst="line">
              <a:avLst/>
            </a:prstGeom>
            <a:ln w="31750">
              <a:solidFill>
                <a:srgbClr val="C7651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nector 37"/>
            <p:cNvCxnSpPr/>
            <p:nvPr/>
          </p:nvCxnSpPr>
          <p:spPr>
            <a:xfrm flipV="1">
              <a:off x="10817352" y="2606040"/>
              <a:ext cx="128016" cy="265176"/>
            </a:xfrm>
            <a:prstGeom prst="line">
              <a:avLst/>
            </a:prstGeom>
            <a:ln w="31750">
              <a:solidFill>
                <a:srgbClr val="C7651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nector 38"/>
            <p:cNvCxnSpPr/>
            <p:nvPr/>
          </p:nvCxnSpPr>
          <p:spPr>
            <a:xfrm flipH="1" flipV="1">
              <a:off x="10817352" y="2340864"/>
              <a:ext cx="128016" cy="265176"/>
            </a:xfrm>
            <a:prstGeom prst="line">
              <a:avLst/>
            </a:prstGeom>
            <a:ln w="31750">
              <a:solidFill>
                <a:srgbClr val="C7651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or 39"/>
            <p:cNvCxnSpPr/>
            <p:nvPr/>
          </p:nvCxnSpPr>
          <p:spPr>
            <a:xfrm flipV="1">
              <a:off x="11164824" y="2606040"/>
              <a:ext cx="128016" cy="265176"/>
            </a:xfrm>
            <a:prstGeom prst="line">
              <a:avLst/>
            </a:prstGeom>
            <a:ln w="31750">
              <a:solidFill>
                <a:srgbClr val="C7651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nector 40"/>
            <p:cNvCxnSpPr/>
            <p:nvPr/>
          </p:nvCxnSpPr>
          <p:spPr>
            <a:xfrm flipH="1" flipV="1">
              <a:off x="11164824" y="2340864"/>
              <a:ext cx="128016" cy="265176"/>
            </a:xfrm>
            <a:prstGeom prst="line">
              <a:avLst/>
            </a:prstGeom>
            <a:ln w="31750">
              <a:solidFill>
                <a:srgbClr val="C7651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/>
            <p:cNvSpPr txBox="1"/>
            <p:nvPr/>
          </p:nvSpPr>
          <p:spPr>
            <a:xfrm>
              <a:off x="9601200" y="4773168"/>
              <a:ext cx="2468880" cy="457200"/>
            </a:xfrm>
            <a:prstGeom prst="rect">
              <a:avLst/>
            </a:prstGeom>
            <a:noFill/>
          </p:spPr>
          <p:txBody>
            <a:bodyPr wrap="square" lIns="9144" rIns="9144" tIns="9144" bIns="9144">
              <a:noAutofit/>
            </a:bodyPr>
            <a:lstStyle/>
            <a:p>
              <a:pPr algn="l">
                <a:spcAft>
                  <a:spcPts val="600"/>
                </a:spcAft>
                <a:defRPr sz="2400" b="0">
                  <a:solidFill>
                    <a:srgbClr val="007E83"/>
                  </a:solidFill>
                  <a:latin typeface="DejaVu Sans"/>
                </a:defRPr>
              </a:pPr>
              <a:r>
                <a:t>1 C videre</a:t>
              </a:r>
            </a:p>
          </p:txBody>
        </p:sp>
      </p:grpSp>
      <p:grpSp>
        <p:nvGrpSpPr>
          <p:cNvPr id="45" name="U-3-fra-tegning-til-formel"/>
          <p:cNvGrpSpPr/>
          <p:nvPr/>
        </p:nvGrpSpPr>
        <p:grpSpPr>
          <a:xfrm>
            <a:off x="2633472" y="5861304"/>
            <a:ext cx="9144000" cy="548640"/>
            <a:chOff x="2633472" y="5861304"/>
            <a:chExt cx="9144000" cy="548640"/>
          </a:xfrm>
        </p:grpSpPr>
        <p:sp>
          <p:nvSpPr>
            <p:cNvPr id="44" name="TextBox 43"/>
            <p:cNvSpPr txBox="1"/>
            <p:nvPr/>
          </p:nvSpPr>
          <p:spPr>
            <a:xfrm>
              <a:off x="2633472" y="5861304"/>
              <a:ext cx="9144000" cy="548640"/>
            </a:xfrm>
            <a:prstGeom prst="rect">
              <a:avLst/>
            </a:prstGeom>
            <a:noFill/>
          </p:spPr>
          <p:txBody>
            <a:bodyPr wrap="square" lIns="9144" rIns="9144" tIns="9144" bIns="9144">
              <a:noAutofit/>
            </a:bodyPr>
            <a:lstStyle/>
            <a:p>
              <a:pPr algn="l">
                <a:spcAft>
                  <a:spcPts val="600"/>
                </a:spcAft>
                <a:defRPr sz="3200" b="1">
                  <a:solidFill>
                    <a:srgbClr val="007E83"/>
                  </a:solidFill>
                  <a:latin typeface="DejaVu Sans"/>
                </a:defRPr>
              </a:pPr>
              <a:r>
                <a:t>U = 24 J / 1 C = 24 V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789920" cy="347472"/>
          </a:xfrm>
          <a:prstGeom prst="rect">
            <a:avLst/>
          </a:prstGeom>
          <a:noFill/>
        </p:spPr>
        <p:txBody>
          <a:bodyPr wrap="square" lIns="9144" rIns="9144" tIns="9144" bIns="9144">
            <a:no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667985"/>
                </a:solidFill>
                <a:latin typeface="DejaVu Sans"/>
              </a:defRPr>
            </a:pPr>
            <a:r>
              <a:t>EL · MASKINMESTER · 4. SEMESTER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32104"/>
            <a:ext cx="11064240" cy="658368"/>
          </a:xfrm>
          <a:prstGeom prst="rect">
            <a:avLst/>
          </a:prstGeom>
          <a:noFill/>
        </p:spPr>
        <p:txBody>
          <a:bodyPr wrap="square" lIns="9144" rIns="9144" tIns="9144" bIns="9144">
            <a:noAutofit/>
          </a:bodyPr>
          <a:lstStyle/>
          <a:p>
            <a:pPr algn="l">
              <a:spcAft>
                <a:spcPts val="600"/>
              </a:spcAft>
              <a:defRPr sz="3400" b="1">
                <a:solidFill>
                  <a:srgbClr val="173246"/>
                </a:solidFill>
                <a:latin typeface="DejaVu Sans"/>
              </a:defRPr>
            </a:pPr>
            <a:r>
              <a:t>Strøm: 2 C gennem tværsnittet på 1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74320"/>
            <a:ext cx="502920" cy="365760"/>
          </a:xfrm>
          <a:prstGeom prst="rect">
            <a:avLst/>
          </a:prstGeom>
          <a:noFill/>
        </p:spPr>
        <p:txBody>
          <a:bodyPr wrap="square" lIns="9144" rIns="9144" tIns="9144" bIns="9144">
            <a:no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667985"/>
                </a:solidFill>
                <a:latin typeface="DejaVu Sans"/>
              </a:defRPr>
            </a:pPr>
            <a:r>
              <a:t>02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645920" y="2788920"/>
            <a:ext cx="4315968" cy="0"/>
          </a:xfrm>
          <a:prstGeom prst="line">
            <a:avLst/>
          </a:prstGeom>
          <a:ln w="38100">
            <a:solidFill>
              <a:srgbClr val="85939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635240" y="2788920"/>
            <a:ext cx="1554480" cy="0"/>
          </a:xfrm>
          <a:prstGeom prst="line">
            <a:avLst/>
          </a:prstGeom>
          <a:ln w="38100">
            <a:solidFill>
              <a:srgbClr val="85939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189720" y="2788920"/>
            <a:ext cx="0" cy="2496312"/>
          </a:xfrm>
          <a:prstGeom prst="line">
            <a:avLst/>
          </a:prstGeom>
          <a:ln w="38100">
            <a:solidFill>
              <a:srgbClr val="85939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1645920" y="5285232"/>
            <a:ext cx="7543800" cy="0"/>
          </a:xfrm>
          <a:prstGeom prst="line">
            <a:avLst/>
          </a:prstGeom>
          <a:ln w="38100">
            <a:solidFill>
              <a:srgbClr val="85939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645920" y="2788920"/>
            <a:ext cx="0" cy="809244"/>
          </a:xfrm>
          <a:prstGeom prst="line">
            <a:avLst/>
          </a:prstGeom>
          <a:ln w="38100">
            <a:solidFill>
              <a:srgbClr val="85939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645920" y="4475988"/>
            <a:ext cx="0" cy="809244"/>
          </a:xfrm>
          <a:prstGeom prst="line">
            <a:avLst/>
          </a:prstGeom>
          <a:ln w="38100">
            <a:solidFill>
              <a:srgbClr val="85939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1207008" y="3598164"/>
            <a:ext cx="877824" cy="877824"/>
          </a:xfrm>
          <a:prstGeom prst="ellipse">
            <a:avLst/>
          </a:prstGeom>
          <a:solidFill>
            <a:srgbClr val="FFFFFF"/>
          </a:solidFill>
          <a:ln w="30480">
            <a:solidFill>
              <a:srgbClr val="17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27048" y="3707891"/>
            <a:ext cx="320040" cy="365760"/>
          </a:xfrm>
          <a:prstGeom prst="rect">
            <a:avLst/>
          </a:prstGeom>
          <a:noFill/>
        </p:spPr>
        <p:txBody>
          <a:bodyPr wrap="square" lIns="9144" rIns="9144" tIns="9144" bIns="9144">
            <a:noAutofit/>
          </a:bodyPr>
          <a:lstStyle/>
          <a:p>
            <a:pPr algn="l">
              <a:spcAft>
                <a:spcPts val="600"/>
              </a:spcAft>
              <a:defRPr sz="2600" b="1">
                <a:solidFill>
                  <a:srgbClr val="007E83"/>
                </a:solidFill>
                <a:latin typeface="DejaVu Sans"/>
              </a:defRPr>
            </a:pPr>
            <a:r>
              <a:t>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27048" y="4101084"/>
            <a:ext cx="320040" cy="365760"/>
          </a:xfrm>
          <a:prstGeom prst="rect">
            <a:avLst/>
          </a:prstGeom>
          <a:noFill/>
        </p:spPr>
        <p:txBody>
          <a:bodyPr wrap="square" lIns="9144" rIns="9144" tIns="9144" bIns="9144">
            <a:noAutofit/>
          </a:bodyPr>
          <a:lstStyle/>
          <a:p>
            <a:pPr algn="l">
              <a:spcAft>
                <a:spcPts val="600"/>
              </a:spcAft>
              <a:defRPr sz="2600" b="1">
                <a:solidFill>
                  <a:srgbClr val="007E83"/>
                </a:solidFill>
                <a:latin typeface="DejaVu Sans"/>
              </a:defRPr>
            </a:pPr>
            <a:r>
              <a:t>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3735324"/>
            <a:ext cx="932688" cy="1005840"/>
          </a:xfrm>
          <a:prstGeom prst="rect">
            <a:avLst/>
          </a:prstGeom>
          <a:noFill/>
        </p:spPr>
        <p:txBody>
          <a:bodyPr wrap="square" lIns="9144" rIns="9144" tIns="9144" bIns="9144">
            <a:noAutofit/>
          </a:bodyPr>
          <a:lstStyle/>
          <a:p>
            <a:pPr algn="l">
              <a:spcAft>
                <a:spcPts val="600"/>
              </a:spcAft>
              <a:defRPr sz="2400" b="1">
                <a:solidFill>
                  <a:srgbClr val="007E83"/>
                </a:solidFill>
                <a:latin typeface="DejaVu Sans"/>
              </a:defRPr>
            </a:pPr>
            <a:r>
              <a:t>24 V</a:t>
            </a:r>
          </a:p>
          <a:p>
            <a:pPr algn="l">
              <a:spcAft>
                <a:spcPts val="600"/>
              </a:spcAft>
              <a:defRPr sz="2400" b="1">
                <a:solidFill>
                  <a:srgbClr val="007E83"/>
                </a:solidFill>
                <a:latin typeface="DejaVu Sans"/>
              </a:defRPr>
            </a:pPr>
            <a:r>
              <a:t>DC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61888" y="2560320"/>
            <a:ext cx="1673352" cy="457200"/>
          </a:xfrm>
          <a:prstGeom prst="rect">
            <a:avLst/>
          </a:prstGeom>
          <a:solidFill>
            <a:srgbClr val="FFFFFF"/>
          </a:solidFill>
          <a:ln w="30480">
            <a:solidFill>
              <a:srgbClr val="17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0136" y="2103120"/>
            <a:ext cx="457200" cy="402336"/>
          </a:xfrm>
          <a:prstGeom prst="rect">
            <a:avLst/>
          </a:prstGeom>
          <a:noFill/>
        </p:spPr>
        <p:txBody>
          <a:bodyPr wrap="square" lIns="9144" rIns="9144" tIns="9144" bIns="9144">
            <a:noAutofit/>
          </a:bodyPr>
          <a:lstStyle/>
          <a:p>
            <a:pPr algn="l">
              <a:spcAft>
                <a:spcPts val="600"/>
              </a:spcAft>
              <a:defRPr sz="2600" b="1">
                <a:solidFill>
                  <a:srgbClr val="007E83"/>
                </a:solidFill>
                <a:latin typeface="DejaVu Sans"/>
              </a:defRPr>
            </a:pPr>
            <a:r>
              <a:t>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3800" y="2103120"/>
            <a:ext cx="457200" cy="402336"/>
          </a:xfrm>
          <a:prstGeom prst="rect">
            <a:avLst/>
          </a:prstGeom>
          <a:noFill/>
        </p:spPr>
        <p:txBody>
          <a:bodyPr wrap="square" lIns="9144" rIns="9144" tIns="9144" bIns="9144">
            <a:noAutofit/>
          </a:bodyPr>
          <a:lstStyle/>
          <a:p>
            <a:pPr algn="l">
              <a:spcAft>
                <a:spcPts val="600"/>
              </a:spcAft>
              <a:defRPr sz="2600" b="1">
                <a:solidFill>
                  <a:srgbClr val="007E83"/>
                </a:solidFill>
                <a:latin typeface="DejaVu Sans"/>
              </a:defRPr>
            </a:pPr>
            <a:r>
              <a:t>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2048255"/>
            <a:ext cx="1691640" cy="384048"/>
          </a:xfrm>
          <a:prstGeom prst="rect">
            <a:avLst/>
          </a:prstGeom>
          <a:noFill/>
        </p:spPr>
        <p:txBody>
          <a:bodyPr wrap="square" lIns="9144" rIns="9144" tIns="9144" bIns="9144">
            <a:noAutofit/>
          </a:bodyPr>
          <a:lstStyle/>
          <a:p>
            <a:pPr algn="l">
              <a:spcAft>
                <a:spcPts val="600"/>
              </a:spcAft>
              <a:defRPr sz="2400" b="1">
                <a:solidFill>
                  <a:srgbClr val="007E83"/>
                </a:solidFill>
                <a:latin typeface="DejaVu Sans"/>
              </a:defRPr>
            </a:pPr>
            <a:r>
              <a:t>U = 24 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47104"/>
            <a:ext cx="10972800" cy="237744"/>
          </a:xfrm>
          <a:prstGeom prst="rect">
            <a:avLst/>
          </a:prstGeom>
          <a:noFill/>
        </p:spPr>
        <p:txBody>
          <a:bodyPr wrap="square" lIns="9144" rIns="9144" tIns="9144" bIns="9144">
            <a:no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667985"/>
                </a:solidFill>
                <a:latin typeface="DejaVu Sans"/>
              </a:defRPr>
            </a:pPr>
            <a:r>
              <a:t>Ideel DC-kilde · ohmsk R · stationær tilstand · ladningspakker er en tællemodel</a:t>
            </a:r>
          </a:p>
        </p:txBody>
      </p:sp>
      <p:grpSp>
        <p:nvGrpSpPr>
          <p:cNvPr id="24" name="I-1-fast-tvaersnit-og-tid"/>
          <p:cNvGrpSpPr/>
          <p:nvPr/>
        </p:nvGrpSpPr>
        <p:grpSpPr>
          <a:xfrm>
            <a:off x="2816352" y="1755648"/>
            <a:ext cx="5614416" cy="2313432"/>
            <a:chOff x="2816352" y="1755648"/>
            <a:chExt cx="5614416" cy="2313432"/>
          </a:xfrm>
        </p:grpSpPr>
        <p:cxnSp>
          <p:nvCxnSpPr>
            <p:cNvPr id="20" name="Connector 19"/>
            <p:cNvCxnSpPr/>
            <p:nvPr/>
          </p:nvCxnSpPr>
          <p:spPr>
            <a:xfrm>
              <a:off x="4937760" y="2176272"/>
              <a:ext cx="0" cy="1225296"/>
            </a:xfrm>
            <a:prstGeom prst="line">
              <a:avLst/>
            </a:prstGeom>
            <a:ln w="27940">
              <a:solidFill>
                <a:srgbClr val="007E8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3858768" y="1755648"/>
              <a:ext cx="3108960" cy="420624"/>
            </a:xfrm>
            <a:prstGeom prst="rect">
              <a:avLst/>
            </a:prstGeom>
            <a:noFill/>
          </p:spPr>
          <p:txBody>
            <a:bodyPr wrap="square" lIns="9144" rIns="9144" tIns="9144" bIns="9144">
              <a:noAutofit/>
            </a:bodyPr>
            <a:lstStyle/>
            <a:p>
              <a:pPr algn="l">
                <a:spcAft>
                  <a:spcPts val="600"/>
                </a:spcAft>
                <a:defRPr sz="2400" b="1">
                  <a:solidFill>
                    <a:srgbClr val="007E83"/>
                  </a:solidFill>
                  <a:latin typeface="DejaVu Sans"/>
                </a:defRPr>
              </a:pPr>
              <a:r>
                <a:t>Tværsnit T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816352" y="3611880"/>
              <a:ext cx="2514600" cy="457200"/>
            </a:xfrm>
            <a:prstGeom prst="rect">
              <a:avLst/>
            </a:prstGeom>
            <a:noFill/>
          </p:spPr>
          <p:txBody>
            <a:bodyPr wrap="square" lIns="9144" rIns="9144" tIns="9144" bIns="9144">
              <a:noAutofit/>
            </a:bodyPr>
            <a:lstStyle/>
            <a:p>
              <a:pPr algn="l">
                <a:spcAft>
                  <a:spcPts val="600"/>
                </a:spcAft>
                <a:defRPr sz="2800" b="1">
                  <a:solidFill>
                    <a:srgbClr val="173246"/>
                  </a:solidFill>
                  <a:latin typeface="DejaVu Sans"/>
                </a:defRPr>
              </a:pPr>
              <a:r>
                <a:t>Δt = 1 s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144768" y="3246120"/>
              <a:ext cx="2286000" cy="411480"/>
            </a:xfrm>
            <a:prstGeom prst="rect">
              <a:avLst/>
            </a:prstGeom>
            <a:noFill/>
          </p:spPr>
          <p:txBody>
            <a:bodyPr wrap="square" lIns="9144" rIns="9144" tIns="9144" bIns="9144">
              <a:noAutofit/>
            </a:bodyPr>
            <a:lstStyle/>
            <a:p>
              <a:pPr algn="l">
                <a:spcAft>
                  <a:spcPts val="600"/>
                </a:spcAft>
                <a:defRPr sz="2400" b="0">
                  <a:solidFill>
                    <a:srgbClr val="173246"/>
                  </a:solidFill>
                  <a:latin typeface="DejaVu Sans"/>
                </a:defRPr>
              </a:pPr>
              <a:r>
                <a:t>R = 12 Ω</a:t>
              </a:r>
            </a:p>
          </p:txBody>
        </p:sp>
      </p:grpSp>
      <p:grpSp>
        <p:nvGrpSpPr>
          <p:cNvPr id="36" name="I-2-ladning-foer-og-efter"/>
          <p:cNvGrpSpPr/>
          <p:nvPr/>
        </p:nvGrpSpPr>
        <p:grpSpPr>
          <a:xfrm>
            <a:off x="2834640" y="2441448"/>
            <a:ext cx="9079992" cy="2596896"/>
            <a:chOff x="2834640" y="2441448"/>
            <a:chExt cx="9079992" cy="2596896"/>
          </a:xfrm>
        </p:grpSpPr>
        <p:sp>
          <p:nvSpPr>
            <p:cNvPr id="25" name="Oval 24"/>
            <p:cNvSpPr/>
            <p:nvPr/>
          </p:nvSpPr>
          <p:spPr>
            <a:xfrm>
              <a:off x="2834640" y="2441448"/>
              <a:ext cx="694944" cy="694944"/>
            </a:xfrm>
            <a:prstGeom prst="ellipse">
              <a:avLst/>
            </a:prstGeom>
            <a:solidFill>
              <a:srgbClr val="FFFFFF"/>
            </a:solidFill>
            <a:ln w="30480">
              <a:solidFill>
                <a:srgbClr val="007E8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2907792" y="2615184"/>
              <a:ext cx="594360" cy="411480"/>
            </a:xfrm>
            <a:prstGeom prst="rect">
              <a:avLst/>
            </a:prstGeom>
            <a:noFill/>
          </p:spPr>
          <p:txBody>
            <a:bodyPr wrap="square" lIns="9144" rIns="9144" tIns="9144" bIns="9144">
              <a:noAutofit/>
            </a:bodyPr>
            <a:lstStyle/>
            <a:p>
              <a:pPr algn="l">
                <a:spcAft>
                  <a:spcPts val="600"/>
                </a:spcAft>
                <a:defRPr sz="2400" b="1">
                  <a:solidFill>
                    <a:srgbClr val="007E83"/>
                  </a:solidFill>
                  <a:latin typeface="DejaVu Sans"/>
                </a:defRPr>
              </a:pPr>
              <a:r>
                <a:t>1 C</a:t>
              </a:r>
            </a:p>
          </p:txBody>
        </p:sp>
        <p:sp>
          <p:nvSpPr>
            <p:cNvPr id="27" name="Oval 26"/>
            <p:cNvSpPr/>
            <p:nvPr/>
          </p:nvSpPr>
          <p:spPr>
            <a:xfrm>
              <a:off x="3703320" y="2441448"/>
              <a:ext cx="694944" cy="694944"/>
            </a:xfrm>
            <a:prstGeom prst="ellipse">
              <a:avLst/>
            </a:prstGeom>
            <a:solidFill>
              <a:srgbClr val="FFFFFF"/>
            </a:solidFill>
            <a:ln w="30480">
              <a:solidFill>
                <a:srgbClr val="007E8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3776472" y="2615184"/>
              <a:ext cx="594360" cy="411480"/>
            </a:xfrm>
            <a:prstGeom prst="rect">
              <a:avLst/>
            </a:prstGeom>
            <a:noFill/>
          </p:spPr>
          <p:txBody>
            <a:bodyPr wrap="square" lIns="9144" rIns="9144" tIns="9144" bIns="9144">
              <a:noAutofit/>
            </a:bodyPr>
            <a:lstStyle/>
            <a:p>
              <a:pPr algn="l">
                <a:spcAft>
                  <a:spcPts val="600"/>
                </a:spcAft>
                <a:defRPr sz="2400" b="1">
                  <a:solidFill>
                    <a:srgbClr val="007E83"/>
                  </a:solidFill>
                  <a:latin typeface="DejaVu Sans"/>
                </a:defRPr>
              </a:pPr>
              <a:r>
                <a:t>1 C</a:t>
              </a:r>
            </a:p>
          </p:txBody>
        </p:sp>
        <p:sp>
          <p:nvSpPr>
            <p:cNvPr id="29" name="Right Arrow 28"/>
            <p:cNvSpPr/>
            <p:nvPr/>
          </p:nvSpPr>
          <p:spPr>
            <a:xfrm>
              <a:off x="5148072" y="2688336"/>
              <a:ext cx="576072" cy="201168"/>
            </a:xfrm>
            <a:prstGeom prst="rightArrow">
              <a:avLst/>
            </a:prstGeom>
            <a:solidFill>
              <a:srgbClr val="007E8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Oval 29"/>
            <p:cNvSpPr/>
            <p:nvPr/>
          </p:nvSpPr>
          <p:spPr>
            <a:xfrm>
              <a:off x="8842248" y="3419856"/>
              <a:ext cx="694944" cy="694944"/>
            </a:xfrm>
            <a:prstGeom prst="ellipse">
              <a:avLst/>
            </a:prstGeom>
            <a:solidFill>
              <a:srgbClr val="FFFFFF"/>
            </a:solidFill>
            <a:ln w="30480">
              <a:solidFill>
                <a:srgbClr val="007E8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8915400" y="3593592"/>
              <a:ext cx="594360" cy="411480"/>
            </a:xfrm>
            <a:prstGeom prst="rect">
              <a:avLst/>
            </a:prstGeom>
            <a:noFill/>
          </p:spPr>
          <p:txBody>
            <a:bodyPr wrap="square" lIns="9144" rIns="9144" tIns="9144" bIns="9144">
              <a:noAutofit/>
            </a:bodyPr>
            <a:lstStyle/>
            <a:p>
              <a:pPr algn="l">
                <a:spcAft>
                  <a:spcPts val="600"/>
                </a:spcAft>
                <a:defRPr sz="2400" b="1">
                  <a:solidFill>
                    <a:srgbClr val="007E83"/>
                  </a:solidFill>
                  <a:latin typeface="DejaVu Sans"/>
                </a:defRPr>
              </a:pPr>
              <a:r>
                <a:t>1 C</a:t>
              </a:r>
            </a:p>
          </p:txBody>
        </p:sp>
        <p:sp>
          <p:nvSpPr>
            <p:cNvPr id="32" name="Oval 31"/>
            <p:cNvSpPr/>
            <p:nvPr/>
          </p:nvSpPr>
          <p:spPr>
            <a:xfrm>
              <a:off x="8842248" y="4343400"/>
              <a:ext cx="694944" cy="694944"/>
            </a:xfrm>
            <a:prstGeom prst="ellipse">
              <a:avLst/>
            </a:prstGeom>
            <a:solidFill>
              <a:srgbClr val="FFFFFF"/>
            </a:solidFill>
            <a:ln w="30480">
              <a:solidFill>
                <a:srgbClr val="007E8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8915400" y="4517136"/>
              <a:ext cx="594360" cy="411480"/>
            </a:xfrm>
            <a:prstGeom prst="rect">
              <a:avLst/>
            </a:prstGeom>
            <a:noFill/>
          </p:spPr>
          <p:txBody>
            <a:bodyPr wrap="square" lIns="9144" rIns="9144" tIns="9144" bIns="9144">
              <a:noAutofit/>
            </a:bodyPr>
            <a:lstStyle/>
            <a:p>
              <a:pPr algn="l">
                <a:spcAft>
                  <a:spcPts val="600"/>
                </a:spcAft>
                <a:defRPr sz="2400" b="1">
                  <a:solidFill>
                    <a:srgbClr val="007E83"/>
                  </a:solidFill>
                  <a:latin typeface="DejaVu Sans"/>
                </a:defRPr>
              </a:pPr>
              <a:r>
                <a:t>1 C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9674352" y="3547872"/>
              <a:ext cx="2240280" cy="457200"/>
            </a:xfrm>
            <a:prstGeom prst="rect">
              <a:avLst/>
            </a:prstGeom>
            <a:noFill/>
          </p:spPr>
          <p:txBody>
            <a:bodyPr wrap="square" lIns="9144" rIns="9144" tIns="9144" bIns="9144">
              <a:noAutofit/>
            </a:bodyPr>
            <a:lstStyle/>
            <a:p>
              <a:pPr algn="l">
                <a:spcAft>
                  <a:spcPts val="600"/>
                </a:spcAft>
                <a:defRPr sz="2400" b="1">
                  <a:solidFill>
                    <a:srgbClr val="007E83"/>
                  </a:solidFill>
                  <a:latin typeface="DejaVu Sans"/>
                </a:defRPr>
              </a:pPr>
              <a:r>
                <a:t>2 C/s ud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2962656" y="3163824"/>
              <a:ext cx="2578608" cy="457200"/>
            </a:xfrm>
            <a:prstGeom prst="rect">
              <a:avLst/>
            </a:prstGeom>
            <a:noFill/>
          </p:spPr>
          <p:txBody>
            <a:bodyPr wrap="square" lIns="9144" rIns="9144" tIns="9144" bIns="9144">
              <a:noAutofit/>
            </a:bodyPr>
            <a:lstStyle/>
            <a:p>
              <a:pPr algn="l">
                <a:spcAft>
                  <a:spcPts val="600"/>
                </a:spcAft>
                <a:defRPr sz="2400" b="1">
                  <a:solidFill>
                    <a:srgbClr val="007E83"/>
                  </a:solidFill>
                  <a:latin typeface="DejaVu Sans"/>
                </a:defRPr>
              </a:pPr>
              <a:r>
                <a:t>2 C/s ind</a:t>
              </a:r>
            </a:p>
          </p:txBody>
        </p:sp>
      </p:grpSp>
      <p:grpSp>
        <p:nvGrpSpPr>
          <p:cNvPr id="40" name="I-3-formel-og-elektronretning"/>
          <p:cNvGrpSpPr/>
          <p:nvPr/>
        </p:nvGrpSpPr>
        <p:grpSpPr>
          <a:xfrm>
            <a:off x="1600200" y="5687568"/>
            <a:ext cx="10332720" cy="667512"/>
            <a:chOff x="1600200" y="5687568"/>
            <a:chExt cx="10332720" cy="667512"/>
          </a:xfrm>
        </p:grpSpPr>
        <p:sp>
          <p:nvSpPr>
            <p:cNvPr id="37" name="TextBox 36"/>
            <p:cNvSpPr txBox="1"/>
            <p:nvPr/>
          </p:nvSpPr>
          <p:spPr>
            <a:xfrm>
              <a:off x="5623560" y="5815584"/>
              <a:ext cx="6309360" cy="539496"/>
            </a:xfrm>
            <a:prstGeom prst="rect">
              <a:avLst/>
            </a:prstGeom>
            <a:noFill/>
          </p:spPr>
          <p:txBody>
            <a:bodyPr wrap="square" lIns="9144" rIns="9144" tIns="9144" bIns="9144">
              <a:noAutofit/>
            </a:bodyPr>
            <a:lstStyle/>
            <a:p>
              <a:pPr algn="l">
                <a:spcAft>
                  <a:spcPts val="600"/>
                </a:spcAft>
                <a:defRPr sz="3000" b="1">
                  <a:solidFill>
                    <a:srgbClr val="007E83"/>
                  </a:solidFill>
                  <a:latin typeface="DejaVu Sans"/>
                </a:defRPr>
              </a:pPr>
              <a:r>
                <a:t>I = 2 C / 1 s = 2 A</a:t>
              </a:r>
            </a:p>
          </p:txBody>
        </p:sp>
        <p:sp>
          <p:nvSpPr>
            <p:cNvPr id="38" name="Left Arrow 37"/>
            <p:cNvSpPr/>
            <p:nvPr/>
          </p:nvSpPr>
          <p:spPr>
            <a:xfrm>
              <a:off x="2450592" y="5687568"/>
              <a:ext cx="1188720" cy="182880"/>
            </a:xfrm>
            <a:prstGeom prst="leftArrow">
              <a:avLst/>
            </a:prstGeom>
            <a:solidFill>
              <a:srgbClr val="2166A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600200" y="5961888"/>
              <a:ext cx="3429000" cy="393192"/>
            </a:xfrm>
            <a:prstGeom prst="rect">
              <a:avLst/>
            </a:prstGeom>
            <a:noFill/>
          </p:spPr>
          <p:txBody>
            <a:bodyPr wrap="square" lIns="9144" rIns="9144" tIns="9144" bIns="9144">
              <a:noAutofit/>
            </a:bodyPr>
            <a:lstStyle/>
            <a:p>
              <a:pPr algn="l">
                <a:spcAft>
                  <a:spcPts val="600"/>
                </a:spcAft>
                <a:defRPr sz="2400" b="0">
                  <a:solidFill>
                    <a:srgbClr val="2166AA"/>
                  </a:solidFill>
                  <a:latin typeface="DejaVu Sans"/>
                </a:defRPr>
              </a:pPr>
              <a:r>
                <a:t>Elektroner i metal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789920" cy="347472"/>
          </a:xfrm>
          <a:prstGeom prst="rect">
            <a:avLst/>
          </a:prstGeom>
          <a:noFill/>
        </p:spPr>
        <p:txBody>
          <a:bodyPr wrap="square" lIns="9144" rIns="9144" tIns="9144" bIns="9144">
            <a:no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667985"/>
                </a:solidFill>
                <a:latin typeface="DejaVu Sans"/>
              </a:defRPr>
            </a:pPr>
            <a:r>
              <a:t>EL · MASKINMESTER · 4. SEMESTER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32104"/>
            <a:ext cx="11064240" cy="658368"/>
          </a:xfrm>
          <a:prstGeom prst="rect">
            <a:avLst/>
          </a:prstGeom>
          <a:noFill/>
        </p:spPr>
        <p:txBody>
          <a:bodyPr wrap="square" lIns="9144" rIns="9144" tIns="9144" bIns="9144">
            <a:noAutofit/>
          </a:bodyPr>
          <a:lstStyle/>
          <a:p>
            <a:pPr algn="l">
              <a:spcAft>
                <a:spcPts val="600"/>
              </a:spcAft>
              <a:defRPr sz="3400" b="1">
                <a:solidFill>
                  <a:srgbClr val="173246"/>
                </a:solidFill>
                <a:latin typeface="DejaVu Sans"/>
              </a:defRPr>
            </a:pPr>
            <a:r>
              <a:t>Modstand: samme 24 V — mindre strøm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74320"/>
            <a:ext cx="502920" cy="365760"/>
          </a:xfrm>
          <a:prstGeom prst="rect">
            <a:avLst/>
          </a:prstGeom>
          <a:noFill/>
        </p:spPr>
        <p:txBody>
          <a:bodyPr wrap="square" lIns="9144" rIns="9144" tIns="9144" bIns="9144">
            <a:no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667985"/>
                </a:solidFill>
                <a:latin typeface="DejaVu Sans"/>
              </a:defRPr>
            </a:pPr>
            <a:r>
              <a:t>03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645920" y="2788920"/>
            <a:ext cx="4315968" cy="0"/>
          </a:xfrm>
          <a:prstGeom prst="line">
            <a:avLst/>
          </a:prstGeom>
          <a:ln w="38100">
            <a:solidFill>
              <a:srgbClr val="85939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635240" y="2788920"/>
            <a:ext cx="1554480" cy="0"/>
          </a:xfrm>
          <a:prstGeom prst="line">
            <a:avLst/>
          </a:prstGeom>
          <a:ln w="38100">
            <a:solidFill>
              <a:srgbClr val="85939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189720" y="2788920"/>
            <a:ext cx="0" cy="2496312"/>
          </a:xfrm>
          <a:prstGeom prst="line">
            <a:avLst/>
          </a:prstGeom>
          <a:ln w="38100">
            <a:solidFill>
              <a:srgbClr val="85939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1645920" y="5285232"/>
            <a:ext cx="7543800" cy="0"/>
          </a:xfrm>
          <a:prstGeom prst="line">
            <a:avLst/>
          </a:prstGeom>
          <a:ln w="38100">
            <a:solidFill>
              <a:srgbClr val="85939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645920" y="2788920"/>
            <a:ext cx="0" cy="809244"/>
          </a:xfrm>
          <a:prstGeom prst="line">
            <a:avLst/>
          </a:prstGeom>
          <a:ln w="38100">
            <a:solidFill>
              <a:srgbClr val="85939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645920" y="4475988"/>
            <a:ext cx="0" cy="809244"/>
          </a:xfrm>
          <a:prstGeom prst="line">
            <a:avLst/>
          </a:prstGeom>
          <a:ln w="38100">
            <a:solidFill>
              <a:srgbClr val="85939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1207008" y="3598164"/>
            <a:ext cx="877824" cy="877824"/>
          </a:xfrm>
          <a:prstGeom prst="ellipse">
            <a:avLst/>
          </a:prstGeom>
          <a:solidFill>
            <a:srgbClr val="FFFFFF"/>
          </a:solidFill>
          <a:ln w="30480">
            <a:solidFill>
              <a:srgbClr val="17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27048" y="3707891"/>
            <a:ext cx="320040" cy="365760"/>
          </a:xfrm>
          <a:prstGeom prst="rect">
            <a:avLst/>
          </a:prstGeom>
          <a:noFill/>
        </p:spPr>
        <p:txBody>
          <a:bodyPr wrap="square" lIns="9144" rIns="9144" tIns="9144" bIns="9144">
            <a:noAutofit/>
          </a:bodyPr>
          <a:lstStyle/>
          <a:p>
            <a:pPr algn="l">
              <a:spcAft>
                <a:spcPts val="600"/>
              </a:spcAft>
              <a:defRPr sz="2600" b="1">
                <a:solidFill>
                  <a:srgbClr val="007E83"/>
                </a:solidFill>
                <a:latin typeface="DejaVu Sans"/>
              </a:defRPr>
            </a:pPr>
            <a:r>
              <a:t>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27048" y="4101084"/>
            <a:ext cx="320040" cy="365760"/>
          </a:xfrm>
          <a:prstGeom prst="rect">
            <a:avLst/>
          </a:prstGeom>
          <a:noFill/>
        </p:spPr>
        <p:txBody>
          <a:bodyPr wrap="square" lIns="9144" rIns="9144" tIns="9144" bIns="9144">
            <a:noAutofit/>
          </a:bodyPr>
          <a:lstStyle/>
          <a:p>
            <a:pPr algn="l">
              <a:spcAft>
                <a:spcPts val="600"/>
              </a:spcAft>
              <a:defRPr sz="2600" b="1">
                <a:solidFill>
                  <a:srgbClr val="007E83"/>
                </a:solidFill>
                <a:latin typeface="DejaVu Sans"/>
              </a:defRPr>
            </a:pPr>
            <a:r>
              <a:t>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3735324"/>
            <a:ext cx="932688" cy="1005840"/>
          </a:xfrm>
          <a:prstGeom prst="rect">
            <a:avLst/>
          </a:prstGeom>
          <a:noFill/>
        </p:spPr>
        <p:txBody>
          <a:bodyPr wrap="square" lIns="9144" rIns="9144" tIns="9144" bIns="9144">
            <a:noAutofit/>
          </a:bodyPr>
          <a:lstStyle/>
          <a:p>
            <a:pPr algn="l">
              <a:spcAft>
                <a:spcPts val="600"/>
              </a:spcAft>
              <a:defRPr sz="2400" b="1">
                <a:solidFill>
                  <a:srgbClr val="007E83"/>
                </a:solidFill>
                <a:latin typeface="DejaVu Sans"/>
              </a:defRPr>
            </a:pPr>
            <a:r>
              <a:t>24 V</a:t>
            </a:r>
          </a:p>
          <a:p>
            <a:pPr algn="l">
              <a:spcAft>
                <a:spcPts val="600"/>
              </a:spcAft>
              <a:defRPr sz="2400" b="1">
                <a:solidFill>
                  <a:srgbClr val="007E83"/>
                </a:solidFill>
                <a:latin typeface="DejaVu Sans"/>
              </a:defRPr>
            </a:pPr>
            <a:r>
              <a:t>DC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61888" y="2560320"/>
            <a:ext cx="1673352" cy="457200"/>
          </a:xfrm>
          <a:prstGeom prst="rect">
            <a:avLst/>
          </a:prstGeom>
          <a:solidFill>
            <a:srgbClr val="FFFFFF"/>
          </a:solidFill>
          <a:ln w="30480">
            <a:solidFill>
              <a:srgbClr val="17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0136" y="2103120"/>
            <a:ext cx="457200" cy="402336"/>
          </a:xfrm>
          <a:prstGeom prst="rect">
            <a:avLst/>
          </a:prstGeom>
          <a:noFill/>
        </p:spPr>
        <p:txBody>
          <a:bodyPr wrap="square" lIns="9144" rIns="9144" tIns="9144" bIns="9144">
            <a:noAutofit/>
          </a:bodyPr>
          <a:lstStyle/>
          <a:p>
            <a:pPr algn="l">
              <a:spcAft>
                <a:spcPts val="600"/>
              </a:spcAft>
              <a:defRPr sz="2600" b="1">
                <a:solidFill>
                  <a:srgbClr val="007E83"/>
                </a:solidFill>
                <a:latin typeface="DejaVu Sans"/>
              </a:defRPr>
            </a:pPr>
            <a:r>
              <a:t>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3800" y="2103120"/>
            <a:ext cx="457200" cy="402336"/>
          </a:xfrm>
          <a:prstGeom prst="rect">
            <a:avLst/>
          </a:prstGeom>
          <a:noFill/>
        </p:spPr>
        <p:txBody>
          <a:bodyPr wrap="square" lIns="9144" rIns="9144" tIns="9144" bIns="9144">
            <a:noAutofit/>
          </a:bodyPr>
          <a:lstStyle/>
          <a:p>
            <a:pPr algn="l">
              <a:spcAft>
                <a:spcPts val="600"/>
              </a:spcAft>
              <a:defRPr sz="2600" b="1">
                <a:solidFill>
                  <a:srgbClr val="007E83"/>
                </a:solidFill>
                <a:latin typeface="DejaVu Sans"/>
              </a:defRPr>
            </a:pPr>
            <a:r>
              <a:t>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2048255"/>
            <a:ext cx="1691640" cy="384048"/>
          </a:xfrm>
          <a:prstGeom prst="rect">
            <a:avLst/>
          </a:prstGeom>
          <a:noFill/>
        </p:spPr>
        <p:txBody>
          <a:bodyPr wrap="square" lIns="9144" rIns="9144" tIns="9144" bIns="9144">
            <a:noAutofit/>
          </a:bodyPr>
          <a:lstStyle/>
          <a:p>
            <a:pPr algn="l">
              <a:spcAft>
                <a:spcPts val="600"/>
              </a:spcAft>
              <a:defRPr sz="2400" b="1">
                <a:solidFill>
                  <a:srgbClr val="007E83"/>
                </a:solidFill>
                <a:latin typeface="DejaVu Sans"/>
              </a:defRPr>
            </a:pPr>
            <a:r>
              <a:t>U = 24 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47104"/>
            <a:ext cx="10972800" cy="237744"/>
          </a:xfrm>
          <a:prstGeom prst="rect">
            <a:avLst/>
          </a:prstGeom>
          <a:noFill/>
        </p:spPr>
        <p:txBody>
          <a:bodyPr wrap="square" lIns="9144" rIns="9144" tIns="9144" bIns="9144">
            <a:no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667985"/>
                </a:solidFill>
                <a:latin typeface="DejaVu Sans"/>
              </a:defRPr>
            </a:pPr>
            <a:r>
              <a:t>Ideel DC-kilde · ohmsk R · stationær tilstand · ladningspakker er en tællemodel</a:t>
            </a:r>
          </a:p>
        </p:txBody>
      </p:sp>
      <p:grpSp>
        <p:nvGrpSpPr>
          <p:cNvPr id="33" name="R-1-12ohm-2ampere"/>
          <p:cNvGrpSpPr/>
          <p:nvPr/>
        </p:nvGrpSpPr>
        <p:grpSpPr>
          <a:xfrm>
            <a:off x="2816352" y="1883664"/>
            <a:ext cx="9107424" cy="3154680"/>
            <a:chOff x="2816352" y="1883664"/>
            <a:chExt cx="9107424" cy="3154680"/>
          </a:xfrm>
        </p:grpSpPr>
        <p:sp>
          <p:nvSpPr>
            <p:cNvPr id="20" name="TextBox 19"/>
            <p:cNvSpPr txBox="1"/>
            <p:nvPr/>
          </p:nvSpPr>
          <p:spPr>
            <a:xfrm>
              <a:off x="6117336" y="3227832"/>
              <a:ext cx="3017520" cy="438912"/>
            </a:xfrm>
            <a:prstGeom prst="rect">
              <a:avLst/>
            </a:prstGeom>
            <a:noFill/>
          </p:spPr>
          <p:txBody>
            <a:bodyPr wrap="square" lIns="9144" rIns="9144" tIns="9144" bIns="9144">
              <a:noAutofit/>
            </a:bodyPr>
            <a:lstStyle/>
            <a:p>
              <a:pPr algn="l">
                <a:spcAft>
                  <a:spcPts val="600"/>
                </a:spcAft>
                <a:defRPr sz="2800" b="1">
                  <a:solidFill>
                    <a:srgbClr val="173246"/>
                  </a:solidFill>
                  <a:latin typeface="DejaVu Sans"/>
                </a:defRPr>
              </a:pPr>
              <a:r>
                <a:t>R = 12 Ω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816352" y="1883664"/>
              <a:ext cx="2011680" cy="475488"/>
            </a:xfrm>
            <a:prstGeom prst="rect">
              <a:avLst/>
            </a:prstGeom>
            <a:noFill/>
          </p:spPr>
          <p:txBody>
            <a:bodyPr wrap="square" lIns="9144" rIns="9144" tIns="9144" bIns="9144">
              <a:noAutofit/>
            </a:bodyPr>
            <a:lstStyle/>
            <a:p>
              <a:pPr algn="l">
                <a:spcAft>
                  <a:spcPts val="600"/>
                </a:spcAft>
                <a:defRPr sz="2800" b="1">
                  <a:solidFill>
                    <a:srgbClr val="007E83"/>
                  </a:solidFill>
                  <a:latin typeface="DejaVu Sans"/>
                </a:defRPr>
              </a:pPr>
              <a:r>
                <a:t>I = 2 A</a:t>
              </a:r>
            </a:p>
          </p:txBody>
        </p:sp>
        <p:sp>
          <p:nvSpPr>
            <p:cNvPr id="22" name="Right Arrow 21"/>
            <p:cNvSpPr/>
            <p:nvPr/>
          </p:nvSpPr>
          <p:spPr>
            <a:xfrm>
              <a:off x="4069080" y="2231136"/>
              <a:ext cx="1143000" cy="201168"/>
            </a:xfrm>
            <a:prstGeom prst="rightArrow">
              <a:avLst/>
            </a:prstGeom>
            <a:solidFill>
              <a:srgbClr val="007E8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Oval 22"/>
            <p:cNvSpPr/>
            <p:nvPr/>
          </p:nvSpPr>
          <p:spPr>
            <a:xfrm>
              <a:off x="2907792" y="2441448"/>
              <a:ext cx="694944" cy="694944"/>
            </a:xfrm>
            <a:prstGeom prst="ellipse">
              <a:avLst/>
            </a:prstGeom>
            <a:solidFill>
              <a:srgbClr val="FFFFFF"/>
            </a:solidFill>
            <a:ln w="30480">
              <a:solidFill>
                <a:srgbClr val="007E8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2980944" y="2615184"/>
              <a:ext cx="594360" cy="411480"/>
            </a:xfrm>
            <a:prstGeom prst="rect">
              <a:avLst/>
            </a:prstGeom>
            <a:noFill/>
          </p:spPr>
          <p:txBody>
            <a:bodyPr wrap="square" lIns="9144" rIns="9144" tIns="9144" bIns="9144">
              <a:noAutofit/>
            </a:bodyPr>
            <a:lstStyle/>
            <a:p>
              <a:pPr algn="l">
                <a:spcAft>
                  <a:spcPts val="600"/>
                </a:spcAft>
                <a:defRPr sz="2400" b="1">
                  <a:solidFill>
                    <a:srgbClr val="007E83"/>
                  </a:solidFill>
                  <a:latin typeface="DejaVu Sans"/>
                </a:defRPr>
              </a:pPr>
              <a:r>
                <a:t>1 C</a:t>
              </a:r>
            </a:p>
          </p:txBody>
        </p:sp>
        <p:sp>
          <p:nvSpPr>
            <p:cNvPr id="25" name="Oval 24"/>
            <p:cNvSpPr/>
            <p:nvPr/>
          </p:nvSpPr>
          <p:spPr>
            <a:xfrm>
              <a:off x="8842248" y="3419856"/>
              <a:ext cx="694944" cy="694944"/>
            </a:xfrm>
            <a:prstGeom prst="ellipse">
              <a:avLst/>
            </a:prstGeom>
            <a:solidFill>
              <a:srgbClr val="FFFFFF"/>
            </a:solidFill>
            <a:ln w="30480">
              <a:solidFill>
                <a:srgbClr val="007E8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8915400" y="3593592"/>
              <a:ext cx="594360" cy="411480"/>
            </a:xfrm>
            <a:prstGeom prst="rect">
              <a:avLst/>
            </a:prstGeom>
            <a:noFill/>
          </p:spPr>
          <p:txBody>
            <a:bodyPr wrap="square" lIns="9144" rIns="9144" tIns="9144" bIns="9144">
              <a:noAutofit/>
            </a:bodyPr>
            <a:lstStyle/>
            <a:p>
              <a:pPr algn="l">
                <a:spcAft>
                  <a:spcPts val="600"/>
                </a:spcAft>
                <a:defRPr sz="2400" b="1">
                  <a:solidFill>
                    <a:srgbClr val="007E83"/>
                  </a:solidFill>
                  <a:latin typeface="DejaVu Sans"/>
                </a:defRPr>
              </a:pPr>
              <a:r>
                <a:t>1 C</a:t>
              </a:r>
            </a:p>
          </p:txBody>
        </p:sp>
        <p:sp>
          <p:nvSpPr>
            <p:cNvPr id="27" name="Oval 26"/>
            <p:cNvSpPr/>
            <p:nvPr/>
          </p:nvSpPr>
          <p:spPr>
            <a:xfrm>
              <a:off x="3785615" y="2441448"/>
              <a:ext cx="694944" cy="694944"/>
            </a:xfrm>
            <a:prstGeom prst="ellipse">
              <a:avLst/>
            </a:prstGeom>
            <a:solidFill>
              <a:srgbClr val="FFFFFF"/>
            </a:solidFill>
            <a:ln w="30480">
              <a:solidFill>
                <a:srgbClr val="007E8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3858768" y="2615184"/>
              <a:ext cx="594360" cy="411480"/>
            </a:xfrm>
            <a:prstGeom prst="rect">
              <a:avLst/>
            </a:prstGeom>
            <a:noFill/>
          </p:spPr>
          <p:txBody>
            <a:bodyPr wrap="square" lIns="9144" rIns="9144" tIns="9144" bIns="9144">
              <a:noAutofit/>
            </a:bodyPr>
            <a:lstStyle/>
            <a:p>
              <a:pPr algn="l">
                <a:spcAft>
                  <a:spcPts val="600"/>
                </a:spcAft>
                <a:defRPr sz="2400" b="1">
                  <a:solidFill>
                    <a:srgbClr val="007E83"/>
                  </a:solidFill>
                  <a:latin typeface="DejaVu Sans"/>
                </a:defRPr>
              </a:pPr>
              <a:r>
                <a:t>1 C</a:t>
              </a:r>
            </a:p>
          </p:txBody>
        </p:sp>
        <p:sp>
          <p:nvSpPr>
            <p:cNvPr id="29" name="Oval 28"/>
            <p:cNvSpPr/>
            <p:nvPr/>
          </p:nvSpPr>
          <p:spPr>
            <a:xfrm>
              <a:off x="8842248" y="4343400"/>
              <a:ext cx="694944" cy="694944"/>
            </a:xfrm>
            <a:prstGeom prst="ellipse">
              <a:avLst/>
            </a:prstGeom>
            <a:solidFill>
              <a:srgbClr val="FFFFFF"/>
            </a:solidFill>
            <a:ln w="30480">
              <a:solidFill>
                <a:srgbClr val="007E8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8915400" y="4517136"/>
              <a:ext cx="594360" cy="411480"/>
            </a:xfrm>
            <a:prstGeom prst="rect">
              <a:avLst/>
            </a:prstGeom>
            <a:noFill/>
          </p:spPr>
          <p:txBody>
            <a:bodyPr wrap="square" lIns="9144" rIns="9144" tIns="9144" bIns="9144">
              <a:noAutofit/>
            </a:bodyPr>
            <a:lstStyle/>
            <a:p>
              <a:pPr algn="l">
                <a:spcAft>
                  <a:spcPts val="600"/>
                </a:spcAft>
                <a:defRPr sz="2400" b="1">
                  <a:solidFill>
                    <a:srgbClr val="007E83"/>
                  </a:solidFill>
                  <a:latin typeface="DejaVu Sans"/>
                </a:defRPr>
              </a:pPr>
              <a:r>
                <a:t>1 C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9683496" y="3557016"/>
              <a:ext cx="2240280" cy="420624"/>
            </a:xfrm>
            <a:prstGeom prst="rect">
              <a:avLst/>
            </a:prstGeom>
            <a:noFill/>
          </p:spPr>
          <p:txBody>
            <a:bodyPr wrap="square" lIns="9144" rIns="9144" tIns="9144" bIns="9144">
              <a:noAutofit/>
            </a:bodyPr>
            <a:lstStyle/>
            <a:p>
              <a:pPr algn="l">
                <a:spcAft>
                  <a:spcPts val="600"/>
                </a:spcAft>
                <a:defRPr sz="2400" b="1">
                  <a:solidFill>
                    <a:srgbClr val="007E83"/>
                  </a:solidFill>
                  <a:latin typeface="DejaVu Sans"/>
                </a:defRPr>
              </a:pPr>
              <a:r>
                <a:t>2 C/s ud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2926080" y="3264408"/>
              <a:ext cx="2560320" cy="420624"/>
            </a:xfrm>
            <a:prstGeom prst="rect">
              <a:avLst/>
            </a:prstGeom>
            <a:noFill/>
          </p:spPr>
          <p:txBody>
            <a:bodyPr wrap="square" lIns="9144" rIns="9144" tIns="9144" bIns="9144">
              <a:noAutofit/>
            </a:bodyPr>
            <a:lstStyle/>
            <a:p>
              <a:pPr algn="l">
                <a:spcAft>
                  <a:spcPts val="600"/>
                </a:spcAft>
                <a:defRPr sz="2400" b="1">
                  <a:solidFill>
                    <a:srgbClr val="007E83"/>
                  </a:solidFill>
                  <a:latin typeface="DejaVu Sans"/>
                </a:defRPr>
              </a:pPr>
              <a:r>
                <a:t>2 C/s ind</a:t>
              </a:r>
            </a:p>
          </p:txBody>
        </p:sp>
      </p:grpSp>
      <p:grpSp>
        <p:nvGrpSpPr>
          <p:cNvPr id="43" name="R-2-24ohm-1ampere"/>
          <p:cNvGrpSpPr/>
          <p:nvPr/>
        </p:nvGrpSpPr>
        <p:grpSpPr>
          <a:xfrm>
            <a:off x="2816352" y="1883664"/>
            <a:ext cx="9107424" cy="2231136"/>
            <a:chOff x="2816352" y="1883664"/>
            <a:chExt cx="9107424" cy="2231136"/>
          </a:xfrm>
        </p:grpSpPr>
        <p:sp>
          <p:nvSpPr>
            <p:cNvPr id="34" name="TextBox 33"/>
            <p:cNvSpPr txBox="1"/>
            <p:nvPr/>
          </p:nvSpPr>
          <p:spPr>
            <a:xfrm>
              <a:off x="6117336" y="3227832"/>
              <a:ext cx="3017520" cy="438912"/>
            </a:xfrm>
            <a:prstGeom prst="rect">
              <a:avLst/>
            </a:prstGeom>
            <a:noFill/>
          </p:spPr>
          <p:txBody>
            <a:bodyPr wrap="square" lIns="9144" rIns="9144" tIns="9144" bIns="9144">
              <a:noAutofit/>
            </a:bodyPr>
            <a:lstStyle/>
            <a:p>
              <a:pPr algn="l">
                <a:spcAft>
                  <a:spcPts val="600"/>
                </a:spcAft>
                <a:defRPr sz="2800" b="1">
                  <a:solidFill>
                    <a:srgbClr val="173246"/>
                  </a:solidFill>
                  <a:latin typeface="DejaVu Sans"/>
                </a:defRPr>
              </a:pPr>
              <a:r>
                <a:t>R = 24 Ω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2816352" y="1883664"/>
              <a:ext cx="2011680" cy="475488"/>
            </a:xfrm>
            <a:prstGeom prst="rect">
              <a:avLst/>
            </a:prstGeom>
            <a:noFill/>
          </p:spPr>
          <p:txBody>
            <a:bodyPr wrap="square" lIns="9144" rIns="9144" tIns="9144" bIns="9144">
              <a:noAutofit/>
            </a:bodyPr>
            <a:lstStyle/>
            <a:p>
              <a:pPr algn="l">
                <a:spcAft>
                  <a:spcPts val="600"/>
                </a:spcAft>
                <a:defRPr sz="2800" b="1">
                  <a:solidFill>
                    <a:srgbClr val="007E83"/>
                  </a:solidFill>
                  <a:latin typeface="DejaVu Sans"/>
                </a:defRPr>
              </a:pPr>
              <a:r>
                <a:t>I = 1 A</a:t>
              </a:r>
            </a:p>
          </p:txBody>
        </p:sp>
        <p:sp>
          <p:nvSpPr>
            <p:cNvPr id="36" name="Right Arrow 35"/>
            <p:cNvSpPr/>
            <p:nvPr/>
          </p:nvSpPr>
          <p:spPr>
            <a:xfrm>
              <a:off x="4069080" y="2231136"/>
              <a:ext cx="1143000" cy="201168"/>
            </a:xfrm>
            <a:prstGeom prst="rightArrow">
              <a:avLst/>
            </a:prstGeom>
            <a:solidFill>
              <a:srgbClr val="007E8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Oval 36"/>
            <p:cNvSpPr/>
            <p:nvPr/>
          </p:nvSpPr>
          <p:spPr>
            <a:xfrm>
              <a:off x="2907792" y="2441448"/>
              <a:ext cx="694944" cy="694944"/>
            </a:xfrm>
            <a:prstGeom prst="ellipse">
              <a:avLst/>
            </a:prstGeom>
            <a:solidFill>
              <a:srgbClr val="FFFFFF"/>
            </a:solidFill>
            <a:ln w="30480">
              <a:solidFill>
                <a:srgbClr val="007E8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2980944" y="2615184"/>
              <a:ext cx="594360" cy="411480"/>
            </a:xfrm>
            <a:prstGeom prst="rect">
              <a:avLst/>
            </a:prstGeom>
            <a:noFill/>
          </p:spPr>
          <p:txBody>
            <a:bodyPr wrap="square" lIns="9144" rIns="9144" tIns="9144" bIns="9144">
              <a:noAutofit/>
            </a:bodyPr>
            <a:lstStyle/>
            <a:p>
              <a:pPr algn="l">
                <a:spcAft>
                  <a:spcPts val="600"/>
                </a:spcAft>
                <a:defRPr sz="2400" b="1">
                  <a:solidFill>
                    <a:srgbClr val="007E83"/>
                  </a:solidFill>
                  <a:latin typeface="DejaVu Sans"/>
                </a:defRPr>
              </a:pPr>
              <a:r>
                <a:t>1 C</a:t>
              </a:r>
            </a:p>
          </p:txBody>
        </p:sp>
        <p:sp>
          <p:nvSpPr>
            <p:cNvPr id="39" name="Oval 38"/>
            <p:cNvSpPr/>
            <p:nvPr/>
          </p:nvSpPr>
          <p:spPr>
            <a:xfrm>
              <a:off x="8842248" y="3419856"/>
              <a:ext cx="694944" cy="694944"/>
            </a:xfrm>
            <a:prstGeom prst="ellipse">
              <a:avLst/>
            </a:prstGeom>
            <a:solidFill>
              <a:srgbClr val="FFFFFF"/>
            </a:solidFill>
            <a:ln w="30480">
              <a:solidFill>
                <a:srgbClr val="007E8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8915400" y="3593592"/>
              <a:ext cx="594360" cy="411480"/>
            </a:xfrm>
            <a:prstGeom prst="rect">
              <a:avLst/>
            </a:prstGeom>
            <a:noFill/>
          </p:spPr>
          <p:txBody>
            <a:bodyPr wrap="square" lIns="9144" rIns="9144" tIns="9144" bIns="9144">
              <a:noAutofit/>
            </a:bodyPr>
            <a:lstStyle/>
            <a:p>
              <a:pPr algn="l">
                <a:spcAft>
                  <a:spcPts val="600"/>
                </a:spcAft>
                <a:defRPr sz="2400" b="1">
                  <a:solidFill>
                    <a:srgbClr val="007E83"/>
                  </a:solidFill>
                  <a:latin typeface="DejaVu Sans"/>
                </a:defRPr>
              </a:pPr>
              <a:r>
                <a:t>1 C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9683496" y="3557016"/>
              <a:ext cx="2240280" cy="420624"/>
            </a:xfrm>
            <a:prstGeom prst="rect">
              <a:avLst/>
            </a:prstGeom>
            <a:noFill/>
          </p:spPr>
          <p:txBody>
            <a:bodyPr wrap="square" lIns="9144" rIns="9144" tIns="9144" bIns="9144">
              <a:noAutofit/>
            </a:bodyPr>
            <a:lstStyle/>
            <a:p>
              <a:pPr algn="l">
                <a:spcAft>
                  <a:spcPts val="600"/>
                </a:spcAft>
                <a:defRPr sz="2400" b="1">
                  <a:solidFill>
                    <a:srgbClr val="007E83"/>
                  </a:solidFill>
                  <a:latin typeface="DejaVu Sans"/>
                </a:defRPr>
              </a:pPr>
              <a:r>
                <a:t>1 C/s ud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2926080" y="3264408"/>
              <a:ext cx="2560320" cy="420624"/>
            </a:xfrm>
            <a:prstGeom prst="rect">
              <a:avLst/>
            </a:prstGeom>
            <a:noFill/>
          </p:spPr>
          <p:txBody>
            <a:bodyPr wrap="square" lIns="9144" rIns="9144" tIns="9144" bIns="9144">
              <a:noAutofit/>
            </a:bodyPr>
            <a:lstStyle/>
            <a:p>
              <a:pPr algn="l">
                <a:spcAft>
                  <a:spcPts val="600"/>
                </a:spcAft>
                <a:defRPr sz="2400" b="1">
                  <a:solidFill>
                    <a:srgbClr val="007E83"/>
                  </a:solidFill>
                  <a:latin typeface="DejaVu Sans"/>
                </a:defRPr>
              </a:pPr>
              <a:r>
                <a:t>1 C/s ind</a:t>
              </a:r>
            </a:p>
          </p:txBody>
        </p:sp>
      </p:grpSp>
      <p:grpSp>
        <p:nvGrpSpPr>
          <p:cNvPr id="46" name="R-3-sammenligning-og-formel"/>
          <p:cNvGrpSpPr/>
          <p:nvPr/>
        </p:nvGrpSpPr>
        <p:grpSpPr>
          <a:xfrm>
            <a:off x="1316736" y="4096512"/>
            <a:ext cx="10607040" cy="2276856"/>
            <a:chOff x="1316736" y="4096512"/>
            <a:chExt cx="10607040" cy="2276856"/>
          </a:xfrm>
        </p:grpSpPr>
        <p:sp>
          <p:nvSpPr>
            <p:cNvPr id="44" name="TextBox 43"/>
            <p:cNvSpPr txBox="1"/>
            <p:nvPr/>
          </p:nvSpPr>
          <p:spPr>
            <a:xfrm>
              <a:off x="2788920" y="4096512"/>
              <a:ext cx="5193792" cy="530352"/>
            </a:xfrm>
            <a:prstGeom prst="rect">
              <a:avLst/>
            </a:prstGeom>
            <a:noFill/>
          </p:spPr>
          <p:txBody>
            <a:bodyPr wrap="square" lIns="9144" rIns="9144" tIns="9144" bIns="9144">
              <a:noAutofit/>
            </a:bodyPr>
            <a:lstStyle/>
            <a:p>
              <a:pPr algn="l">
                <a:spcAft>
                  <a:spcPts val="600"/>
                </a:spcAft>
                <a:defRPr sz="2600" b="1">
                  <a:solidFill>
                    <a:srgbClr val="173246"/>
                  </a:solidFill>
                  <a:latin typeface="DejaVu Sans"/>
                </a:defRPr>
              </a:pPr>
              <a:r>
                <a:t>R fordobles → I halveres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1316736" y="5806440"/>
              <a:ext cx="10607040" cy="566928"/>
            </a:xfrm>
            <a:prstGeom prst="rect">
              <a:avLst/>
            </a:prstGeom>
            <a:noFill/>
          </p:spPr>
          <p:txBody>
            <a:bodyPr wrap="square" lIns="9144" rIns="9144" tIns="9144" bIns="9144">
              <a:noAutofit/>
            </a:bodyPr>
            <a:lstStyle/>
            <a:p>
              <a:pPr algn="l">
                <a:spcAft>
                  <a:spcPts val="600"/>
                </a:spcAft>
                <a:defRPr sz="2800" b="1">
                  <a:solidFill>
                    <a:srgbClr val="007E83"/>
                  </a:solidFill>
                  <a:latin typeface="DejaVu Sans"/>
                </a:defRPr>
              </a:pPr>
              <a:r>
                <a:t>24 V / 12 Ω = 2 A   →   24 V / 24 Ω = 1 A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 · tre visuelle prøveslides</dc:title>
  <dc:subject/>
  <dc:creator>Revision efter Simon Tran Agerholm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