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Bygger på Simon Tran Agerholms original med 11 slides. Den nye rækkefølge erstatter animationernes afsløringer med korte, selvstændige trin. Ingen animationer er nødvendige for at se indholdet. Målgruppe: 4. semester på maskinmesteruddannelsen. Start med at spørge, hvad der sker med strømmen i en 24 V-belastning, når resistansen fordobles.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 I og R betegner størrelser. V, A og Ω er enhedssymboler. A er en SI-basisenhed; V, Ω, W og C er afledte SI-enheder. Derfor er titlen Elektriske begreber mere præcis end at kalde alle enhederne basisenheder. Størrelsessymboler skrives normalt kursivt og enhedssymboler opret. Kilde: BIPM SI Brochure, 9. udgave, v4.01, tabel 4. Vi anvender U som spændingssymbol i dansk elektroteknik.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Bevar originalens vandanalogi, men skeln mellem højdeforskel, gennemstrømning og rørets modstand. Vandmodellen er ikke fuldstændig: elektrisk ladning fylder allerede lederen, og energioverførslen skal ikke forstås som vand, der først løber hele vejen. Spørg: Kan der være højdeforskel uden vandstrøm? Ja, hvis ventilen er lukket. Tilsvarende kan der være spænding uden strøm.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 = ΔE/Q beskriver energiændring pr. ladningsmængde; her bruges størrelsernes beløb. Enheden 1 V = 1 J/C er samme SI-enhed som 1 W/A. Kilde: BIPM SI Brochure tabel 4. I stationær DC er P = U·I, så 1 V ved 1 A svarer til 1 W. En batterikilde kan have spænding ved åben kreds, selv når I = 0. På modstanden er venstre terminal + og højre −; strømmen går ind ved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 ΔQ/Δt er middelstrøm i intervallet; for konstant strøm skrives I = Q/t. I almindelige metalledere er de mobile ladningsbærere elektroner. I andre medier kan strøm også bæres af ioner; strøm er derfor ikke altid synonym med elektronstrøm. 1 C = 1 A·s er den afledte SI-enhed for ladning. Kilde: BIPM SI Brochure tabel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Originalens animerede kobberleder viste elektronbevægelse. Her vises begge retninger tydeligt. Konventionel strøm er retningen for positiv ladning: i den ydre kreds fra kildens + til −. Elektroner i metaller har negativ ladning og driver modsat. Ved modstanden går strømmen ind ved + og ud ved −: passiv fortegnskonvention. Inde i spændingskilden går konventionel strøm i denne forsyningssituation fra − mod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Dansk faglig gengivelse af BIPM: Ampere, A, er SI-enheden for elektrisk strøm. Enheden defineres ved at fastlægge elementarladningens talværdi til 1,602 176 634 × 10⁻¹⁹ i enheden C = A·s. Sekundet defineres via cæsium-133-overgangsfrekvensen ΔνCs. Den tidligere definition via kraften mellem parallelle ledere blev afløst i 2019; den kan behandles historisk ved magnetisme, men er ikke den gældende definition. e er ladningens beløb; elektronens ladning er −e. 1/e ≈ 6,241509074 × 10¹⁸ elementarladninger pr. coulomb. Kilde: https://www.bipm.org/en/si-base-units/ampere . Kontrolleret 26-09-2026.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modstand omsætter elektrisk energi til varme, f.eks. et varmelegeme. Den forbruger ikke strøm eller ladning: i stationær tilstand går samme strøm ind og ud. R = U/I gælder som forhold ved et driftspunkt, når I ≠ 0. En ohmsk modstand har konstant R under de givne fysiske forhold; metallederes resistans ændres typisk med temperatur. 1 Ω = 1 V/A. Kilde: BIPM SI Brochure tabel 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Gennemgå kredsen med en finger: kilde +, leder, modstand, returleder, kilde −. Strømretningen er med uret. Tegningen bruger IEC-modstandssymbol. Plus og minus over R angiver spændingsfald i strømretningen. Ledninger antages uden spændingsfald, og kilden idealiseres. Åbnes kredsen, er I = 0, men kildens spænding kan stadig være 24 V. Spørg eleverne, hvor et amperemeter og et voltmeter skal tilsluttes; amperemeter i serie og voltmeter parallelt.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Ohms lov er proportionalitet mellem spænding og strøm: U = R·I med konstant R. Det gælder for ohmske komponenter ved omtrent konstant temperatur og andre fysiske forhold. Udsagnet i originalen om, at loven kun gælder DC, er for snævert. En ideel ren modstand kan også behandles ved AC; spoler og kondensatorer kræver impedans og fase. P = U·I i næste eksempel er stationær DC-effekt; ved AC er øjeblikseffekten p(t)=u(t)i(t), og middelværdi afhænger af belastningen. Reference: OpenStax University Physics Volume 2, 9.4 Ohm’s Law. https://openstax.org/books/university-physics-volume-2/pages/9-4-ohms-law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Bevar de tre former af Ohms lov fra originalen. Vis, at I-formen findes ved at dividere begge sider af U=R·I med R, og at R-formen findes ved at dividere med I (I≠0). Formeltrekanten og originalens formelhjul er huskehjælp; det faglige indhold er erstattet af redigerbare ligninger og en forklaring af omformningen. Bed eleverne sige, hvilken størrelse der er ubekendt før de regner.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Originalens opgave 1 er bevaret og løst trinvis: R=27,5 Ω, U=231 V, I=8,4 A. Lad først holdet vælge formel uden tal. Divider 231 med 27,5; kontrollér, at 27,5·8,4 = 231. Kredsløbet er et beregningseksempel og ikke en anvisning til praktisk arbejde med høj spænding. De øvrige originale opgaver findes på slide 15–16. I- og U-mærkninger er størrelsernes beløb under den valgte fortegnskonvention.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Originalens effektbegreb og relation P=U·I bevares. Her bruges stationær DC. I et 24 V-varmelegeme med R=12 Ω er I=2 A og P=48 W. På 10 s omsættes E=P·t=480 J. 1 W=1 J/s=1 N·m/s. For vekselstrøm skelnes mellem øjeblikseffekt, aktiv effekt og tilsyneladende effekt; P=U_rms·I_rms gælder aktiv effekt for en ren ohmsk belastning. Kilde for enheder: BIPM SI Brochure tabel 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Originalens opgaver 5 og 6 kræver omregning af kΩ og mA. Lad eleverne selv omskrive 10 kΩ og 23 mA, før formlen anvendes. SI-præfikser: kilo k=10³, milli m=10⁻³. BIPM SI Brochure afsnit 3. Skriv mellemrum mellem tal og enhed: 23 mA, og brug dansk decimalkomma. Det er ikke nødvendigt at bruge klammer omkring enheden i en værdiangivelse.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Opgave 1: I=231/27,5=8,4 A. Opgave 2: R=225/2,8≈80,4 Ω ved det givne driftspunkt. Opgave 3: R=4,5/0,9=5 Ω. Brugsgenstandens resistans beregnes i dette DC-eksempel; oplysning om AC-belastning ville kræve yderligere oplysninger. Undgå at behandle forholdet U/I for en vilkårlig komponent som dokumentation for ohmsk opførsel. Originalens boghenvisninger er bevaret på slide 18.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Opgave 4: U=15·1,2=18 V. Opgave 5: I=3/10000=0,0003 A=0,30 mA. Opgave 6: R=14,2/0,023≈617 Ω ved dette driftspunkt. Originalen kalder belastningen en signallampe; for en diode/LED er dette forhold ikke en konstant ohmsk modstand og må ikke bruges til dimensionering uden en komponentmodel. Formuleringen på sliden gør derfor driftspunktet udtrykkeligt. Lad holdet regne først og vis derefter facit.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 holdet forklare omformningen, ikke blot læse facit. Opgave 2 og 6 er afrundet til tre betydende cifre; måleusikkerhed er ikke oplyst. Opgave 6: 617 Ω er U/I ved det givne driftspunkt, ikke dokumentation for konstant R. Originalens opgaver er bevaret som redigerbar tekst frem for rasterbilleder.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Spørgsmålene har disse svar: 1) U er energi pr. ladning, I er ladning pr. tid. 2) Elektroner går modsat konventionel strøm i metal. 3) Ved konstant U og ohmsk R halveres I, når R fordobles. 4) Ja, spændingskilden kan have spænding uden lukket kreds. Originalens henvisninger 1.1+1.2+1.3+1.4+1.5+1.6+1.7+1.9 er bevaret uden at hævde en bestemt bogudgave. Underviseren skal knytte henvisningerne til holdets aktuelle opgavesamling. PhET-linket fra originalen bevares på kildesliden.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SI-ordlyd er kontrolleret mod BIPM. Ampere er en basisenhed; volt, ohm, watt og coulomb er afledte enheder. Grundlaget er den originale præsentation af Simon Tran Agerholm. Alle forklaringer, opgaver, formler og kredsløb i revisionen er native PowerPoint-tekst og -figurer. Originalens historiske portræt, dekorative billeder og formelhjul er erstattet af fokuserede forklaringer. Originalen er uændret. Originalens animationer er gennemgået som OOXML og deres afsløringssekvens er omsat til separate slides. Renderkontrollen gælder statisk layout i LibreOffice; PowerPoint kan vise små skrifttypeforskelle.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s://www.bipm.org/en/si-base-units/ampere" TargetMode="External"/><Relationship Id="rId4" Type="http://schemas.openxmlformats.org/officeDocument/2006/relationships/hyperlink" Target="https://www.bipm.org/utils/common/pdf/si-brochure/SI-Brochure-9.pdf" TargetMode="External"/><Relationship Id="rId5" Type="http://schemas.openxmlformats.org/officeDocument/2006/relationships/hyperlink" Target="https://openstax.org/books/university-physics-volume-2/pages/9-4-ohms-law" TargetMode="External"/><Relationship Id="rId6" Type="http://schemas.openxmlformats.org/officeDocument/2006/relationships/hyperlink" Target="https://phet.colorado.edu/en/simulations/ohms-law"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Strøm, spænding og modstand</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Elektriske begreber · Revideret undervisningsmateriale</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01</a:t>
            </a:r>
          </a:p>
        </p:txBody>
      </p:sp>
      <p:sp>
        <p:nvSpPr>
          <p:cNvPr id="8" name="TextBox 7"/>
          <p:cNvSpPr txBox="1"/>
          <p:nvPr/>
        </p:nvSpPr>
        <p:spPr>
          <a:xfrm>
            <a:off x="594360" y="1810512"/>
            <a:ext cx="10789920" cy="640080"/>
          </a:xfrm>
          <a:prstGeom prst="rect">
            <a:avLst/>
          </a:prstGeom>
          <a:noFill/>
        </p:spPr>
        <p:txBody>
          <a:bodyPr wrap="square" lIns="27432" rIns="27432" tIns="18288" bIns="18288">
            <a:spAutoFit/>
          </a:bodyPr>
          <a:lstStyle/>
          <a:p>
            <a:pPr>
              <a:lnSpc>
                <a:spcPct val="108000"/>
              </a:lnSpc>
              <a:spcAft>
                <a:spcPts val="800"/>
              </a:spcAft>
              <a:defRPr sz="2500" b="1">
                <a:solidFill>
                  <a:srgbClr val="007F86"/>
                </a:solidFill>
                <a:latin typeface="DejaVu Sans"/>
              </a:defRPr>
            </a:pPr>
            <a:r>
              <a:t>Fra symboler til en beregning, du kan forklare</a:t>
            </a:r>
          </a:p>
        </p:txBody>
      </p:sp>
      <p:sp>
        <p:nvSpPr>
          <p:cNvPr id="9" name="Rounded Rectangle 8"/>
          <p:cNvSpPr/>
          <p:nvPr/>
        </p:nvSpPr>
        <p:spPr>
          <a:xfrm>
            <a:off x="594360" y="2761488"/>
            <a:ext cx="3520440" cy="228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761488"/>
            <a:ext cx="54864" cy="2286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926080"/>
            <a:ext cx="315468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FORSTÅ</a:t>
            </a:r>
          </a:p>
        </p:txBody>
      </p:sp>
      <p:sp>
        <p:nvSpPr>
          <p:cNvPr id="12" name="TextBox 11"/>
          <p:cNvSpPr txBox="1"/>
          <p:nvPr/>
        </p:nvSpPr>
        <p:spPr>
          <a:xfrm>
            <a:off x="777240" y="3584448"/>
            <a:ext cx="3154680" cy="137160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Skeln mellem </a:t>
            </a:r>
            <a:r>
              <a:rPr i="1"/>
              <a:t>U</a:t>
            </a:r>
            <a:r>
              <a:t>, </a:t>
            </a:r>
            <a:r>
              <a:rPr i="1"/>
              <a:t>I</a:t>
            </a:r>
            <a:r>
              <a:t> og </a:t>
            </a:r>
            <a:r>
              <a:rPr i="1"/>
              <a:t>R</a:t>
            </a:r>
            <a:r>
              <a:t>.</a:t>
            </a:r>
          </a:p>
          <a:p>
            <a:pPr>
              <a:lnSpc>
                <a:spcPct val="108000"/>
              </a:lnSpc>
              <a:spcAft>
                <a:spcPts val="800"/>
              </a:spcAft>
              <a:defRPr sz="2100" b="0">
                <a:solidFill>
                  <a:srgbClr val="163047"/>
                </a:solidFill>
                <a:latin typeface="DejaVu Sans"/>
              </a:defRPr>
            </a:pPr>
            <a:r>
              <a:t>Forklar, hvad enheden betyder.</a:t>
            </a:r>
          </a:p>
        </p:txBody>
      </p:sp>
      <p:sp>
        <p:nvSpPr>
          <p:cNvPr id="13" name="Rounded Rectangle 12"/>
          <p:cNvSpPr/>
          <p:nvPr/>
        </p:nvSpPr>
        <p:spPr>
          <a:xfrm>
            <a:off x="4334256" y="2761488"/>
            <a:ext cx="3520440" cy="228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34256" y="2761488"/>
            <a:ext cx="54864" cy="2286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926080"/>
            <a:ext cx="315468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TEGN</a:t>
            </a:r>
          </a:p>
        </p:txBody>
      </p:sp>
      <p:sp>
        <p:nvSpPr>
          <p:cNvPr id="16" name="TextBox 15"/>
          <p:cNvSpPr txBox="1"/>
          <p:nvPr/>
        </p:nvSpPr>
        <p:spPr>
          <a:xfrm>
            <a:off x="4517136" y="3584448"/>
            <a:ext cx="3154680" cy="137160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Vis strømretning og polaritet på et DC-kredsløb.</a:t>
            </a:r>
          </a:p>
        </p:txBody>
      </p:sp>
      <p:sp>
        <p:nvSpPr>
          <p:cNvPr id="17" name="Rounded Rectangle 16"/>
          <p:cNvSpPr/>
          <p:nvPr/>
        </p:nvSpPr>
        <p:spPr>
          <a:xfrm>
            <a:off x="8065008" y="2761488"/>
            <a:ext cx="3520440" cy="228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761488"/>
            <a:ext cx="54864" cy="2286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926080"/>
            <a:ext cx="315468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BEREGN</a:t>
            </a:r>
          </a:p>
        </p:txBody>
      </p:sp>
      <p:sp>
        <p:nvSpPr>
          <p:cNvPr id="20" name="TextBox 19"/>
          <p:cNvSpPr txBox="1"/>
          <p:nvPr/>
        </p:nvSpPr>
        <p:spPr>
          <a:xfrm>
            <a:off x="8247888" y="3584448"/>
            <a:ext cx="3154680" cy="137160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Vælg formel, indsæt enheder og kontrollér resultatet.</a:t>
            </a:r>
          </a:p>
        </p:txBody>
      </p:sp>
      <p:sp>
        <p:nvSpPr>
          <p:cNvPr id="21" name="Rounded Rectangle 20"/>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Udgangspunkt: simple, stationære DC-kredsløb med ohmske modstande.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Et symbol er ikke en enhed</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Symboler og SI-enheder</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02</a:t>
            </a:r>
          </a:p>
        </p:txBody>
      </p:sp>
      <p:sp>
        <p:nvSpPr>
          <p:cNvPr id="8" name="Rectangle 7"/>
          <p:cNvSpPr/>
          <p:nvPr/>
        </p:nvSpPr>
        <p:spPr>
          <a:xfrm>
            <a:off x="594360" y="1783080"/>
            <a:ext cx="10972800" cy="557784"/>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3474720" cy="393192"/>
          </a:xfrm>
          <a:prstGeom prst="rect">
            <a:avLst/>
          </a:prstGeom>
          <a:noFill/>
        </p:spPr>
        <p:txBody>
          <a:bodyPr wrap="square" lIns="27432" rIns="27432" tIns="18288" bIns="18288">
            <a:spAutoFit/>
          </a:bodyPr>
          <a:lstStyle/>
          <a:p>
            <a:pPr>
              <a:lnSpc>
                <a:spcPct val="108000"/>
              </a:lnSpc>
              <a:spcAft>
                <a:spcPts val="800"/>
              </a:spcAft>
              <a:defRPr sz="1700" b="1">
                <a:solidFill>
                  <a:srgbClr val="FFFFFF"/>
                </a:solidFill>
                <a:latin typeface="DejaVu Sans"/>
              </a:defRPr>
            </a:pPr>
            <a:r>
              <a:t>Størrelse</a:t>
            </a:r>
          </a:p>
        </p:txBody>
      </p:sp>
      <p:sp>
        <p:nvSpPr>
          <p:cNvPr id="10" name="TextBox 9"/>
          <p:cNvSpPr txBox="1"/>
          <p:nvPr/>
        </p:nvSpPr>
        <p:spPr>
          <a:xfrm>
            <a:off x="4343400" y="1874519"/>
            <a:ext cx="1097280" cy="393192"/>
          </a:xfrm>
          <a:prstGeom prst="rect">
            <a:avLst/>
          </a:prstGeom>
          <a:noFill/>
        </p:spPr>
        <p:txBody>
          <a:bodyPr wrap="square" lIns="27432" rIns="27432" tIns="18288" bIns="18288">
            <a:spAutoFit/>
          </a:bodyPr>
          <a:lstStyle/>
          <a:p>
            <a:pPr>
              <a:lnSpc>
                <a:spcPct val="108000"/>
              </a:lnSpc>
              <a:spcAft>
                <a:spcPts val="800"/>
              </a:spcAft>
              <a:defRPr sz="1700" b="1">
                <a:solidFill>
                  <a:srgbClr val="FFFFFF"/>
                </a:solidFill>
                <a:latin typeface="DejaVu Sans"/>
              </a:defRPr>
            </a:pPr>
            <a:r>
              <a:t>Symbol</a:t>
            </a:r>
          </a:p>
        </p:txBody>
      </p:sp>
      <p:sp>
        <p:nvSpPr>
          <p:cNvPr id="11" name="TextBox 10"/>
          <p:cNvSpPr txBox="1"/>
          <p:nvPr/>
        </p:nvSpPr>
        <p:spPr>
          <a:xfrm>
            <a:off x="5577840" y="1874519"/>
            <a:ext cx="1828800" cy="393192"/>
          </a:xfrm>
          <a:prstGeom prst="rect">
            <a:avLst/>
          </a:prstGeom>
          <a:noFill/>
        </p:spPr>
        <p:txBody>
          <a:bodyPr wrap="square" lIns="27432" rIns="27432" tIns="18288" bIns="18288">
            <a:spAutoFit/>
          </a:bodyPr>
          <a:lstStyle/>
          <a:p>
            <a:pPr>
              <a:lnSpc>
                <a:spcPct val="108000"/>
              </a:lnSpc>
              <a:spcAft>
                <a:spcPts val="800"/>
              </a:spcAft>
              <a:defRPr sz="1700" b="1">
                <a:solidFill>
                  <a:srgbClr val="FFFFFF"/>
                </a:solidFill>
                <a:latin typeface="DejaVu Sans"/>
              </a:defRPr>
            </a:pPr>
            <a:r>
              <a:t>Enhed</a:t>
            </a:r>
          </a:p>
        </p:txBody>
      </p:sp>
      <p:sp>
        <p:nvSpPr>
          <p:cNvPr id="12" name="TextBox 11"/>
          <p:cNvSpPr txBox="1"/>
          <p:nvPr/>
        </p:nvSpPr>
        <p:spPr>
          <a:xfrm>
            <a:off x="7498079" y="1874519"/>
            <a:ext cx="3840480" cy="393192"/>
          </a:xfrm>
          <a:prstGeom prst="rect">
            <a:avLst/>
          </a:prstGeom>
          <a:noFill/>
        </p:spPr>
        <p:txBody>
          <a:bodyPr wrap="square" lIns="27432" rIns="27432" tIns="18288" bIns="18288">
            <a:spAutoFit/>
          </a:bodyPr>
          <a:lstStyle/>
          <a:p>
            <a:pPr>
              <a:lnSpc>
                <a:spcPct val="108000"/>
              </a:lnSpc>
              <a:spcAft>
                <a:spcPts val="800"/>
              </a:spcAft>
              <a:defRPr sz="1700" b="1">
                <a:solidFill>
                  <a:srgbClr val="FFFFFF"/>
                </a:solidFill>
                <a:latin typeface="DejaVu Sans"/>
              </a:defRPr>
            </a:pPr>
            <a:r>
              <a:t>Hvad spørger vi om?</a:t>
            </a:r>
          </a:p>
        </p:txBody>
      </p:sp>
      <p:sp>
        <p:nvSpPr>
          <p:cNvPr id="13" name="Rectangle 12"/>
          <p:cNvSpPr/>
          <p:nvPr/>
        </p:nvSpPr>
        <p:spPr>
          <a:xfrm>
            <a:off x="594360" y="2368296"/>
            <a:ext cx="10972800" cy="557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459736"/>
            <a:ext cx="347472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Spænding</a:t>
            </a:r>
          </a:p>
        </p:txBody>
      </p:sp>
      <p:sp>
        <p:nvSpPr>
          <p:cNvPr id="15" name="TextBox 14"/>
          <p:cNvSpPr txBox="1"/>
          <p:nvPr/>
        </p:nvSpPr>
        <p:spPr>
          <a:xfrm>
            <a:off x="4343400" y="2459736"/>
            <a:ext cx="109728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rPr i="1"/>
              <a:t>U</a:t>
            </a:r>
          </a:p>
        </p:txBody>
      </p:sp>
      <p:sp>
        <p:nvSpPr>
          <p:cNvPr id="16" name="TextBox 15"/>
          <p:cNvSpPr txBox="1"/>
          <p:nvPr/>
        </p:nvSpPr>
        <p:spPr>
          <a:xfrm>
            <a:off x="5577840" y="2459736"/>
            <a:ext cx="182880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volt · V</a:t>
            </a:r>
          </a:p>
        </p:txBody>
      </p:sp>
      <p:sp>
        <p:nvSpPr>
          <p:cNvPr id="17" name="TextBox 16"/>
          <p:cNvSpPr txBox="1"/>
          <p:nvPr/>
        </p:nvSpPr>
        <p:spPr>
          <a:xfrm>
            <a:off x="7498079" y="2459736"/>
            <a:ext cx="384048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Hvor meget energi pr. ladning?</a:t>
            </a:r>
          </a:p>
        </p:txBody>
      </p:sp>
      <p:sp>
        <p:nvSpPr>
          <p:cNvPr id="18" name="Rectangle 17"/>
          <p:cNvSpPr/>
          <p:nvPr/>
        </p:nvSpPr>
        <p:spPr>
          <a:xfrm>
            <a:off x="594360" y="2953512"/>
            <a:ext cx="10972800" cy="557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044952"/>
            <a:ext cx="347472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Strøm</a:t>
            </a:r>
          </a:p>
        </p:txBody>
      </p:sp>
      <p:sp>
        <p:nvSpPr>
          <p:cNvPr id="20" name="TextBox 19"/>
          <p:cNvSpPr txBox="1"/>
          <p:nvPr/>
        </p:nvSpPr>
        <p:spPr>
          <a:xfrm>
            <a:off x="4343400" y="3044952"/>
            <a:ext cx="109728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rPr i="1"/>
              <a:t>I</a:t>
            </a:r>
          </a:p>
        </p:txBody>
      </p:sp>
      <p:sp>
        <p:nvSpPr>
          <p:cNvPr id="21" name="TextBox 20"/>
          <p:cNvSpPr txBox="1"/>
          <p:nvPr/>
        </p:nvSpPr>
        <p:spPr>
          <a:xfrm>
            <a:off x="5577840" y="3044952"/>
            <a:ext cx="182880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ampere · A</a:t>
            </a:r>
          </a:p>
        </p:txBody>
      </p:sp>
      <p:sp>
        <p:nvSpPr>
          <p:cNvPr id="22" name="TextBox 21"/>
          <p:cNvSpPr txBox="1"/>
          <p:nvPr/>
        </p:nvSpPr>
        <p:spPr>
          <a:xfrm>
            <a:off x="7498079" y="3044952"/>
            <a:ext cx="384048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Hvor meget ladning pr. sekund?</a:t>
            </a:r>
          </a:p>
        </p:txBody>
      </p:sp>
      <p:sp>
        <p:nvSpPr>
          <p:cNvPr id="23" name="Rectangle 22"/>
          <p:cNvSpPr/>
          <p:nvPr/>
        </p:nvSpPr>
        <p:spPr>
          <a:xfrm>
            <a:off x="594360" y="3538728"/>
            <a:ext cx="10972800" cy="557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630168"/>
            <a:ext cx="347472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Modstand / resistans</a:t>
            </a:r>
          </a:p>
        </p:txBody>
      </p:sp>
      <p:sp>
        <p:nvSpPr>
          <p:cNvPr id="25" name="TextBox 24"/>
          <p:cNvSpPr txBox="1"/>
          <p:nvPr/>
        </p:nvSpPr>
        <p:spPr>
          <a:xfrm>
            <a:off x="4343400" y="3630168"/>
            <a:ext cx="109728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rPr i="1"/>
              <a:t>R</a:t>
            </a:r>
          </a:p>
        </p:txBody>
      </p:sp>
      <p:sp>
        <p:nvSpPr>
          <p:cNvPr id="26" name="TextBox 25"/>
          <p:cNvSpPr txBox="1"/>
          <p:nvPr/>
        </p:nvSpPr>
        <p:spPr>
          <a:xfrm>
            <a:off x="5577840" y="3630168"/>
            <a:ext cx="182880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ohm · Ω</a:t>
            </a:r>
          </a:p>
        </p:txBody>
      </p:sp>
      <p:sp>
        <p:nvSpPr>
          <p:cNvPr id="27" name="TextBox 26"/>
          <p:cNvSpPr txBox="1"/>
          <p:nvPr/>
        </p:nvSpPr>
        <p:spPr>
          <a:xfrm>
            <a:off x="7498079" y="3630168"/>
            <a:ext cx="384048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Hvor meget begrænses </a:t>
            </a:r>
            <a:r>
              <a:rPr i="1"/>
              <a:t>I</a:t>
            </a:r>
            <a:r>
              <a:t>?</a:t>
            </a:r>
          </a:p>
        </p:txBody>
      </p:sp>
      <p:sp>
        <p:nvSpPr>
          <p:cNvPr id="28" name="Rectangle 27"/>
          <p:cNvSpPr/>
          <p:nvPr/>
        </p:nvSpPr>
        <p:spPr>
          <a:xfrm>
            <a:off x="594360" y="4123944"/>
            <a:ext cx="10972800" cy="557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215383"/>
            <a:ext cx="347472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Effekt</a:t>
            </a:r>
          </a:p>
        </p:txBody>
      </p:sp>
      <p:sp>
        <p:nvSpPr>
          <p:cNvPr id="30" name="TextBox 29"/>
          <p:cNvSpPr txBox="1"/>
          <p:nvPr/>
        </p:nvSpPr>
        <p:spPr>
          <a:xfrm>
            <a:off x="4343400" y="4215383"/>
            <a:ext cx="109728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rPr i="1"/>
              <a:t>P</a:t>
            </a:r>
          </a:p>
        </p:txBody>
      </p:sp>
      <p:sp>
        <p:nvSpPr>
          <p:cNvPr id="31" name="TextBox 30"/>
          <p:cNvSpPr txBox="1"/>
          <p:nvPr/>
        </p:nvSpPr>
        <p:spPr>
          <a:xfrm>
            <a:off x="5577840" y="4215383"/>
            <a:ext cx="182880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watt · W</a:t>
            </a:r>
          </a:p>
        </p:txBody>
      </p:sp>
      <p:sp>
        <p:nvSpPr>
          <p:cNvPr id="32" name="TextBox 31"/>
          <p:cNvSpPr txBox="1"/>
          <p:nvPr/>
        </p:nvSpPr>
        <p:spPr>
          <a:xfrm>
            <a:off x="7498079" y="4215383"/>
            <a:ext cx="384048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Hvor meget energi pr. sekund?</a:t>
            </a:r>
          </a:p>
        </p:txBody>
      </p:sp>
      <p:sp>
        <p:nvSpPr>
          <p:cNvPr id="33" name="Rectangle 32"/>
          <p:cNvSpPr/>
          <p:nvPr/>
        </p:nvSpPr>
        <p:spPr>
          <a:xfrm>
            <a:off x="594360" y="4709160"/>
            <a:ext cx="10972800" cy="557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4800600"/>
            <a:ext cx="347472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Ladning</a:t>
            </a:r>
          </a:p>
        </p:txBody>
      </p:sp>
      <p:sp>
        <p:nvSpPr>
          <p:cNvPr id="35" name="TextBox 34"/>
          <p:cNvSpPr txBox="1"/>
          <p:nvPr/>
        </p:nvSpPr>
        <p:spPr>
          <a:xfrm>
            <a:off x="4343400" y="4800600"/>
            <a:ext cx="109728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rPr i="1"/>
              <a:t>Q</a:t>
            </a:r>
          </a:p>
        </p:txBody>
      </p:sp>
      <p:sp>
        <p:nvSpPr>
          <p:cNvPr id="36" name="TextBox 35"/>
          <p:cNvSpPr txBox="1"/>
          <p:nvPr/>
        </p:nvSpPr>
        <p:spPr>
          <a:xfrm>
            <a:off x="5577840" y="4800600"/>
            <a:ext cx="182880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coulomb · C</a:t>
            </a:r>
          </a:p>
        </p:txBody>
      </p:sp>
      <p:sp>
        <p:nvSpPr>
          <p:cNvPr id="37" name="TextBox 36"/>
          <p:cNvSpPr txBox="1"/>
          <p:nvPr/>
        </p:nvSpPr>
        <p:spPr>
          <a:xfrm>
            <a:off x="7498079" y="4800600"/>
            <a:ext cx="3840480" cy="393192"/>
          </a:xfrm>
          <a:prstGeom prst="rect">
            <a:avLst/>
          </a:prstGeom>
          <a:noFill/>
        </p:spPr>
        <p:txBody>
          <a:bodyPr wrap="square" lIns="27432" rIns="27432" tIns="18288" bIns="18288">
            <a:spAutoFit/>
          </a:bodyPr>
          <a:lstStyle/>
          <a:p>
            <a:pPr>
              <a:lnSpc>
                <a:spcPct val="108000"/>
              </a:lnSpc>
              <a:spcAft>
                <a:spcPts val="800"/>
              </a:spcAft>
              <a:defRPr sz="1800" b="0">
                <a:solidFill>
                  <a:srgbClr val="163047"/>
                </a:solidFill>
                <a:latin typeface="DejaVu Sans"/>
              </a:defRPr>
            </a:pPr>
            <a:r>
              <a:t>Hvor stor en ladningsmængde?</a:t>
            </a:r>
          </a:p>
        </p:txBody>
      </p:sp>
      <p:sp>
        <p:nvSpPr>
          <p:cNvPr id="38" name="Rounded Rectangle 37"/>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Eksempel: </a:t>
            </a:r>
            <a:r>
              <a:rPr i="1"/>
              <a:t>I</a:t>
            </a:r>
            <a:r>
              <a:t> = 2 A  →  strømmen er 2 ampere. A er enheden; </a:t>
            </a:r>
            <a:r>
              <a:rPr i="1"/>
              <a:t>I</a:t>
            </a:r>
            <a:r>
              <a:t> er symbolet.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En vandmodel gør forskellen konkret</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Analogien er en hjælp · den er ikke en fysisk definition</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03</a:t>
            </a:r>
          </a:p>
        </p:txBody>
      </p:sp>
      <p:sp>
        <p:nvSpPr>
          <p:cNvPr id="8" name="Rounded Rectangle 7"/>
          <p:cNvSpPr/>
          <p:nvPr/>
        </p:nvSpPr>
        <p:spPr>
          <a:xfrm>
            <a:off x="594360" y="1828800"/>
            <a:ext cx="3520440" cy="25786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828800"/>
            <a:ext cx="54864" cy="2578608"/>
          </a:xfrm>
          <a:prstGeom prst="rect">
            <a:avLst/>
          </a:prstGeom>
          <a:solidFill>
            <a:srgbClr val="1565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93392"/>
            <a:ext cx="3154680" cy="548640"/>
          </a:xfrm>
          <a:prstGeom prst="rect">
            <a:avLst/>
          </a:prstGeom>
          <a:noFill/>
        </p:spPr>
        <p:txBody>
          <a:bodyPr wrap="square" lIns="27432" rIns="27432" tIns="18288" bIns="18288">
            <a:spAutoFit/>
          </a:bodyPr>
          <a:lstStyle/>
          <a:p>
            <a:pPr>
              <a:lnSpc>
                <a:spcPct val="108000"/>
              </a:lnSpc>
              <a:spcAft>
                <a:spcPts val="800"/>
              </a:spcAft>
              <a:defRPr sz="2200" b="1">
                <a:solidFill>
                  <a:srgbClr val="1565A8"/>
                </a:solidFill>
                <a:latin typeface="DejaVu Sans"/>
              </a:defRPr>
            </a:pPr>
            <a:r>
              <a:t>SPÆNDING </a:t>
            </a:r>
            <a:r>
              <a:rPr i="1"/>
              <a:t>U</a:t>
            </a:r>
          </a:p>
        </p:txBody>
      </p:sp>
      <p:sp>
        <p:nvSpPr>
          <p:cNvPr id="11" name="TextBox 10"/>
          <p:cNvSpPr txBox="1"/>
          <p:nvPr/>
        </p:nvSpPr>
        <p:spPr>
          <a:xfrm>
            <a:off x="777240" y="2651760"/>
            <a:ext cx="3154680" cy="1664207"/>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Højdeforskel mellem to beholdere.</a:t>
            </a:r>
          </a:p>
          <a:p>
            <a:pPr>
              <a:lnSpc>
                <a:spcPct val="108000"/>
              </a:lnSpc>
              <a:spcAft>
                <a:spcPts val="800"/>
              </a:spcAft>
              <a:defRPr sz="2100" b="0">
                <a:solidFill>
                  <a:srgbClr val="163047"/>
                </a:solidFill>
                <a:latin typeface="DejaVu Sans"/>
              </a:defRPr>
            </a:pPr>
            <a:r>
              <a:t>Mulighed for at overføre energi.</a:t>
            </a:r>
          </a:p>
        </p:txBody>
      </p:sp>
      <p:sp>
        <p:nvSpPr>
          <p:cNvPr id="12" name="Rounded Rectangle 11"/>
          <p:cNvSpPr/>
          <p:nvPr/>
        </p:nvSpPr>
        <p:spPr>
          <a:xfrm>
            <a:off x="4334256" y="1828800"/>
            <a:ext cx="3520440" cy="25786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4256" y="1828800"/>
            <a:ext cx="54864" cy="2578608"/>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993392"/>
            <a:ext cx="315468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STRØM </a:t>
            </a:r>
            <a:r>
              <a:rPr i="1"/>
              <a:t>I</a:t>
            </a:r>
          </a:p>
        </p:txBody>
      </p:sp>
      <p:sp>
        <p:nvSpPr>
          <p:cNvPr id="15" name="TextBox 14"/>
          <p:cNvSpPr txBox="1"/>
          <p:nvPr/>
        </p:nvSpPr>
        <p:spPr>
          <a:xfrm>
            <a:off x="4517136" y="2651760"/>
            <a:ext cx="3154680" cy="1664207"/>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Vandmængde gennem røret pr. sekund.</a:t>
            </a:r>
          </a:p>
          <a:p>
            <a:pPr>
              <a:lnSpc>
                <a:spcPct val="108000"/>
              </a:lnSpc>
              <a:spcAft>
                <a:spcPts val="800"/>
              </a:spcAft>
              <a:defRPr sz="2100" b="0">
                <a:solidFill>
                  <a:srgbClr val="163047"/>
                </a:solidFill>
                <a:latin typeface="DejaVu Sans"/>
              </a:defRPr>
            </a:pPr>
            <a:r>
              <a:t>Elektrisk: ladning pr. tid.</a:t>
            </a:r>
          </a:p>
        </p:txBody>
      </p:sp>
      <p:sp>
        <p:nvSpPr>
          <p:cNvPr id="16" name="Rounded Rectangle 15"/>
          <p:cNvSpPr/>
          <p:nvPr/>
        </p:nvSpPr>
        <p:spPr>
          <a:xfrm>
            <a:off x="8065008" y="1828800"/>
            <a:ext cx="3520440" cy="25786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5008" y="1828800"/>
            <a:ext cx="54864" cy="2578608"/>
          </a:xfrm>
          <a:prstGeom prst="rect">
            <a:avLst/>
          </a:prstGeom>
          <a:solidFill>
            <a:srgbClr val="A64B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93392"/>
            <a:ext cx="3154680" cy="548640"/>
          </a:xfrm>
          <a:prstGeom prst="rect">
            <a:avLst/>
          </a:prstGeom>
          <a:noFill/>
        </p:spPr>
        <p:txBody>
          <a:bodyPr wrap="square" lIns="27432" rIns="27432" tIns="18288" bIns="18288">
            <a:spAutoFit/>
          </a:bodyPr>
          <a:lstStyle/>
          <a:p>
            <a:pPr>
              <a:lnSpc>
                <a:spcPct val="108000"/>
              </a:lnSpc>
              <a:spcAft>
                <a:spcPts val="800"/>
              </a:spcAft>
              <a:defRPr sz="2200" b="1">
                <a:solidFill>
                  <a:srgbClr val="A64B13"/>
                </a:solidFill>
                <a:latin typeface="DejaVu Sans"/>
              </a:defRPr>
            </a:pPr>
            <a:r>
              <a:t>MODSTAND </a:t>
            </a:r>
            <a:r>
              <a:rPr i="1"/>
              <a:t>R</a:t>
            </a:r>
          </a:p>
        </p:txBody>
      </p:sp>
      <p:sp>
        <p:nvSpPr>
          <p:cNvPr id="19" name="TextBox 18"/>
          <p:cNvSpPr txBox="1"/>
          <p:nvPr/>
        </p:nvSpPr>
        <p:spPr>
          <a:xfrm>
            <a:off x="8247888" y="2651760"/>
            <a:ext cx="3154680" cy="1664207"/>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Et smalt eller langt rør begrænser strømmen.</a:t>
            </a:r>
          </a:p>
          <a:p>
            <a:pPr>
              <a:lnSpc>
                <a:spcPct val="108000"/>
              </a:lnSpc>
              <a:spcAft>
                <a:spcPts val="800"/>
              </a:spcAft>
              <a:defRPr sz="2100" b="0">
                <a:solidFill>
                  <a:srgbClr val="163047"/>
                </a:solidFill>
                <a:latin typeface="DejaVu Sans"/>
              </a:defRPr>
            </a:pPr>
            <a:r>
              <a:t>Ved samme højdeforskel.</a:t>
            </a:r>
          </a:p>
        </p:txBody>
      </p:sp>
      <p:sp>
        <p:nvSpPr>
          <p:cNvPr id="20" name="TextBox 19"/>
          <p:cNvSpPr txBox="1"/>
          <p:nvPr/>
        </p:nvSpPr>
        <p:spPr>
          <a:xfrm>
            <a:off x="731520" y="4773168"/>
            <a:ext cx="10744200" cy="548640"/>
          </a:xfrm>
          <a:prstGeom prst="rect">
            <a:avLst/>
          </a:prstGeom>
          <a:noFill/>
        </p:spPr>
        <p:txBody>
          <a:bodyPr wrap="square" lIns="27432" rIns="27432" tIns="18288" bIns="18288">
            <a:spAutoFit/>
          </a:bodyPr>
          <a:lstStyle/>
          <a:p>
            <a:pPr>
              <a:lnSpc>
                <a:spcPct val="108000"/>
              </a:lnSpc>
              <a:spcAft>
                <a:spcPts val="800"/>
              </a:spcAft>
              <a:defRPr sz="2300" b="1">
                <a:solidFill>
                  <a:srgbClr val="163047"/>
                </a:solidFill>
                <a:latin typeface="DejaVu Sans"/>
              </a:defRPr>
            </a:pPr>
            <a:r>
              <a:t>Større </a:t>
            </a:r>
            <a:r>
              <a:rPr i="1"/>
              <a:t>U</a:t>
            </a:r>
            <a:r>
              <a:t> giver større </a:t>
            </a:r>
            <a:r>
              <a:rPr i="1"/>
              <a:t>I</a:t>
            </a:r>
            <a:r>
              <a:t>. Større </a:t>
            </a:r>
            <a:r>
              <a:rPr i="1"/>
              <a:t>R</a:t>
            </a:r>
            <a:r>
              <a:t> giver mindre </a:t>
            </a:r>
            <a:r>
              <a:rPr i="1"/>
              <a:t>I</a:t>
            </a:r>
            <a:r>
              <a:t> — ved samme </a:t>
            </a:r>
            <a:r>
              <a:rPr i="1"/>
              <a:t>U</a:t>
            </a:r>
            <a:r>
              <a:t>.</a:t>
            </a:r>
          </a:p>
        </p:txBody>
      </p:sp>
      <p:sp>
        <p:nvSpPr>
          <p:cNvPr id="21" name="Rounded Rectangle 20"/>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En lukket ventil: højdeforskel findes stadig, men vandstrømmen er nul.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Spænding </a:t>
            </a:r>
            <a:r>
              <a:rPr i="1"/>
              <a:t>U</a:t>
            </a:r>
            <a:r>
              <a:t>: forskellen mellem to punkter</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Spænding måles mellem punkter · enhed: volt (V)</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04</a:t>
            </a:r>
          </a:p>
        </p:txBody>
      </p:sp>
      <p:sp>
        <p:nvSpPr>
          <p:cNvPr id="8" name="TextBox 7"/>
          <p:cNvSpPr txBox="1"/>
          <p:nvPr/>
        </p:nvSpPr>
        <p:spPr>
          <a:xfrm>
            <a:off x="685800" y="1828800"/>
            <a:ext cx="5943600" cy="1143000"/>
          </a:xfrm>
          <a:prstGeom prst="rect">
            <a:avLst/>
          </a:prstGeom>
          <a:noFill/>
        </p:spPr>
        <p:txBody>
          <a:bodyPr wrap="square" lIns="27432" rIns="27432" tIns="18288" bIns="18288">
            <a:spAutoFit/>
          </a:bodyPr>
          <a:lstStyle/>
          <a:p>
            <a:pPr>
              <a:lnSpc>
                <a:spcPct val="108000"/>
              </a:lnSpc>
              <a:spcAft>
                <a:spcPts val="800"/>
              </a:spcAft>
              <a:defRPr sz="2400" b="0">
                <a:solidFill>
                  <a:srgbClr val="163047"/>
                </a:solidFill>
                <a:latin typeface="DejaVu Sans"/>
              </a:defRPr>
            </a:pPr>
            <a:r>
              <a:t>Spænding fortæller, hvor meget energi der kan overføres pr. ladningsmængde.</a:t>
            </a:r>
          </a:p>
        </p:txBody>
      </p:sp>
      <p:sp>
        <p:nvSpPr>
          <p:cNvPr id="9" name="TextBox 8"/>
          <p:cNvSpPr txBox="1"/>
          <p:nvPr/>
        </p:nvSpPr>
        <p:spPr>
          <a:xfrm>
            <a:off x="731520" y="3246120"/>
            <a:ext cx="5852160" cy="621792"/>
          </a:xfrm>
          <a:prstGeom prst="rect">
            <a:avLst/>
          </a:prstGeom>
          <a:noFill/>
        </p:spPr>
        <p:txBody>
          <a:bodyPr wrap="square" lIns="27432" rIns="27432" tIns="18288" bIns="18288">
            <a:spAutoFit/>
          </a:bodyPr>
          <a:lstStyle/>
          <a:p>
            <a:pPr>
              <a:lnSpc>
                <a:spcPct val="108000"/>
              </a:lnSpc>
              <a:spcAft>
                <a:spcPts val="800"/>
              </a:spcAft>
              <a:defRPr sz="3200" b="1">
                <a:solidFill>
                  <a:srgbClr val="1565A8"/>
                </a:solidFill>
                <a:latin typeface="DejaVu Sans"/>
              </a:defRPr>
            </a:pPr>
            <a:r>
              <a:rPr i="1"/>
              <a:t>U</a:t>
            </a:r>
            <a:r>
              <a:t> = </a:t>
            </a:r>
            <a:r>
              <a:rPr i="1"/>
              <a:t>ΔE</a:t>
            </a:r>
            <a:r>
              <a:t> / </a:t>
            </a:r>
            <a:r>
              <a:rPr i="1"/>
              <a:t>Q</a:t>
            </a:r>
          </a:p>
        </p:txBody>
      </p:sp>
      <p:sp>
        <p:nvSpPr>
          <p:cNvPr id="10" name="TextBox 9"/>
          <p:cNvSpPr txBox="1"/>
          <p:nvPr/>
        </p:nvSpPr>
        <p:spPr>
          <a:xfrm>
            <a:off x="731520" y="4050791"/>
            <a:ext cx="5852160" cy="566928"/>
          </a:xfrm>
          <a:prstGeom prst="rect">
            <a:avLst/>
          </a:prstGeom>
          <a:noFill/>
        </p:spPr>
        <p:txBody>
          <a:bodyPr wrap="square" lIns="27432" rIns="27432" tIns="18288" bIns="18288">
            <a:spAutoFit/>
          </a:bodyPr>
          <a:lstStyle/>
          <a:p>
            <a:pPr>
              <a:lnSpc>
                <a:spcPct val="108000"/>
              </a:lnSpc>
              <a:spcAft>
                <a:spcPts val="800"/>
              </a:spcAft>
              <a:defRPr sz="2700" b="1">
                <a:solidFill>
                  <a:srgbClr val="1565A8"/>
                </a:solidFill>
                <a:latin typeface="DejaVu Sans"/>
              </a:defRPr>
            </a:pPr>
            <a:r>
              <a:t>1 V = 1 J/C</a:t>
            </a:r>
          </a:p>
        </p:txBody>
      </p:sp>
      <p:sp>
        <p:nvSpPr>
          <p:cNvPr id="11" name="TextBox 10"/>
          <p:cNvSpPr txBox="1"/>
          <p:nvPr/>
        </p:nvSpPr>
        <p:spPr>
          <a:xfrm>
            <a:off x="731520" y="4782312"/>
            <a:ext cx="5623560" cy="566928"/>
          </a:xfrm>
          <a:prstGeom prst="rect">
            <a:avLst/>
          </a:prstGeom>
          <a:noFill/>
        </p:spPr>
        <p:txBody>
          <a:bodyPr wrap="square" lIns="27432" rIns="27432" tIns="18288" bIns="18288">
            <a:spAutoFit/>
          </a:bodyPr>
          <a:lstStyle/>
          <a:p>
            <a:pPr>
              <a:lnSpc>
                <a:spcPct val="108000"/>
              </a:lnSpc>
              <a:spcAft>
                <a:spcPts val="800"/>
              </a:spcAft>
              <a:defRPr sz="2200" b="0">
                <a:solidFill>
                  <a:srgbClr val="163047"/>
                </a:solidFill>
                <a:latin typeface="DejaVu Sans"/>
              </a:defRPr>
            </a:pPr>
            <a:r>
              <a:t>24 V betyder 24 J pr. coulomb.</a:t>
            </a:r>
          </a:p>
        </p:txBody>
      </p:sp>
      <p:cxnSp>
        <p:nvCxnSpPr>
          <p:cNvPr id="12" name="Connector 11"/>
          <p:cNvCxnSpPr/>
          <p:nvPr/>
        </p:nvCxnSpPr>
        <p:spPr>
          <a:xfrm>
            <a:off x="7315200" y="2743200"/>
            <a:ext cx="173736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104120" y="2743200"/>
            <a:ext cx="132588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430000" y="2743200"/>
            <a:ext cx="0" cy="201168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7315200" y="4754880"/>
            <a:ext cx="411480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315200" y="2743200"/>
            <a:ext cx="0" cy="694944"/>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4059935"/>
            <a:ext cx="0" cy="694945"/>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7004304" y="3438144"/>
            <a:ext cx="621792" cy="621792"/>
          </a:xfrm>
          <a:prstGeom prst="ellipse">
            <a:avLst/>
          </a:prstGeom>
          <a:solidFill>
            <a:srgbClr val="FFFFFF"/>
          </a:solidFill>
          <a:ln w="27940">
            <a:solidFill>
              <a:srgbClr val="163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68896" y="3474720"/>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20" name="TextBox 19"/>
          <p:cNvSpPr txBox="1"/>
          <p:nvPr/>
        </p:nvSpPr>
        <p:spPr>
          <a:xfrm>
            <a:off x="7168896" y="3767327"/>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21" name="Rectangle 20"/>
          <p:cNvSpPr/>
          <p:nvPr/>
        </p:nvSpPr>
        <p:spPr>
          <a:xfrm>
            <a:off x="9052560" y="2569464"/>
            <a:ext cx="1051560" cy="347472"/>
          </a:xfrm>
          <a:prstGeom prst="rect">
            <a:avLst/>
          </a:prstGeom>
          <a:solidFill>
            <a:srgbClr val="FFFFFF"/>
          </a:solidFill>
          <a:ln>
            <a:solidFill>
              <a:srgbClr val="163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5400" y="1856232"/>
            <a:ext cx="1828800" cy="402336"/>
          </a:xfrm>
          <a:prstGeom prst="rect">
            <a:avLst/>
          </a:prstGeom>
          <a:noFill/>
        </p:spPr>
        <p:txBody>
          <a:bodyPr wrap="square" lIns="27432" rIns="27432" tIns="18288" bIns="18288">
            <a:spAutoFit/>
          </a:bodyPr>
          <a:lstStyle/>
          <a:p>
            <a:pPr>
              <a:lnSpc>
                <a:spcPct val="108000"/>
              </a:lnSpc>
              <a:spcAft>
                <a:spcPts val="800"/>
              </a:spcAft>
              <a:defRPr sz="1800" b="1">
                <a:solidFill>
                  <a:srgbClr val="163047"/>
                </a:solidFill>
                <a:latin typeface="DejaVu Sans"/>
              </a:defRPr>
            </a:pPr>
            <a:r>
              <a:rPr i="1"/>
              <a:t>R</a:t>
            </a:r>
            <a:r>
              <a:t> = 12 Ω</a:t>
            </a:r>
          </a:p>
        </p:txBody>
      </p:sp>
      <p:sp>
        <p:nvSpPr>
          <p:cNvPr id="23" name="TextBox 22"/>
          <p:cNvSpPr txBox="1"/>
          <p:nvPr/>
        </p:nvSpPr>
        <p:spPr>
          <a:xfrm>
            <a:off x="8924544"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4" name="TextBox 23"/>
          <p:cNvSpPr txBox="1"/>
          <p:nvPr/>
        </p:nvSpPr>
        <p:spPr>
          <a:xfrm>
            <a:off x="9921240"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5" name="Right Arrow 24"/>
          <p:cNvSpPr/>
          <p:nvPr/>
        </p:nvSpPr>
        <p:spPr>
          <a:xfrm>
            <a:off x="7525512" y="2286000"/>
            <a:ext cx="868680" cy="201168"/>
          </a:xfrm>
          <a:prstGeom prst="rightArrow">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34656" y="1847088"/>
            <a:ext cx="1371600" cy="41148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rPr i="1"/>
              <a:t>I</a:t>
            </a:r>
          </a:p>
        </p:txBody>
      </p:sp>
      <p:sp>
        <p:nvSpPr>
          <p:cNvPr id="27" name="TextBox 26"/>
          <p:cNvSpPr txBox="1"/>
          <p:nvPr/>
        </p:nvSpPr>
        <p:spPr>
          <a:xfrm>
            <a:off x="8842248" y="3108960"/>
            <a:ext cx="2194560" cy="502920"/>
          </a:xfrm>
          <a:prstGeom prst="rect">
            <a:avLst/>
          </a:prstGeom>
          <a:noFill/>
        </p:spPr>
        <p:txBody>
          <a:bodyPr wrap="square" lIns="27432" rIns="27432" tIns="18288" bIns="18288">
            <a:spAutoFit/>
          </a:bodyPr>
          <a:lstStyle/>
          <a:p>
            <a:pPr>
              <a:lnSpc>
                <a:spcPct val="108000"/>
              </a:lnSpc>
              <a:spcAft>
                <a:spcPts val="800"/>
              </a:spcAft>
              <a:defRPr sz="2000" b="1">
                <a:solidFill>
                  <a:srgbClr val="1565A8"/>
                </a:solidFill>
                <a:latin typeface="DejaVu Sans"/>
              </a:defRPr>
            </a:pPr>
            <a:r>
              <a:rPr i="1"/>
              <a:t>U</a:t>
            </a:r>
            <a:r>
              <a:t> = 24 V</a:t>
            </a:r>
          </a:p>
        </p:txBody>
      </p:sp>
      <p:sp>
        <p:nvSpPr>
          <p:cNvPr id="28" name="TextBox 27"/>
          <p:cNvSpPr txBox="1"/>
          <p:nvPr/>
        </p:nvSpPr>
        <p:spPr>
          <a:xfrm>
            <a:off x="6858000" y="4864608"/>
            <a:ext cx="1645920" cy="411480"/>
          </a:xfrm>
          <a:prstGeom prst="rect">
            <a:avLst/>
          </a:prstGeom>
          <a:noFill/>
        </p:spPr>
        <p:txBody>
          <a:bodyPr wrap="square" lIns="27432" rIns="27432" tIns="18288" bIns="18288">
            <a:spAutoFit/>
          </a:bodyPr>
          <a:lstStyle/>
          <a:p>
            <a:pPr>
              <a:lnSpc>
                <a:spcPct val="108000"/>
              </a:lnSpc>
              <a:spcAft>
                <a:spcPts val="800"/>
              </a:spcAft>
              <a:defRPr sz="1500" b="0">
                <a:solidFill>
                  <a:srgbClr val="526779"/>
                </a:solidFill>
                <a:latin typeface="DejaVu Sans"/>
              </a:defRPr>
            </a:pPr>
            <a:r>
              <a:t>DC-kilde</a:t>
            </a:r>
          </a:p>
        </p:txBody>
      </p:sp>
      <p:sp>
        <p:nvSpPr>
          <p:cNvPr id="29" name="Rounded Rectangle 28"/>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Der kan være spænding over en åben kreds, selv om strømmen er nul.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Strøm </a:t>
            </a:r>
            <a:r>
              <a:rPr i="1"/>
              <a:t>I</a:t>
            </a:r>
            <a:r>
              <a:t>: ladning pr. sekund</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Ladningsstrøm · enhed: ampere (A)</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05</a:t>
            </a:r>
          </a:p>
        </p:txBody>
      </p:sp>
      <p:sp>
        <p:nvSpPr>
          <p:cNvPr id="8" name="TextBox 7"/>
          <p:cNvSpPr txBox="1"/>
          <p:nvPr/>
        </p:nvSpPr>
        <p:spPr>
          <a:xfrm>
            <a:off x="731520" y="1828800"/>
            <a:ext cx="10789920" cy="640080"/>
          </a:xfrm>
          <a:prstGeom prst="rect">
            <a:avLst/>
          </a:prstGeom>
          <a:noFill/>
        </p:spPr>
        <p:txBody>
          <a:bodyPr wrap="square" lIns="27432" rIns="27432" tIns="18288" bIns="18288">
            <a:spAutoFit/>
          </a:bodyPr>
          <a:lstStyle/>
          <a:p>
            <a:pPr>
              <a:lnSpc>
                <a:spcPct val="108000"/>
              </a:lnSpc>
              <a:spcAft>
                <a:spcPts val="800"/>
              </a:spcAft>
              <a:defRPr sz="2400" b="0">
                <a:solidFill>
                  <a:srgbClr val="163047"/>
                </a:solidFill>
                <a:latin typeface="DejaVu Sans"/>
              </a:defRPr>
            </a:pPr>
            <a:r>
              <a:t>Vi tæller ladningen, der passerer et tværsnit af lederen.</a:t>
            </a:r>
          </a:p>
        </p:txBody>
      </p:sp>
      <p:sp>
        <p:nvSpPr>
          <p:cNvPr id="9" name="Rounded Rectangle 8"/>
          <p:cNvSpPr/>
          <p:nvPr/>
        </p:nvSpPr>
        <p:spPr>
          <a:xfrm>
            <a:off x="731520" y="2743200"/>
            <a:ext cx="5029200" cy="21214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971800"/>
            <a:ext cx="4480560" cy="594360"/>
          </a:xfrm>
          <a:prstGeom prst="rect">
            <a:avLst/>
          </a:prstGeom>
          <a:noFill/>
        </p:spPr>
        <p:txBody>
          <a:bodyPr wrap="square" lIns="27432" rIns="27432" tIns="18288" bIns="18288">
            <a:spAutoFit/>
          </a:bodyPr>
          <a:lstStyle/>
          <a:p>
            <a:pPr>
              <a:lnSpc>
                <a:spcPct val="108000"/>
              </a:lnSpc>
              <a:spcAft>
                <a:spcPts val="800"/>
              </a:spcAft>
              <a:defRPr sz="3200" b="1">
                <a:solidFill>
                  <a:srgbClr val="007F86"/>
                </a:solidFill>
                <a:latin typeface="DejaVu Sans"/>
              </a:defRPr>
            </a:pPr>
            <a:r>
              <a:rPr i="1"/>
              <a:t>I</a:t>
            </a:r>
            <a:r>
              <a:t> = </a:t>
            </a:r>
            <a:r>
              <a:rPr i="1"/>
              <a:t>Q</a:t>
            </a:r>
            <a:r>
              <a:t> / </a:t>
            </a:r>
            <a:r>
              <a:rPr i="1"/>
              <a:t>t</a:t>
            </a:r>
          </a:p>
        </p:txBody>
      </p:sp>
      <p:sp>
        <p:nvSpPr>
          <p:cNvPr id="11" name="TextBox 10"/>
          <p:cNvSpPr txBox="1"/>
          <p:nvPr/>
        </p:nvSpPr>
        <p:spPr>
          <a:xfrm>
            <a:off x="987552" y="3813048"/>
            <a:ext cx="4480560" cy="594360"/>
          </a:xfrm>
          <a:prstGeom prst="rect">
            <a:avLst/>
          </a:prstGeom>
          <a:noFill/>
        </p:spPr>
        <p:txBody>
          <a:bodyPr wrap="square" lIns="27432" rIns="27432" tIns="18288" bIns="18288">
            <a:spAutoFit/>
          </a:bodyPr>
          <a:lstStyle/>
          <a:p>
            <a:pPr>
              <a:lnSpc>
                <a:spcPct val="108000"/>
              </a:lnSpc>
              <a:spcAft>
                <a:spcPts val="800"/>
              </a:spcAft>
              <a:defRPr sz="2800" b="1">
                <a:solidFill>
                  <a:srgbClr val="007F86"/>
                </a:solidFill>
                <a:latin typeface="DejaVu Sans"/>
              </a:defRPr>
            </a:pPr>
            <a:r>
              <a:t>1 A = 1 C/s</a:t>
            </a:r>
          </a:p>
        </p:txBody>
      </p:sp>
      <p:sp>
        <p:nvSpPr>
          <p:cNvPr id="12" name="Rounded Rectangle 11"/>
          <p:cNvSpPr/>
          <p:nvPr/>
        </p:nvSpPr>
        <p:spPr>
          <a:xfrm>
            <a:off x="6035040" y="2743200"/>
            <a:ext cx="5394960" cy="21214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2971800"/>
            <a:ext cx="4846320" cy="594360"/>
          </a:xfrm>
          <a:prstGeom prst="rect">
            <a:avLst/>
          </a:prstGeom>
          <a:noFill/>
        </p:spPr>
        <p:txBody>
          <a:bodyPr wrap="square" lIns="27432" rIns="27432" tIns="18288" bIns="18288">
            <a:spAutoFit/>
          </a:bodyPr>
          <a:lstStyle/>
          <a:p>
            <a:pPr>
              <a:lnSpc>
                <a:spcPct val="108000"/>
              </a:lnSpc>
              <a:spcAft>
                <a:spcPts val="800"/>
              </a:spcAft>
              <a:defRPr sz="2300" b="1">
                <a:solidFill>
                  <a:srgbClr val="163047"/>
                </a:solidFill>
                <a:latin typeface="DejaVu Sans"/>
              </a:defRPr>
            </a:pPr>
            <a:r>
              <a:t>6 C passerer på 3 s</a:t>
            </a:r>
          </a:p>
        </p:txBody>
      </p:sp>
      <p:sp>
        <p:nvSpPr>
          <p:cNvPr id="14" name="TextBox 13"/>
          <p:cNvSpPr txBox="1"/>
          <p:nvPr/>
        </p:nvSpPr>
        <p:spPr>
          <a:xfrm>
            <a:off x="6309360" y="3813048"/>
            <a:ext cx="4846320" cy="594360"/>
          </a:xfrm>
          <a:prstGeom prst="rect">
            <a:avLst/>
          </a:prstGeom>
          <a:noFill/>
        </p:spPr>
        <p:txBody>
          <a:bodyPr wrap="square" lIns="27432" rIns="27432" tIns="18288" bIns="18288">
            <a:spAutoFit/>
          </a:bodyPr>
          <a:lstStyle/>
          <a:p>
            <a:pPr>
              <a:lnSpc>
                <a:spcPct val="108000"/>
              </a:lnSpc>
              <a:spcAft>
                <a:spcPts val="800"/>
              </a:spcAft>
              <a:defRPr sz="2700" b="1">
                <a:solidFill>
                  <a:srgbClr val="007F86"/>
                </a:solidFill>
                <a:latin typeface="DejaVu Sans"/>
              </a:defRPr>
            </a:pPr>
            <a:r>
              <a:rPr i="1"/>
              <a:t>I</a:t>
            </a:r>
            <a:r>
              <a:t> = 6 C / 3 s = 2 A</a:t>
            </a:r>
          </a:p>
        </p:txBody>
      </p:sp>
      <p:sp>
        <p:nvSpPr>
          <p:cNvPr id="15" name="Rounded Rectangle 14"/>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For konstant strøm. Mere generelt: </a:t>
            </a:r>
            <a:r>
              <a:rPr i="1"/>
              <a:t>I</a:t>
            </a:r>
            <a:r>
              <a:t> = </a:t>
            </a:r>
            <a:r>
              <a:rPr i="1"/>
              <a:t>ΔQ</a:t>
            </a:r>
            <a:r>
              <a:t> / </a:t>
            </a:r>
            <a:r>
              <a:rPr i="1"/>
              <a:t>Δt</a:t>
            </a:r>
            <a:r>
              <a:t> (middelstrøm).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Strømretning og elektronbevægelse</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Retning og polaritet · samme konvention på alle kredsløb</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06</a:t>
            </a:r>
          </a:p>
        </p:txBody>
      </p:sp>
      <p:sp>
        <p:nvSpPr>
          <p:cNvPr id="8" name="Rounded Rectangle 7"/>
          <p:cNvSpPr/>
          <p:nvPr/>
        </p:nvSpPr>
        <p:spPr>
          <a:xfrm>
            <a:off x="685800" y="1828800"/>
            <a:ext cx="5806440" cy="157276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28800"/>
            <a:ext cx="54864" cy="1572768"/>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93392"/>
            <a:ext cx="5440679"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KONVENTIONEL STRØM </a:t>
            </a:r>
            <a:r>
              <a:rPr i="1"/>
              <a:t>I</a:t>
            </a:r>
          </a:p>
        </p:txBody>
      </p:sp>
      <p:sp>
        <p:nvSpPr>
          <p:cNvPr id="11" name="TextBox 10"/>
          <p:cNvSpPr txBox="1"/>
          <p:nvPr/>
        </p:nvSpPr>
        <p:spPr>
          <a:xfrm>
            <a:off x="868680" y="2651760"/>
            <a:ext cx="5440679" cy="658368"/>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rPr i="1"/>
              <a:t>I</a:t>
            </a:r>
            <a:r>
              <a:t> den ydre kreds: fra + mod −.</a:t>
            </a:r>
          </a:p>
        </p:txBody>
      </p:sp>
      <p:sp>
        <p:nvSpPr>
          <p:cNvPr id="12" name="Rounded Rectangle 11"/>
          <p:cNvSpPr/>
          <p:nvPr/>
        </p:nvSpPr>
        <p:spPr>
          <a:xfrm>
            <a:off x="685800" y="3639312"/>
            <a:ext cx="5806440" cy="157276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639312"/>
            <a:ext cx="54864" cy="1572768"/>
          </a:xfrm>
          <a:prstGeom prst="rect">
            <a:avLst/>
          </a:prstGeom>
          <a:solidFill>
            <a:srgbClr val="1565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803904"/>
            <a:ext cx="5440679" cy="548640"/>
          </a:xfrm>
          <a:prstGeom prst="rect">
            <a:avLst/>
          </a:prstGeom>
          <a:noFill/>
        </p:spPr>
        <p:txBody>
          <a:bodyPr wrap="square" lIns="27432" rIns="27432" tIns="18288" bIns="18288">
            <a:spAutoFit/>
          </a:bodyPr>
          <a:lstStyle/>
          <a:p>
            <a:pPr>
              <a:lnSpc>
                <a:spcPct val="108000"/>
              </a:lnSpc>
              <a:spcAft>
                <a:spcPts val="800"/>
              </a:spcAft>
              <a:defRPr sz="2200" b="1">
                <a:solidFill>
                  <a:srgbClr val="1565A8"/>
                </a:solidFill>
                <a:latin typeface="DejaVu Sans"/>
              </a:defRPr>
            </a:pPr>
            <a:r>
              <a:t>ELEKTRONER </a:t>
            </a:r>
            <a:r>
              <a:rPr i="1"/>
              <a:t>I</a:t>
            </a:r>
            <a:r>
              <a:t> METAL</a:t>
            </a:r>
          </a:p>
        </p:txBody>
      </p:sp>
      <p:sp>
        <p:nvSpPr>
          <p:cNvPr id="15" name="TextBox 14"/>
          <p:cNvSpPr txBox="1"/>
          <p:nvPr/>
        </p:nvSpPr>
        <p:spPr>
          <a:xfrm>
            <a:off x="868680" y="4462272"/>
            <a:ext cx="5440679" cy="658368"/>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Bevæger sig modsat strømretningen.</a:t>
            </a:r>
          </a:p>
        </p:txBody>
      </p:sp>
      <p:cxnSp>
        <p:nvCxnSpPr>
          <p:cNvPr id="16" name="Connector 15"/>
          <p:cNvCxnSpPr/>
          <p:nvPr/>
        </p:nvCxnSpPr>
        <p:spPr>
          <a:xfrm>
            <a:off x="7315200" y="2743200"/>
            <a:ext cx="173736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04120" y="2743200"/>
            <a:ext cx="132588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430000" y="2743200"/>
            <a:ext cx="0" cy="201168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7315200" y="4754880"/>
            <a:ext cx="411480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315200" y="2743200"/>
            <a:ext cx="0" cy="694944"/>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315200" y="4059935"/>
            <a:ext cx="0" cy="694945"/>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004304" y="3438144"/>
            <a:ext cx="621792" cy="621792"/>
          </a:xfrm>
          <a:prstGeom prst="ellipse">
            <a:avLst/>
          </a:prstGeom>
          <a:solidFill>
            <a:srgbClr val="FFFFFF"/>
          </a:solidFill>
          <a:ln w="27940">
            <a:solidFill>
              <a:srgbClr val="163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68896" y="3474720"/>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24" name="TextBox 23"/>
          <p:cNvSpPr txBox="1"/>
          <p:nvPr/>
        </p:nvSpPr>
        <p:spPr>
          <a:xfrm>
            <a:off x="7168896" y="3767327"/>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25" name="Rectangle 24"/>
          <p:cNvSpPr/>
          <p:nvPr/>
        </p:nvSpPr>
        <p:spPr>
          <a:xfrm>
            <a:off x="9052560" y="2569464"/>
            <a:ext cx="1051560" cy="347472"/>
          </a:xfrm>
          <a:prstGeom prst="rect">
            <a:avLst/>
          </a:prstGeom>
          <a:solidFill>
            <a:srgbClr val="FFFFFF"/>
          </a:solidFill>
          <a:ln>
            <a:solidFill>
              <a:srgbClr val="163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15400" y="1856232"/>
            <a:ext cx="1828800" cy="402336"/>
          </a:xfrm>
          <a:prstGeom prst="rect">
            <a:avLst/>
          </a:prstGeom>
          <a:noFill/>
        </p:spPr>
        <p:txBody>
          <a:bodyPr wrap="square" lIns="27432" rIns="27432" tIns="18288" bIns="18288">
            <a:spAutoFit/>
          </a:bodyPr>
          <a:lstStyle/>
          <a:p>
            <a:pPr>
              <a:lnSpc>
                <a:spcPct val="108000"/>
              </a:lnSpc>
              <a:spcAft>
                <a:spcPts val="800"/>
              </a:spcAft>
              <a:defRPr sz="1800" b="1">
                <a:solidFill>
                  <a:srgbClr val="163047"/>
                </a:solidFill>
                <a:latin typeface="DejaVu Sans"/>
              </a:defRPr>
            </a:pPr>
            <a:r>
              <a:rPr i="1"/>
              <a:t>R</a:t>
            </a:r>
            <a:r>
              <a:t> = 12 Ω</a:t>
            </a:r>
          </a:p>
        </p:txBody>
      </p:sp>
      <p:sp>
        <p:nvSpPr>
          <p:cNvPr id="27" name="TextBox 26"/>
          <p:cNvSpPr txBox="1"/>
          <p:nvPr/>
        </p:nvSpPr>
        <p:spPr>
          <a:xfrm>
            <a:off x="8924544"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8" name="TextBox 27"/>
          <p:cNvSpPr txBox="1"/>
          <p:nvPr/>
        </p:nvSpPr>
        <p:spPr>
          <a:xfrm>
            <a:off x="9921240"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9" name="Right Arrow 28"/>
          <p:cNvSpPr/>
          <p:nvPr/>
        </p:nvSpPr>
        <p:spPr>
          <a:xfrm>
            <a:off x="7525512" y="2286000"/>
            <a:ext cx="868680" cy="201168"/>
          </a:xfrm>
          <a:prstGeom prst="rightArrow">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34656" y="1847088"/>
            <a:ext cx="1371600" cy="41148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rPr i="1"/>
              <a:t>I</a:t>
            </a:r>
          </a:p>
        </p:txBody>
      </p:sp>
      <p:sp>
        <p:nvSpPr>
          <p:cNvPr id="31" name="TextBox 30"/>
          <p:cNvSpPr txBox="1"/>
          <p:nvPr/>
        </p:nvSpPr>
        <p:spPr>
          <a:xfrm>
            <a:off x="8842248" y="3108960"/>
            <a:ext cx="2194560" cy="502920"/>
          </a:xfrm>
          <a:prstGeom prst="rect">
            <a:avLst/>
          </a:prstGeom>
          <a:noFill/>
        </p:spPr>
        <p:txBody>
          <a:bodyPr wrap="square" lIns="27432" rIns="27432" tIns="18288" bIns="18288">
            <a:spAutoFit/>
          </a:bodyPr>
          <a:lstStyle/>
          <a:p>
            <a:pPr>
              <a:lnSpc>
                <a:spcPct val="108000"/>
              </a:lnSpc>
              <a:spcAft>
                <a:spcPts val="800"/>
              </a:spcAft>
              <a:defRPr sz="2000" b="1">
                <a:solidFill>
                  <a:srgbClr val="1565A8"/>
                </a:solidFill>
                <a:latin typeface="DejaVu Sans"/>
              </a:defRPr>
            </a:pPr>
            <a:r>
              <a:rPr i="1"/>
              <a:t>U</a:t>
            </a:r>
            <a:r>
              <a:t> = 24 V</a:t>
            </a:r>
          </a:p>
        </p:txBody>
      </p:sp>
      <p:sp>
        <p:nvSpPr>
          <p:cNvPr id="32" name="TextBox 31"/>
          <p:cNvSpPr txBox="1"/>
          <p:nvPr/>
        </p:nvSpPr>
        <p:spPr>
          <a:xfrm>
            <a:off x="6858000" y="4864608"/>
            <a:ext cx="1645920" cy="411480"/>
          </a:xfrm>
          <a:prstGeom prst="rect">
            <a:avLst/>
          </a:prstGeom>
          <a:noFill/>
        </p:spPr>
        <p:txBody>
          <a:bodyPr wrap="square" lIns="27432" rIns="27432" tIns="18288" bIns="18288">
            <a:spAutoFit/>
          </a:bodyPr>
          <a:lstStyle/>
          <a:p>
            <a:pPr>
              <a:lnSpc>
                <a:spcPct val="108000"/>
              </a:lnSpc>
              <a:spcAft>
                <a:spcPts val="800"/>
              </a:spcAft>
              <a:defRPr sz="1500" b="0">
                <a:solidFill>
                  <a:srgbClr val="526779"/>
                </a:solidFill>
                <a:latin typeface="DejaVu Sans"/>
              </a:defRPr>
            </a:pPr>
            <a:r>
              <a:t>DC-kilde</a:t>
            </a:r>
          </a:p>
        </p:txBody>
      </p:sp>
      <p:sp>
        <p:nvSpPr>
          <p:cNvPr id="33" name="Left Arrow 32"/>
          <p:cNvSpPr/>
          <p:nvPr/>
        </p:nvSpPr>
        <p:spPr>
          <a:xfrm>
            <a:off x="7525512" y="3035808"/>
            <a:ext cx="868680" cy="201168"/>
          </a:xfrm>
          <a:prstGeom prst="leftArrow">
            <a:avLst/>
          </a:prstGeom>
          <a:solidFill>
            <a:srgbClr val="1565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82127" y="3364992"/>
            <a:ext cx="1508760" cy="438912"/>
          </a:xfrm>
          <a:prstGeom prst="rect">
            <a:avLst/>
          </a:prstGeom>
          <a:noFill/>
        </p:spPr>
        <p:txBody>
          <a:bodyPr wrap="square" lIns="27432" rIns="27432" tIns="18288" bIns="18288">
            <a:spAutoFit/>
          </a:bodyPr>
          <a:lstStyle/>
          <a:p>
            <a:pPr>
              <a:lnSpc>
                <a:spcPct val="108000"/>
              </a:lnSpc>
              <a:spcAft>
                <a:spcPts val="800"/>
              </a:spcAft>
              <a:defRPr sz="1500" b="0">
                <a:solidFill>
                  <a:srgbClr val="1565A8"/>
                </a:solidFill>
                <a:latin typeface="DejaVu Sans"/>
              </a:defRPr>
            </a:pPr>
            <a:r>
              <a:t>elektroner</a:t>
            </a:r>
          </a:p>
        </p:txBody>
      </p:sp>
      <p:sp>
        <p:nvSpPr>
          <p:cNvPr id="35" name="Rounded Rectangle 34"/>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Brug konventionel strømretning i kredsløbsberegningerne.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Ampere: den gældende SI-definition</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SI-basisenheden ampere · BIPM</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07</a:t>
            </a:r>
          </a:p>
        </p:txBody>
      </p:sp>
      <p:sp>
        <p:nvSpPr>
          <p:cNvPr id="8" name="TextBox 7"/>
          <p:cNvSpPr txBox="1"/>
          <p:nvPr/>
        </p:nvSpPr>
        <p:spPr>
          <a:xfrm>
            <a:off x="731520" y="1810512"/>
            <a:ext cx="10835640" cy="1005840"/>
          </a:xfrm>
          <a:prstGeom prst="rect">
            <a:avLst/>
          </a:prstGeom>
          <a:noFill/>
        </p:spPr>
        <p:txBody>
          <a:bodyPr wrap="square" lIns="27432" rIns="27432" tIns="18288" bIns="18288">
            <a:spAutoFit/>
          </a:bodyPr>
          <a:lstStyle/>
          <a:p>
            <a:pPr>
              <a:lnSpc>
                <a:spcPct val="108000"/>
              </a:lnSpc>
              <a:spcAft>
                <a:spcPts val="800"/>
              </a:spcAft>
              <a:defRPr sz="2300" b="0">
                <a:solidFill>
                  <a:srgbClr val="163047"/>
                </a:solidFill>
                <a:latin typeface="DejaVu Sans"/>
              </a:defRPr>
            </a:pPr>
            <a:r>
              <a:t>Ampere (A) defineres ved, at elementarladningen </a:t>
            </a:r>
            <a:r>
              <a:rPr i="1"/>
              <a:t>e</a:t>
            </a:r>
            <a:r>
              <a:t> har en fast talværdi, når den udtrykkes i coulomb.</a:t>
            </a:r>
          </a:p>
        </p:txBody>
      </p:sp>
      <p:sp>
        <p:nvSpPr>
          <p:cNvPr id="9" name="Rounded Rectangle 8"/>
          <p:cNvSpPr/>
          <p:nvPr/>
        </p:nvSpPr>
        <p:spPr>
          <a:xfrm>
            <a:off x="731520" y="3072384"/>
            <a:ext cx="10744200" cy="9326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273552"/>
            <a:ext cx="10241280" cy="548640"/>
          </a:xfrm>
          <a:prstGeom prst="rect">
            <a:avLst/>
          </a:prstGeom>
          <a:noFill/>
        </p:spPr>
        <p:txBody>
          <a:bodyPr wrap="square" lIns="27432" rIns="27432" tIns="18288" bIns="18288">
            <a:spAutoFit/>
          </a:bodyPr>
          <a:lstStyle/>
          <a:p>
            <a:pPr>
              <a:lnSpc>
                <a:spcPct val="108000"/>
              </a:lnSpc>
              <a:spcAft>
                <a:spcPts val="800"/>
              </a:spcAft>
              <a:defRPr sz="2800" b="1">
                <a:solidFill>
                  <a:srgbClr val="007F86"/>
                </a:solidFill>
                <a:latin typeface="DejaVu Sans"/>
              </a:defRPr>
            </a:pPr>
            <a:r>
              <a:rPr i="1"/>
              <a:t>e</a:t>
            </a:r>
            <a:r>
              <a:t> = 1,602 176 634 × 10⁻¹⁹ C   (eksakt)</a:t>
            </a:r>
          </a:p>
        </p:txBody>
      </p:sp>
      <p:sp>
        <p:nvSpPr>
          <p:cNvPr id="11" name="TextBox 10"/>
          <p:cNvSpPr txBox="1"/>
          <p:nvPr/>
        </p:nvSpPr>
        <p:spPr>
          <a:xfrm>
            <a:off x="777240" y="4297680"/>
            <a:ext cx="10789920" cy="530352"/>
          </a:xfrm>
          <a:prstGeom prst="rect">
            <a:avLst/>
          </a:prstGeom>
          <a:noFill/>
        </p:spPr>
        <p:txBody>
          <a:bodyPr wrap="square" lIns="27432" rIns="27432" tIns="18288" bIns="18288">
            <a:spAutoFit/>
          </a:bodyPr>
          <a:lstStyle/>
          <a:p>
            <a:pPr>
              <a:lnSpc>
                <a:spcPct val="108000"/>
              </a:lnSpc>
              <a:spcAft>
                <a:spcPts val="800"/>
              </a:spcAft>
              <a:defRPr sz="2300" b="0">
                <a:solidFill>
                  <a:srgbClr val="163047"/>
                </a:solidFill>
                <a:latin typeface="DejaVu Sans"/>
              </a:defRPr>
            </a:pPr>
            <a:r>
              <a:t>C = A·s. Sekundet indgår i definitionen af ampere.</a:t>
            </a:r>
          </a:p>
        </p:txBody>
      </p:sp>
      <p:sp>
        <p:nvSpPr>
          <p:cNvPr id="12" name="TextBox 11"/>
          <p:cNvSpPr txBox="1"/>
          <p:nvPr/>
        </p:nvSpPr>
        <p:spPr>
          <a:xfrm>
            <a:off x="777240" y="4937760"/>
            <a:ext cx="10789920" cy="521207"/>
          </a:xfrm>
          <a:prstGeom prst="rect">
            <a:avLst/>
          </a:prstGeom>
          <a:noFill/>
        </p:spPr>
        <p:txBody>
          <a:bodyPr wrap="square" lIns="27432" rIns="27432" tIns="18288" bIns="18288">
            <a:spAutoFit/>
          </a:bodyPr>
          <a:lstStyle/>
          <a:p>
            <a:pPr>
              <a:lnSpc>
                <a:spcPct val="108000"/>
              </a:lnSpc>
              <a:spcAft>
                <a:spcPts val="800"/>
              </a:spcAft>
              <a:defRPr sz="2200" b="0">
                <a:solidFill>
                  <a:srgbClr val="163047"/>
                </a:solidFill>
                <a:latin typeface="DejaVu Sans"/>
              </a:defRPr>
            </a:pPr>
            <a:r>
              <a:t>1 A svarer til ca. 6,24 × 10¹⁸ elementarladninger pr. sekund.</a:t>
            </a:r>
          </a:p>
        </p:txBody>
      </p:sp>
      <p:sp>
        <p:nvSpPr>
          <p:cNvPr id="13" name="Rounded Rectangle 12"/>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Den gamle definition via kraft mellem to ledere er historisk — afløst i 2019.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Modstand </a:t>
            </a:r>
            <a:r>
              <a:rPr i="1"/>
              <a:t>R</a:t>
            </a:r>
            <a:r>
              <a:t>: strømmen begrænses</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Modstand kaldes også resistans · enhed: ohm (Ω)</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08</a:t>
            </a:r>
          </a:p>
        </p:txBody>
      </p:sp>
      <p:sp>
        <p:nvSpPr>
          <p:cNvPr id="8" name="TextBox 7"/>
          <p:cNvSpPr txBox="1"/>
          <p:nvPr/>
        </p:nvSpPr>
        <p:spPr>
          <a:xfrm>
            <a:off x="731520" y="1828800"/>
            <a:ext cx="5623560" cy="1033271"/>
          </a:xfrm>
          <a:prstGeom prst="rect">
            <a:avLst/>
          </a:prstGeom>
          <a:noFill/>
        </p:spPr>
        <p:txBody>
          <a:bodyPr wrap="square" lIns="27432" rIns="27432" tIns="18288" bIns="18288">
            <a:spAutoFit/>
          </a:bodyPr>
          <a:lstStyle/>
          <a:p>
            <a:pPr>
              <a:lnSpc>
                <a:spcPct val="108000"/>
              </a:lnSpc>
              <a:spcAft>
                <a:spcPts val="800"/>
              </a:spcAft>
              <a:defRPr sz="2500" b="0">
                <a:solidFill>
                  <a:srgbClr val="163047"/>
                </a:solidFill>
                <a:latin typeface="DejaVu Sans"/>
              </a:defRPr>
            </a:pPr>
            <a:r>
              <a:t>Ved samme spænding giver en større modstand en mindre strøm.</a:t>
            </a:r>
          </a:p>
        </p:txBody>
      </p:sp>
      <p:sp>
        <p:nvSpPr>
          <p:cNvPr id="9" name="TextBox 8"/>
          <p:cNvSpPr txBox="1"/>
          <p:nvPr/>
        </p:nvSpPr>
        <p:spPr>
          <a:xfrm>
            <a:off x="731520" y="3310128"/>
            <a:ext cx="5486400" cy="621792"/>
          </a:xfrm>
          <a:prstGeom prst="rect">
            <a:avLst/>
          </a:prstGeom>
          <a:noFill/>
        </p:spPr>
        <p:txBody>
          <a:bodyPr wrap="square" lIns="27432" rIns="27432" tIns="18288" bIns="18288">
            <a:spAutoFit/>
          </a:bodyPr>
          <a:lstStyle/>
          <a:p>
            <a:pPr>
              <a:lnSpc>
                <a:spcPct val="108000"/>
              </a:lnSpc>
              <a:spcAft>
                <a:spcPts val="800"/>
              </a:spcAft>
              <a:defRPr sz="3200" b="1">
                <a:solidFill>
                  <a:srgbClr val="A64B13"/>
                </a:solidFill>
                <a:latin typeface="DejaVu Sans"/>
              </a:defRPr>
            </a:pPr>
            <a:r>
              <a:rPr i="1"/>
              <a:t>R</a:t>
            </a:r>
            <a:r>
              <a:t> = </a:t>
            </a:r>
            <a:r>
              <a:rPr i="1"/>
              <a:t>U</a:t>
            </a:r>
            <a:r>
              <a:t> / </a:t>
            </a:r>
            <a:r>
              <a:rPr i="1"/>
              <a:t>I</a:t>
            </a:r>
          </a:p>
        </p:txBody>
      </p:sp>
      <p:sp>
        <p:nvSpPr>
          <p:cNvPr id="10" name="TextBox 9"/>
          <p:cNvSpPr txBox="1"/>
          <p:nvPr/>
        </p:nvSpPr>
        <p:spPr>
          <a:xfrm>
            <a:off x="731520" y="4133087"/>
            <a:ext cx="5486400" cy="594360"/>
          </a:xfrm>
          <a:prstGeom prst="rect">
            <a:avLst/>
          </a:prstGeom>
          <a:noFill/>
        </p:spPr>
        <p:txBody>
          <a:bodyPr wrap="square" lIns="27432" rIns="27432" tIns="18288" bIns="18288">
            <a:spAutoFit/>
          </a:bodyPr>
          <a:lstStyle/>
          <a:p>
            <a:pPr>
              <a:lnSpc>
                <a:spcPct val="108000"/>
              </a:lnSpc>
              <a:spcAft>
                <a:spcPts val="800"/>
              </a:spcAft>
              <a:defRPr sz="2700" b="1">
                <a:solidFill>
                  <a:srgbClr val="A64B13"/>
                </a:solidFill>
                <a:latin typeface="DejaVu Sans"/>
              </a:defRPr>
            </a:pPr>
            <a:r>
              <a:t>1 Ω = 1 V/A</a:t>
            </a:r>
          </a:p>
        </p:txBody>
      </p:sp>
      <p:cxnSp>
        <p:nvCxnSpPr>
          <p:cNvPr id="11" name="Connector 10"/>
          <p:cNvCxnSpPr/>
          <p:nvPr/>
        </p:nvCxnSpPr>
        <p:spPr>
          <a:xfrm>
            <a:off x="7315200" y="2743200"/>
            <a:ext cx="173736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104120" y="2743200"/>
            <a:ext cx="132588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430000" y="2743200"/>
            <a:ext cx="0" cy="201168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7315200" y="4754880"/>
            <a:ext cx="411480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315200" y="2743200"/>
            <a:ext cx="0" cy="694944"/>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315200" y="4059935"/>
            <a:ext cx="0" cy="694945"/>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004304" y="3438144"/>
            <a:ext cx="621792" cy="621792"/>
          </a:xfrm>
          <a:prstGeom prst="ellipse">
            <a:avLst/>
          </a:prstGeom>
          <a:solidFill>
            <a:srgbClr val="FFFFFF"/>
          </a:solidFill>
          <a:ln w="27940">
            <a:solidFill>
              <a:srgbClr val="163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68896" y="3474720"/>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19" name="TextBox 18"/>
          <p:cNvSpPr txBox="1"/>
          <p:nvPr/>
        </p:nvSpPr>
        <p:spPr>
          <a:xfrm>
            <a:off x="7168896" y="3767327"/>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20" name="Rectangle 19"/>
          <p:cNvSpPr/>
          <p:nvPr/>
        </p:nvSpPr>
        <p:spPr>
          <a:xfrm>
            <a:off x="9052560" y="2569464"/>
            <a:ext cx="1051560" cy="347472"/>
          </a:xfrm>
          <a:prstGeom prst="rect">
            <a:avLst/>
          </a:prstGeom>
          <a:solidFill>
            <a:srgbClr val="FFFFFF"/>
          </a:solidFill>
          <a:ln>
            <a:solidFill>
              <a:srgbClr val="163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15400" y="1856232"/>
            <a:ext cx="1828800" cy="402336"/>
          </a:xfrm>
          <a:prstGeom prst="rect">
            <a:avLst/>
          </a:prstGeom>
          <a:noFill/>
        </p:spPr>
        <p:txBody>
          <a:bodyPr wrap="square" lIns="27432" rIns="27432" tIns="18288" bIns="18288">
            <a:spAutoFit/>
          </a:bodyPr>
          <a:lstStyle/>
          <a:p>
            <a:pPr>
              <a:lnSpc>
                <a:spcPct val="108000"/>
              </a:lnSpc>
              <a:spcAft>
                <a:spcPts val="800"/>
              </a:spcAft>
              <a:defRPr sz="1800" b="1">
                <a:solidFill>
                  <a:srgbClr val="163047"/>
                </a:solidFill>
                <a:latin typeface="DejaVu Sans"/>
              </a:defRPr>
            </a:pPr>
            <a:r>
              <a:rPr i="1"/>
              <a:t>R</a:t>
            </a:r>
            <a:r>
              <a:t> = 12 Ω</a:t>
            </a:r>
          </a:p>
        </p:txBody>
      </p:sp>
      <p:sp>
        <p:nvSpPr>
          <p:cNvPr id="22" name="TextBox 21"/>
          <p:cNvSpPr txBox="1"/>
          <p:nvPr/>
        </p:nvSpPr>
        <p:spPr>
          <a:xfrm>
            <a:off x="8924544"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3" name="TextBox 22"/>
          <p:cNvSpPr txBox="1"/>
          <p:nvPr/>
        </p:nvSpPr>
        <p:spPr>
          <a:xfrm>
            <a:off x="9921240"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4" name="Right Arrow 23"/>
          <p:cNvSpPr/>
          <p:nvPr/>
        </p:nvSpPr>
        <p:spPr>
          <a:xfrm>
            <a:off x="7525512" y="2286000"/>
            <a:ext cx="868680" cy="201168"/>
          </a:xfrm>
          <a:prstGeom prst="rightArrow">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34656" y="1847088"/>
            <a:ext cx="1371600" cy="41148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2 A</a:t>
            </a:r>
          </a:p>
        </p:txBody>
      </p:sp>
      <p:sp>
        <p:nvSpPr>
          <p:cNvPr id="26" name="TextBox 25"/>
          <p:cNvSpPr txBox="1"/>
          <p:nvPr/>
        </p:nvSpPr>
        <p:spPr>
          <a:xfrm>
            <a:off x="8842248" y="3108960"/>
            <a:ext cx="2194560" cy="502920"/>
          </a:xfrm>
          <a:prstGeom prst="rect">
            <a:avLst/>
          </a:prstGeom>
          <a:noFill/>
        </p:spPr>
        <p:txBody>
          <a:bodyPr wrap="square" lIns="27432" rIns="27432" tIns="18288" bIns="18288">
            <a:spAutoFit/>
          </a:bodyPr>
          <a:lstStyle/>
          <a:p>
            <a:pPr>
              <a:lnSpc>
                <a:spcPct val="108000"/>
              </a:lnSpc>
              <a:spcAft>
                <a:spcPts val="800"/>
              </a:spcAft>
              <a:defRPr sz="2000" b="1">
                <a:solidFill>
                  <a:srgbClr val="1565A8"/>
                </a:solidFill>
                <a:latin typeface="DejaVu Sans"/>
              </a:defRPr>
            </a:pPr>
            <a:r>
              <a:rPr i="1"/>
              <a:t>U</a:t>
            </a:r>
            <a:r>
              <a:t> = 24 V</a:t>
            </a:r>
          </a:p>
        </p:txBody>
      </p:sp>
      <p:sp>
        <p:nvSpPr>
          <p:cNvPr id="27" name="TextBox 26"/>
          <p:cNvSpPr txBox="1"/>
          <p:nvPr/>
        </p:nvSpPr>
        <p:spPr>
          <a:xfrm>
            <a:off x="6858000" y="4864608"/>
            <a:ext cx="1645920" cy="411480"/>
          </a:xfrm>
          <a:prstGeom prst="rect">
            <a:avLst/>
          </a:prstGeom>
          <a:noFill/>
        </p:spPr>
        <p:txBody>
          <a:bodyPr wrap="square" lIns="27432" rIns="27432" tIns="18288" bIns="18288">
            <a:spAutoFit/>
          </a:bodyPr>
          <a:lstStyle/>
          <a:p>
            <a:pPr>
              <a:lnSpc>
                <a:spcPct val="108000"/>
              </a:lnSpc>
              <a:spcAft>
                <a:spcPts val="800"/>
              </a:spcAft>
              <a:defRPr sz="1500" b="0">
                <a:solidFill>
                  <a:srgbClr val="526779"/>
                </a:solidFill>
                <a:latin typeface="DejaVu Sans"/>
              </a:defRPr>
            </a:pPr>
            <a:r>
              <a:t>DC-kilde</a:t>
            </a:r>
          </a:p>
        </p:txBody>
      </p:sp>
      <p:sp>
        <p:nvSpPr>
          <p:cNvPr id="28" name="Rounded Rectangle 27"/>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Et varmelegeme omsætter energi til varme. Strømmen er den samme ind og ud.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Kredsløbet: en lukket vej for strømmen</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DC-kilde · ideelle ledninger · én ohmsk modstand</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09</a:t>
            </a:r>
          </a:p>
        </p:txBody>
      </p:sp>
      <p:sp>
        <p:nvSpPr>
          <p:cNvPr id="8" name="TextBox 7"/>
          <p:cNvSpPr txBox="1"/>
          <p:nvPr/>
        </p:nvSpPr>
        <p:spPr>
          <a:xfrm>
            <a:off x="731520" y="1828800"/>
            <a:ext cx="5760720" cy="2651760"/>
          </a:xfrm>
          <a:prstGeom prst="rect">
            <a:avLst/>
          </a:prstGeom>
          <a:noFill/>
        </p:spPr>
        <p:txBody>
          <a:bodyPr wrap="square" lIns="27432" rIns="27432" tIns="18288" bIns="18288">
            <a:spAutoFit/>
          </a:bodyPr>
          <a:lstStyle/>
          <a:p>
            <a:pPr>
              <a:lnSpc>
                <a:spcPct val="108000"/>
              </a:lnSpc>
              <a:spcAft>
                <a:spcPts val="800"/>
              </a:spcAft>
              <a:defRPr sz="2200" b="0">
                <a:solidFill>
                  <a:srgbClr val="163047"/>
                </a:solidFill>
                <a:latin typeface="DejaVu Sans"/>
              </a:defRPr>
            </a:pPr>
            <a:r>
              <a:t>1. Kilden opretholder spændingen.</a:t>
            </a:r>
          </a:p>
          <a:p>
            <a:pPr>
              <a:lnSpc>
                <a:spcPct val="108000"/>
              </a:lnSpc>
              <a:spcAft>
                <a:spcPts val="800"/>
              </a:spcAft>
              <a:defRPr sz="2200" b="0">
                <a:solidFill>
                  <a:srgbClr val="163047"/>
                </a:solidFill>
                <a:latin typeface="DejaVu Sans"/>
              </a:defRPr>
            </a:pPr>
          </a:p>
          <a:p>
            <a:pPr>
              <a:lnSpc>
                <a:spcPct val="108000"/>
              </a:lnSpc>
              <a:spcAft>
                <a:spcPts val="800"/>
              </a:spcAft>
              <a:defRPr sz="2200" b="0">
                <a:solidFill>
                  <a:srgbClr val="163047"/>
                </a:solidFill>
                <a:latin typeface="DejaVu Sans"/>
              </a:defRPr>
            </a:pPr>
            <a:r>
              <a:t>2. Den lukkede kreds giver ladningen en sammenhængende vej.</a:t>
            </a:r>
          </a:p>
          <a:p>
            <a:pPr>
              <a:lnSpc>
                <a:spcPct val="108000"/>
              </a:lnSpc>
              <a:spcAft>
                <a:spcPts val="800"/>
              </a:spcAft>
              <a:defRPr sz="2200" b="0">
                <a:solidFill>
                  <a:srgbClr val="163047"/>
                </a:solidFill>
                <a:latin typeface="DejaVu Sans"/>
              </a:defRPr>
            </a:pPr>
          </a:p>
          <a:p>
            <a:pPr>
              <a:lnSpc>
                <a:spcPct val="108000"/>
              </a:lnSpc>
              <a:spcAft>
                <a:spcPts val="800"/>
              </a:spcAft>
              <a:defRPr sz="2200" b="0">
                <a:solidFill>
                  <a:srgbClr val="163047"/>
                </a:solidFill>
                <a:latin typeface="DejaVu Sans"/>
              </a:defRPr>
            </a:pPr>
            <a:r>
              <a:t>3. Belastningen omsætter energien.</a:t>
            </a:r>
          </a:p>
        </p:txBody>
      </p:sp>
      <p:cxnSp>
        <p:nvCxnSpPr>
          <p:cNvPr id="9" name="Connector 8"/>
          <p:cNvCxnSpPr/>
          <p:nvPr/>
        </p:nvCxnSpPr>
        <p:spPr>
          <a:xfrm>
            <a:off x="7315200" y="2743200"/>
            <a:ext cx="173736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104120" y="2743200"/>
            <a:ext cx="132588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30000" y="2743200"/>
            <a:ext cx="0" cy="201168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315200" y="4754880"/>
            <a:ext cx="411480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315200" y="2743200"/>
            <a:ext cx="0" cy="694944"/>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15200" y="4059935"/>
            <a:ext cx="0" cy="694945"/>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004304" y="3438144"/>
            <a:ext cx="621792" cy="621792"/>
          </a:xfrm>
          <a:prstGeom prst="ellipse">
            <a:avLst/>
          </a:prstGeom>
          <a:solidFill>
            <a:srgbClr val="FFFFFF"/>
          </a:solidFill>
          <a:ln w="27940">
            <a:solidFill>
              <a:srgbClr val="163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68896" y="3474720"/>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17" name="TextBox 16"/>
          <p:cNvSpPr txBox="1"/>
          <p:nvPr/>
        </p:nvSpPr>
        <p:spPr>
          <a:xfrm>
            <a:off x="7168896" y="3767327"/>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18" name="Rectangle 17"/>
          <p:cNvSpPr/>
          <p:nvPr/>
        </p:nvSpPr>
        <p:spPr>
          <a:xfrm>
            <a:off x="9052560" y="2569464"/>
            <a:ext cx="1051560" cy="347472"/>
          </a:xfrm>
          <a:prstGeom prst="rect">
            <a:avLst/>
          </a:prstGeom>
          <a:solidFill>
            <a:srgbClr val="FFFFFF"/>
          </a:solidFill>
          <a:ln>
            <a:solidFill>
              <a:srgbClr val="163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5400" y="1856232"/>
            <a:ext cx="1828800" cy="402336"/>
          </a:xfrm>
          <a:prstGeom prst="rect">
            <a:avLst/>
          </a:prstGeom>
          <a:noFill/>
        </p:spPr>
        <p:txBody>
          <a:bodyPr wrap="square" lIns="27432" rIns="27432" tIns="18288" bIns="18288">
            <a:spAutoFit/>
          </a:bodyPr>
          <a:lstStyle/>
          <a:p>
            <a:pPr>
              <a:lnSpc>
                <a:spcPct val="108000"/>
              </a:lnSpc>
              <a:spcAft>
                <a:spcPts val="800"/>
              </a:spcAft>
              <a:defRPr sz="1800" b="1">
                <a:solidFill>
                  <a:srgbClr val="163047"/>
                </a:solidFill>
                <a:latin typeface="DejaVu Sans"/>
              </a:defRPr>
            </a:pPr>
            <a:r>
              <a:rPr i="1"/>
              <a:t>R</a:t>
            </a:r>
            <a:r>
              <a:t> = 12 Ω</a:t>
            </a:r>
          </a:p>
        </p:txBody>
      </p:sp>
      <p:sp>
        <p:nvSpPr>
          <p:cNvPr id="20" name="TextBox 19"/>
          <p:cNvSpPr txBox="1"/>
          <p:nvPr/>
        </p:nvSpPr>
        <p:spPr>
          <a:xfrm>
            <a:off x="8924544"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1" name="TextBox 20"/>
          <p:cNvSpPr txBox="1"/>
          <p:nvPr/>
        </p:nvSpPr>
        <p:spPr>
          <a:xfrm>
            <a:off x="9921240"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2" name="Right Arrow 21"/>
          <p:cNvSpPr/>
          <p:nvPr/>
        </p:nvSpPr>
        <p:spPr>
          <a:xfrm>
            <a:off x="7525512" y="2286000"/>
            <a:ext cx="868680" cy="201168"/>
          </a:xfrm>
          <a:prstGeom prst="rightArrow">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1847088"/>
            <a:ext cx="1371600" cy="41148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rPr i="1"/>
              <a:t>I</a:t>
            </a:r>
          </a:p>
        </p:txBody>
      </p:sp>
      <p:sp>
        <p:nvSpPr>
          <p:cNvPr id="24" name="TextBox 23"/>
          <p:cNvSpPr txBox="1"/>
          <p:nvPr/>
        </p:nvSpPr>
        <p:spPr>
          <a:xfrm>
            <a:off x="8842248" y="3108960"/>
            <a:ext cx="2194560" cy="502920"/>
          </a:xfrm>
          <a:prstGeom prst="rect">
            <a:avLst/>
          </a:prstGeom>
          <a:noFill/>
        </p:spPr>
        <p:txBody>
          <a:bodyPr wrap="square" lIns="27432" rIns="27432" tIns="18288" bIns="18288">
            <a:spAutoFit/>
          </a:bodyPr>
          <a:lstStyle/>
          <a:p>
            <a:pPr>
              <a:lnSpc>
                <a:spcPct val="108000"/>
              </a:lnSpc>
              <a:spcAft>
                <a:spcPts val="800"/>
              </a:spcAft>
              <a:defRPr sz="2000" b="1">
                <a:solidFill>
                  <a:srgbClr val="1565A8"/>
                </a:solidFill>
                <a:latin typeface="DejaVu Sans"/>
              </a:defRPr>
            </a:pPr>
            <a:r>
              <a:rPr i="1"/>
              <a:t>U</a:t>
            </a:r>
            <a:r>
              <a:t> = 24 V</a:t>
            </a:r>
          </a:p>
        </p:txBody>
      </p:sp>
      <p:sp>
        <p:nvSpPr>
          <p:cNvPr id="25" name="TextBox 24"/>
          <p:cNvSpPr txBox="1"/>
          <p:nvPr/>
        </p:nvSpPr>
        <p:spPr>
          <a:xfrm>
            <a:off x="6858000" y="4864608"/>
            <a:ext cx="1645920" cy="411480"/>
          </a:xfrm>
          <a:prstGeom prst="rect">
            <a:avLst/>
          </a:prstGeom>
          <a:noFill/>
        </p:spPr>
        <p:txBody>
          <a:bodyPr wrap="square" lIns="27432" rIns="27432" tIns="18288" bIns="18288">
            <a:spAutoFit/>
          </a:bodyPr>
          <a:lstStyle/>
          <a:p>
            <a:pPr>
              <a:lnSpc>
                <a:spcPct val="108000"/>
              </a:lnSpc>
              <a:spcAft>
                <a:spcPts val="800"/>
              </a:spcAft>
              <a:defRPr sz="1500" b="0">
                <a:solidFill>
                  <a:srgbClr val="526779"/>
                </a:solidFill>
                <a:latin typeface="DejaVu Sans"/>
              </a:defRPr>
            </a:pPr>
            <a:r>
              <a:t>DC-kilde</a:t>
            </a:r>
          </a:p>
        </p:txBody>
      </p:sp>
      <p:sp>
        <p:nvSpPr>
          <p:cNvPr id="26" name="Rounded Rectangle 25"/>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Ved modstanden: </a:t>
            </a:r>
            <a:r>
              <a:rPr i="1"/>
              <a:t>I</a:t>
            </a:r>
            <a:r>
              <a:t> går ind ved + og ud ved −. Vi beregner </a:t>
            </a:r>
            <a:r>
              <a:rPr i="1"/>
              <a:t>U</a:t>
            </a:r>
            <a:r>
              <a:t> som positivt fald.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Ohms lov: sammenhængen mellem </a:t>
            </a:r>
            <a:r>
              <a:rPr i="1"/>
              <a:t>U</a:t>
            </a:r>
            <a:r>
              <a:t>, </a:t>
            </a:r>
            <a:r>
              <a:rPr i="1"/>
              <a:t>I</a:t>
            </a:r>
            <a:r>
              <a:t> og </a:t>
            </a:r>
            <a:r>
              <a:rPr i="1"/>
              <a:t>R</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Ohmsk komponent · konstante fysiske forhold</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10</a:t>
            </a:r>
          </a:p>
        </p:txBody>
      </p:sp>
      <p:sp>
        <p:nvSpPr>
          <p:cNvPr id="8" name="TextBox 7"/>
          <p:cNvSpPr txBox="1"/>
          <p:nvPr/>
        </p:nvSpPr>
        <p:spPr>
          <a:xfrm>
            <a:off x="731520" y="1883664"/>
            <a:ext cx="10789920" cy="822960"/>
          </a:xfrm>
          <a:prstGeom prst="rect">
            <a:avLst/>
          </a:prstGeom>
          <a:noFill/>
        </p:spPr>
        <p:txBody>
          <a:bodyPr wrap="square" lIns="27432" rIns="27432" tIns="18288" bIns="18288">
            <a:spAutoFit/>
          </a:bodyPr>
          <a:lstStyle/>
          <a:p>
            <a:pPr>
              <a:lnSpc>
                <a:spcPct val="108000"/>
              </a:lnSpc>
              <a:spcAft>
                <a:spcPts val="800"/>
              </a:spcAft>
              <a:defRPr sz="4000" b="1">
                <a:solidFill>
                  <a:srgbClr val="007F86"/>
                </a:solidFill>
                <a:latin typeface="DejaVu Sans"/>
              </a:defRPr>
            </a:pPr>
            <a:r>
              <a:rPr i="1"/>
              <a:t>U</a:t>
            </a:r>
            <a:r>
              <a:t> = </a:t>
            </a:r>
            <a:r>
              <a:rPr i="1"/>
              <a:t>R</a:t>
            </a:r>
            <a:r>
              <a:t> · </a:t>
            </a:r>
            <a:r>
              <a:rPr i="1"/>
              <a:t>I</a:t>
            </a:r>
          </a:p>
        </p:txBody>
      </p:sp>
      <p:sp>
        <p:nvSpPr>
          <p:cNvPr id="9" name="Rounded Rectangle 8"/>
          <p:cNvSpPr/>
          <p:nvPr/>
        </p:nvSpPr>
        <p:spPr>
          <a:xfrm>
            <a:off x="731520" y="3017520"/>
            <a:ext cx="5166360" cy="2103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017520"/>
            <a:ext cx="54864" cy="210312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82112"/>
            <a:ext cx="480060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HOLD </a:t>
            </a:r>
            <a:r>
              <a:rPr i="1"/>
              <a:t>R</a:t>
            </a:r>
            <a:r>
              <a:t> KONSTANT</a:t>
            </a:r>
          </a:p>
        </p:txBody>
      </p:sp>
      <p:sp>
        <p:nvSpPr>
          <p:cNvPr id="12" name="TextBox 11"/>
          <p:cNvSpPr txBox="1"/>
          <p:nvPr/>
        </p:nvSpPr>
        <p:spPr>
          <a:xfrm>
            <a:off x="914400" y="3840480"/>
            <a:ext cx="4800600" cy="1188719"/>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Dobbelt spænding giver dobbelt strøm.</a:t>
            </a:r>
          </a:p>
        </p:txBody>
      </p:sp>
      <p:sp>
        <p:nvSpPr>
          <p:cNvPr id="13" name="Rounded Rectangle 12"/>
          <p:cNvSpPr/>
          <p:nvPr/>
        </p:nvSpPr>
        <p:spPr>
          <a:xfrm>
            <a:off x="6163056" y="3017520"/>
            <a:ext cx="5166360" cy="2103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3056" y="3017520"/>
            <a:ext cx="54864" cy="2103120"/>
          </a:xfrm>
          <a:prstGeom prst="rect">
            <a:avLst/>
          </a:prstGeom>
          <a:solidFill>
            <a:srgbClr val="A64B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5936" y="3182112"/>
            <a:ext cx="4800600" cy="548640"/>
          </a:xfrm>
          <a:prstGeom prst="rect">
            <a:avLst/>
          </a:prstGeom>
          <a:noFill/>
        </p:spPr>
        <p:txBody>
          <a:bodyPr wrap="square" lIns="27432" rIns="27432" tIns="18288" bIns="18288">
            <a:spAutoFit/>
          </a:bodyPr>
          <a:lstStyle/>
          <a:p>
            <a:pPr>
              <a:lnSpc>
                <a:spcPct val="108000"/>
              </a:lnSpc>
              <a:spcAft>
                <a:spcPts val="800"/>
              </a:spcAft>
              <a:defRPr sz="2200" b="1">
                <a:solidFill>
                  <a:srgbClr val="A64B13"/>
                </a:solidFill>
                <a:latin typeface="DejaVu Sans"/>
              </a:defRPr>
            </a:pPr>
            <a:r>
              <a:t>HOLD </a:t>
            </a:r>
            <a:r>
              <a:rPr i="1"/>
              <a:t>U</a:t>
            </a:r>
            <a:r>
              <a:t> KONSTANT</a:t>
            </a:r>
          </a:p>
        </p:txBody>
      </p:sp>
      <p:sp>
        <p:nvSpPr>
          <p:cNvPr id="16" name="TextBox 15"/>
          <p:cNvSpPr txBox="1"/>
          <p:nvPr/>
        </p:nvSpPr>
        <p:spPr>
          <a:xfrm>
            <a:off x="6345936" y="3840480"/>
            <a:ext cx="4800600" cy="1188719"/>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Dobbelt modstand giver halv strøm.</a:t>
            </a:r>
          </a:p>
        </p:txBody>
      </p:sp>
      <p:sp>
        <p:nvSpPr>
          <p:cNvPr id="17" name="Rounded Rectangle 16"/>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Gælder ohmske komponenter ved fx omtrent konstant temperatur — ikke kun DC.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Vælg formlen ud fra det, du søger</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Omformning før tal indsættes</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11</a:t>
            </a:r>
          </a:p>
        </p:txBody>
      </p:sp>
      <p:sp>
        <p:nvSpPr>
          <p:cNvPr id="8" name="Rounded Rectangle 7"/>
          <p:cNvSpPr/>
          <p:nvPr/>
        </p:nvSpPr>
        <p:spPr>
          <a:xfrm>
            <a:off x="685800" y="1874519"/>
            <a:ext cx="3566160" cy="21488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74519"/>
            <a:ext cx="54864" cy="214884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39112"/>
            <a:ext cx="320040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SØG SPÆNDING</a:t>
            </a:r>
          </a:p>
        </p:txBody>
      </p:sp>
      <p:sp>
        <p:nvSpPr>
          <p:cNvPr id="11" name="TextBox 10"/>
          <p:cNvSpPr txBox="1"/>
          <p:nvPr/>
        </p:nvSpPr>
        <p:spPr>
          <a:xfrm>
            <a:off x="868680" y="2697479"/>
            <a:ext cx="3200400" cy="123444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rPr i="1"/>
              <a:t>U</a:t>
            </a:r>
            <a:r>
              <a:t> = </a:t>
            </a:r>
            <a:r>
              <a:rPr i="1"/>
              <a:t>R</a:t>
            </a:r>
            <a:r>
              <a:t> · </a:t>
            </a:r>
            <a:r>
              <a:rPr i="1"/>
              <a:t>I</a:t>
            </a:r>
          </a:p>
          <a:p>
            <a:pPr>
              <a:lnSpc>
                <a:spcPct val="108000"/>
              </a:lnSpc>
              <a:spcAft>
                <a:spcPts val="800"/>
              </a:spcAft>
              <a:defRPr sz="2100" b="0">
                <a:solidFill>
                  <a:srgbClr val="163047"/>
                </a:solidFill>
                <a:latin typeface="DejaVu Sans"/>
              </a:defRPr>
            </a:pPr>
            <a:r>
              <a:t>V = Ω · A</a:t>
            </a:r>
          </a:p>
        </p:txBody>
      </p:sp>
      <p:sp>
        <p:nvSpPr>
          <p:cNvPr id="12" name="Rounded Rectangle 11"/>
          <p:cNvSpPr/>
          <p:nvPr/>
        </p:nvSpPr>
        <p:spPr>
          <a:xfrm>
            <a:off x="4343400" y="1874519"/>
            <a:ext cx="3566160" cy="21488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874519"/>
            <a:ext cx="54864" cy="2148840"/>
          </a:xfrm>
          <a:prstGeom prst="rect">
            <a:avLst/>
          </a:prstGeom>
          <a:solidFill>
            <a:srgbClr val="1565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039112"/>
            <a:ext cx="3200400" cy="548640"/>
          </a:xfrm>
          <a:prstGeom prst="rect">
            <a:avLst/>
          </a:prstGeom>
          <a:noFill/>
        </p:spPr>
        <p:txBody>
          <a:bodyPr wrap="square" lIns="27432" rIns="27432" tIns="18288" bIns="18288">
            <a:spAutoFit/>
          </a:bodyPr>
          <a:lstStyle/>
          <a:p>
            <a:pPr>
              <a:lnSpc>
                <a:spcPct val="108000"/>
              </a:lnSpc>
              <a:spcAft>
                <a:spcPts val="800"/>
              </a:spcAft>
              <a:defRPr sz="2200" b="1">
                <a:solidFill>
                  <a:srgbClr val="1565A8"/>
                </a:solidFill>
                <a:latin typeface="DejaVu Sans"/>
              </a:defRPr>
            </a:pPr>
            <a:r>
              <a:t>SØG STRØM</a:t>
            </a:r>
          </a:p>
        </p:txBody>
      </p:sp>
      <p:sp>
        <p:nvSpPr>
          <p:cNvPr id="15" name="TextBox 14"/>
          <p:cNvSpPr txBox="1"/>
          <p:nvPr/>
        </p:nvSpPr>
        <p:spPr>
          <a:xfrm>
            <a:off x="4526280" y="2697479"/>
            <a:ext cx="3200400" cy="123444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rPr i="1"/>
              <a:t>I</a:t>
            </a:r>
            <a:r>
              <a:t> = </a:t>
            </a:r>
            <a:r>
              <a:rPr i="1"/>
              <a:t>U</a:t>
            </a:r>
            <a:r>
              <a:t> / </a:t>
            </a:r>
            <a:r>
              <a:rPr i="1"/>
              <a:t>R</a:t>
            </a:r>
          </a:p>
          <a:p>
            <a:pPr>
              <a:lnSpc>
                <a:spcPct val="108000"/>
              </a:lnSpc>
              <a:spcAft>
                <a:spcPts val="800"/>
              </a:spcAft>
              <a:defRPr sz="2100" b="0">
                <a:solidFill>
                  <a:srgbClr val="163047"/>
                </a:solidFill>
                <a:latin typeface="DejaVu Sans"/>
              </a:defRPr>
            </a:pPr>
            <a:r>
              <a:t>A = V / Ω</a:t>
            </a:r>
          </a:p>
        </p:txBody>
      </p:sp>
      <p:sp>
        <p:nvSpPr>
          <p:cNvPr id="16" name="Rounded Rectangle 15"/>
          <p:cNvSpPr/>
          <p:nvPr/>
        </p:nvSpPr>
        <p:spPr>
          <a:xfrm>
            <a:off x="8001000" y="1874519"/>
            <a:ext cx="3566160" cy="21488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1000" y="1874519"/>
            <a:ext cx="54864" cy="2148840"/>
          </a:xfrm>
          <a:prstGeom prst="rect">
            <a:avLst/>
          </a:prstGeom>
          <a:solidFill>
            <a:srgbClr val="A64B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2039112"/>
            <a:ext cx="3200400" cy="548640"/>
          </a:xfrm>
          <a:prstGeom prst="rect">
            <a:avLst/>
          </a:prstGeom>
          <a:noFill/>
        </p:spPr>
        <p:txBody>
          <a:bodyPr wrap="square" lIns="27432" rIns="27432" tIns="18288" bIns="18288">
            <a:spAutoFit/>
          </a:bodyPr>
          <a:lstStyle/>
          <a:p>
            <a:pPr>
              <a:lnSpc>
                <a:spcPct val="108000"/>
              </a:lnSpc>
              <a:spcAft>
                <a:spcPts val="800"/>
              </a:spcAft>
              <a:defRPr sz="2200" b="1">
                <a:solidFill>
                  <a:srgbClr val="A64B13"/>
                </a:solidFill>
                <a:latin typeface="DejaVu Sans"/>
              </a:defRPr>
            </a:pPr>
            <a:r>
              <a:t>SØG MODSTAND</a:t>
            </a:r>
          </a:p>
        </p:txBody>
      </p:sp>
      <p:sp>
        <p:nvSpPr>
          <p:cNvPr id="19" name="TextBox 18"/>
          <p:cNvSpPr txBox="1"/>
          <p:nvPr/>
        </p:nvSpPr>
        <p:spPr>
          <a:xfrm>
            <a:off x="8183879" y="2697479"/>
            <a:ext cx="3200400" cy="123444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rPr i="1"/>
              <a:t>R</a:t>
            </a:r>
            <a:r>
              <a:t> = </a:t>
            </a:r>
            <a:r>
              <a:rPr i="1"/>
              <a:t>U</a:t>
            </a:r>
            <a:r>
              <a:t> / </a:t>
            </a:r>
            <a:r>
              <a:rPr i="1"/>
              <a:t>I</a:t>
            </a:r>
          </a:p>
          <a:p>
            <a:pPr>
              <a:lnSpc>
                <a:spcPct val="108000"/>
              </a:lnSpc>
              <a:spcAft>
                <a:spcPts val="800"/>
              </a:spcAft>
              <a:defRPr sz="2100" b="0">
                <a:solidFill>
                  <a:srgbClr val="163047"/>
                </a:solidFill>
                <a:latin typeface="DejaVu Sans"/>
              </a:defRPr>
            </a:pPr>
            <a:r>
              <a:t>Ω = V / A</a:t>
            </a:r>
          </a:p>
        </p:txBody>
      </p:sp>
      <p:sp>
        <p:nvSpPr>
          <p:cNvPr id="20" name="TextBox 19"/>
          <p:cNvSpPr txBox="1"/>
          <p:nvPr/>
        </p:nvSpPr>
        <p:spPr>
          <a:xfrm>
            <a:off x="777240" y="4453128"/>
            <a:ext cx="10698480" cy="548640"/>
          </a:xfrm>
          <a:prstGeom prst="rect">
            <a:avLst/>
          </a:prstGeom>
          <a:noFill/>
        </p:spPr>
        <p:txBody>
          <a:bodyPr wrap="square" lIns="27432" rIns="27432" tIns="18288" bIns="18288">
            <a:spAutoFit/>
          </a:bodyPr>
          <a:lstStyle/>
          <a:p>
            <a:pPr>
              <a:lnSpc>
                <a:spcPct val="108000"/>
              </a:lnSpc>
              <a:spcAft>
                <a:spcPts val="800"/>
              </a:spcAft>
              <a:defRPr sz="2500" b="0">
                <a:solidFill>
                  <a:srgbClr val="163047"/>
                </a:solidFill>
                <a:latin typeface="DejaVu Sans"/>
              </a:defRPr>
            </a:pPr>
            <a:r>
              <a:t>Eksempel på omformning: </a:t>
            </a:r>
            <a:r>
              <a:rPr i="1"/>
              <a:t>U</a:t>
            </a:r>
            <a:r>
              <a:t> = </a:t>
            </a:r>
            <a:r>
              <a:rPr i="1"/>
              <a:t>R</a:t>
            </a:r>
            <a:r>
              <a:t> · </a:t>
            </a:r>
            <a:r>
              <a:rPr i="1"/>
              <a:t>I</a:t>
            </a:r>
            <a:r>
              <a:t>  →  </a:t>
            </a:r>
            <a:r>
              <a:rPr i="1"/>
              <a:t>U</a:t>
            </a:r>
            <a:r>
              <a:t> / </a:t>
            </a:r>
            <a:r>
              <a:rPr i="1"/>
              <a:t>R</a:t>
            </a:r>
            <a:r>
              <a:t> = </a:t>
            </a:r>
            <a:r>
              <a:rPr i="1"/>
              <a:t>I</a:t>
            </a:r>
          </a:p>
        </p:txBody>
      </p:sp>
      <p:sp>
        <p:nvSpPr>
          <p:cNvPr id="21" name="Rounded Rectangle 20"/>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Arbejdsgang: givet → søgt → formel → indsættelse → resultat → kontrol.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Gennemregnet eksempel: find strømmen</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Originalens opgave 1 · stationær DC · konstant </a:t>
            </a:r>
            <a:r>
              <a:rPr i="1"/>
              <a:t>R</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12</a:t>
            </a:r>
          </a:p>
        </p:txBody>
      </p:sp>
      <p:sp>
        <p:nvSpPr>
          <p:cNvPr id="8" name="TextBox 7"/>
          <p:cNvSpPr txBox="1"/>
          <p:nvPr/>
        </p:nvSpPr>
        <p:spPr>
          <a:xfrm>
            <a:off x="731520" y="1828800"/>
            <a:ext cx="5806440" cy="3017520"/>
          </a:xfrm>
          <a:prstGeom prst="rect">
            <a:avLst/>
          </a:prstGeom>
          <a:noFill/>
        </p:spPr>
        <p:txBody>
          <a:bodyPr wrap="square" lIns="27432" rIns="27432" tIns="18288" bIns="18288">
            <a:spAutoFit/>
          </a:bodyPr>
          <a:lstStyle/>
          <a:p>
            <a:pPr>
              <a:lnSpc>
                <a:spcPct val="108000"/>
              </a:lnSpc>
              <a:spcAft>
                <a:spcPts val="800"/>
              </a:spcAft>
              <a:defRPr sz="2200" b="0">
                <a:solidFill>
                  <a:srgbClr val="163047"/>
                </a:solidFill>
                <a:latin typeface="DejaVu Sans"/>
              </a:defRPr>
            </a:pPr>
            <a:r>
              <a:t>1. Givet: </a:t>
            </a:r>
            <a:r>
              <a:rPr i="1"/>
              <a:t>U</a:t>
            </a:r>
            <a:r>
              <a:t> = 231 V, </a:t>
            </a:r>
            <a:r>
              <a:rPr i="1"/>
              <a:t>R</a:t>
            </a:r>
            <a:r>
              <a:t> = 27,5 Ω</a:t>
            </a:r>
          </a:p>
          <a:p>
            <a:pPr>
              <a:lnSpc>
                <a:spcPct val="108000"/>
              </a:lnSpc>
              <a:spcAft>
                <a:spcPts val="800"/>
              </a:spcAft>
              <a:defRPr sz="2200" b="0">
                <a:solidFill>
                  <a:srgbClr val="163047"/>
                </a:solidFill>
                <a:latin typeface="DejaVu Sans"/>
              </a:defRPr>
            </a:pPr>
          </a:p>
          <a:p>
            <a:pPr>
              <a:lnSpc>
                <a:spcPct val="108000"/>
              </a:lnSpc>
              <a:spcAft>
                <a:spcPts val="800"/>
              </a:spcAft>
              <a:defRPr sz="2200" b="0">
                <a:solidFill>
                  <a:srgbClr val="163047"/>
                </a:solidFill>
                <a:latin typeface="DejaVu Sans"/>
              </a:defRPr>
            </a:pPr>
            <a:r>
              <a:t>2. Søgt: strømmen </a:t>
            </a:r>
            <a:r>
              <a:rPr i="1"/>
              <a:t>I</a:t>
            </a:r>
          </a:p>
          <a:p>
            <a:pPr>
              <a:lnSpc>
                <a:spcPct val="108000"/>
              </a:lnSpc>
              <a:spcAft>
                <a:spcPts val="800"/>
              </a:spcAft>
              <a:defRPr sz="2200" b="0">
                <a:solidFill>
                  <a:srgbClr val="163047"/>
                </a:solidFill>
                <a:latin typeface="DejaVu Sans"/>
              </a:defRPr>
            </a:pPr>
          </a:p>
          <a:p>
            <a:pPr>
              <a:lnSpc>
                <a:spcPct val="108000"/>
              </a:lnSpc>
              <a:spcAft>
                <a:spcPts val="800"/>
              </a:spcAft>
              <a:defRPr sz="2200" b="0">
                <a:solidFill>
                  <a:srgbClr val="163047"/>
                </a:solidFill>
                <a:latin typeface="DejaVu Sans"/>
              </a:defRPr>
            </a:pPr>
            <a:r>
              <a:t>3. Formel: </a:t>
            </a:r>
            <a:r>
              <a:rPr i="1"/>
              <a:t>I</a:t>
            </a:r>
            <a:r>
              <a:t> = </a:t>
            </a:r>
            <a:r>
              <a:rPr i="1"/>
              <a:t>U</a:t>
            </a:r>
            <a:r>
              <a:t> / </a:t>
            </a:r>
            <a:r>
              <a:rPr i="1"/>
              <a:t>R</a:t>
            </a:r>
          </a:p>
          <a:p>
            <a:pPr>
              <a:lnSpc>
                <a:spcPct val="108000"/>
              </a:lnSpc>
              <a:spcAft>
                <a:spcPts val="800"/>
              </a:spcAft>
              <a:defRPr sz="2200" b="0">
                <a:solidFill>
                  <a:srgbClr val="163047"/>
                </a:solidFill>
                <a:latin typeface="DejaVu Sans"/>
              </a:defRPr>
            </a:pPr>
          </a:p>
          <a:p>
            <a:pPr>
              <a:lnSpc>
                <a:spcPct val="108000"/>
              </a:lnSpc>
              <a:spcAft>
                <a:spcPts val="800"/>
              </a:spcAft>
              <a:defRPr sz="2200" b="0">
                <a:solidFill>
                  <a:srgbClr val="163047"/>
                </a:solidFill>
                <a:latin typeface="DejaVu Sans"/>
              </a:defRPr>
            </a:pPr>
            <a:r>
              <a:t>4. Indsæt: </a:t>
            </a:r>
            <a:r>
              <a:rPr i="1"/>
              <a:t>I</a:t>
            </a:r>
            <a:r>
              <a:t> = 231 V / 27,5 Ω</a:t>
            </a:r>
          </a:p>
        </p:txBody>
      </p:sp>
      <p:cxnSp>
        <p:nvCxnSpPr>
          <p:cNvPr id="9" name="Connector 8"/>
          <p:cNvCxnSpPr/>
          <p:nvPr/>
        </p:nvCxnSpPr>
        <p:spPr>
          <a:xfrm>
            <a:off x="7315200" y="2743200"/>
            <a:ext cx="173736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104120" y="2743200"/>
            <a:ext cx="132588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30000" y="2743200"/>
            <a:ext cx="0" cy="201168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315200" y="4754880"/>
            <a:ext cx="411480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315200" y="2743200"/>
            <a:ext cx="0" cy="694944"/>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15200" y="4059935"/>
            <a:ext cx="0" cy="694945"/>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004304" y="3438144"/>
            <a:ext cx="621792" cy="621792"/>
          </a:xfrm>
          <a:prstGeom prst="ellipse">
            <a:avLst/>
          </a:prstGeom>
          <a:solidFill>
            <a:srgbClr val="FFFFFF"/>
          </a:solidFill>
          <a:ln w="27940">
            <a:solidFill>
              <a:srgbClr val="163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68896" y="3474720"/>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17" name="TextBox 16"/>
          <p:cNvSpPr txBox="1"/>
          <p:nvPr/>
        </p:nvSpPr>
        <p:spPr>
          <a:xfrm>
            <a:off x="7168896" y="3767327"/>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18" name="Rectangle 17"/>
          <p:cNvSpPr/>
          <p:nvPr/>
        </p:nvSpPr>
        <p:spPr>
          <a:xfrm>
            <a:off x="9052560" y="2569464"/>
            <a:ext cx="1051560" cy="347472"/>
          </a:xfrm>
          <a:prstGeom prst="rect">
            <a:avLst/>
          </a:prstGeom>
          <a:solidFill>
            <a:srgbClr val="FFFFFF"/>
          </a:solidFill>
          <a:ln>
            <a:solidFill>
              <a:srgbClr val="163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5400" y="1856232"/>
            <a:ext cx="1828800" cy="402336"/>
          </a:xfrm>
          <a:prstGeom prst="rect">
            <a:avLst/>
          </a:prstGeom>
          <a:noFill/>
        </p:spPr>
        <p:txBody>
          <a:bodyPr wrap="square" lIns="27432" rIns="27432" tIns="18288" bIns="18288">
            <a:spAutoFit/>
          </a:bodyPr>
          <a:lstStyle/>
          <a:p>
            <a:pPr>
              <a:lnSpc>
                <a:spcPct val="108000"/>
              </a:lnSpc>
              <a:spcAft>
                <a:spcPts val="800"/>
              </a:spcAft>
              <a:defRPr sz="1800" b="1">
                <a:solidFill>
                  <a:srgbClr val="163047"/>
                </a:solidFill>
                <a:latin typeface="DejaVu Sans"/>
              </a:defRPr>
            </a:pPr>
            <a:r>
              <a:rPr i="1"/>
              <a:t>R</a:t>
            </a:r>
            <a:r>
              <a:t> = 27,5 Ω</a:t>
            </a:r>
          </a:p>
        </p:txBody>
      </p:sp>
      <p:sp>
        <p:nvSpPr>
          <p:cNvPr id="20" name="TextBox 19"/>
          <p:cNvSpPr txBox="1"/>
          <p:nvPr/>
        </p:nvSpPr>
        <p:spPr>
          <a:xfrm>
            <a:off x="8924544"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1" name="TextBox 20"/>
          <p:cNvSpPr txBox="1"/>
          <p:nvPr/>
        </p:nvSpPr>
        <p:spPr>
          <a:xfrm>
            <a:off x="9921240"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2" name="Right Arrow 21"/>
          <p:cNvSpPr/>
          <p:nvPr/>
        </p:nvSpPr>
        <p:spPr>
          <a:xfrm>
            <a:off x="7525512" y="2286000"/>
            <a:ext cx="868680" cy="201168"/>
          </a:xfrm>
          <a:prstGeom prst="rightArrow">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1847088"/>
            <a:ext cx="1371600" cy="41148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8,4 A</a:t>
            </a:r>
          </a:p>
        </p:txBody>
      </p:sp>
      <p:sp>
        <p:nvSpPr>
          <p:cNvPr id="24" name="TextBox 23"/>
          <p:cNvSpPr txBox="1"/>
          <p:nvPr/>
        </p:nvSpPr>
        <p:spPr>
          <a:xfrm>
            <a:off x="8842248" y="3108960"/>
            <a:ext cx="2194560" cy="502920"/>
          </a:xfrm>
          <a:prstGeom prst="rect">
            <a:avLst/>
          </a:prstGeom>
          <a:noFill/>
        </p:spPr>
        <p:txBody>
          <a:bodyPr wrap="square" lIns="27432" rIns="27432" tIns="18288" bIns="18288">
            <a:spAutoFit/>
          </a:bodyPr>
          <a:lstStyle/>
          <a:p>
            <a:pPr>
              <a:lnSpc>
                <a:spcPct val="108000"/>
              </a:lnSpc>
              <a:spcAft>
                <a:spcPts val="800"/>
              </a:spcAft>
              <a:defRPr sz="2000" b="1">
                <a:solidFill>
                  <a:srgbClr val="1565A8"/>
                </a:solidFill>
                <a:latin typeface="DejaVu Sans"/>
              </a:defRPr>
            </a:pPr>
            <a:r>
              <a:rPr i="1"/>
              <a:t>U</a:t>
            </a:r>
            <a:r>
              <a:t> = 231 V</a:t>
            </a:r>
          </a:p>
        </p:txBody>
      </p:sp>
      <p:sp>
        <p:nvSpPr>
          <p:cNvPr id="25" name="TextBox 24"/>
          <p:cNvSpPr txBox="1"/>
          <p:nvPr/>
        </p:nvSpPr>
        <p:spPr>
          <a:xfrm>
            <a:off x="6858000" y="4864608"/>
            <a:ext cx="1645920" cy="411480"/>
          </a:xfrm>
          <a:prstGeom prst="rect">
            <a:avLst/>
          </a:prstGeom>
          <a:noFill/>
        </p:spPr>
        <p:txBody>
          <a:bodyPr wrap="square" lIns="27432" rIns="27432" tIns="18288" bIns="18288">
            <a:spAutoFit/>
          </a:bodyPr>
          <a:lstStyle/>
          <a:p>
            <a:pPr>
              <a:lnSpc>
                <a:spcPct val="108000"/>
              </a:lnSpc>
              <a:spcAft>
                <a:spcPts val="800"/>
              </a:spcAft>
              <a:defRPr sz="1500" b="0">
                <a:solidFill>
                  <a:srgbClr val="526779"/>
                </a:solidFill>
                <a:latin typeface="DejaVu Sans"/>
              </a:defRPr>
            </a:pPr>
            <a:r>
              <a:t>DC-kilde</a:t>
            </a:r>
          </a:p>
        </p:txBody>
      </p:sp>
      <p:sp>
        <p:nvSpPr>
          <p:cNvPr id="26" name="TextBox 25"/>
          <p:cNvSpPr txBox="1"/>
          <p:nvPr/>
        </p:nvSpPr>
        <p:spPr>
          <a:xfrm>
            <a:off x="786384" y="4983480"/>
            <a:ext cx="5852160" cy="566928"/>
          </a:xfrm>
          <a:prstGeom prst="rect">
            <a:avLst/>
          </a:prstGeom>
          <a:noFill/>
        </p:spPr>
        <p:txBody>
          <a:bodyPr wrap="square" lIns="27432" rIns="27432" tIns="18288" bIns="18288">
            <a:spAutoFit/>
          </a:bodyPr>
          <a:lstStyle/>
          <a:p>
            <a:pPr>
              <a:lnSpc>
                <a:spcPct val="108000"/>
              </a:lnSpc>
              <a:spcAft>
                <a:spcPts val="800"/>
              </a:spcAft>
              <a:defRPr sz="2700" b="1">
                <a:solidFill>
                  <a:srgbClr val="007F86"/>
                </a:solidFill>
                <a:latin typeface="DejaVu Sans"/>
              </a:defRPr>
            </a:pPr>
            <a:r>
              <a:t>5. Resultat: </a:t>
            </a:r>
            <a:r>
              <a:rPr i="1"/>
              <a:t>I</a:t>
            </a:r>
            <a:r>
              <a:t> = 8,4 A</a:t>
            </a:r>
          </a:p>
        </p:txBody>
      </p:sp>
      <p:sp>
        <p:nvSpPr>
          <p:cNvPr id="27" name="Rounded Rectangle 26"/>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Kontrol: </a:t>
            </a:r>
            <a:r>
              <a:rPr i="1"/>
              <a:t>R</a:t>
            </a:r>
            <a:r>
              <a:t> · </a:t>
            </a:r>
            <a:r>
              <a:rPr i="1"/>
              <a:t>I</a:t>
            </a:r>
            <a:r>
              <a:t> = 27,5 Ω · 8,4 A = 231 V. Enheden V/Ω bliver 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Effekt </a:t>
            </a:r>
            <a:r>
              <a:rPr i="1"/>
              <a:t>P</a:t>
            </a:r>
            <a:r>
              <a:t>: hvor hurtigt energien omsættes</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Praktisk eksempel · 24 V-varmelegeme</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13</a:t>
            </a:r>
          </a:p>
        </p:txBody>
      </p:sp>
      <p:sp>
        <p:nvSpPr>
          <p:cNvPr id="8" name="TextBox 7"/>
          <p:cNvSpPr txBox="1"/>
          <p:nvPr/>
        </p:nvSpPr>
        <p:spPr>
          <a:xfrm>
            <a:off x="731520" y="1828800"/>
            <a:ext cx="5852160" cy="2057400"/>
          </a:xfrm>
          <a:prstGeom prst="rect">
            <a:avLst/>
          </a:prstGeom>
          <a:noFill/>
        </p:spPr>
        <p:txBody>
          <a:bodyPr wrap="square" lIns="27432" rIns="27432" tIns="18288" bIns="18288">
            <a:spAutoFit/>
          </a:bodyPr>
          <a:lstStyle/>
          <a:p>
            <a:pPr>
              <a:lnSpc>
                <a:spcPct val="108000"/>
              </a:lnSpc>
              <a:spcAft>
                <a:spcPts val="800"/>
              </a:spcAft>
              <a:defRPr sz="2200" b="0">
                <a:solidFill>
                  <a:srgbClr val="163047"/>
                </a:solidFill>
                <a:latin typeface="DejaVu Sans"/>
              </a:defRPr>
            </a:pPr>
            <a:r>
              <a:rPr i="1"/>
              <a:t>U</a:t>
            </a:r>
            <a:r>
              <a:t> = 24 V og </a:t>
            </a:r>
            <a:r>
              <a:rPr i="1"/>
              <a:t>R</a:t>
            </a:r>
            <a:r>
              <a:t> = 12 Ω</a:t>
            </a:r>
          </a:p>
          <a:p>
            <a:pPr>
              <a:lnSpc>
                <a:spcPct val="108000"/>
              </a:lnSpc>
              <a:spcAft>
                <a:spcPts val="800"/>
              </a:spcAft>
              <a:defRPr sz="2200" b="0">
                <a:solidFill>
                  <a:srgbClr val="163047"/>
                </a:solidFill>
                <a:latin typeface="DejaVu Sans"/>
              </a:defRPr>
            </a:pPr>
          </a:p>
          <a:p>
            <a:pPr>
              <a:lnSpc>
                <a:spcPct val="108000"/>
              </a:lnSpc>
              <a:spcAft>
                <a:spcPts val="800"/>
              </a:spcAft>
              <a:defRPr sz="2200" b="0">
                <a:solidFill>
                  <a:srgbClr val="163047"/>
                </a:solidFill>
                <a:latin typeface="DejaVu Sans"/>
              </a:defRPr>
            </a:pPr>
            <a:r>
              <a:rPr i="1"/>
              <a:t>I</a:t>
            </a:r>
            <a:r>
              <a:t> = 24 V / 12 Ω = 2 A</a:t>
            </a:r>
          </a:p>
          <a:p>
            <a:pPr>
              <a:lnSpc>
                <a:spcPct val="108000"/>
              </a:lnSpc>
              <a:spcAft>
                <a:spcPts val="800"/>
              </a:spcAft>
              <a:defRPr sz="2200" b="0">
                <a:solidFill>
                  <a:srgbClr val="163047"/>
                </a:solidFill>
                <a:latin typeface="DejaVu Sans"/>
              </a:defRPr>
            </a:pPr>
          </a:p>
          <a:p>
            <a:pPr>
              <a:lnSpc>
                <a:spcPct val="108000"/>
              </a:lnSpc>
              <a:spcAft>
                <a:spcPts val="800"/>
              </a:spcAft>
              <a:defRPr sz="2200" b="0">
                <a:solidFill>
                  <a:srgbClr val="163047"/>
                </a:solidFill>
                <a:latin typeface="DejaVu Sans"/>
              </a:defRPr>
            </a:pPr>
            <a:r>
              <a:rPr i="1"/>
              <a:t>P</a:t>
            </a:r>
            <a:r>
              <a:t> = </a:t>
            </a:r>
            <a:r>
              <a:rPr i="1"/>
              <a:t>U</a:t>
            </a:r>
            <a:r>
              <a:t> · </a:t>
            </a:r>
            <a:r>
              <a:rPr i="1"/>
              <a:t>I</a:t>
            </a:r>
            <a:r>
              <a:t> = 24 V · 2 A = 48 W</a:t>
            </a:r>
          </a:p>
        </p:txBody>
      </p:sp>
      <p:cxnSp>
        <p:nvCxnSpPr>
          <p:cNvPr id="9" name="Connector 8"/>
          <p:cNvCxnSpPr/>
          <p:nvPr/>
        </p:nvCxnSpPr>
        <p:spPr>
          <a:xfrm>
            <a:off x="7315200" y="2743200"/>
            <a:ext cx="173736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104120" y="2743200"/>
            <a:ext cx="132588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30000" y="2743200"/>
            <a:ext cx="0" cy="201168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315200" y="4754880"/>
            <a:ext cx="4114800" cy="0"/>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315200" y="2743200"/>
            <a:ext cx="0" cy="694944"/>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15200" y="4059935"/>
            <a:ext cx="0" cy="694945"/>
          </a:xfrm>
          <a:prstGeom prst="line">
            <a:avLst/>
          </a:prstGeom>
          <a:ln w="27940">
            <a:solidFill>
              <a:srgbClr val="163047"/>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004304" y="3438144"/>
            <a:ext cx="621792" cy="621792"/>
          </a:xfrm>
          <a:prstGeom prst="ellipse">
            <a:avLst/>
          </a:prstGeom>
          <a:solidFill>
            <a:srgbClr val="FFFFFF"/>
          </a:solidFill>
          <a:ln w="27940">
            <a:solidFill>
              <a:srgbClr val="163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68896" y="3474720"/>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17" name="TextBox 16"/>
          <p:cNvSpPr txBox="1"/>
          <p:nvPr/>
        </p:nvSpPr>
        <p:spPr>
          <a:xfrm>
            <a:off x="7168896" y="3767327"/>
            <a:ext cx="310896" cy="274320"/>
          </a:xfrm>
          <a:prstGeom prst="rect">
            <a:avLst/>
          </a:prstGeom>
          <a:noFill/>
        </p:spPr>
        <p:txBody>
          <a:bodyPr wrap="square" lIns="27432" rIns="27432" tIns="18288" bIns="18288">
            <a:spAutoFit/>
          </a:bodyPr>
          <a:lstStyle/>
          <a:p>
            <a:pPr>
              <a:lnSpc>
                <a:spcPct val="108000"/>
              </a:lnSpc>
              <a:spcAft>
                <a:spcPts val="800"/>
              </a:spcAft>
              <a:defRPr sz="1700" b="1">
                <a:solidFill>
                  <a:srgbClr val="007F86"/>
                </a:solidFill>
                <a:latin typeface="DejaVu Sans"/>
              </a:defRPr>
            </a:pPr>
            <a:r>
              <a:t>−</a:t>
            </a:r>
          </a:p>
        </p:txBody>
      </p:sp>
      <p:sp>
        <p:nvSpPr>
          <p:cNvPr id="18" name="Rectangle 17"/>
          <p:cNvSpPr/>
          <p:nvPr/>
        </p:nvSpPr>
        <p:spPr>
          <a:xfrm>
            <a:off x="9052560" y="2569464"/>
            <a:ext cx="1051560" cy="347472"/>
          </a:xfrm>
          <a:prstGeom prst="rect">
            <a:avLst/>
          </a:prstGeom>
          <a:solidFill>
            <a:srgbClr val="FFFFFF"/>
          </a:solidFill>
          <a:ln>
            <a:solidFill>
              <a:srgbClr val="163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5400" y="1856232"/>
            <a:ext cx="1828800" cy="402336"/>
          </a:xfrm>
          <a:prstGeom prst="rect">
            <a:avLst/>
          </a:prstGeom>
          <a:noFill/>
        </p:spPr>
        <p:txBody>
          <a:bodyPr wrap="square" lIns="27432" rIns="27432" tIns="18288" bIns="18288">
            <a:spAutoFit/>
          </a:bodyPr>
          <a:lstStyle/>
          <a:p>
            <a:pPr>
              <a:lnSpc>
                <a:spcPct val="108000"/>
              </a:lnSpc>
              <a:spcAft>
                <a:spcPts val="800"/>
              </a:spcAft>
              <a:defRPr sz="1800" b="1">
                <a:solidFill>
                  <a:srgbClr val="163047"/>
                </a:solidFill>
                <a:latin typeface="DejaVu Sans"/>
              </a:defRPr>
            </a:pPr>
            <a:r>
              <a:rPr i="1"/>
              <a:t>R</a:t>
            </a:r>
            <a:r>
              <a:t> = 12 Ω</a:t>
            </a:r>
          </a:p>
        </p:txBody>
      </p:sp>
      <p:sp>
        <p:nvSpPr>
          <p:cNvPr id="20" name="TextBox 19"/>
          <p:cNvSpPr txBox="1"/>
          <p:nvPr/>
        </p:nvSpPr>
        <p:spPr>
          <a:xfrm>
            <a:off x="8924544"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1" name="TextBox 20"/>
          <p:cNvSpPr txBox="1"/>
          <p:nvPr/>
        </p:nvSpPr>
        <p:spPr>
          <a:xfrm>
            <a:off x="9921240" y="2258568"/>
            <a:ext cx="411480" cy="365760"/>
          </a:xfrm>
          <a:prstGeom prst="rect">
            <a:avLst/>
          </a:prstGeom>
          <a:noFill/>
        </p:spPr>
        <p:txBody>
          <a:bodyPr wrap="square" lIns="27432" rIns="27432" tIns="18288" bIns="18288">
            <a:spAutoFit/>
          </a:bodyPr>
          <a:lstStyle/>
          <a:p>
            <a:pPr>
              <a:lnSpc>
                <a:spcPct val="108000"/>
              </a:lnSpc>
              <a:spcAft>
                <a:spcPts val="800"/>
              </a:spcAft>
              <a:defRPr sz="1900" b="1">
                <a:solidFill>
                  <a:srgbClr val="007F86"/>
                </a:solidFill>
                <a:latin typeface="DejaVu Sans"/>
              </a:defRPr>
            </a:pPr>
            <a:r>
              <a:t>−</a:t>
            </a:r>
          </a:p>
        </p:txBody>
      </p:sp>
      <p:sp>
        <p:nvSpPr>
          <p:cNvPr id="22" name="Right Arrow 21"/>
          <p:cNvSpPr/>
          <p:nvPr/>
        </p:nvSpPr>
        <p:spPr>
          <a:xfrm>
            <a:off x="7525512" y="2286000"/>
            <a:ext cx="868680" cy="201168"/>
          </a:xfrm>
          <a:prstGeom prst="rightArrow">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1847088"/>
            <a:ext cx="1371600" cy="41148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2 A</a:t>
            </a:r>
          </a:p>
        </p:txBody>
      </p:sp>
      <p:sp>
        <p:nvSpPr>
          <p:cNvPr id="24" name="TextBox 23"/>
          <p:cNvSpPr txBox="1"/>
          <p:nvPr/>
        </p:nvSpPr>
        <p:spPr>
          <a:xfrm>
            <a:off x="8842248" y="3108960"/>
            <a:ext cx="2194560" cy="502920"/>
          </a:xfrm>
          <a:prstGeom prst="rect">
            <a:avLst/>
          </a:prstGeom>
          <a:noFill/>
        </p:spPr>
        <p:txBody>
          <a:bodyPr wrap="square" lIns="27432" rIns="27432" tIns="18288" bIns="18288">
            <a:spAutoFit/>
          </a:bodyPr>
          <a:lstStyle/>
          <a:p>
            <a:pPr>
              <a:lnSpc>
                <a:spcPct val="108000"/>
              </a:lnSpc>
              <a:spcAft>
                <a:spcPts val="800"/>
              </a:spcAft>
              <a:defRPr sz="2000" b="1">
                <a:solidFill>
                  <a:srgbClr val="1565A8"/>
                </a:solidFill>
                <a:latin typeface="DejaVu Sans"/>
              </a:defRPr>
            </a:pPr>
            <a:r>
              <a:rPr i="1"/>
              <a:t>U</a:t>
            </a:r>
            <a:r>
              <a:t> = 24 V</a:t>
            </a:r>
          </a:p>
        </p:txBody>
      </p:sp>
      <p:sp>
        <p:nvSpPr>
          <p:cNvPr id="25" name="TextBox 24"/>
          <p:cNvSpPr txBox="1"/>
          <p:nvPr/>
        </p:nvSpPr>
        <p:spPr>
          <a:xfrm>
            <a:off x="6858000" y="4864608"/>
            <a:ext cx="1645920" cy="411480"/>
          </a:xfrm>
          <a:prstGeom prst="rect">
            <a:avLst/>
          </a:prstGeom>
          <a:noFill/>
        </p:spPr>
        <p:txBody>
          <a:bodyPr wrap="square" lIns="27432" rIns="27432" tIns="18288" bIns="18288">
            <a:spAutoFit/>
          </a:bodyPr>
          <a:lstStyle/>
          <a:p>
            <a:pPr>
              <a:lnSpc>
                <a:spcPct val="108000"/>
              </a:lnSpc>
              <a:spcAft>
                <a:spcPts val="800"/>
              </a:spcAft>
              <a:defRPr sz="1500" b="0">
                <a:solidFill>
                  <a:srgbClr val="526779"/>
                </a:solidFill>
                <a:latin typeface="DejaVu Sans"/>
              </a:defRPr>
            </a:pPr>
            <a:r>
              <a:t>DC-kilde</a:t>
            </a:r>
          </a:p>
        </p:txBody>
      </p:sp>
      <p:sp>
        <p:nvSpPr>
          <p:cNvPr id="26" name="TextBox 25"/>
          <p:cNvSpPr txBox="1"/>
          <p:nvPr/>
        </p:nvSpPr>
        <p:spPr>
          <a:xfrm>
            <a:off x="768096" y="4553712"/>
            <a:ext cx="6035040" cy="530352"/>
          </a:xfrm>
          <a:prstGeom prst="rect">
            <a:avLst/>
          </a:prstGeom>
          <a:noFill/>
        </p:spPr>
        <p:txBody>
          <a:bodyPr wrap="square" lIns="27432" rIns="27432" tIns="18288" bIns="18288">
            <a:spAutoFit/>
          </a:bodyPr>
          <a:lstStyle/>
          <a:p>
            <a:pPr>
              <a:lnSpc>
                <a:spcPct val="108000"/>
              </a:lnSpc>
              <a:spcAft>
                <a:spcPts val="800"/>
              </a:spcAft>
              <a:defRPr sz="2300" b="1">
                <a:solidFill>
                  <a:srgbClr val="007F86"/>
                </a:solidFill>
                <a:latin typeface="DejaVu Sans"/>
              </a:defRPr>
            </a:pPr>
            <a:r>
              <a:t>På 10 s: </a:t>
            </a:r>
            <a:r>
              <a:rPr i="1"/>
              <a:t>E</a:t>
            </a:r>
            <a:r>
              <a:t> = </a:t>
            </a:r>
            <a:r>
              <a:rPr i="1"/>
              <a:t>P</a:t>
            </a:r>
            <a:r>
              <a:t> · </a:t>
            </a:r>
            <a:r>
              <a:rPr i="1"/>
              <a:t>t</a:t>
            </a:r>
            <a:r>
              <a:t> = 480 J</a:t>
            </a:r>
          </a:p>
        </p:txBody>
      </p:sp>
      <p:sp>
        <p:nvSpPr>
          <p:cNvPr id="27" name="Rounded Rectangle 26"/>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1 W = 1 J/s. Strøm er ladning pr. tid; effekt er energi pr. tid.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Enheder først: mA og kΩ skal omregnes</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SI-præfikser · skriv altid enheden med</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14</a:t>
            </a:r>
          </a:p>
        </p:txBody>
      </p:sp>
      <p:sp>
        <p:nvSpPr>
          <p:cNvPr id="8" name="Rounded Rectangle 7"/>
          <p:cNvSpPr/>
          <p:nvPr/>
        </p:nvSpPr>
        <p:spPr>
          <a:xfrm>
            <a:off x="731520" y="1901952"/>
            <a:ext cx="5193792" cy="20574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01952"/>
            <a:ext cx="54864" cy="20574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66544"/>
            <a:ext cx="4828031"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KILO: k = 10³</a:t>
            </a:r>
          </a:p>
        </p:txBody>
      </p:sp>
      <p:sp>
        <p:nvSpPr>
          <p:cNvPr id="11" name="TextBox 10"/>
          <p:cNvSpPr txBox="1"/>
          <p:nvPr/>
        </p:nvSpPr>
        <p:spPr>
          <a:xfrm>
            <a:off x="914400" y="2724912"/>
            <a:ext cx="4828031" cy="114300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10 kΩ = 10 000 Ω</a:t>
            </a:r>
          </a:p>
        </p:txBody>
      </p:sp>
      <p:sp>
        <p:nvSpPr>
          <p:cNvPr id="12" name="Rounded Rectangle 11"/>
          <p:cNvSpPr/>
          <p:nvPr/>
        </p:nvSpPr>
        <p:spPr>
          <a:xfrm>
            <a:off x="6153912" y="1901952"/>
            <a:ext cx="5193792" cy="20574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53912" y="1901952"/>
            <a:ext cx="54864" cy="2057400"/>
          </a:xfrm>
          <a:prstGeom prst="rect">
            <a:avLst/>
          </a:prstGeom>
          <a:solidFill>
            <a:srgbClr val="1565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2066544"/>
            <a:ext cx="4828031" cy="548640"/>
          </a:xfrm>
          <a:prstGeom prst="rect">
            <a:avLst/>
          </a:prstGeom>
          <a:noFill/>
        </p:spPr>
        <p:txBody>
          <a:bodyPr wrap="square" lIns="27432" rIns="27432" tIns="18288" bIns="18288">
            <a:spAutoFit/>
          </a:bodyPr>
          <a:lstStyle/>
          <a:p>
            <a:pPr>
              <a:lnSpc>
                <a:spcPct val="108000"/>
              </a:lnSpc>
              <a:spcAft>
                <a:spcPts val="800"/>
              </a:spcAft>
              <a:defRPr sz="2200" b="1">
                <a:solidFill>
                  <a:srgbClr val="1565A8"/>
                </a:solidFill>
                <a:latin typeface="DejaVu Sans"/>
              </a:defRPr>
            </a:pPr>
            <a:r>
              <a:t>MILLI: m = 10⁻³</a:t>
            </a:r>
          </a:p>
        </p:txBody>
      </p:sp>
      <p:sp>
        <p:nvSpPr>
          <p:cNvPr id="15" name="TextBox 14"/>
          <p:cNvSpPr txBox="1"/>
          <p:nvPr/>
        </p:nvSpPr>
        <p:spPr>
          <a:xfrm>
            <a:off x="6336792" y="2724912"/>
            <a:ext cx="4828031" cy="114300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23 mA = 0,023 A</a:t>
            </a:r>
          </a:p>
        </p:txBody>
      </p:sp>
      <p:sp>
        <p:nvSpPr>
          <p:cNvPr id="16" name="TextBox 15"/>
          <p:cNvSpPr txBox="1"/>
          <p:nvPr/>
        </p:nvSpPr>
        <p:spPr>
          <a:xfrm>
            <a:off x="768096" y="4370832"/>
            <a:ext cx="10607040" cy="694944"/>
          </a:xfrm>
          <a:prstGeom prst="rect">
            <a:avLst/>
          </a:prstGeom>
          <a:noFill/>
        </p:spPr>
        <p:txBody>
          <a:bodyPr wrap="square" lIns="27432" rIns="27432" tIns="18288" bIns="18288">
            <a:spAutoFit/>
          </a:bodyPr>
          <a:lstStyle/>
          <a:p>
            <a:pPr>
              <a:lnSpc>
                <a:spcPct val="108000"/>
              </a:lnSpc>
              <a:spcAft>
                <a:spcPts val="800"/>
              </a:spcAft>
              <a:defRPr sz="2600" b="1">
                <a:solidFill>
                  <a:srgbClr val="163047"/>
                </a:solidFill>
                <a:latin typeface="DejaVu Sans"/>
              </a:defRPr>
            </a:pPr>
            <a:r>
              <a:t>Skriv: </a:t>
            </a:r>
            <a:r>
              <a:rPr i="1"/>
              <a:t>I</a:t>
            </a:r>
            <a:r>
              <a:t> = 2 A, </a:t>
            </a:r>
            <a:r>
              <a:rPr i="1"/>
              <a:t>U</a:t>
            </a:r>
            <a:r>
              <a:t> = 24 V og </a:t>
            </a:r>
            <a:r>
              <a:rPr i="1"/>
              <a:t>R</a:t>
            </a:r>
            <a:r>
              <a:t> = 12 Ω.</a:t>
            </a:r>
          </a:p>
        </p:txBody>
      </p:sp>
      <p:sp>
        <p:nvSpPr>
          <p:cNvPr id="17" name="Rounded Rectangle 16"/>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Omregn før indsættelse — og kontrollér resultatets enhed efter beregningen.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Regn selv: find </a:t>
            </a:r>
            <a:r>
              <a:rPr i="1"/>
              <a:t>I</a:t>
            </a:r>
            <a:r>
              <a:t>, </a:t>
            </a:r>
            <a:r>
              <a:rPr i="1"/>
              <a:t>R</a:t>
            </a:r>
            <a:r>
              <a:t> og </a:t>
            </a:r>
            <a:r>
              <a:rPr i="1"/>
              <a:t>R</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Originalens opgaver 1–3 · skriv formel og mellemregning</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15</a:t>
            </a:r>
          </a:p>
        </p:txBody>
      </p:sp>
      <p:sp>
        <p:nvSpPr>
          <p:cNvPr id="8" name="Rounded Rectangle 7"/>
          <p:cNvSpPr/>
          <p:nvPr/>
        </p:nvSpPr>
        <p:spPr>
          <a:xfrm>
            <a:off x="685800" y="1901952"/>
            <a:ext cx="3566160" cy="3063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01952"/>
            <a:ext cx="54864" cy="306324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66544"/>
            <a:ext cx="320040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1 · FIND </a:t>
            </a:r>
            <a:r>
              <a:rPr i="1"/>
              <a:t>I</a:t>
            </a:r>
          </a:p>
        </p:txBody>
      </p:sp>
      <p:sp>
        <p:nvSpPr>
          <p:cNvPr id="11" name="TextBox 10"/>
          <p:cNvSpPr txBox="1"/>
          <p:nvPr/>
        </p:nvSpPr>
        <p:spPr>
          <a:xfrm>
            <a:off x="868680" y="2724912"/>
            <a:ext cx="3200400" cy="214884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En resistans på 27,5 Ω tilsluttes 231 V.</a:t>
            </a:r>
          </a:p>
          <a:p>
            <a:pPr>
              <a:lnSpc>
                <a:spcPct val="108000"/>
              </a:lnSpc>
              <a:spcAft>
                <a:spcPts val="800"/>
              </a:spcAft>
              <a:defRPr sz="2100" b="0">
                <a:solidFill>
                  <a:srgbClr val="163047"/>
                </a:solidFill>
                <a:latin typeface="DejaVu Sans"/>
              </a:defRPr>
            </a:pPr>
          </a:p>
          <a:p>
            <a:pPr>
              <a:lnSpc>
                <a:spcPct val="108000"/>
              </a:lnSpc>
              <a:spcAft>
                <a:spcPts val="800"/>
              </a:spcAft>
              <a:defRPr sz="2100" b="0">
                <a:solidFill>
                  <a:srgbClr val="163047"/>
                </a:solidFill>
                <a:latin typeface="DejaVu Sans"/>
              </a:defRPr>
            </a:pPr>
            <a:r>
              <a:t>Hvor stor er strømmen?</a:t>
            </a:r>
          </a:p>
        </p:txBody>
      </p:sp>
      <p:sp>
        <p:nvSpPr>
          <p:cNvPr id="12" name="Rounded Rectangle 11"/>
          <p:cNvSpPr/>
          <p:nvPr/>
        </p:nvSpPr>
        <p:spPr>
          <a:xfrm>
            <a:off x="4343400" y="1901952"/>
            <a:ext cx="3566160" cy="3063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01952"/>
            <a:ext cx="54864" cy="306324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066544"/>
            <a:ext cx="320040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2 · FIND </a:t>
            </a:r>
            <a:r>
              <a:rPr i="1"/>
              <a:t>R</a:t>
            </a:r>
          </a:p>
        </p:txBody>
      </p:sp>
      <p:sp>
        <p:nvSpPr>
          <p:cNvPr id="15" name="TextBox 14"/>
          <p:cNvSpPr txBox="1"/>
          <p:nvPr/>
        </p:nvSpPr>
        <p:spPr>
          <a:xfrm>
            <a:off x="4526280" y="2724912"/>
            <a:ext cx="3200400" cy="214884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En brugsgenstand optager 2,8 A ved 225 V DC.</a:t>
            </a:r>
          </a:p>
          <a:p>
            <a:pPr>
              <a:lnSpc>
                <a:spcPct val="108000"/>
              </a:lnSpc>
              <a:spcAft>
                <a:spcPts val="800"/>
              </a:spcAft>
              <a:defRPr sz="2100" b="0">
                <a:solidFill>
                  <a:srgbClr val="163047"/>
                </a:solidFill>
                <a:latin typeface="DejaVu Sans"/>
              </a:defRPr>
            </a:pPr>
          </a:p>
          <a:p>
            <a:pPr>
              <a:lnSpc>
                <a:spcPct val="108000"/>
              </a:lnSpc>
              <a:spcAft>
                <a:spcPts val="800"/>
              </a:spcAft>
              <a:defRPr sz="2100" b="0">
                <a:solidFill>
                  <a:srgbClr val="163047"/>
                </a:solidFill>
                <a:latin typeface="DejaVu Sans"/>
              </a:defRPr>
            </a:pPr>
            <a:r>
              <a:t>Beregn resistansen.</a:t>
            </a:r>
          </a:p>
        </p:txBody>
      </p:sp>
      <p:sp>
        <p:nvSpPr>
          <p:cNvPr id="16" name="Rounded Rectangle 15"/>
          <p:cNvSpPr/>
          <p:nvPr/>
        </p:nvSpPr>
        <p:spPr>
          <a:xfrm>
            <a:off x="8001000" y="1901952"/>
            <a:ext cx="3566160" cy="3063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1000" y="1901952"/>
            <a:ext cx="54864" cy="306324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2066544"/>
            <a:ext cx="320040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3 · UKENDT </a:t>
            </a:r>
            <a:r>
              <a:rPr i="1"/>
              <a:t>R</a:t>
            </a:r>
          </a:p>
        </p:txBody>
      </p:sp>
      <p:sp>
        <p:nvSpPr>
          <p:cNvPr id="19" name="TextBox 18"/>
          <p:cNvSpPr txBox="1"/>
          <p:nvPr/>
        </p:nvSpPr>
        <p:spPr>
          <a:xfrm>
            <a:off x="8183879" y="2724912"/>
            <a:ext cx="3200400" cy="214884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En modstand tilsluttes 4,5 V. Strømmen måles til 0,9 A.</a:t>
            </a:r>
          </a:p>
          <a:p>
            <a:pPr>
              <a:lnSpc>
                <a:spcPct val="108000"/>
              </a:lnSpc>
              <a:spcAft>
                <a:spcPts val="800"/>
              </a:spcAft>
              <a:defRPr sz="2100" b="0">
                <a:solidFill>
                  <a:srgbClr val="163047"/>
                </a:solidFill>
                <a:latin typeface="DejaVu Sans"/>
              </a:defRPr>
            </a:pPr>
          </a:p>
          <a:p>
            <a:pPr>
              <a:lnSpc>
                <a:spcPct val="108000"/>
              </a:lnSpc>
              <a:spcAft>
                <a:spcPts val="800"/>
              </a:spcAft>
              <a:defRPr sz="2100" b="0">
                <a:solidFill>
                  <a:srgbClr val="163047"/>
                </a:solidFill>
                <a:latin typeface="DejaVu Sans"/>
              </a:defRPr>
            </a:pPr>
            <a:r>
              <a:t>Beregn resistansen.</a:t>
            </a:r>
          </a:p>
        </p:txBody>
      </p:sp>
      <p:sp>
        <p:nvSpPr>
          <p:cNvPr id="20" name="Rounded Rectangle 19"/>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Opgave 1 er gennemgået på slide 12. Løs 2 og 3 med samme arbejdsgang.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Regn selv: find </a:t>
            </a:r>
            <a:r>
              <a:rPr i="1"/>
              <a:t>U</a:t>
            </a:r>
            <a:r>
              <a:t>, </a:t>
            </a:r>
            <a:r>
              <a:rPr i="1"/>
              <a:t>I</a:t>
            </a:r>
            <a:r>
              <a:t> og </a:t>
            </a:r>
            <a:r>
              <a:rPr i="1"/>
              <a:t>R</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Originalens opgaver 4–6 · husk præfikser</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16</a:t>
            </a:r>
          </a:p>
        </p:txBody>
      </p:sp>
      <p:sp>
        <p:nvSpPr>
          <p:cNvPr id="8" name="Rounded Rectangle 7"/>
          <p:cNvSpPr/>
          <p:nvPr/>
        </p:nvSpPr>
        <p:spPr>
          <a:xfrm>
            <a:off x="685800" y="1901952"/>
            <a:ext cx="3566160" cy="3246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01952"/>
            <a:ext cx="54864" cy="324612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66544"/>
            <a:ext cx="320040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4 · FIND </a:t>
            </a:r>
            <a:r>
              <a:rPr i="1"/>
              <a:t>U</a:t>
            </a:r>
          </a:p>
        </p:txBody>
      </p:sp>
      <p:sp>
        <p:nvSpPr>
          <p:cNvPr id="11" name="TextBox 10"/>
          <p:cNvSpPr txBox="1"/>
          <p:nvPr/>
        </p:nvSpPr>
        <p:spPr>
          <a:xfrm>
            <a:off x="868680" y="2724912"/>
            <a:ext cx="3200400" cy="233172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En strøm på 1,2 A løber gennem en resistans på 15 Ω.</a:t>
            </a:r>
          </a:p>
          <a:p>
            <a:pPr>
              <a:lnSpc>
                <a:spcPct val="108000"/>
              </a:lnSpc>
              <a:spcAft>
                <a:spcPts val="800"/>
              </a:spcAft>
              <a:defRPr sz="2100" b="0">
                <a:solidFill>
                  <a:srgbClr val="163047"/>
                </a:solidFill>
                <a:latin typeface="DejaVu Sans"/>
              </a:defRPr>
            </a:pPr>
          </a:p>
          <a:p>
            <a:pPr>
              <a:lnSpc>
                <a:spcPct val="108000"/>
              </a:lnSpc>
              <a:spcAft>
                <a:spcPts val="800"/>
              </a:spcAft>
              <a:defRPr sz="2100" b="0">
                <a:solidFill>
                  <a:srgbClr val="163047"/>
                </a:solidFill>
                <a:latin typeface="DejaVu Sans"/>
              </a:defRPr>
            </a:pPr>
            <a:r>
              <a:t>Beregn spændingen.</a:t>
            </a:r>
          </a:p>
        </p:txBody>
      </p:sp>
      <p:sp>
        <p:nvSpPr>
          <p:cNvPr id="12" name="Rounded Rectangle 11"/>
          <p:cNvSpPr/>
          <p:nvPr/>
        </p:nvSpPr>
        <p:spPr>
          <a:xfrm>
            <a:off x="4343400" y="1901952"/>
            <a:ext cx="3566160" cy="3246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01952"/>
            <a:ext cx="54864" cy="324612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066544"/>
            <a:ext cx="320040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5 · FIND </a:t>
            </a:r>
            <a:r>
              <a:rPr i="1"/>
              <a:t>I</a:t>
            </a:r>
          </a:p>
        </p:txBody>
      </p:sp>
      <p:sp>
        <p:nvSpPr>
          <p:cNvPr id="15" name="TextBox 14"/>
          <p:cNvSpPr txBox="1"/>
          <p:nvPr/>
        </p:nvSpPr>
        <p:spPr>
          <a:xfrm>
            <a:off x="4526280" y="2724912"/>
            <a:ext cx="3200400" cy="233172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En resistans på 10 kΩ tilsluttes 3 V.</a:t>
            </a:r>
          </a:p>
          <a:p>
            <a:pPr>
              <a:lnSpc>
                <a:spcPct val="108000"/>
              </a:lnSpc>
              <a:spcAft>
                <a:spcPts val="800"/>
              </a:spcAft>
              <a:defRPr sz="2100" b="0">
                <a:solidFill>
                  <a:srgbClr val="163047"/>
                </a:solidFill>
                <a:latin typeface="DejaVu Sans"/>
              </a:defRPr>
            </a:pPr>
          </a:p>
          <a:p>
            <a:pPr>
              <a:lnSpc>
                <a:spcPct val="108000"/>
              </a:lnSpc>
              <a:spcAft>
                <a:spcPts val="800"/>
              </a:spcAft>
              <a:defRPr sz="2100" b="0">
                <a:solidFill>
                  <a:srgbClr val="163047"/>
                </a:solidFill>
                <a:latin typeface="DejaVu Sans"/>
              </a:defRPr>
            </a:pPr>
            <a:r>
              <a:t>Beregn strømmen i A og mA.</a:t>
            </a:r>
          </a:p>
        </p:txBody>
      </p:sp>
      <p:sp>
        <p:nvSpPr>
          <p:cNvPr id="16" name="Rounded Rectangle 15"/>
          <p:cNvSpPr/>
          <p:nvPr/>
        </p:nvSpPr>
        <p:spPr>
          <a:xfrm>
            <a:off x="8001000" y="1901952"/>
            <a:ext cx="3566160" cy="3246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1000" y="1901952"/>
            <a:ext cx="54864" cy="324612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2066544"/>
            <a:ext cx="3200400" cy="54864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6 · SIGNALLAMPE</a:t>
            </a:r>
          </a:p>
        </p:txBody>
      </p:sp>
      <p:sp>
        <p:nvSpPr>
          <p:cNvPr id="19" name="TextBox 18"/>
          <p:cNvSpPr txBox="1"/>
          <p:nvPr/>
        </p:nvSpPr>
        <p:spPr>
          <a:xfrm>
            <a:off x="8183879" y="2724912"/>
            <a:ext cx="3200400" cy="2331720"/>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t>En signallampe optager 23 mA ved 14,2 V DC.</a:t>
            </a:r>
          </a:p>
          <a:p>
            <a:pPr>
              <a:lnSpc>
                <a:spcPct val="108000"/>
              </a:lnSpc>
              <a:spcAft>
                <a:spcPts val="800"/>
              </a:spcAft>
              <a:defRPr sz="2100" b="0">
                <a:solidFill>
                  <a:srgbClr val="163047"/>
                </a:solidFill>
                <a:latin typeface="DejaVu Sans"/>
              </a:defRPr>
            </a:pPr>
          </a:p>
          <a:p>
            <a:pPr>
              <a:lnSpc>
                <a:spcPct val="108000"/>
              </a:lnSpc>
              <a:spcAft>
                <a:spcPts val="800"/>
              </a:spcAft>
              <a:defRPr sz="2100" b="0">
                <a:solidFill>
                  <a:srgbClr val="163047"/>
                </a:solidFill>
                <a:latin typeface="DejaVu Sans"/>
              </a:defRPr>
            </a:pPr>
            <a:r>
              <a:t>Beregn </a:t>
            </a:r>
            <a:r>
              <a:rPr i="1"/>
              <a:t>U</a:t>
            </a:r>
            <a:r>
              <a:t>/</a:t>
            </a:r>
            <a:r>
              <a:rPr i="1"/>
              <a:t>I</a:t>
            </a:r>
            <a:r>
              <a:t> ved dette driftspunkt.</a:t>
            </a:r>
          </a:p>
        </p:txBody>
      </p:sp>
      <p:sp>
        <p:nvSpPr>
          <p:cNvPr id="20" name="Rounded Rectangle 19"/>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Et beregnet forhold </a:t>
            </a:r>
            <a:r>
              <a:rPr i="1"/>
              <a:t>U</a:t>
            </a:r>
            <a:r>
              <a:t>/</a:t>
            </a:r>
            <a:r>
              <a:rPr i="1"/>
              <a:t>I</a:t>
            </a:r>
            <a:r>
              <a:t> betyder ikke i sig selv, at en komponent er ohmsk.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Facit: kontroller enhed og størrelsesorden</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De seks originale opgaver · uddybende facit findes også i noter</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17</a:t>
            </a:r>
          </a:p>
        </p:txBody>
      </p:sp>
      <p:sp>
        <p:nvSpPr>
          <p:cNvPr id="8" name="Rounded Rectangle 7"/>
          <p:cNvSpPr/>
          <p:nvPr/>
        </p:nvSpPr>
        <p:spPr>
          <a:xfrm>
            <a:off x="731520" y="1828800"/>
            <a:ext cx="10744200" cy="5029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83664"/>
            <a:ext cx="548640" cy="36576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1</a:t>
            </a:r>
          </a:p>
        </p:txBody>
      </p:sp>
      <p:sp>
        <p:nvSpPr>
          <p:cNvPr id="10" name="TextBox 9"/>
          <p:cNvSpPr txBox="1"/>
          <p:nvPr/>
        </p:nvSpPr>
        <p:spPr>
          <a:xfrm>
            <a:off x="1600200" y="1883664"/>
            <a:ext cx="9509760" cy="402336"/>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rPr i="1"/>
              <a:t>I</a:t>
            </a:r>
            <a:r>
              <a:t> = 231 V / 27,5 Ω = 8,4 A</a:t>
            </a:r>
          </a:p>
        </p:txBody>
      </p:sp>
      <p:sp>
        <p:nvSpPr>
          <p:cNvPr id="11" name="Rounded Rectangle 10"/>
          <p:cNvSpPr/>
          <p:nvPr/>
        </p:nvSpPr>
        <p:spPr>
          <a:xfrm>
            <a:off x="731520" y="2386584"/>
            <a:ext cx="10744200" cy="5029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441448"/>
            <a:ext cx="548640" cy="36576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2</a:t>
            </a:r>
          </a:p>
        </p:txBody>
      </p:sp>
      <p:sp>
        <p:nvSpPr>
          <p:cNvPr id="13" name="TextBox 12"/>
          <p:cNvSpPr txBox="1"/>
          <p:nvPr/>
        </p:nvSpPr>
        <p:spPr>
          <a:xfrm>
            <a:off x="1600200" y="2441448"/>
            <a:ext cx="9509760" cy="402336"/>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rPr i="1"/>
              <a:t>R</a:t>
            </a:r>
            <a:r>
              <a:t> = 225 V / 2,8 A ≈ 80,4 Ω</a:t>
            </a:r>
          </a:p>
        </p:txBody>
      </p:sp>
      <p:sp>
        <p:nvSpPr>
          <p:cNvPr id="14" name="Rounded Rectangle 13"/>
          <p:cNvSpPr/>
          <p:nvPr/>
        </p:nvSpPr>
        <p:spPr>
          <a:xfrm>
            <a:off x="731520" y="2944368"/>
            <a:ext cx="10744200" cy="5029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99232"/>
            <a:ext cx="548640" cy="36576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3</a:t>
            </a:r>
          </a:p>
        </p:txBody>
      </p:sp>
      <p:sp>
        <p:nvSpPr>
          <p:cNvPr id="16" name="TextBox 15"/>
          <p:cNvSpPr txBox="1"/>
          <p:nvPr/>
        </p:nvSpPr>
        <p:spPr>
          <a:xfrm>
            <a:off x="1600200" y="2999232"/>
            <a:ext cx="9509760" cy="402336"/>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rPr i="1"/>
              <a:t>R</a:t>
            </a:r>
            <a:r>
              <a:t> = 4,5 V / 0,9 A = 5 Ω</a:t>
            </a:r>
          </a:p>
        </p:txBody>
      </p:sp>
      <p:sp>
        <p:nvSpPr>
          <p:cNvPr id="17" name="Rounded Rectangle 16"/>
          <p:cNvSpPr/>
          <p:nvPr/>
        </p:nvSpPr>
        <p:spPr>
          <a:xfrm>
            <a:off x="731520" y="3502152"/>
            <a:ext cx="10744200" cy="5029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557016"/>
            <a:ext cx="548640" cy="36576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4</a:t>
            </a:r>
          </a:p>
        </p:txBody>
      </p:sp>
      <p:sp>
        <p:nvSpPr>
          <p:cNvPr id="19" name="TextBox 18"/>
          <p:cNvSpPr txBox="1"/>
          <p:nvPr/>
        </p:nvSpPr>
        <p:spPr>
          <a:xfrm>
            <a:off x="1600200" y="3557016"/>
            <a:ext cx="9509760" cy="402336"/>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rPr i="1"/>
              <a:t>U</a:t>
            </a:r>
            <a:r>
              <a:t> = 15 Ω · 1,2 A = 18 V</a:t>
            </a:r>
          </a:p>
        </p:txBody>
      </p:sp>
      <p:sp>
        <p:nvSpPr>
          <p:cNvPr id="20" name="Rounded Rectangle 19"/>
          <p:cNvSpPr/>
          <p:nvPr/>
        </p:nvSpPr>
        <p:spPr>
          <a:xfrm>
            <a:off x="731520" y="4059935"/>
            <a:ext cx="10744200" cy="5029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114799"/>
            <a:ext cx="548640" cy="36576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5</a:t>
            </a:r>
          </a:p>
        </p:txBody>
      </p:sp>
      <p:sp>
        <p:nvSpPr>
          <p:cNvPr id="22" name="TextBox 21"/>
          <p:cNvSpPr txBox="1"/>
          <p:nvPr/>
        </p:nvSpPr>
        <p:spPr>
          <a:xfrm>
            <a:off x="1600200" y="4114799"/>
            <a:ext cx="9509760" cy="402336"/>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rPr i="1"/>
              <a:t>I</a:t>
            </a:r>
            <a:r>
              <a:t> = 3 V / 10 000 Ω = 0,0003 A = 0,30 mA</a:t>
            </a:r>
          </a:p>
        </p:txBody>
      </p:sp>
      <p:sp>
        <p:nvSpPr>
          <p:cNvPr id="23" name="Rounded Rectangle 22"/>
          <p:cNvSpPr/>
          <p:nvPr/>
        </p:nvSpPr>
        <p:spPr>
          <a:xfrm>
            <a:off x="731520" y="4617720"/>
            <a:ext cx="10744200" cy="5029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672583"/>
            <a:ext cx="548640" cy="365760"/>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6</a:t>
            </a:r>
          </a:p>
        </p:txBody>
      </p:sp>
      <p:sp>
        <p:nvSpPr>
          <p:cNvPr id="25" name="TextBox 24"/>
          <p:cNvSpPr txBox="1"/>
          <p:nvPr/>
        </p:nvSpPr>
        <p:spPr>
          <a:xfrm>
            <a:off x="1600200" y="4672583"/>
            <a:ext cx="9509760" cy="402336"/>
          </a:xfrm>
          <a:prstGeom prst="rect">
            <a:avLst/>
          </a:prstGeom>
          <a:noFill/>
        </p:spPr>
        <p:txBody>
          <a:bodyPr wrap="square" lIns="27432" rIns="27432" tIns="18288" bIns="18288">
            <a:spAutoFit/>
          </a:bodyPr>
          <a:lstStyle/>
          <a:p>
            <a:pPr>
              <a:lnSpc>
                <a:spcPct val="108000"/>
              </a:lnSpc>
              <a:spcAft>
                <a:spcPts val="800"/>
              </a:spcAft>
              <a:defRPr sz="2100" b="0">
                <a:solidFill>
                  <a:srgbClr val="163047"/>
                </a:solidFill>
                <a:latin typeface="DejaVu Sans"/>
              </a:defRPr>
            </a:pPr>
            <a:r>
              <a:rPr i="1"/>
              <a:t>U</a:t>
            </a:r>
            <a:r>
              <a:t>/</a:t>
            </a:r>
            <a:r>
              <a:rPr i="1"/>
              <a:t>I</a:t>
            </a:r>
            <a:r>
              <a:t> = 14,2 V / 0,023 A ≈ 617 Ω</a:t>
            </a:r>
          </a:p>
        </p:txBody>
      </p:sp>
      <p:sp>
        <p:nvSpPr>
          <p:cNvPr id="26" name="Rounded Rectangle 25"/>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Tjek især opgave 5: kilo i nævneren giver en lille strøm.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Kan du forklare kredsløbet uden at regne?</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Opsamling · samtale og videre arbejde</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18</a:t>
            </a:r>
          </a:p>
        </p:txBody>
      </p:sp>
      <p:sp>
        <p:nvSpPr>
          <p:cNvPr id="8" name="TextBox 7"/>
          <p:cNvSpPr txBox="1"/>
          <p:nvPr/>
        </p:nvSpPr>
        <p:spPr>
          <a:xfrm>
            <a:off x="731520" y="1828800"/>
            <a:ext cx="10607040" cy="3383280"/>
          </a:xfrm>
          <a:prstGeom prst="rect">
            <a:avLst/>
          </a:prstGeom>
          <a:noFill/>
        </p:spPr>
        <p:txBody>
          <a:bodyPr wrap="square" lIns="27432" rIns="27432" tIns="18288" bIns="18288">
            <a:spAutoFit/>
          </a:bodyPr>
          <a:lstStyle/>
          <a:p>
            <a:pPr>
              <a:lnSpc>
                <a:spcPct val="108000"/>
              </a:lnSpc>
              <a:spcAft>
                <a:spcPts val="800"/>
              </a:spcAft>
              <a:defRPr sz="2300" b="0">
                <a:solidFill>
                  <a:srgbClr val="163047"/>
                </a:solidFill>
                <a:latin typeface="DejaVu Sans"/>
              </a:defRPr>
            </a:pPr>
            <a:r>
              <a:t>1. Hvad er forskellen mellem 24 V og 2 A?</a:t>
            </a:r>
          </a:p>
          <a:p>
            <a:pPr>
              <a:lnSpc>
                <a:spcPct val="108000"/>
              </a:lnSpc>
              <a:spcAft>
                <a:spcPts val="800"/>
              </a:spcAft>
              <a:defRPr sz="2300" b="0">
                <a:solidFill>
                  <a:srgbClr val="163047"/>
                </a:solidFill>
                <a:latin typeface="DejaVu Sans"/>
              </a:defRPr>
            </a:pPr>
          </a:p>
          <a:p>
            <a:pPr>
              <a:lnSpc>
                <a:spcPct val="108000"/>
              </a:lnSpc>
              <a:spcAft>
                <a:spcPts val="800"/>
              </a:spcAft>
              <a:defRPr sz="2300" b="0">
                <a:solidFill>
                  <a:srgbClr val="163047"/>
                </a:solidFill>
                <a:latin typeface="DejaVu Sans"/>
              </a:defRPr>
            </a:pPr>
            <a:r>
              <a:t>2. Hvorfor peger elektronbevægelsen modsat </a:t>
            </a:r>
            <a:r>
              <a:rPr i="1"/>
              <a:t>I</a:t>
            </a:r>
            <a:r>
              <a:t>?</a:t>
            </a:r>
          </a:p>
          <a:p>
            <a:pPr>
              <a:lnSpc>
                <a:spcPct val="108000"/>
              </a:lnSpc>
              <a:spcAft>
                <a:spcPts val="800"/>
              </a:spcAft>
              <a:defRPr sz="2300" b="0">
                <a:solidFill>
                  <a:srgbClr val="163047"/>
                </a:solidFill>
                <a:latin typeface="DejaVu Sans"/>
              </a:defRPr>
            </a:pPr>
          </a:p>
          <a:p>
            <a:pPr>
              <a:lnSpc>
                <a:spcPct val="108000"/>
              </a:lnSpc>
              <a:spcAft>
                <a:spcPts val="800"/>
              </a:spcAft>
              <a:defRPr sz="2300" b="0">
                <a:solidFill>
                  <a:srgbClr val="163047"/>
                </a:solidFill>
                <a:latin typeface="DejaVu Sans"/>
              </a:defRPr>
            </a:pPr>
            <a:r>
              <a:t>3. Hvad sker der med </a:t>
            </a:r>
            <a:r>
              <a:rPr i="1"/>
              <a:t>I</a:t>
            </a:r>
            <a:r>
              <a:t>, hvis </a:t>
            </a:r>
            <a:r>
              <a:rPr i="1"/>
              <a:t>R</a:t>
            </a:r>
            <a:r>
              <a:t> fordobles ved samme </a:t>
            </a:r>
            <a:r>
              <a:rPr i="1"/>
              <a:t>U</a:t>
            </a:r>
            <a:r>
              <a:t>?</a:t>
            </a:r>
          </a:p>
          <a:p>
            <a:pPr>
              <a:lnSpc>
                <a:spcPct val="108000"/>
              </a:lnSpc>
              <a:spcAft>
                <a:spcPts val="800"/>
              </a:spcAft>
              <a:defRPr sz="2300" b="0">
                <a:solidFill>
                  <a:srgbClr val="163047"/>
                </a:solidFill>
                <a:latin typeface="DejaVu Sans"/>
              </a:defRPr>
            </a:pPr>
          </a:p>
          <a:p>
            <a:pPr>
              <a:lnSpc>
                <a:spcPct val="108000"/>
              </a:lnSpc>
              <a:spcAft>
                <a:spcPts val="800"/>
              </a:spcAft>
              <a:defRPr sz="2300" b="0">
                <a:solidFill>
                  <a:srgbClr val="163047"/>
                </a:solidFill>
                <a:latin typeface="DejaVu Sans"/>
              </a:defRPr>
            </a:pPr>
            <a:r>
              <a:t>4. Kan der være spænding, når kredsløbet er åbent?</a:t>
            </a:r>
          </a:p>
        </p:txBody>
      </p:sp>
      <p:sp>
        <p:nvSpPr>
          <p:cNvPr id="9" name="Rounded Rectangle 8"/>
          <p:cNvSpPr/>
          <p:nvPr/>
        </p:nvSpPr>
        <p:spPr>
          <a:xfrm>
            <a:off x="548640" y="5596128"/>
            <a:ext cx="11064240" cy="530352"/>
          </a:xfrm>
          <a:prstGeom prst="roundRect">
            <a:avLst>
              <a:gd name="adj" fmla="val 12000"/>
            </a:avLst>
          </a:prstGeom>
          <a:solidFill>
            <a:srgbClr val="E4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678424"/>
            <a:ext cx="10698480" cy="384048"/>
          </a:xfrm>
          <a:prstGeom prst="rect">
            <a:avLst/>
          </a:prstGeom>
          <a:noFill/>
        </p:spPr>
        <p:txBody>
          <a:bodyPr wrap="square" lIns="27432" rIns="27432" tIns="18288" bIns="18288">
            <a:spAutoFit/>
          </a:bodyPr>
          <a:lstStyle/>
          <a:p>
            <a:pPr>
              <a:lnSpc>
                <a:spcPct val="108000"/>
              </a:lnSpc>
              <a:spcAft>
                <a:spcPts val="800"/>
              </a:spcAft>
              <a:defRPr sz="1800" b="1">
                <a:solidFill>
                  <a:srgbClr val="007F86"/>
                </a:solidFill>
                <a:latin typeface="DejaVu Sans"/>
              </a:defRPr>
            </a:pPr>
            <a:r>
              <a:t>Opgavesamling: 1.1–1.7 samt 1.9 (originalens henvisninger).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881360" cy="310896"/>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EL · 4. SEMESTER · MASKINMESTERUDDANNELSEN</a:t>
            </a:r>
          </a:p>
        </p:txBody>
      </p:sp>
      <p:sp>
        <p:nvSpPr>
          <p:cNvPr id="4" name="TextBox 3"/>
          <p:cNvSpPr txBox="1"/>
          <p:nvPr/>
        </p:nvSpPr>
        <p:spPr>
          <a:xfrm>
            <a:off x="502920" y="804672"/>
            <a:ext cx="11018520" cy="777240"/>
          </a:xfrm>
          <a:prstGeom prst="rect">
            <a:avLst/>
          </a:prstGeom>
          <a:noFill/>
        </p:spPr>
        <p:txBody>
          <a:bodyPr wrap="square" lIns="27432" rIns="27432" tIns="18288" bIns="18288">
            <a:spAutoFit/>
          </a:bodyPr>
          <a:lstStyle/>
          <a:p>
            <a:pPr>
              <a:lnSpc>
                <a:spcPct val="108000"/>
              </a:lnSpc>
              <a:spcAft>
                <a:spcPts val="800"/>
              </a:spcAft>
              <a:defRPr sz="3000" b="1">
                <a:solidFill>
                  <a:srgbClr val="163047"/>
                </a:solidFill>
                <a:latin typeface="DejaVu Sans"/>
              </a:defRPr>
            </a:pPr>
            <a:r>
              <a:t>Kilder og afgrænsning</a:t>
            </a:r>
          </a:p>
        </p:txBody>
      </p:sp>
      <p:cxnSp>
        <p:nvCxnSpPr>
          <p:cNvPr id="5" name="Connector 4"/>
          <p:cNvCxnSpPr/>
          <p:nvPr/>
        </p:nvCxnSpPr>
        <p:spPr>
          <a:xfrm>
            <a:off x="530352" y="6345936"/>
            <a:ext cx="11128248" cy="0"/>
          </a:xfrm>
          <a:prstGeom prst="line">
            <a:avLst/>
          </a:prstGeom>
          <a:ln w="12700">
            <a:solidFill>
              <a:srgbClr val="E4EEF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446520"/>
            <a:ext cx="9144000" cy="237744"/>
          </a:xfrm>
          <a:prstGeom prst="rect">
            <a:avLst/>
          </a:prstGeom>
          <a:noFill/>
        </p:spPr>
        <p:txBody>
          <a:bodyPr wrap="square" lIns="27432" rIns="27432" tIns="18288" bIns="18288">
            <a:spAutoFit/>
          </a:bodyPr>
          <a:lstStyle/>
          <a:p>
            <a:pPr>
              <a:lnSpc>
                <a:spcPct val="108000"/>
              </a:lnSpc>
              <a:spcAft>
                <a:spcPts val="800"/>
              </a:spcAft>
              <a:defRPr sz="1000" b="0">
                <a:solidFill>
                  <a:srgbClr val="526779"/>
                </a:solidFill>
                <a:latin typeface="DejaVu Sans"/>
              </a:defRPr>
            </a:pPr>
            <a:r>
              <a:t>Fagligt kontrolleret 26. september 2026 · redigerbart undervisningsmateriale</a:t>
            </a:r>
          </a:p>
        </p:txBody>
      </p:sp>
      <p:sp>
        <p:nvSpPr>
          <p:cNvPr id="7" name="TextBox 6"/>
          <p:cNvSpPr txBox="1"/>
          <p:nvPr/>
        </p:nvSpPr>
        <p:spPr>
          <a:xfrm>
            <a:off x="11109960" y="6409944"/>
            <a:ext cx="548640" cy="329184"/>
          </a:xfrm>
          <a:prstGeom prst="rect">
            <a:avLst/>
          </a:prstGeom>
          <a:noFill/>
        </p:spPr>
        <p:txBody>
          <a:bodyPr wrap="square" lIns="27432" rIns="27432" tIns="18288" bIns="18288">
            <a:spAutoFit/>
          </a:bodyPr>
          <a:lstStyle/>
          <a:p>
            <a:pPr>
              <a:lnSpc>
                <a:spcPct val="108000"/>
              </a:lnSpc>
              <a:spcAft>
                <a:spcPts val="800"/>
              </a:spcAft>
              <a:defRPr sz="1200" b="1">
                <a:solidFill>
                  <a:srgbClr val="007F86"/>
                </a:solidFill>
                <a:latin typeface="DejaVu Sans"/>
              </a:defRPr>
            </a:pPr>
            <a:r>
              <a:t>19</a:t>
            </a:r>
          </a:p>
        </p:txBody>
      </p:sp>
      <p:sp>
        <p:nvSpPr>
          <p:cNvPr id="8" name="TextBox 7"/>
          <p:cNvSpPr txBox="1"/>
          <p:nvPr/>
        </p:nvSpPr>
        <p:spPr>
          <a:xfrm>
            <a:off x="731520" y="1783080"/>
            <a:ext cx="10652760" cy="640080"/>
          </a:xfrm>
          <a:prstGeom prst="rect">
            <a:avLst/>
          </a:prstGeom>
          <a:noFill/>
        </p:spPr>
        <p:txBody>
          <a:bodyPr wrap="square" lIns="27432" rIns="27432" tIns="18288" bIns="18288">
            <a:spAutoFit/>
          </a:bodyPr>
          <a:lstStyle/>
          <a:p>
            <a:pPr>
              <a:lnSpc>
                <a:spcPct val="108000"/>
              </a:lnSpc>
              <a:spcAft>
                <a:spcPts val="800"/>
              </a:spcAft>
              <a:defRPr sz="2200" b="1">
                <a:solidFill>
                  <a:srgbClr val="007F86"/>
                </a:solidFill>
                <a:latin typeface="DejaVu Sans"/>
              </a:defRPr>
            </a:pPr>
            <a:r>
              <a:t>BIPM · SI-definition af ampere</a:t>
            </a:r>
          </a:p>
        </p:txBody>
      </p:sp>
      <p:sp>
        <p:nvSpPr>
          <p:cNvPr id="9" name="TextBox 8"/>
          <p:cNvSpPr txBox="1"/>
          <p:nvPr/>
        </p:nvSpPr>
        <p:spPr>
          <a:xfrm>
            <a:off x="768096" y="2386584"/>
            <a:ext cx="10607040" cy="393192"/>
          </a:xfrm>
          <a:prstGeom prst="rect">
            <a:avLst/>
          </a:prstGeom>
          <a:noFill/>
        </p:spPr>
        <p:txBody>
          <a:bodyPr wrap="square" lIns="27432" rIns="27432" tIns="18288" bIns="18288">
            <a:spAutoFit/>
          </a:bodyPr>
          <a:lstStyle/>
          <a:p>
            <a:pPr>
              <a:lnSpc>
                <a:spcPct val="108000"/>
              </a:lnSpc>
              <a:spcAft>
                <a:spcPts val="800"/>
              </a:spcAft>
              <a:defRPr sz="1600" b="0">
                <a:solidFill>
                  <a:srgbClr val="1565A8"/>
                </a:solidFill>
                <a:latin typeface="DejaVu Sans"/>
              </a:defRPr>
            </a:pPr>
            <a:r>
              <a:rPr>
                <a:hlinkClick r:id="rId3"/>
              </a:rPr>
              <a:t>https://www.bipm.org/en/si-base-units/ampere</a:t>
            </a:r>
          </a:p>
        </p:txBody>
      </p:sp>
      <p:sp>
        <p:nvSpPr>
          <p:cNvPr id="10" name="TextBox 9"/>
          <p:cNvSpPr txBox="1"/>
          <p:nvPr/>
        </p:nvSpPr>
        <p:spPr>
          <a:xfrm>
            <a:off x="731520" y="2852928"/>
            <a:ext cx="10652760" cy="512064"/>
          </a:xfrm>
          <a:prstGeom prst="rect">
            <a:avLst/>
          </a:prstGeom>
          <a:noFill/>
        </p:spPr>
        <p:txBody>
          <a:bodyPr wrap="square" lIns="27432" rIns="27432" tIns="18288" bIns="18288">
            <a:spAutoFit/>
          </a:bodyPr>
          <a:lstStyle/>
          <a:p>
            <a:pPr>
              <a:lnSpc>
                <a:spcPct val="108000"/>
              </a:lnSpc>
              <a:spcAft>
                <a:spcPts val="800"/>
              </a:spcAft>
              <a:defRPr sz="2000" b="1">
                <a:solidFill>
                  <a:srgbClr val="007F86"/>
                </a:solidFill>
                <a:latin typeface="DejaVu Sans"/>
              </a:defRPr>
            </a:pPr>
            <a:r>
              <a:t>BIPM · SI Brochure, 9. udgave, v4.01 · tabel 4 og afsnit 3</a:t>
            </a:r>
          </a:p>
        </p:txBody>
      </p:sp>
      <p:sp>
        <p:nvSpPr>
          <p:cNvPr id="11" name="TextBox 10"/>
          <p:cNvSpPr txBox="1"/>
          <p:nvPr/>
        </p:nvSpPr>
        <p:spPr>
          <a:xfrm>
            <a:off x="768096" y="3429000"/>
            <a:ext cx="10652760" cy="420624"/>
          </a:xfrm>
          <a:prstGeom prst="rect">
            <a:avLst/>
          </a:prstGeom>
          <a:noFill/>
        </p:spPr>
        <p:txBody>
          <a:bodyPr wrap="square" lIns="27432" rIns="27432" tIns="18288" bIns="18288">
            <a:spAutoFit/>
          </a:bodyPr>
          <a:lstStyle/>
          <a:p>
            <a:pPr>
              <a:lnSpc>
                <a:spcPct val="108000"/>
              </a:lnSpc>
              <a:spcAft>
                <a:spcPts val="800"/>
              </a:spcAft>
              <a:defRPr sz="1500" b="0">
                <a:solidFill>
                  <a:srgbClr val="1565A8"/>
                </a:solidFill>
                <a:latin typeface="DejaVu Sans"/>
              </a:defRPr>
            </a:pPr>
            <a:r>
              <a:rPr>
                <a:hlinkClick r:id="rId4"/>
              </a:rPr>
              <a:t>https://www.bipm.org/utils/common/pdf/si-brochure/SI-Brochure-9.pdf</a:t>
            </a:r>
          </a:p>
        </p:txBody>
      </p:sp>
      <p:sp>
        <p:nvSpPr>
          <p:cNvPr id="12" name="TextBox 11"/>
          <p:cNvSpPr txBox="1"/>
          <p:nvPr/>
        </p:nvSpPr>
        <p:spPr>
          <a:xfrm>
            <a:off x="731520" y="3922776"/>
            <a:ext cx="10652760" cy="512064"/>
          </a:xfrm>
          <a:prstGeom prst="rect">
            <a:avLst/>
          </a:prstGeom>
          <a:noFill/>
        </p:spPr>
        <p:txBody>
          <a:bodyPr wrap="square" lIns="27432" rIns="27432" tIns="18288" bIns="18288">
            <a:spAutoFit/>
          </a:bodyPr>
          <a:lstStyle/>
          <a:p>
            <a:pPr>
              <a:lnSpc>
                <a:spcPct val="108000"/>
              </a:lnSpc>
              <a:spcAft>
                <a:spcPts val="800"/>
              </a:spcAft>
              <a:defRPr sz="2000" b="1">
                <a:solidFill>
                  <a:srgbClr val="007F86"/>
                </a:solidFill>
                <a:latin typeface="DejaVu Sans"/>
              </a:defRPr>
            </a:pPr>
            <a:r>
              <a:t>OpenStax · University Physics Volume 2 · 9.4 Ohm’s Law</a:t>
            </a:r>
          </a:p>
        </p:txBody>
      </p:sp>
      <p:sp>
        <p:nvSpPr>
          <p:cNvPr id="13" name="TextBox 12"/>
          <p:cNvSpPr txBox="1"/>
          <p:nvPr/>
        </p:nvSpPr>
        <p:spPr>
          <a:xfrm>
            <a:off x="768096" y="4443984"/>
            <a:ext cx="10652760" cy="438912"/>
          </a:xfrm>
          <a:prstGeom prst="rect">
            <a:avLst/>
          </a:prstGeom>
          <a:noFill/>
        </p:spPr>
        <p:txBody>
          <a:bodyPr wrap="square" lIns="27432" rIns="27432" tIns="18288" bIns="18288">
            <a:spAutoFit/>
          </a:bodyPr>
          <a:lstStyle/>
          <a:p>
            <a:pPr>
              <a:lnSpc>
                <a:spcPct val="108000"/>
              </a:lnSpc>
              <a:spcAft>
                <a:spcPts val="800"/>
              </a:spcAft>
              <a:defRPr sz="1400" b="0">
                <a:solidFill>
                  <a:srgbClr val="1565A8"/>
                </a:solidFill>
                <a:latin typeface="DejaVu Sans"/>
              </a:defRPr>
            </a:pPr>
            <a:r>
              <a:rPr>
                <a:hlinkClick r:id="rId5"/>
              </a:rPr>
              <a:t>https://openstax.org/books/university-physics-volume-2/pages/9-4-ohms-law</a:t>
            </a:r>
          </a:p>
        </p:txBody>
      </p:sp>
      <p:sp>
        <p:nvSpPr>
          <p:cNvPr id="14" name="TextBox 13"/>
          <p:cNvSpPr txBox="1"/>
          <p:nvPr/>
        </p:nvSpPr>
        <p:spPr>
          <a:xfrm>
            <a:off x="731520" y="4992624"/>
            <a:ext cx="10652760" cy="475488"/>
          </a:xfrm>
          <a:prstGeom prst="rect">
            <a:avLst/>
          </a:prstGeom>
          <a:noFill/>
        </p:spPr>
        <p:txBody>
          <a:bodyPr wrap="square" lIns="27432" rIns="27432" tIns="18288" bIns="18288">
            <a:spAutoFit/>
          </a:bodyPr>
          <a:lstStyle/>
          <a:p>
            <a:pPr>
              <a:lnSpc>
                <a:spcPct val="108000"/>
              </a:lnSpc>
              <a:spcAft>
                <a:spcPts val="800"/>
              </a:spcAft>
              <a:defRPr sz="1900" b="0">
                <a:solidFill>
                  <a:srgbClr val="163047"/>
                </a:solidFill>
                <a:latin typeface="DejaVu Sans"/>
              </a:defRPr>
            </a:pPr>
            <a:r>
              <a:t>Øvelse: PhET · Ohm’s Law (vælg </a:t>
            </a:r>
            <a:r>
              <a:rPr i="1"/>
              <a:t>U</a:t>
            </a:r>
            <a:r>
              <a:t> og </a:t>
            </a:r>
            <a:r>
              <a:rPr i="1"/>
              <a:t>R</a:t>
            </a:r>
            <a:r>
              <a:t>; følg ændringen i </a:t>
            </a:r>
            <a:r>
              <a:rPr i="1"/>
              <a:t>I</a:t>
            </a:r>
            <a:r>
              <a:t>)</a:t>
            </a:r>
          </a:p>
        </p:txBody>
      </p:sp>
      <p:sp>
        <p:nvSpPr>
          <p:cNvPr id="15" name="TextBox 14"/>
          <p:cNvSpPr txBox="1"/>
          <p:nvPr/>
        </p:nvSpPr>
        <p:spPr>
          <a:xfrm>
            <a:off x="768096" y="5468112"/>
            <a:ext cx="10652760" cy="420624"/>
          </a:xfrm>
          <a:prstGeom prst="rect">
            <a:avLst/>
          </a:prstGeom>
          <a:noFill/>
        </p:spPr>
        <p:txBody>
          <a:bodyPr wrap="square" lIns="27432" rIns="27432" tIns="18288" bIns="18288">
            <a:spAutoFit/>
          </a:bodyPr>
          <a:lstStyle/>
          <a:p>
            <a:pPr>
              <a:lnSpc>
                <a:spcPct val="108000"/>
              </a:lnSpc>
              <a:spcAft>
                <a:spcPts val="800"/>
              </a:spcAft>
              <a:defRPr sz="1600" b="0">
                <a:solidFill>
                  <a:srgbClr val="1565A8"/>
                </a:solidFill>
                <a:latin typeface="DejaVu Sans"/>
              </a:defRPr>
            </a:pPr>
            <a:r>
              <a:rPr>
                <a:hlinkClick r:id="rId6"/>
              </a:rPr>
              <a:t>https://phet.colorado.edu/en/simulations/ohms-law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Elektriske begreber – strøm, spænding og modstand</dc:title>
  <dc:subject>4. semester · maskinmesteruddannelsen</dc:subject>
  <dc:creator>Revideret undervisningsmateriale efter Simon Tran Agerholm</dc:creator>
  <cp:keywords>EL, SI, BIPM, Ohms lov, U, I, R</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